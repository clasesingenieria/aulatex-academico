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326" r:id="rId2"/>
    <p:sldId id="327" r:id="rId3"/>
    <p:sldId id="328" r:id="rId4"/>
    <p:sldId id="329" r:id="rId5"/>
    <p:sldId id="330" r:id="rId6"/>
    <p:sldId id="331" r:id="rId7"/>
    <p:sldId id="332" r:id="rId8"/>
    <p:sldId id="333" r:id="rId9"/>
    <p:sldId id="334" r:id="rId10"/>
    <p:sldId id="335" r:id="rId11"/>
    <p:sldId id="336" r:id="rId12"/>
    <p:sldId id="337" r:id="rId13"/>
    <p:sldId id="338" r:id="rId14"/>
    <p:sldId id="339" r:id="rId15"/>
    <p:sldId id="340" r:id="rId16"/>
    <p:sldId id="341" r:id="rId17"/>
    <p:sldId id="342" r:id="rId18"/>
    <p:sldId id="343" r:id="rId19"/>
    <p:sldId id="34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D13613-BB30-42A7-A8BE-03DF9671AA76}" type="datetimeFigureOut">
              <a:rPr lang="en-US" smtClean="0"/>
              <a:t>8/3/2022</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AD62E-183E-4DC2-8111-FE4EE8E1E0BA}" type="slidenum">
              <a:rPr lang="en-US" smtClean="0"/>
              <a:t>‹Nº›</a:t>
            </a:fld>
            <a:endParaRPr lang="en-US"/>
          </a:p>
        </p:txBody>
      </p:sp>
    </p:spTree>
    <p:extLst>
      <p:ext uri="{BB962C8B-B14F-4D97-AF65-F5344CB8AC3E}">
        <p14:creationId xmlns:p14="http://schemas.microsoft.com/office/powerpoint/2010/main" val="1403615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8555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1968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881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3638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0147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7526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7192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6724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5914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1529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4251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A9B5FF-F317-422A-A9BC-E7F041AA29D8}"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092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148A03-D752-D945-84DD-8B186F4BFFB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a:extLst>
              <a:ext uri="{FF2B5EF4-FFF2-40B4-BE49-F238E27FC236}">
                <a16:creationId xmlns:a16="http://schemas.microsoft.com/office/drawing/2014/main" id="{315D10E3-5913-BA40-962B-63C1510EB8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S_tradnl"/>
          </a:p>
        </p:txBody>
      </p:sp>
      <p:sp>
        <p:nvSpPr>
          <p:cNvPr id="4" name="Marcador de fecha 3">
            <a:extLst>
              <a:ext uri="{FF2B5EF4-FFF2-40B4-BE49-F238E27FC236}">
                <a16:creationId xmlns:a16="http://schemas.microsoft.com/office/drawing/2014/main" id="{A8DBA274-9A8B-F14F-9EDE-DE342857F7E8}"/>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5" name="Marcador de pie de página 4">
            <a:extLst>
              <a:ext uri="{FF2B5EF4-FFF2-40B4-BE49-F238E27FC236}">
                <a16:creationId xmlns:a16="http://schemas.microsoft.com/office/drawing/2014/main" id="{D5254530-BF00-604A-8AC1-ED21274D36F0}"/>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07AEB07F-699F-F848-B7B2-BBDC07FF9510}"/>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2986932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766960-EC9F-EE49-80A5-6CF3ED1B45BE}"/>
              </a:ext>
            </a:extLst>
          </p:cNvPr>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a:extLst>
              <a:ext uri="{FF2B5EF4-FFF2-40B4-BE49-F238E27FC236}">
                <a16:creationId xmlns:a16="http://schemas.microsoft.com/office/drawing/2014/main" id="{4A7E97BD-B60A-E841-8094-58444294EF4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a:extLst>
              <a:ext uri="{FF2B5EF4-FFF2-40B4-BE49-F238E27FC236}">
                <a16:creationId xmlns:a16="http://schemas.microsoft.com/office/drawing/2014/main" id="{8BBFBFE0-00D6-8F42-8676-6B7BB1907E48}"/>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5" name="Marcador de pie de página 4">
            <a:extLst>
              <a:ext uri="{FF2B5EF4-FFF2-40B4-BE49-F238E27FC236}">
                <a16:creationId xmlns:a16="http://schemas.microsoft.com/office/drawing/2014/main" id="{357240C8-B705-B849-8ECE-9B6784515F61}"/>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68F6D68C-783B-8E47-8954-1D42BD6544B9}"/>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618530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6C554B-432F-8843-8B6E-BF54FAEB021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a:extLst>
              <a:ext uri="{FF2B5EF4-FFF2-40B4-BE49-F238E27FC236}">
                <a16:creationId xmlns:a16="http://schemas.microsoft.com/office/drawing/2014/main" id="{DEA4EAFC-FAB8-D24B-81FE-9278CB5496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BC90100-8FD4-F54F-8F52-EBAE8C859919}"/>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5" name="Marcador de pie de página 4">
            <a:extLst>
              <a:ext uri="{FF2B5EF4-FFF2-40B4-BE49-F238E27FC236}">
                <a16:creationId xmlns:a16="http://schemas.microsoft.com/office/drawing/2014/main" id="{FD4DB7C2-570E-0446-A781-FA2FC917D7CA}"/>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FD404572-92A9-DC4B-A8CC-62B34EB5C843}"/>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3249918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92674-1C88-E74D-A0BB-FA1A13C3898F}"/>
              </a:ext>
            </a:extLst>
          </p:cNvPr>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a:extLst>
              <a:ext uri="{FF2B5EF4-FFF2-40B4-BE49-F238E27FC236}">
                <a16:creationId xmlns:a16="http://schemas.microsoft.com/office/drawing/2014/main" id="{B309956E-87C8-0447-A7A0-BDF0129CD0E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a:extLst>
              <a:ext uri="{FF2B5EF4-FFF2-40B4-BE49-F238E27FC236}">
                <a16:creationId xmlns:a16="http://schemas.microsoft.com/office/drawing/2014/main" id="{C66554B4-4BF0-AB43-9BE0-320B64A35AA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4">
            <a:extLst>
              <a:ext uri="{FF2B5EF4-FFF2-40B4-BE49-F238E27FC236}">
                <a16:creationId xmlns:a16="http://schemas.microsoft.com/office/drawing/2014/main" id="{6590D725-F2F0-3548-A8D9-9C9858DBCF1E}"/>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6" name="Marcador de pie de página 5">
            <a:extLst>
              <a:ext uri="{FF2B5EF4-FFF2-40B4-BE49-F238E27FC236}">
                <a16:creationId xmlns:a16="http://schemas.microsoft.com/office/drawing/2014/main" id="{85DADCD9-A93B-1541-A172-CE1553FBD418}"/>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2505CDDF-2DE3-D748-AD06-E9A702F070D5}"/>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393100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E73C32-04E2-1840-A694-98AF0CFF37F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a:extLst>
              <a:ext uri="{FF2B5EF4-FFF2-40B4-BE49-F238E27FC236}">
                <a16:creationId xmlns:a16="http://schemas.microsoft.com/office/drawing/2014/main" id="{569EFF0F-D35A-224A-BC08-C7064DC33C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CAC9917-542B-3541-B757-E42D3351561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a:extLst>
              <a:ext uri="{FF2B5EF4-FFF2-40B4-BE49-F238E27FC236}">
                <a16:creationId xmlns:a16="http://schemas.microsoft.com/office/drawing/2014/main" id="{E4CC1ED6-01AA-1241-9E45-FC3180462F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1F9C3A2-64BE-204F-97AE-B37F23D8F53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6">
            <a:extLst>
              <a:ext uri="{FF2B5EF4-FFF2-40B4-BE49-F238E27FC236}">
                <a16:creationId xmlns:a16="http://schemas.microsoft.com/office/drawing/2014/main" id="{F07E8481-CA9A-DB4E-A4AF-53F5B221370B}"/>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8" name="Marcador de pie de página 7">
            <a:extLst>
              <a:ext uri="{FF2B5EF4-FFF2-40B4-BE49-F238E27FC236}">
                <a16:creationId xmlns:a16="http://schemas.microsoft.com/office/drawing/2014/main" id="{36A76C00-E1C0-4D4E-8D24-5D326644AD1B}"/>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B92FE646-C54C-3246-93A7-FA99CA54A8BF}"/>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902317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25735-D70C-7A41-8EEB-5F587759B5D8}"/>
              </a:ext>
            </a:extLst>
          </p:cNvPr>
          <p:cNvSpPr>
            <a:spLocks noGrp="1"/>
          </p:cNvSpPr>
          <p:nvPr>
            <p:ph type="title"/>
          </p:nvPr>
        </p:nvSpPr>
        <p:spPr/>
        <p:txBody>
          <a:bodyPr/>
          <a:lstStyle/>
          <a:p>
            <a:r>
              <a:rPr lang="es-ES"/>
              <a:t>Haga clic para modificar el estilo de título del patrón</a:t>
            </a:r>
            <a:endParaRPr lang="es-ES_tradnl"/>
          </a:p>
        </p:txBody>
      </p:sp>
      <p:sp>
        <p:nvSpPr>
          <p:cNvPr id="3" name="Marcador de fecha 2">
            <a:extLst>
              <a:ext uri="{FF2B5EF4-FFF2-40B4-BE49-F238E27FC236}">
                <a16:creationId xmlns:a16="http://schemas.microsoft.com/office/drawing/2014/main" id="{369B1758-D5D2-314C-992E-B2436FD00447}"/>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4" name="Marcador de pie de página 3">
            <a:extLst>
              <a:ext uri="{FF2B5EF4-FFF2-40B4-BE49-F238E27FC236}">
                <a16:creationId xmlns:a16="http://schemas.microsoft.com/office/drawing/2014/main" id="{6F32A62F-C383-614B-A2D9-BFF5B0FDD791}"/>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900D4B3D-B0B0-3041-BA06-C08617F3CA94}"/>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3248959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0B6A772-04AF-654E-8283-5D2933B7AEC9}"/>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3" name="Marcador de pie de página 2">
            <a:extLst>
              <a:ext uri="{FF2B5EF4-FFF2-40B4-BE49-F238E27FC236}">
                <a16:creationId xmlns:a16="http://schemas.microsoft.com/office/drawing/2014/main" id="{4A1C60D2-1F17-B14B-890D-EDE68E38B11D}"/>
              </a:ext>
            </a:extLst>
          </p:cNvPr>
          <p:cNvSpPr>
            <a:spLocks noGrp="1"/>
          </p:cNvSpPr>
          <p:nvPr>
            <p:ph type="ftr" sz="quarter" idx="11"/>
          </p:nvPr>
        </p:nvSpPr>
        <p:spPr/>
        <p:txBody>
          <a:bodyPr/>
          <a:lstStyle/>
          <a:p>
            <a:endParaRPr lang="en-US" dirty="0"/>
          </a:p>
        </p:txBody>
      </p:sp>
      <p:sp>
        <p:nvSpPr>
          <p:cNvPr id="4" name="Marcador de número de diapositiva 3">
            <a:extLst>
              <a:ext uri="{FF2B5EF4-FFF2-40B4-BE49-F238E27FC236}">
                <a16:creationId xmlns:a16="http://schemas.microsoft.com/office/drawing/2014/main" id="{087A9DD9-E4A8-8E40-B80E-92B954006621}"/>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3805560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26B176-B115-C346-91E0-AF642C8E60C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a:extLst>
              <a:ext uri="{FF2B5EF4-FFF2-40B4-BE49-F238E27FC236}">
                <a16:creationId xmlns:a16="http://schemas.microsoft.com/office/drawing/2014/main" id="{D47A2D7A-AFD5-5947-8E4F-852D95DAF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a:extLst>
              <a:ext uri="{FF2B5EF4-FFF2-40B4-BE49-F238E27FC236}">
                <a16:creationId xmlns:a16="http://schemas.microsoft.com/office/drawing/2014/main" id="{A2DB15EF-97BA-E544-B471-83FE88E828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7BEC71-5CAF-5841-BC1C-3F6F13215A80}"/>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6" name="Marcador de pie de página 5">
            <a:extLst>
              <a:ext uri="{FF2B5EF4-FFF2-40B4-BE49-F238E27FC236}">
                <a16:creationId xmlns:a16="http://schemas.microsoft.com/office/drawing/2014/main" id="{0CC10E2B-4FDB-4D42-8EDA-0D8294507777}"/>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A9287841-1AEC-5B4A-B09E-0E31DE358407}"/>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3794480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8DCD1D-B471-A74D-AD0C-DF337BC8949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a:extLst>
              <a:ext uri="{FF2B5EF4-FFF2-40B4-BE49-F238E27FC236}">
                <a16:creationId xmlns:a16="http://schemas.microsoft.com/office/drawing/2014/main" id="{68AC2A07-FFB8-3548-83AA-813B970BA4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dirty="0"/>
          </a:p>
        </p:txBody>
      </p:sp>
      <p:sp>
        <p:nvSpPr>
          <p:cNvPr id="4" name="Marcador de texto 3">
            <a:extLst>
              <a:ext uri="{FF2B5EF4-FFF2-40B4-BE49-F238E27FC236}">
                <a16:creationId xmlns:a16="http://schemas.microsoft.com/office/drawing/2014/main" id="{C653EF8C-83FF-6244-BDF9-31C65838C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4E4706C-6CCC-EB4E-8771-0AF60DB7CAE2}"/>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6" name="Marcador de pie de página 5">
            <a:extLst>
              <a:ext uri="{FF2B5EF4-FFF2-40B4-BE49-F238E27FC236}">
                <a16:creationId xmlns:a16="http://schemas.microsoft.com/office/drawing/2014/main" id="{88671AA0-8909-1247-9A7C-6D985C8777E6}"/>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3AFE7F62-8A4A-E340-9639-910F5686D3E8}"/>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3038603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B124B-2D4B-0D48-A86D-36B857C9347D}"/>
              </a:ext>
            </a:extLst>
          </p:cNvPr>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a:extLst>
              <a:ext uri="{FF2B5EF4-FFF2-40B4-BE49-F238E27FC236}">
                <a16:creationId xmlns:a16="http://schemas.microsoft.com/office/drawing/2014/main" id="{B70B2F1B-7129-EF47-8B7A-04FF931DB4B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a:extLst>
              <a:ext uri="{FF2B5EF4-FFF2-40B4-BE49-F238E27FC236}">
                <a16:creationId xmlns:a16="http://schemas.microsoft.com/office/drawing/2014/main" id="{9B0DFFF1-12F1-0041-AAB8-695051E92F84}"/>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5" name="Marcador de pie de página 4">
            <a:extLst>
              <a:ext uri="{FF2B5EF4-FFF2-40B4-BE49-F238E27FC236}">
                <a16:creationId xmlns:a16="http://schemas.microsoft.com/office/drawing/2014/main" id="{9C980FC9-621E-D64F-8D25-6617E79A3F12}"/>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9CB62E51-DF73-054B-9C00-5715CE2335BD}"/>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902715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7B6D4ED-0765-2F45-A17F-F96C12EDCBC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a:extLst>
              <a:ext uri="{FF2B5EF4-FFF2-40B4-BE49-F238E27FC236}">
                <a16:creationId xmlns:a16="http://schemas.microsoft.com/office/drawing/2014/main" id="{D206EF30-E540-D34A-A56B-6CFFFA79368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a:extLst>
              <a:ext uri="{FF2B5EF4-FFF2-40B4-BE49-F238E27FC236}">
                <a16:creationId xmlns:a16="http://schemas.microsoft.com/office/drawing/2014/main" id="{5BDF8FCB-8C35-124E-B890-92EEE2AF1D14}"/>
              </a:ext>
            </a:extLst>
          </p:cNvPr>
          <p:cNvSpPr>
            <a:spLocks noGrp="1"/>
          </p:cNvSpPr>
          <p:nvPr>
            <p:ph type="dt" sz="half" idx="10"/>
          </p:nvPr>
        </p:nvSpPr>
        <p:spPr/>
        <p:txBody>
          <a:bodyPr/>
          <a:lstStyle/>
          <a:p>
            <a:fld id="{1449AA12-8195-4182-A7AC-2E7E59DFBDAF}" type="datetimeFigureOut">
              <a:rPr lang="en-US" smtClean="0"/>
              <a:pPr/>
              <a:t>8/3/2022</a:t>
            </a:fld>
            <a:endParaRPr lang="en-US" dirty="0"/>
          </a:p>
        </p:txBody>
      </p:sp>
      <p:sp>
        <p:nvSpPr>
          <p:cNvPr id="5" name="Marcador de pie de página 4">
            <a:extLst>
              <a:ext uri="{FF2B5EF4-FFF2-40B4-BE49-F238E27FC236}">
                <a16:creationId xmlns:a16="http://schemas.microsoft.com/office/drawing/2014/main" id="{06A34D5F-F392-AF41-A2F2-B3F3AAA9AA20}"/>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346FCE0C-445C-744F-B12A-3D3C98FD6FEE}"/>
              </a:ext>
            </a:extLst>
          </p:cNvPr>
          <p:cNvSpPr>
            <a:spLocks noGrp="1"/>
          </p:cNvSpPr>
          <p:nvPr>
            <p:ph type="sldNum" sz="quarter" idx="12"/>
          </p:nvPr>
        </p:nvSpPr>
        <p:spPr/>
        <p:txBody>
          <a:body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238765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A18B293-491E-014A-A0F4-9791CD51FE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S_tradnl"/>
          </a:p>
        </p:txBody>
      </p:sp>
      <p:sp>
        <p:nvSpPr>
          <p:cNvPr id="3" name="Marcador de texto 2">
            <a:extLst>
              <a:ext uri="{FF2B5EF4-FFF2-40B4-BE49-F238E27FC236}">
                <a16:creationId xmlns:a16="http://schemas.microsoft.com/office/drawing/2014/main" id="{F727FDA7-FF9D-2543-8933-EDE244B5AB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a:extLst>
              <a:ext uri="{FF2B5EF4-FFF2-40B4-BE49-F238E27FC236}">
                <a16:creationId xmlns:a16="http://schemas.microsoft.com/office/drawing/2014/main" id="{06A4D850-CB31-1841-832F-3985DC32E6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49AA12-8195-4182-A7AC-2E7E59DFBDAF}" type="datetimeFigureOut">
              <a:rPr lang="en-US" smtClean="0"/>
              <a:pPr/>
              <a:t>8/3/2022</a:t>
            </a:fld>
            <a:endParaRPr lang="en-US" dirty="0"/>
          </a:p>
        </p:txBody>
      </p:sp>
      <p:sp>
        <p:nvSpPr>
          <p:cNvPr id="5" name="Marcador de pie de página 4">
            <a:extLst>
              <a:ext uri="{FF2B5EF4-FFF2-40B4-BE49-F238E27FC236}">
                <a16:creationId xmlns:a16="http://schemas.microsoft.com/office/drawing/2014/main" id="{85892C94-7090-8249-8646-A0580F204E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Marcador de número de diapositiva 5">
            <a:extLst>
              <a:ext uri="{FF2B5EF4-FFF2-40B4-BE49-F238E27FC236}">
                <a16:creationId xmlns:a16="http://schemas.microsoft.com/office/drawing/2014/main" id="{EF96772B-8A2A-1442-B731-A40FF5921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DFC975-2FD7-44A5-9E78-ECBA46156075}" type="slidenum">
              <a:rPr lang="en-US" smtClean="0"/>
              <a:pPr/>
              <a:t>‹Nº›</a:t>
            </a:fld>
            <a:endParaRPr lang="en-US" dirty="0"/>
          </a:p>
        </p:txBody>
      </p:sp>
    </p:spTree>
    <p:extLst>
      <p:ext uri="{BB962C8B-B14F-4D97-AF65-F5344CB8AC3E}">
        <p14:creationId xmlns:p14="http://schemas.microsoft.com/office/powerpoint/2010/main" val="36184992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0.jpe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7.xml"/><Relationship Id="rId1" Type="http://schemas.openxmlformats.org/officeDocument/2006/relationships/video" Target="https://www.youtube.com/embed/EfzKyV2e-uI?feature=oembed"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7.xml"/><Relationship Id="rId1" Type="http://schemas.openxmlformats.org/officeDocument/2006/relationships/video" Target="https://www.youtube.com/embed/xUWvJoBy6g0?feature=oembed"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7.xml"/><Relationship Id="rId1" Type="http://schemas.openxmlformats.org/officeDocument/2006/relationships/video" Target="https://www.youtube.com/embed/uNTY1R6pgvc?feature=oembed"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7.xml"/><Relationship Id="rId1" Type="http://schemas.openxmlformats.org/officeDocument/2006/relationships/video" Target="https://www.youtube.com/embed/wHHSF8XZB9k?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descr="Una manzana roja&#10;&#10;Descripción generada automáticamente con confianza baja">
            <a:extLst>
              <a:ext uri="{FF2B5EF4-FFF2-40B4-BE49-F238E27FC236}">
                <a16:creationId xmlns:a16="http://schemas.microsoft.com/office/drawing/2014/main" id="{BEE889D9-16C4-4306-951E-EB45EEB64912}"/>
              </a:ext>
            </a:extLst>
          </p:cNvPr>
          <p:cNvPicPr>
            <a:picLocks noChangeAspect="1"/>
          </p:cNvPicPr>
          <p:nvPr/>
        </p:nvPicPr>
        <p:blipFill rotWithShape="1">
          <a:blip r:embed="rId2"/>
          <a:srcRect l="3284" t="9091" r="5807"/>
          <a:stretch/>
        </p:blipFill>
        <p:spPr>
          <a:xfrm>
            <a:off x="20" y="10"/>
            <a:ext cx="12191981" cy="6857990"/>
          </a:xfrm>
          <a:prstGeom prst="rect">
            <a:avLst/>
          </a:prstGeom>
        </p:spPr>
      </p:pic>
      <p:sp>
        <p:nvSpPr>
          <p:cNvPr id="17" name="Rectangle 1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6 Título"/>
          <p:cNvSpPr>
            <a:spLocks noGrp="1"/>
          </p:cNvSpPr>
          <p:nvPr>
            <p:ph type="title"/>
          </p:nvPr>
        </p:nvSpPr>
        <p:spPr>
          <a:xfrm>
            <a:off x="404553" y="3091928"/>
            <a:ext cx="9078562" cy="2387600"/>
          </a:xfrm>
        </p:spPr>
        <p:txBody>
          <a:bodyPr vert="horz" lIns="91440" tIns="45720" rIns="91440" bIns="45720" rtlCol="0" anchor="b">
            <a:normAutofit/>
          </a:bodyPr>
          <a:lstStyle/>
          <a:p>
            <a:r>
              <a:rPr lang="en-US" sz="6600" dirty="0">
                <a:effectLst>
                  <a:outerShdw blurRad="38100" dist="38100" dir="2700000" algn="tl">
                    <a:srgbClr val="000000">
                      <a:alpha val="43137"/>
                    </a:srgbClr>
                  </a:outerShdw>
                </a:effectLst>
              </a:rPr>
              <a:t>FASES DE LA MITOSIS</a:t>
            </a:r>
          </a:p>
        </p:txBody>
      </p:sp>
      <p:sp>
        <p:nvSpPr>
          <p:cNvPr id="19" name="Rectangle: Rounded Corners 18">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7 Marcador de texto"/>
          <p:cNvSpPr>
            <a:spLocks noGrp="1"/>
          </p:cNvSpPr>
          <p:nvPr>
            <p:ph type="body" idx="1"/>
          </p:nvPr>
        </p:nvSpPr>
        <p:spPr>
          <a:xfrm>
            <a:off x="404553" y="5624945"/>
            <a:ext cx="9078562" cy="592975"/>
          </a:xfrm>
        </p:spPr>
        <p:txBody>
          <a:bodyPr vert="horz" lIns="91440" tIns="45720" rIns="91440" bIns="45720" rtlCol="0" anchor="ctr">
            <a:normAutofit/>
          </a:bodyPr>
          <a:lstStyle/>
          <a:p>
            <a:r>
              <a:rPr lang="en-US" sz="3600" b="1" dirty="0">
                <a:solidFill>
                  <a:schemeClr val="tx1"/>
                </a:solidFill>
                <a:effectLst>
                  <a:outerShdw blurRad="38100" dist="38100" dir="2700000" algn="tl">
                    <a:srgbClr val="000000">
                      <a:alpha val="43137"/>
                    </a:srgbClr>
                  </a:outerShdw>
                </a:effectLst>
              </a:rPr>
              <a:t>METAFASE</a:t>
            </a: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Documents and Settings\Posgrado1\Escritorio\BIOLOGIA CELULAR 2010 material de clase\Material apoyo Biol cel\LIbro Biol cel Pollard\figuras\S9781416022558-044-f012.jpg"/>
          <p:cNvPicPr>
            <a:picLocks noChangeAspect="1" noChangeArrowheads="1"/>
          </p:cNvPicPr>
          <p:nvPr/>
        </p:nvPicPr>
        <p:blipFill rotWithShape="1">
          <a:blip r:embed="rId3" cstate="print"/>
          <a:srcRect l="-15978" r="14612" b="1"/>
          <a:stretch/>
        </p:blipFill>
        <p:spPr bwMode="auto">
          <a:xfrm>
            <a:off x="5039883" y="13"/>
            <a:ext cx="7152116" cy="3364979"/>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a:noFill/>
        </p:spPr>
      </p:pic>
      <p:sp>
        <p:nvSpPr>
          <p:cNvPr id="2" name="1 Título"/>
          <p:cNvSpPr>
            <a:spLocks noGrp="1"/>
          </p:cNvSpPr>
          <p:nvPr>
            <p:ph type="title"/>
          </p:nvPr>
        </p:nvSpPr>
        <p:spPr>
          <a:xfrm>
            <a:off x="448057" y="859536"/>
            <a:ext cx="4832801" cy="1243584"/>
          </a:xfrm>
        </p:spPr>
        <p:txBody>
          <a:bodyPr vert="horz" lIns="121920" tIns="60960" rIns="121920" bIns="60960" rtlCol="0" anchor="ctr">
            <a:normAutofit/>
          </a:bodyPr>
          <a:lstStyle/>
          <a:p>
            <a:pPr defTabSz="1219170"/>
            <a:r>
              <a:rPr lang="en-US" sz="6600" b="1" dirty="0">
                <a:effectLst>
                  <a:outerShdw blurRad="38100" dist="38100" dir="2700000" algn="tl">
                    <a:srgbClr val="000000">
                      <a:alpha val="43137"/>
                    </a:srgbClr>
                  </a:outerShdw>
                </a:effectLst>
              </a:rPr>
              <a:t>METAFASE</a:t>
            </a:r>
          </a:p>
        </p:txBody>
      </p:sp>
      <p:sp>
        <p:nvSpPr>
          <p:cNvPr id="5" name="4 Marcador de contenido"/>
          <p:cNvSpPr>
            <a:spLocks noGrp="1"/>
          </p:cNvSpPr>
          <p:nvPr>
            <p:ph sz="half" idx="2"/>
          </p:nvPr>
        </p:nvSpPr>
        <p:spPr>
          <a:xfrm>
            <a:off x="448056" y="2512611"/>
            <a:ext cx="4832803" cy="3664351"/>
          </a:xfrm>
        </p:spPr>
        <p:txBody>
          <a:bodyPr vert="horz" lIns="121920" tIns="60960" rIns="121920" bIns="60960" rtlCol="0" anchor="t">
            <a:normAutofit/>
          </a:bodyPr>
          <a:lstStyle/>
          <a:p>
            <a:pPr lvl="1" indent="-304165" defTabSz="1219170"/>
            <a:r>
              <a:rPr lang="es-ES_tradnl" sz="2000" dirty="0"/>
              <a:t>Los cromosomas oscilan en la placa metafásica.</a:t>
            </a:r>
            <a:endParaRPr lang="es-ES_tradnl" sz="2000" dirty="0">
              <a:cs typeface="Calibri"/>
            </a:endParaRPr>
          </a:p>
          <a:p>
            <a:pPr lvl="1" indent="-304165" defTabSz="1219170"/>
            <a:endParaRPr lang="es-ES_tradnl" sz="2000" dirty="0">
              <a:cs typeface="Calibri"/>
            </a:endParaRPr>
          </a:p>
          <a:p>
            <a:pPr lvl="1" indent="-304165" defTabSz="1219170"/>
            <a:r>
              <a:rPr lang="es-ES_tradnl" sz="2000" dirty="0"/>
              <a:t>Los microtúbulos del cinetocoro mantienen sus largos constantes crecen por el extremo más (cinetocoro) lentamente y se despolarizan por el extremo menos (polos)lentamente.</a:t>
            </a:r>
            <a:endParaRPr lang="es-ES_tradnl" sz="2000" dirty="0">
              <a:cs typeface="Calibri"/>
            </a:endParaRPr>
          </a:p>
          <a:p>
            <a:pPr indent="-304165" defTabSz="1219170"/>
            <a:endParaRPr lang="es-ES_tradnl" dirty="0">
              <a:cs typeface="Calibri"/>
            </a:endParaRPr>
          </a:p>
        </p:txBody>
      </p:sp>
      <p:pic>
        <p:nvPicPr>
          <p:cNvPr id="1027" name="Picture 3"/>
          <p:cNvPicPr>
            <a:picLocks noGrp="1" noChangeAspect="1" noChangeArrowheads="1"/>
          </p:cNvPicPr>
          <p:nvPr>
            <p:ph sz="quarter" idx="4"/>
          </p:nvPr>
        </p:nvPicPr>
        <p:blipFill rotWithShape="1">
          <a:blip r:embed="rId4" cstate="print"/>
          <a:srcRect l="-21141" t="3694" r="-2" b="724"/>
          <a:stretch/>
        </p:blipFill>
        <p:spPr bwMode="auto">
          <a:xfrm>
            <a:off x="4943872" y="3140968"/>
            <a:ext cx="7248128" cy="3570715"/>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1 Título"/>
          <p:cNvSpPr>
            <a:spLocks noGrp="1"/>
          </p:cNvSpPr>
          <p:nvPr>
            <p:ph type="title"/>
          </p:nvPr>
        </p:nvSpPr>
        <p:spPr>
          <a:xfrm>
            <a:off x="841249" y="539578"/>
            <a:ext cx="5981278" cy="1684638"/>
          </a:xfrm>
        </p:spPr>
        <p:txBody>
          <a:bodyPr vert="horz" lIns="91440" tIns="45720" rIns="91440" bIns="45720" rtlCol="0" anchor="ctr">
            <a:normAutofit/>
          </a:bodyPr>
          <a:lstStyle/>
          <a:p>
            <a:r>
              <a:rPr lang="en-US" sz="4000" dirty="0">
                <a:effectLst>
                  <a:outerShdw blurRad="38100" dist="38100" dir="2700000" algn="tl">
                    <a:srgbClr val="000000">
                      <a:alpha val="43137"/>
                    </a:srgbClr>
                  </a:outerShdw>
                </a:effectLst>
              </a:rPr>
              <a:t>METAFASE</a:t>
            </a:r>
          </a:p>
        </p:txBody>
      </p:sp>
      <p:sp>
        <p:nvSpPr>
          <p:cNvPr id="5" name="4 Marcador de contenido"/>
          <p:cNvSpPr>
            <a:spLocks noGrp="1"/>
          </p:cNvSpPr>
          <p:nvPr>
            <p:ph sz="half" idx="2"/>
          </p:nvPr>
        </p:nvSpPr>
        <p:spPr>
          <a:xfrm>
            <a:off x="838201" y="3286897"/>
            <a:ext cx="5981278" cy="2813222"/>
          </a:xfrm>
        </p:spPr>
        <p:txBody>
          <a:bodyPr vert="horz" lIns="91440" tIns="45720" rIns="91440" bIns="45720" rtlCol="0">
            <a:normAutofit/>
          </a:bodyPr>
          <a:lstStyle/>
          <a:p>
            <a:pPr marL="0"/>
            <a:r>
              <a:rPr lang="es-ES_tradnl" sz="2000" b="1" dirty="0">
                <a:effectLst>
                  <a:outerShdw blurRad="38100" dist="38100" dir="2700000" algn="tl">
                    <a:srgbClr val="000000">
                      <a:alpha val="43137"/>
                    </a:srgbClr>
                  </a:outerShdw>
                </a:effectLst>
              </a:rPr>
              <a:t>Punto de control (checkpoint) de la Metafase</a:t>
            </a:r>
          </a:p>
          <a:p>
            <a:r>
              <a:rPr lang="es-ES_tradnl" sz="2000" dirty="0"/>
              <a:t>Los microtúbulos en contacto con el cinetocoro se unen a proteínquinasas (BubR1) que inhiben la transición a la anafase a través de una serie de interacciones.</a:t>
            </a:r>
          </a:p>
          <a:p>
            <a:pPr marL="0"/>
            <a:endParaRPr lang="es-ES_tradnl" sz="2000" dirty="0"/>
          </a:p>
          <a:p>
            <a:r>
              <a:rPr lang="es-ES_tradnl" sz="2000" dirty="0"/>
              <a:t>BubR1 fosforila Mad1p II, Mad1p activa  Mad2p II, y Mad2p inhibe APC/C.</a:t>
            </a:r>
          </a:p>
          <a:p>
            <a:endParaRPr lang="es-ES_tradnl" sz="2000" dirty="0"/>
          </a:p>
        </p:txBody>
      </p:sp>
      <p:pic>
        <p:nvPicPr>
          <p:cNvPr id="1028" name="Picture 4" descr="C:\Documents and Settings\Posgrado1\Escritorio\BIOLOGIA CELULAR 2010 material de clase\Material apoyo Biol cel\LIbro Biol cel Pollard\figuras\S9781416022558-044-f012.jpg"/>
          <p:cNvPicPr>
            <a:picLocks noChangeAspect="1" noChangeArrowheads="1"/>
          </p:cNvPicPr>
          <p:nvPr/>
        </p:nvPicPr>
        <p:blipFill>
          <a:blip r:embed="rId3" cstate="print"/>
          <a:stretch>
            <a:fillRect/>
          </a:stretch>
        </p:blipFill>
        <p:spPr bwMode="auto">
          <a:xfrm>
            <a:off x="4040659" y="383803"/>
            <a:ext cx="7957734" cy="2824995"/>
          </a:xfrm>
          <a:prstGeom prst="rect">
            <a:avLst/>
          </a:prstGeom>
          <a:noFill/>
        </p:spPr>
      </p:pic>
      <p:pic>
        <p:nvPicPr>
          <p:cNvPr id="7" name="Picture 2"/>
          <p:cNvPicPr>
            <a:picLocks noGrp="1" noChangeAspect="1" noChangeArrowheads="1"/>
          </p:cNvPicPr>
          <p:nvPr>
            <p:ph sz="quarter" idx="4"/>
          </p:nvPr>
        </p:nvPicPr>
        <p:blipFill>
          <a:blip r:embed="rId4" cstate="print"/>
          <a:stretch>
            <a:fillRect/>
          </a:stretch>
        </p:blipFill>
        <p:spPr bwMode="auto">
          <a:xfrm>
            <a:off x="7462789" y="3311612"/>
            <a:ext cx="4359188" cy="3138616"/>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descr="Una manzana roja&#10;&#10;Descripción generada automáticamente con confianza baja">
            <a:extLst>
              <a:ext uri="{FF2B5EF4-FFF2-40B4-BE49-F238E27FC236}">
                <a16:creationId xmlns:a16="http://schemas.microsoft.com/office/drawing/2014/main" id="{C9D6EC2A-1128-4DFA-ADEA-FD72AA8C8509}"/>
              </a:ext>
            </a:extLst>
          </p:cNvPr>
          <p:cNvPicPr>
            <a:picLocks noChangeAspect="1"/>
          </p:cNvPicPr>
          <p:nvPr/>
        </p:nvPicPr>
        <p:blipFill rotWithShape="1">
          <a:blip r:embed="rId2"/>
          <a:srcRect l="401" t="9091" r="8690"/>
          <a:stretch/>
        </p:blipFill>
        <p:spPr>
          <a:xfrm>
            <a:off x="20" y="10"/>
            <a:ext cx="12191981" cy="6857990"/>
          </a:xfrm>
          <a:prstGeom prst="rect">
            <a:avLst/>
          </a:prstGeom>
        </p:spPr>
      </p:pic>
      <p:sp>
        <p:nvSpPr>
          <p:cNvPr id="17" name="Rectangle 1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6 Título"/>
          <p:cNvSpPr>
            <a:spLocks noGrp="1"/>
          </p:cNvSpPr>
          <p:nvPr>
            <p:ph type="title"/>
          </p:nvPr>
        </p:nvSpPr>
        <p:spPr>
          <a:xfrm>
            <a:off x="404553" y="3091928"/>
            <a:ext cx="9078562" cy="2387600"/>
          </a:xfrm>
        </p:spPr>
        <p:txBody>
          <a:bodyPr vert="horz" lIns="91440" tIns="45720" rIns="91440" bIns="45720" rtlCol="0" anchor="b">
            <a:normAutofit/>
          </a:bodyPr>
          <a:lstStyle/>
          <a:p>
            <a:r>
              <a:rPr lang="en-US" sz="6600" dirty="0">
                <a:effectLst>
                  <a:outerShdw blurRad="38100" dist="38100" dir="2700000" algn="tl">
                    <a:srgbClr val="000000">
                      <a:alpha val="43137"/>
                    </a:srgbClr>
                  </a:outerShdw>
                </a:effectLst>
              </a:rPr>
              <a:t>FASES DE LA MITOSIS</a:t>
            </a:r>
          </a:p>
        </p:txBody>
      </p:sp>
      <p:sp>
        <p:nvSpPr>
          <p:cNvPr id="19" name="Rectangle: Rounded Corners 18">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7 Marcador de texto"/>
          <p:cNvSpPr>
            <a:spLocks noGrp="1"/>
          </p:cNvSpPr>
          <p:nvPr>
            <p:ph type="body" idx="1"/>
          </p:nvPr>
        </p:nvSpPr>
        <p:spPr>
          <a:xfrm>
            <a:off x="404553" y="5624945"/>
            <a:ext cx="9078562" cy="592975"/>
          </a:xfrm>
        </p:spPr>
        <p:txBody>
          <a:bodyPr vert="horz" lIns="91440" tIns="45720" rIns="91440" bIns="45720" rtlCol="0" anchor="ctr">
            <a:normAutofit fontScale="92500" lnSpcReduction="20000"/>
          </a:bodyPr>
          <a:lstStyle/>
          <a:p>
            <a:r>
              <a:rPr lang="en-US" sz="4400" b="1" dirty="0">
                <a:solidFill>
                  <a:schemeClr val="tx1"/>
                </a:solidFill>
                <a:effectLst>
                  <a:outerShdw blurRad="38100" dist="38100" dir="2700000" algn="tl">
                    <a:srgbClr val="000000">
                      <a:alpha val="43137"/>
                    </a:srgbClr>
                  </a:outerShdw>
                </a:effectLst>
              </a:rPr>
              <a:t>ANAFASE</a:t>
            </a:r>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648929" y="629266"/>
            <a:ext cx="3505495" cy="1622321"/>
          </a:xfrm>
        </p:spPr>
        <p:txBody>
          <a:bodyPr vert="horz" lIns="91440" tIns="45720" rIns="91440" bIns="45720" rtlCol="0" anchor="ctr">
            <a:normAutofit/>
          </a:bodyPr>
          <a:lstStyle/>
          <a:p>
            <a:r>
              <a:rPr lang="en-US" b="1" kern="1200" dirty="0">
                <a:solidFill>
                  <a:schemeClr val="tx1"/>
                </a:solidFill>
                <a:effectLst>
                  <a:outerShdw blurRad="38100" dist="38100" dir="2700000" algn="tl">
                    <a:srgbClr val="000000">
                      <a:alpha val="43137"/>
                    </a:srgbClr>
                  </a:outerShdw>
                </a:effectLst>
                <a:latin typeface="+mj-lt"/>
                <a:ea typeface="+mj-ea"/>
                <a:cs typeface="+mj-cs"/>
              </a:rPr>
              <a:t>ANAFASE</a:t>
            </a:r>
            <a:endParaRPr lang="en-US" kern="1200" dirty="0">
              <a:solidFill>
                <a:schemeClr val="tx1"/>
              </a:solidFill>
              <a:effectLst>
                <a:outerShdw blurRad="38100" dist="38100" dir="2700000" algn="tl">
                  <a:srgbClr val="000000">
                    <a:alpha val="43137"/>
                  </a:srgbClr>
                </a:outerShdw>
              </a:effectLst>
              <a:latin typeface="+mj-lt"/>
              <a:ea typeface="+mj-ea"/>
              <a:cs typeface="+mj-cs"/>
            </a:endParaRPr>
          </a:p>
        </p:txBody>
      </p:sp>
      <p:sp>
        <p:nvSpPr>
          <p:cNvPr id="5" name="4 Marcador de contenido"/>
          <p:cNvSpPr>
            <a:spLocks noGrp="1"/>
          </p:cNvSpPr>
          <p:nvPr>
            <p:ph sz="half" idx="2"/>
          </p:nvPr>
        </p:nvSpPr>
        <p:spPr>
          <a:xfrm>
            <a:off x="484214" y="2001796"/>
            <a:ext cx="3939505" cy="4460788"/>
          </a:xfrm>
        </p:spPr>
        <p:txBody>
          <a:bodyPr vert="horz" lIns="91440" tIns="45720" rIns="91440" bIns="45720" rtlCol="0">
            <a:normAutofit/>
          </a:bodyPr>
          <a:lstStyle/>
          <a:p>
            <a:r>
              <a:rPr lang="es-ES_tradnl" sz="2000" dirty="0"/>
              <a:t>La Activación del complejo APC/C conduce a una proteólisis dependiente de ubiquitinas de los siguiente:</a:t>
            </a:r>
          </a:p>
          <a:p>
            <a:pPr lvl="1"/>
            <a:r>
              <a:rPr lang="es-ES_tradnl" sz="2000" b="1" dirty="0"/>
              <a:t>Ciclina B</a:t>
            </a:r>
            <a:r>
              <a:rPr lang="es-ES_tradnl" sz="2000" dirty="0"/>
              <a:t> (requerida para salir de la mitosis).</a:t>
            </a:r>
          </a:p>
          <a:p>
            <a:pPr lvl="1"/>
            <a:r>
              <a:rPr lang="es-ES_tradnl" sz="2000" b="1" dirty="0"/>
              <a:t>Securina</a:t>
            </a:r>
            <a:r>
              <a:rPr lang="es-ES_tradnl" sz="2000" dirty="0"/>
              <a:t> (requerida para la separación de las cromátides hermanas); la securina inhibe la proteasa separasa que degrada la cohesina (mantiene las  cromátides hermanas juntas).</a:t>
            </a:r>
          </a:p>
          <a:p>
            <a:endParaRPr lang="es-ES_tradnl" sz="20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074" name="Picture 2" descr="C:\Documents and Settings\Posgrado1\Escritorio\BIOLOGIA CELULAR 2010 material de clase\Material apoyo Biol cel\LIbro Biol cel Pollard\figuras\S9781416022558-044-f016.jpg"/>
          <p:cNvPicPr>
            <a:picLocks noGrp="1" noChangeAspect="1" noChangeArrowheads="1"/>
          </p:cNvPicPr>
          <p:nvPr>
            <p:ph sz="quarter" idx="4"/>
          </p:nvPr>
        </p:nvPicPr>
        <p:blipFill>
          <a:blip r:embed="rId3" cstate="print"/>
          <a:stretch>
            <a:fillRect/>
          </a:stretch>
        </p:blipFill>
        <p:spPr bwMode="auto">
          <a:xfrm>
            <a:off x="5430019" y="807593"/>
            <a:ext cx="5971017" cy="5239568"/>
          </a:xfrm>
          <a:prstGeom prst="rect">
            <a:avLst/>
          </a:prstGeom>
          <a:noFill/>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9349" y="777721"/>
            <a:ext cx="6042720" cy="638944"/>
          </a:xfrm>
        </p:spPr>
        <p:txBody>
          <a:bodyPr>
            <a:noAutofit/>
          </a:bodyPr>
          <a:lstStyle/>
          <a:p>
            <a:r>
              <a:rPr lang="es-ES" sz="3733" b="1" dirty="0">
                <a:effectLst>
                  <a:outerShdw blurRad="38100" dist="38100" dir="2700000" algn="tl">
                    <a:srgbClr val="000000">
                      <a:alpha val="43137"/>
                    </a:srgbClr>
                  </a:outerShdw>
                </a:effectLst>
              </a:rPr>
              <a:t>ANAFASE</a:t>
            </a:r>
            <a:br>
              <a:rPr lang="es-ES" sz="3733" dirty="0">
                <a:effectLst>
                  <a:outerShdw blurRad="38100" dist="38100" dir="2700000" algn="tl">
                    <a:srgbClr val="000000">
                      <a:alpha val="43137"/>
                    </a:srgbClr>
                  </a:outerShdw>
                </a:effectLst>
              </a:rPr>
            </a:br>
            <a:r>
              <a:rPr lang="es-ES" sz="2400" dirty="0">
                <a:effectLst>
                  <a:outerShdw blurRad="38100" dist="38100" dir="2700000" algn="tl">
                    <a:srgbClr val="000000">
                      <a:alpha val="43137"/>
                    </a:srgbClr>
                  </a:outerShdw>
                </a:effectLst>
              </a:rPr>
              <a:t>Dinámica del huso mitótico y separación de cromosomas</a:t>
            </a:r>
            <a:br>
              <a:rPr lang="es-ES" sz="3733" dirty="0">
                <a:effectLst>
                  <a:outerShdw blurRad="38100" dist="38100" dir="2700000" algn="tl">
                    <a:srgbClr val="000000">
                      <a:alpha val="43137"/>
                    </a:srgbClr>
                  </a:outerShdw>
                </a:effectLst>
              </a:rPr>
            </a:br>
            <a:endParaRPr lang="es-ES" sz="3733" dirty="0">
              <a:effectLst>
                <a:outerShdw blurRad="38100" dist="38100" dir="2700000" algn="tl">
                  <a:srgbClr val="000000">
                    <a:alpha val="43137"/>
                  </a:srgbClr>
                </a:outerShdw>
              </a:effectLst>
            </a:endParaRPr>
          </a:p>
        </p:txBody>
      </p:sp>
      <p:sp>
        <p:nvSpPr>
          <p:cNvPr id="5" name="4 Marcador de contenido"/>
          <p:cNvSpPr>
            <a:spLocks noGrp="1"/>
          </p:cNvSpPr>
          <p:nvPr>
            <p:ph sz="half" idx="2"/>
          </p:nvPr>
        </p:nvSpPr>
        <p:spPr>
          <a:xfrm>
            <a:off x="501675" y="1748542"/>
            <a:ext cx="6062464" cy="3152391"/>
          </a:xfrm>
        </p:spPr>
        <p:txBody>
          <a:bodyPr>
            <a:normAutofit/>
          </a:bodyPr>
          <a:lstStyle/>
          <a:p>
            <a:pPr>
              <a:buNone/>
            </a:pPr>
            <a:r>
              <a:rPr lang="es-ES" sz="1867" b="1" dirty="0"/>
              <a:t>Anafase A </a:t>
            </a:r>
            <a:endParaRPr lang="es-ES" sz="1867" dirty="0"/>
          </a:p>
          <a:p>
            <a:pPr>
              <a:buNone/>
            </a:pPr>
            <a:r>
              <a:rPr lang="es-ES" sz="1867" dirty="0"/>
              <a:t>	Movimiento de cromosomas por despolarización de microtúbulos unidos al cinetocoro.</a:t>
            </a:r>
          </a:p>
          <a:p>
            <a:pPr>
              <a:buNone/>
            </a:pPr>
            <a:r>
              <a:rPr lang="es-ES" sz="1867" b="1" dirty="0"/>
              <a:t>Anafase B</a:t>
            </a:r>
            <a:endParaRPr lang="es-ES" sz="1867" dirty="0"/>
          </a:p>
          <a:p>
            <a:pPr>
              <a:buNone/>
            </a:pPr>
            <a:r>
              <a:rPr lang="es-ES" sz="1867" dirty="0"/>
              <a:t>	Las </a:t>
            </a:r>
            <a:r>
              <a:rPr lang="es-ES" sz="1867" dirty="0" err="1"/>
              <a:t>quinecinas</a:t>
            </a:r>
            <a:r>
              <a:rPr lang="es-ES" sz="1867" dirty="0"/>
              <a:t> bipolares interactúan con los microtúbulos sobrepuestos de tal forma que separan los polos. En algunas células los microtúbulos polares se alargan.</a:t>
            </a:r>
          </a:p>
          <a:p>
            <a:pPr>
              <a:buNone/>
            </a:pPr>
            <a:endParaRPr lang="es-ES" sz="1867" dirty="0"/>
          </a:p>
          <a:p>
            <a:pPr>
              <a:buNone/>
            </a:pPr>
            <a:endParaRPr lang="es-ES" sz="1867" dirty="0"/>
          </a:p>
          <a:p>
            <a:pPr>
              <a:buNone/>
            </a:pPr>
            <a:endParaRPr lang="es-ES" sz="1867" dirty="0"/>
          </a:p>
          <a:p>
            <a:pPr>
              <a:buNone/>
            </a:pPr>
            <a:endParaRPr lang="es-ES" sz="1867" dirty="0"/>
          </a:p>
        </p:txBody>
      </p:sp>
      <p:pic>
        <p:nvPicPr>
          <p:cNvPr id="51202" name="Picture 2" descr="47_007b"/>
          <p:cNvPicPr>
            <a:picLocks noGrp="1" noChangeAspect="1" noChangeArrowheads="1"/>
          </p:cNvPicPr>
          <p:nvPr>
            <p:ph sz="quarter" idx="4"/>
          </p:nvPr>
        </p:nvPicPr>
        <p:blipFill>
          <a:blip r:embed="rId3" cstate="print"/>
          <a:stretch>
            <a:fillRect/>
          </a:stretch>
        </p:blipFill>
        <p:spPr bwMode="auto">
          <a:xfrm>
            <a:off x="6576054" y="332656"/>
            <a:ext cx="5376597" cy="3744416"/>
          </a:xfrm>
          <a:prstGeom prst="rect">
            <a:avLst/>
          </a:prstGeom>
          <a:noFill/>
          <a:ln w="9525">
            <a:noFill/>
            <a:miter lim="800000"/>
            <a:headEnd/>
            <a:tailEnd/>
          </a:ln>
        </p:spPr>
      </p:pic>
      <p:pic>
        <p:nvPicPr>
          <p:cNvPr id="4098" name="Picture 2" descr="C:\Documents and Settings\Posgrado1\Escritorio\BIOLOGIA CELULAR 2010 material de clase\Material apoyo Biol cel\LIbro Biol cel Pollard\figuras\S9781416022558-044-f015.jpg"/>
          <p:cNvPicPr>
            <a:picLocks noChangeAspect="1" noChangeArrowheads="1"/>
          </p:cNvPicPr>
          <p:nvPr/>
        </p:nvPicPr>
        <p:blipFill>
          <a:blip r:embed="rId4" cstate="print"/>
          <a:srcRect/>
          <a:stretch>
            <a:fillRect/>
          </a:stretch>
        </p:blipFill>
        <p:spPr bwMode="auto">
          <a:xfrm>
            <a:off x="335360" y="4221089"/>
            <a:ext cx="11600160" cy="237934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descr="Una manzana roja&#10;&#10;Descripción generada automáticamente con confianza baja">
            <a:extLst>
              <a:ext uri="{FF2B5EF4-FFF2-40B4-BE49-F238E27FC236}">
                <a16:creationId xmlns:a16="http://schemas.microsoft.com/office/drawing/2014/main" id="{218CCFB4-A5D5-4910-B4A7-6D2D3AC1BC5D}"/>
              </a:ext>
            </a:extLst>
          </p:cNvPr>
          <p:cNvPicPr>
            <a:picLocks noChangeAspect="1"/>
          </p:cNvPicPr>
          <p:nvPr/>
        </p:nvPicPr>
        <p:blipFill rotWithShape="1">
          <a:blip r:embed="rId2"/>
          <a:srcRect l="401" t="9091" r="8690"/>
          <a:stretch/>
        </p:blipFill>
        <p:spPr>
          <a:xfrm>
            <a:off x="27" y="13"/>
            <a:ext cx="12191973" cy="6857987"/>
          </a:xfrm>
          <a:prstGeom prst="rect">
            <a:avLst/>
          </a:prstGeom>
        </p:spPr>
      </p:pic>
      <p:sp>
        <p:nvSpPr>
          <p:cNvPr id="17" name="Rectangle 1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6 Título"/>
          <p:cNvSpPr>
            <a:spLocks noGrp="1"/>
          </p:cNvSpPr>
          <p:nvPr>
            <p:ph type="title"/>
          </p:nvPr>
        </p:nvSpPr>
        <p:spPr>
          <a:xfrm>
            <a:off x="404553" y="3091928"/>
            <a:ext cx="9078562" cy="2387600"/>
          </a:xfrm>
        </p:spPr>
        <p:txBody>
          <a:bodyPr vert="horz" lIns="91440" tIns="45720" rIns="91440" bIns="45720" rtlCol="0" anchor="b">
            <a:normAutofit/>
          </a:bodyPr>
          <a:lstStyle/>
          <a:p>
            <a:r>
              <a:rPr lang="en-US" sz="6600" dirty="0">
                <a:effectLst>
                  <a:outerShdw blurRad="38100" dist="38100" dir="2700000" algn="tl">
                    <a:srgbClr val="000000">
                      <a:alpha val="43137"/>
                    </a:srgbClr>
                  </a:outerShdw>
                </a:effectLst>
              </a:rPr>
              <a:t>FASES DE LA MITOSIS</a:t>
            </a:r>
          </a:p>
        </p:txBody>
      </p:sp>
      <p:sp>
        <p:nvSpPr>
          <p:cNvPr id="19" name="Rectangle: Rounded Corners 18">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7 Marcador de texto"/>
          <p:cNvSpPr>
            <a:spLocks noGrp="1"/>
          </p:cNvSpPr>
          <p:nvPr>
            <p:ph type="body" idx="1"/>
          </p:nvPr>
        </p:nvSpPr>
        <p:spPr>
          <a:xfrm>
            <a:off x="404553" y="5624945"/>
            <a:ext cx="9078562" cy="592975"/>
          </a:xfrm>
        </p:spPr>
        <p:txBody>
          <a:bodyPr vert="horz" lIns="91440" tIns="45720" rIns="91440" bIns="45720" rtlCol="0" anchor="ctr">
            <a:normAutofit fontScale="92500" lnSpcReduction="20000"/>
          </a:bodyPr>
          <a:lstStyle/>
          <a:p>
            <a:r>
              <a:rPr lang="en-US" sz="4400" b="1" dirty="0">
                <a:solidFill>
                  <a:schemeClr val="tx1"/>
                </a:solidFill>
                <a:effectLst>
                  <a:outerShdw blurRad="38100" dist="38100" dir="2700000" algn="tl">
                    <a:srgbClr val="000000">
                      <a:alpha val="43137"/>
                    </a:srgbClr>
                  </a:outerShdw>
                </a:effectLst>
              </a:rPr>
              <a:t>TELOFASE</a:t>
            </a:r>
          </a:p>
        </p:txBody>
      </p:sp>
    </p:spTree>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43339" y="476237"/>
            <a:ext cx="10363200" cy="625592"/>
          </a:xfrm>
        </p:spPr>
        <p:txBody>
          <a:bodyPr>
            <a:noAutofit/>
          </a:bodyPr>
          <a:lstStyle/>
          <a:p>
            <a:r>
              <a:rPr lang="es-ES" sz="4800" b="1" dirty="0">
                <a:effectLst>
                  <a:outerShdw blurRad="38100" dist="38100" dir="2700000" algn="tl">
                    <a:srgbClr val="000000">
                      <a:alpha val="43137"/>
                    </a:srgbClr>
                  </a:outerShdw>
                </a:effectLst>
              </a:rPr>
              <a:t>TELOFASE</a:t>
            </a:r>
            <a:endParaRPr lang="es-ES" sz="4800" b="1" dirty="0"/>
          </a:p>
        </p:txBody>
      </p:sp>
      <p:sp>
        <p:nvSpPr>
          <p:cNvPr id="5" name="4 Marcador de contenido"/>
          <p:cNvSpPr>
            <a:spLocks noGrp="1"/>
          </p:cNvSpPr>
          <p:nvPr>
            <p:ph sz="half" idx="2"/>
          </p:nvPr>
        </p:nvSpPr>
        <p:spPr>
          <a:xfrm>
            <a:off x="0" y="1101829"/>
            <a:ext cx="5999989" cy="3383288"/>
          </a:xfrm>
        </p:spPr>
        <p:txBody>
          <a:bodyPr vert="horz" lIns="91440" tIns="45720" rIns="91440" bIns="45720" rtlCol="0" anchor="t">
            <a:noAutofit/>
          </a:bodyPr>
          <a:lstStyle/>
          <a:p>
            <a:r>
              <a:rPr lang="es-ES" sz="1600" dirty="0"/>
              <a:t>Los cromosomas se encuentran en el polo y la envoltura nuclear se ensambla en la superficie de los cromosomas.</a:t>
            </a:r>
          </a:p>
          <a:p>
            <a:r>
              <a:rPr lang="es-ES" sz="1600" dirty="0"/>
              <a:t>Las láminas son desfosforiladas, se unen a la cromatina y anclan vesículas de la envoltura nuclear a los cromosomas.</a:t>
            </a:r>
          </a:p>
          <a:p>
            <a:r>
              <a:rPr lang="es-ES" sz="1600" dirty="0"/>
              <a:t>Estas vesículas se fusionan  para formar una envoltura nuclear continua.</a:t>
            </a:r>
          </a:p>
          <a:p>
            <a:r>
              <a:rPr lang="es-ES" sz="1600" dirty="0"/>
              <a:t>Los poros nucleares se reensamblan y transportan la lámina A de regreso al núcleo  para que se incorpore a la lámina nuclear.</a:t>
            </a:r>
          </a:p>
        </p:txBody>
      </p:sp>
      <p:pic>
        <p:nvPicPr>
          <p:cNvPr id="5122" name="Picture 2" descr="C:\Documents and Settings\Posgrado1\Escritorio\BIOLOGIA CELULAR 2010 material de clase\Material apoyo Biol cel\LIbro Biol cel Pollard\figuras\S9781416022558-044-f018.jpg"/>
          <p:cNvPicPr>
            <a:picLocks noChangeAspect="1" noChangeArrowheads="1"/>
          </p:cNvPicPr>
          <p:nvPr/>
        </p:nvPicPr>
        <p:blipFill>
          <a:blip r:embed="rId3" cstate="print"/>
          <a:srcRect/>
          <a:stretch>
            <a:fillRect/>
          </a:stretch>
        </p:blipFill>
        <p:spPr bwMode="auto">
          <a:xfrm>
            <a:off x="335360" y="3645026"/>
            <a:ext cx="5743509" cy="2952327"/>
          </a:xfrm>
          <a:prstGeom prst="rect">
            <a:avLst/>
          </a:prstGeom>
          <a:noFill/>
        </p:spPr>
      </p:pic>
      <p:pic>
        <p:nvPicPr>
          <p:cNvPr id="5123" name="Picture 3" descr="C:\Documents and Settings\Posgrado1\Escritorio\BIOLOGIA CELULAR 2010 material de clase\Material apoyo Biol cel\LIbro Biol cel Pollard\figuras\S9781416022558-044-f006.jpg"/>
          <p:cNvPicPr>
            <a:picLocks noChangeAspect="1" noChangeArrowheads="1"/>
          </p:cNvPicPr>
          <p:nvPr/>
        </p:nvPicPr>
        <p:blipFill>
          <a:blip r:embed="rId4" cstate="print"/>
          <a:srcRect/>
          <a:stretch>
            <a:fillRect/>
          </a:stretch>
        </p:blipFill>
        <p:spPr bwMode="auto">
          <a:xfrm>
            <a:off x="6096000" y="3356994"/>
            <a:ext cx="5952661" cy="3110855"/>
          </a:xfrm>
          <a:prstGeom prst="rect">
            <a:avLst/>
          </a:prstGeom>
          <a:noFill/>
        </p:spPr>
      </p:pic>
      <p:pic>
        <p:nvPicPr>
          <p:cNvPr id="5125" name="Picture 5" descr="C:\Documents and Settings\Posgrado1\Escritorio\BIOLOGIA CELULAR 2010 material de clase\Material apoyo Biol cel\LIbro Biol cel Pollard\figuras\S9781416022558-044-f019.jpg"/>
          <p:cNvPicPr>
            <a:picLocks noChangeAspect="1" noChangeArrowheads="1"/>
          </p:cNvPicPr>
          <p:nvPr/>
        </p:nvPicPr>
        <p:blipFill>
          <a:blip r:embed="rId5" cstate="print"/>
          <a:srcRect/>
          <a:stretch>
            <a:fillRect/>
          </a:stretch>
        </p:blipFill>
        <p:spPr bwMode="auto">
          <a:xfrm>
            <a:off x="5903979" y="188640"/>
            <a:ext cx="6096000" cy="3443461"/>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5" name="Picture 2" descr="47_022 rev"/>
          <p:cNvPicPr>
            <a:picLocks noChangeAspect="1" noChangeArrowheads="1"/>
          </p:cNvPicPr>
          <p:nvPr/>
        </p:nvPicPr>
        <p:blipFill rotWithShape="1">
          <a:blip r:embed="rId3" cstate="print"/>
          <a:srcRect b="19355"/>
          <a:stretch/>
        </p:blipFill>
        <p:spPr bwMode="auto">
          <a:xfrm>
            <a:off x="20" y="10"/>
            <a:ext cx="12191980" cy="6857990"/>
          </a:xfrm>
          <a:prstGeom prst="rect">
            <a:avLst/>
          </a:prstGeom>
          <a:noFill/>
        </p:spPr>
      </p:pic>
      <p:sp>
        <p:nvSpPr>
          <p:cNvPr id="22"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4638503"/>
            <a:ext cx="8384770"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6 Título"/>
          <p:cNvSpPr>
            <a:spLocks noGrp="1"/>
          </p:cNvSpPr>
          <p:nvPr>
            <p:ph type="title"/>
          </p:nvPr>
        </p:nvSpPr>
        <p:spPr>
          <a:xfrm>
            <a:off x="2103121" y="4727173"/>
            <a:ext cx="7985759" cy="868823"/>
          </a:xfrm>
        </p:spPr>
        <p:txBody>
          <a:bodyPr vert="horz" lIns="91440" tIns="45720" rIns="91440" bIns="45720" rtlCol="0" anchor="ctr">
            <a:normAutofit fontScale="90000"/>
          </a:bodyPr>
          <a:lstStyle/>
          <a:p>
            <a:pPr algn="ctr"/>
            <a:r>
              <a:rPr lang="en-US" sz="6000" i="1" dirty="0">
                <a:effectLst>
                  <a:outerShdw blurRad="38100" dist="38100" dir="2700000" algn="tl">
                    <a:srgbClr val="000000">
                      <a:alpha val="43137"/>
                    </a:srgbClr>
                  </a:outerShdw>
                </a:effectLst>
              </a:rPr>
              <a:t>CITOCINESIS</a:t>
            </a:r>
          </a:p>
        </p:txBody>
      </p:sp>
      <p:sp>
        <p:nvSpPr>
          <p:cNvPr id="24"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562823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5 Marcador de texto"/>
          <p:cNvSpPr>
            <a:spLocks noGrp="1"/>
          </p:cNvSpPr>
          <p:nvPr>
            <p:ph type="body" sz="half" idx="2"/>
          </p:nvPr>
        </p:nvSpPr>
        <p:spPr/>
        <p:txBody>
          <a:bodyPr/>
          <a:lstStyle/>
          <a:p>
            <a:endParaRPr lang="es-E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3 Título"/>
          <p:cNvSpPr>
            <a:spLocks noGrp="1"/>
          </p:cNvSpPr>
          <p:nvPr>
            <p:ph type="title"/>
          </p:nvPr>
        </p:nvSpPr>
        <p:spPr>
          <a:xfrm>
            <a:off x="411480" y="991443"/>
            <a:ext cx="4443154" cy="1087819"/>
          </a:xfrm>
        </p:spPr>
        <p:txBody>
          <a:bodyPr vert="horz" lIns="91440" tIns="45720" rIns="91440" bIns="45720" rtlCol="0" anchor="b">
            <a:normAutofit fontScale="90000"/>
          </a:bodyPr>
          <a:lstStyle/>
          <a:p>
            <a:r>
              <a:rPr lang="en-US" sz="2600" b="1" kern="1200" dirty="0">
                <a:solidFill>
                  <a:schemeClr val="tx1"/>
                </a:solidFill>
                <a:effectLst>
                  <a:outerShdw blurRad="38100" dist="38100" dir="2700000" algn="tl">
                    <a:srgbClr val="000000">
                      <a:alpha val="43137"/>
                    </a:srgbClr>
                  </a:outerShdw>
                </a:effectLst>
                <a:latin typeface="+mj-lt"/>
                <a:ea typeface="+mj-ea"/>
                <a:cs typeface="+mj-cs"/>
              </a:rPr>
              <a:t>CITOCINESIS EN CÉLULAS ANIMALES</a:t>
            </a:r>
            <a:br>
              <a:rPr lang="en-US" sz="2600" kern="1200" dirty="0">
                <a:solidFill>
                  <a:schemeClr val="tx1"/>
                </a:solidFill>
                <a:latin typeface="+mj-lt"/>
                <a:ea typeface="+mj-ea"/>
                <a:cs typeface="+mj-cs"/>
              </a:rPr>
            </a:br>
            <a:r>
              <a:rPr lang="en-US" sz="2600" kern="1200" dirty="0">
                <a:solidFill>
                  <a:schemeClr val="tx1"/>
                </a:solidFill>
                <a:effectLst>
                  <a:outerShdw blurRad="38100" dist="38100" dir="2700000" algn="tl">
                    <a:srgbClr val="000000">
                      <a:alpha val="43137"/>
                    </a:srgbClr>
                  </a:outerShdw>
                </a:effectLst>
                <a:latin typeface="+mj-lt"/>
                <a:ea typeface="+mj-ea"/>
                <a:cs typeface="+mj-cs"/>
              </a:rPr>
              <a:t>ANILLO CONTRÁCTIL</a:t>
            </a:r>
          </a:p>
        </p:txBody>
      </p:sp>
      <p:sp>
        <p:nvSpPr>
          <p:cNvPr id="73" name="Rectangle 7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279" name="Rectangle 7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5 Marcador de contenido"/>
          <p:cNvSpPr>
            <a:spLocks noGrp="1"/>
          </p:cNvSpPr>
          <p:nvPr>
            <p:ph sz="half" idx="2"/>
          </p:nvPr>
        </p:nvSpPr>
        <p:spPr>
          <a:xfrm>
            <a:off x="411480" y="2684095"/>
            <a:ext cx="4443154" cy="3492868"/>
          </a:xfrm>
        </p:spPr>
        <p:txBody>
          <a:bodyPr vert="horz" lIns="91440" tIns="45720" rIns="91440" bIns="45720" rtlCol="0">
            <a:normAutofit/>
          </a:bodyPr>
          <a:lstStyle/>
          <a:p>
            <a:r>
              <a:rPr lang="es-ES_tradnl" sz="1800" dirty="0"/>
              <a:t>La separación de las células hijas al final de la mitosis depende de la formación y constricción de un anillo contráctil ecuatorial compuesto por filamentos de actina, miosina II y proteínas asociadas (profilina, Radixina, Sintaxina, Septrinas, anillina y receptores de membrana (CD43).</a:t>
            </a:r>
          </a:p>
          <a:p>
            <a:endParaRPr lang="es-ES_tradnl" sz="1800" dirty="0"/>
          </a:p>
          <a:p>
            <a:r>
              <a:rPr lang="es-ES_tradnl" sz="1800" dirty="0"/>
              <a:t>Esto se inicia por una serie de señalización estudiada aún en diferentes células eucariotas.</a:t>
            </a:r>
          </a:p>
        </p:txBody>
      </p:sp>
      <p:pic>
        <p:nvPicPr>
          <p:cNvPr id="54274" name="Picture 2" descr="47_022 rev"/>
          <p:cNvPicPr>
            <a:picLocks noChangeAspect="1" noChangeArrowheads="1"/>
          </p:cNvPicPr>
          <p:nvPr/>
        </p:nvPicPr>
        <p:blipFill rotWithShape="1">
          <a:blip r:embed="rId3" cstate="print"/>
          <a:srcRect r="-4" b="11869"/>
          <a:stretch/>
        </p:blipFill>
        <p:spPr bwMode="auto">
          <a:xfrm>
            <a:off x="5385816" y="889686"/>
            <a:ext cx="6440424" cy="537519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7105135" y="222191"/>
            <a:ext cx="4719054" cy="1396543"/>
          </a:xfrm>
        </p:spPr>
        <p:txBody>
          <a:bodyPr vert="horz" lIns="121920" tIns="60960" rIns="121920" bIns="60960" rtlCol="0" anchor="ctr">
            <a:normAutofit/>
          </a:bodyPr>
          <a:lstStyle/>
          <a:p>
            <a:pPr defTabSz="1219170"/>
            <a:r>
              <a:rPr lang="en-US" sz="2400" b="1" dirty="0">
                <a:effectLst>
                  <a:outerShdw blurRad="38100" dist="38100" dir="2700000" algn="tl">
                    <a:srgbClr val="000000">
                      <a:alpha val="43137"/>
                    </a:srgbClr>
                  </a:outerShdw>
                </a:effectLst>
              </a:rPr>
              <a:t>CITOCINESIS EN CÉLULAS ANIMALES</a:t>
            </a:r>
            <a:br>
              <a:rPr lang="en-US" sz="1800" dirty="0"/>
            </a:br>
            <a:r>
              <a:rPr lang="en-US" sz="1800" dirty="0">
                <a:effectLst>
                  <a:outerShdw blurRad="38100" dist="38100" dir="2700000" algn="tl">
                    <a:srgbClr val="000000">
                      <a:alpha val="43137"/>
                    </a:srgbClr>
                  </a:outerShdw>
                </a:effectLst>
              </a:rPr>
              <a:t>POSICIÓN DEL SITIO DE CORTE (ANILLO CONTRÁCTIL)</a:t>
            </a:r>
          </a:p>
        </p:txBody>
      </p:sp>
      <p:sp>
        <p:nvSpPr>
          <p:cNvPr id="5" name="4 Marcador de contenido"/>
          <p:cNvSpPr>
            <a:spLocks noGrp="1"/>
          </p:cNvSpPr>
          <p:nvPr>
            <p:ph sz="half" idx="2"/>
          </p:nvPr>
        </p:nvSpPr>
        <p:spPr>
          <a:xfrm>
            <a:off x="7253417" y="1408669"/>
            <a:ext cx="4570772" cy="5227139"/>
          </a:xfrm>
        </p:spPr>
        <p:txBody>
          <a:bodyPr vert="horz" lIns="121920" tIns="60960" rIns="121920" bIns="60960" rtlCol="0">
            <a:normAutofit/>
          </a:bodyPr>
          <a:lstStyle/>
          <a:p>
            <a:pPr indent="-304792" defTabSz="1219170"/>
            <a:r>
              <a:rPr lang="es-ES_tradnl" sz="1800" dirty="0"/>
              <a:t>El huso mitótico determina la posición en la  que se colocará el anillo contráctil en el plano medio de la célula entre los dos polos, después de que los cromosomas han sido separados por el huso mitótico en las células hijas.</a:t>
            </a:r>
          </a:p>
          <a:p>
            <a:pPr indent="-304792" defTabSz="1219170"/>
            <a:r>
              <a:rPr lang="es-ES_tradnl" sz="1800" dirty="0"/>
              <a:t>Algunos estudios han revelado que la señal para armar el anillo contráctil proviene de los polos del huso mitótico y esta señal es transmitida a la corteza (cortex) de la membrana.</a:t>
            </a:r>
          </a:p>
          <a:p>
            <a:pPr indent="-304792" defTabSz="1219170"/>
            <a:r>
              <a:rPr lang="es-ES_tradnl" sz="1800" dirty="0"/>
              <a:t>Se ha determinado también que la parte central del huso mitótico contribuye también a la información de la posición el anillo.</a:t>
            </a:r>
          </a:p>
          <a:p>
            <a:pPr indent="-304792" defTabSz="1219170"/>
            <a:r>
              <a:rPr lang="es-ES_tradnl" sz="1800" dirty="0"/>
              <a:t>Algunas proteínas (INCENPs y quinasas asociada a aurora B) probablemente lleven esta información del huso mitótico central a la corteza.</a:t>
            </a:r>
          </a:p>
          <a:p>
            <a:pPr indent="-304792" defTabSz="1219170"/>
            <a:endParaRPr lang="es-ES_tradnl" sz="1800" dirty="0"/>
          </a:p>
        </p:txBody>
      </p:sp>
      <p:pic>
        <p:nvPicPr>
          <p:cNvPr id="7170" name="Picture 2" descr="C:\Documents and Settings\Posgrado1\Escritorio\BIOLOGIA CELULAR 2010 material de clase\Material apoyo Biol cel\LIbro Biol cel Pollard\figuras\S9781416022558-044-f023.jpg"/>
          <p:cNvPicPr>
            <a:picLocks noGrp="1" noChangeAspect="1" noChangeArrowheads="1"/>
          </p:cNvPicPr>
          <p:nvPr>
            <p:ph sz="quarter" idx="4"/>
          </p:nvPr>
        </p:nvPicPr>
        <p:blipFill rotWithShape="1">
          <a:blip r:embed="rId3" cstate="print"/>
          <a:srcRect t="5799" r="-2" b="1626"/>
          <a:stretch/>
        </p:blipFill>
        <p:spPr bwMode="auto">
          <a:xfrm>
            <a:off x="367811" y="222192"/>
            <a:ext cx="6648448" cy="6635808"/>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330039" y="188640"/>
            <a:ext cx="6432715" cy="1187624"/>
          </a:xfrm>
        </p:spPr>
        <p:txBody>
          <a:bodyPr>
            <a:noAutofit/>
          </a:bodyPr>
          <a:lstStyle/>
          <a:p>
            <a:r>
              <a:rPr lang="es-ES" sz="3200" b="1" dirty="0">
                <a:effectLst>
                  <a:outerShdw blurRad="38100" dist="38100" dir="2700000" algn="tl">
                    <a:srgbClr val="000000">
                      <a:alpha val="43137"/>
                    </a:srgbClr>
                  </a:outerShdw>
                </a:effectLst>
              </a:rPr>
              <a:t>CITOCINESIS EN CÉLULAS ANIMALES</a:t>
            </a:r>
            <a:br>
              <a:rPr lang="es-ES" sz="3200" dirty="0"/>
            </a:br>
            <a:r>
              <a:rPr lang="es-ES" sz="2400" dirty="0">
                <a:effectLst>
                  <a:outerShdw blurRad="38100" dist="38100" dir="2700000" algn="tl">
                    <a:srgbClr val="000000">
                      <a:alpha val="43137"/>
                    </a:srgbClr>
                  </a:outerShdw>
                </a:effectLst>
              </a:rPr>
              <a:t>CONTRACCIÓN DEL ANILLO CONTRÁCTIL</a:t>
            </a:r>
          </a:p>
        </p:txBody>
      </p:sp>
      <p:sp>
        <p:nvSpPr>
          <p:cNvPr id="5" name="4 Marcador de contenido"/>
          <p:cNvSpPr>
            <a:spLocks noGrp="1"/>
          </p:cNvSpPr>
          <p:nvPr>
            <p:ph sz="half" idx="2"/>
          </p:nvPr>
        </p:nvSpPr>
        <p:spPr>
          <a:xfrm>
            <a:off x="469557" y="1408670"/>
            <a:ext cx="6293197" cy="3163338"/>
          </a:xfrm>
        </p:spPr>
        <p:txBody>
          <a:bodyPr>
            <a:noAutofit/>
          </a:bodyPr>
          <a:lstStyle/>
          <a:p>
            <a:r>
              <a:rPr lang="es-ES" sz="1600" dirty="0"/>
              <a:t>Después de ensamblase el anillo contráctil en el ecuador,  inicia la contracción del mismo.  No se ha determinado cuales son las señales exactas que la inician pero en algunas células la salida de </a:t>
            </a:r>
            <a:r>
              <a:rPr lang="es-ES" sz="1600" b="1" dirty="0"/>
              <a:t>Ca</a:t>
            </a:r>
            <a:r>
              <a:rPr lang="es-ES" sz="1600" b="1" baseline="30000" dirty="0"/>
              <a:t>2+</a:t>
            </a:r>
            <a:r>
              <a:rPr lang="es-ES" sz="1600" b="1" dirty="0"/>
              <a:t> </a:t>
            </a:r>
            <a:r>
              <a:rPr lang="es-ES" sz="1600" dirty="0"/>
              <a:t>cerca del ecuador activa las quinasas de la cadena ligera de las </a:t>
            </a:r>
            <a:r>
              <a:rPr lang="es-ES" sz="1600" b="1" dirty="0"/>
              <a:t>miosinas lo que activa la contracción</a:t>
            </a:r>
            <a:r>
              <a:rPr lang="es-ES" sz="1600" dirty="0"/>
              <a:t>.</a:t>
            </a:r>
          </a:p>
          <a:p>
            <a:r>
              <a:rPr lang="es-ES" sz="1600" dirty="0"/>
              <a:t>El anillo contráctil inicia el desensamblaje de el huso mitótico central.</a:t>
            </a:r>
          </a:p>
          <a:p>
            <a:r>
              <a:rPr lang="es-ES" sz="1600" dirty="0"/>
              <a:t>El </a:t>
            </a:r>
            <a:r>
              <a:rPr lang="es-ES" sz="1600" b="1" dirty="0"/>
              <a:t>huso mitótico central </a:t>
            </a:r>
            <a:r>
              <a:rPr lang="es-ES" sz="1600" dirty="0"/>
              <a:t>se </a:t>
            </a:r>
            <a:r>
              <a:rPr lang="es-ES" sz="1600" b="1" dirty="0"/>
              <a:t>condensa</a:t>
            </a:r>
            <a:r>
              <a:rPr lang="es-ES" sz="1600" dirty="0"/>
              <a:t> en una delgado y traslapado paquete de microtúbulos llamado </a:t>
            </a:r>
            <a:r>
              <a:rPr lang="es-ES" sz="1600" b="1" dirty="0"/>
              <a:t>cuerpo medio (mid-body</a:t>
            </a:r>
            <a:r>
              <a:rPr lang="es-ES" sz="1600" dirty="0"/>
              <a:t>) y forma un puente intercelular entre las dos células hijas.</a:t>
            </a:r>
          </a:p>
          <a:p>
            <a:r>
              <a:rPr lang="es-ES" sz="1600" dirty="0"/>
              <a:t>Se requiere de la maquinaria de fusión de membrana para completar la división de las células hijas.	</a:t>
            </a:r>
          </a:p>
        </p:txBody>
      </p:sp>
      <p:pic>
        <p:nvPicPr>
          <p:cNvPr id="8194" name="Picture 2" descr="C:\Documents and Settings\Posgrado1\Escritorio\BIOLOGIA CELULAR 2010 material de clase\Material apoyo Biol cel\LIbro Biol cel Pollard\figuras\S9781416022558-044-f023.jpg"/>
          <p:cNvPicPr>
            <a:picLocks noGrp="1" noChangeAspect="1" noChangeArrowheads="1"/>
          </p:cNvPicPr>
          <p:nvPr>
            <p:ph sz="quarter" idx="4"/>
          </p:nvPr>
        </p:nvPicPr>
        <p:blipFill>
          <a:blip r:embed="rId3" cstate="print"/>
          <a:srcRect/>
          <a:stretch>
            <a:fillRect/>
          </a:stretch>
        </p:blipFill>
        <p:spPr bwMode="auto">
          <a:xfrm>
            <a:off x="6762755" y="188640"/>
            <a:ext cx="5221283" cy="4618138"/>
          </a:xfrm>
          <a:prstGeom prst="rect">
            <a:avLst/>
          </a:prstGeom>
          <a:noFill/>
        </p:spPr>
      </p:pic>
      <p:pic>
        <p:nvPicPr>
          <p:cNvPr id="8195" name="Picture 3" descr="C:\Documents and Settings\Posgrado1\Escritorio\BIOLOGIA CELULAR 2010 material de clase\Material apoyo Biol cel\LIbro Biol cel Pollard\figuras\S9781416022558-044-f020.jpg"/>
          <p:cNvPicPr>
            <a:picLocks noChangeAspect="1" noChangeArrowheads="1"/>
          </p:cNvPicPr>
          <p:nvPr/>
        </p:nvPicPr>
        <p:blipFill>
          <a:blip r:embed="rId4" cstate="print"/>
          <a:srcRect/>
          <a:stretch>
            <a:fillRect/>
          </a:stretch>
        </p:blipFill>
        <p:spPr bwMode="auto">
          <a:xfrm>
            <a:off x="383059" y="4623209"/>
            <a:ext cx="11600979" cy="2074109"/>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3 Título"/>
          <p:cNvSpPr txBox="1">
            <a:spLocks/>
          </p:cNvSpPr>
          <p:nvPr/>
        </p:nvSpPr>
        <p:spPr>
          <a:xfrm>
            <a:off x="7140160" y="241777"/>
            <a:ext cx="4282983" cy="1200361"/>
          </a:xfrm>
          <a:prstGeom prst="rect">
            <a:avLst/>
          </a:prstGeom>
        </p:spPr>
        <p:txBody>
          <a:bodyPr vert="horz" lIns="121920" tIns="60960" rIns="121920" bIns="60960" rtlCol="0" anchor="b" anchorCtr="0">
            <a:normAutofit fontScale="85000" lnSpcReduction="10000"/>
          </a:bodyPr>
          <a:lstStyle/>
          <a:p>
            <a:pPr marL="0" marR="0" lvl="0" indent="0" algn="l" defTabSz="914400" rtl="0" eaLnBrk="1" fontAlgn="auto" latinLnBrk="0" hangingPunct="1">
              <a:lnSpc>
                <a:spcPct val="90000"/>
              </a:lnSpc>
              <a:spcBef>
                <a:spcPct val="0"/>
              </a:spcBef>
              <a:spcAft>
                <a:spcPts val="800"/>
              </a:spcAft>
              <a:buClrTx/>
              <a:buSzTx/>
              <a:buFontTx/>
              <a:buNone/>
              <a:tabLst/>
              <a:defRPr/>
            </a:pPr>
            <a:r>
              <a:rPr kumimoji="0" lang="en-US" sz="36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Light" panose="020F0302020204030204"/>
                <a:ea typeface="+mn-ea"/>
                <a:cs typeface="+mn-cs"/>
              </a:rPr>
              <a:t>CITOCINESIS EN HONGOS</a:t>
            </a:r>
            <a:br>
              <a:rPr kumimoji="0" lang="en-US" sz="3600" b="0" i="0" u="none" strike="noStrike" kern="1200" cap="none" spc="0" normalizeH="0" baseline="0" noProof="0" dirty="0">
                <a:ln>
                  <a:noFill/>
                </a:ln>
                <a:solidFill>
                  <a:prstClr val="black"/>
                </a:solidFill>
                <a:effectLst/>
                <a:uLnTx/>
                <a:uFillTx/>
                <a:latin typeface="Calibri Light" panose="020F0302020204030204"/>
                <a:ea typeface="+mn-ea"/>
                <a:cs typeface="+mn-cs"/>
              </a:rPr>
            </a:br>
            <a:endParaRPr kumimoji="0" lang="en-US" sz="36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Light" panose="020F0302020204030204"/>
              <a:ea typeface="+mn-ea"/>
              <a:cs typeface="+mn-cs"/>
            </a:endParaRPr>
          </a:p>
        </p:txBody>
      </p:sp>
      <p:pic>
        <p:nvPicPr>
          <p:cNvPr id="56322" name="Picture 2" descr="Fig44-24"/>
          <p:cNvPicPr>
            <a:picLocks noGrp="1" noChangeAspect="1" noChangeArrowheads="1"/>
          </p:cNvPicPr>
          <p:nvPr>
            <p:ph sz="half" idx="2"/>
          </p:nvPr>
        </p:nvPicPr>
        <p:blipFill rotWithShape="1">
          <a:blip r:embed="rId3" cstate="print"/>
          <a:srcRect r="6714" b="1"/>
          <a:stretch/>
        </p:blipFill>
        <p:spPr bwMode="auto">
          <a:xfrm>
            <a:off x="576245" y="650494"/>
            <a:ext cx="5628017" cy="5324143"/>
          </a:xfrm>
          <a:prstGeom prst="rect">
            <a:avLst/>
          </a:prstGeom>
          <a:noFill/>
        </p:spPr>
      </p:pic>
      <p:sp>
        <p:nvSpPr>
          <p:cNvPr id="6" name="5 Marcador de contenido"/>
          <p:cNvSpPr>
            <a:spLocks noGrp="1"/>
          </p:cNvSpPr>
          <p:nvPr>
            <p:ph sz="quarter" idx="4"/>
          </p:nvPr>
        </p:nvSpPr>
        <p:spPr>
          <a:xfrm>
            <a:off x="6458135" y="1581945"/>
            <a:ext cx="5338284" cy="4849892"/>
          </a:xfrm>
        </p:spPr>
        <p:txBody>
          <a:bodyPr vert="horz" lIns="121920" tIns="60960" rIns="121920" bIns="60960" rtlCol="0" anchor="ctr">
            <a:normAutofit lnSpcReduction="10000"/>
          </a:bodyPr>
          <a:lstStyle/>
          <a:p>
            <a:pPr indent="-304792" algn="just" defTabSz="1219170"/>
            <a:r>
              <a:rPr lang="es-ES_tradnl" sz="1800" dirty="0"/>
              <a:t>En levaduras que se dividen por fisión (célula con mitosis cerrada) la posición del núcleo determina la posición del corte del citoplasma.</a:t>
            </a:r>
          </a:p>
          <a:p>
            <a:pPr indent="-304792" algn="just" defTabSz="1219170"/>
            <a:r>
              <a:rPr lang="es-ES_tradnl" sz="1800" dirty="0"/>
              <a:t>Una serie de reacciones determina el ensamblaje del anillo contráctil .  Una proteína “anillina se desprende del núcleo en interfase y se concentra en la corteza cerca del ecuador marcando la posición del futuro sitio de corte.  Posteriormente la miosina II y otras proteínas  incluyendo la formina se unen a la anillina.</a:t>
            </a:r>
          </a:p>
          <a:p>
            <a:pPr indent="-304792" algn="just" defTabSz="1219170"/>
            <a:r>
              <a:rPr lang="es-ES_tradnl" sz="1800" dirty="0"/>
              <a:t>La Formina inicia el crecimiento de la los filamentos de actina al rededor del ecuador celular.</a:t>
            </a:r>
          </a:p>
          <a:p>
            <a:pPr indent="-304792" algn="just" defTabSz="1219170"/>
            <a:r>
              <a:rPr lang="es-ES_tradnl" sz="1800" dirty="0"/>
              <a:t>Al final de la anafase B la maquinaria del ciclo celular manda una señal a través de una GTPasa  y tres quinasas para activar la constricción del anillo contráctil que se desensambla después de terminar la contracción.</a:t>
            </a:r>
          </a:p>
          <a:p>
            <a:pPr indent="-304792" algn="just" defTabSz="1219170"/>
            <a:r>
              <a:rPr lang="es-ES_tradnl" sz="1800" dirty="0"/>
              <a:t>El ensamblaje del material de la pared celular (septum) demarca las células hijas.</a:t>
            </a:r>
          </a:p>
          <a:p>
            <a:pPr indent="-304792" algn="just" defTabSz="1219170"/>
            <a:endParaRPr lang="es-ES_tradnl" sz="1800" dirty="0"/>
          </a:p>
          <a:p>
            <a:pPr indent="-304792" algn="just" defTabSz="1219170"/>
            <a:endParaRPr lang="es-ES_tradnl"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3 Título"/>
          <p:cNvSpPr txBox="1">
            <a:spLocks/>
          </p:cNvSpPr>
          <p:nvPr/>
        </p:nvSpPr>
        <p:spPr>
          <a:xfrm>
            <a:off x="1008184" y="174032"/>
            <a:ext cx="10175631" cy="555017"/>
          </a:xfrm>
          <a:prstGeom prst="rect">
            <a:avLst/>
          </a:prstGeom>
        </p:spPr>
        <p:txBody>
          <a:bodyPr vert="horz" lIns="91440" tIns="45720" rIns="91440" bIns="45720" rtlCol="0" anchor="ctr" anchorCtr="0">
            <a:normAutofit fontScale="55000" lnSpcReduction="20000"/>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37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Light" panose="020F0302020204030204"/>
                <a:ea typeface="+mn-ea"/>
                <a:cs typeface="+mn-cs"/>
              </a:rPr>
              <a:t>CITOCINESIS EN PLANTAS</a:t>
            </a:r>
            <a:br>
              <a:rPr kumimoji="0" lang="en-US" sz="3700" b="0" i="0" u="none" strike="noStrike" kern="1200" cap="none" spc="0" normalizeH="0" baseline="0" noProof="0" dirty="0">
                <a:ln>
                  <a:noFill/>
                </a:ln>
                <a:solidFill>
                  <a:prstClr val="black"/>
                </a:solidFill>
                <a:effectLst/>
                <a:uLnTx/>
                <a:uFillTx/>
                <a:latin typeface="Calibri Light" panose="020F0302020204030204"/>
                <a:ea typeface="+mn-ea"/>
                <a:cs typeface="+mn-cs"/>
              </a:rPr>
            </a:br>
            <a:endParaRPr kumimoji="0" lang="en-US" sz="37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Light" panose="020F0302020204030204"/>
              <a:ea typeface="+mn-ea"/>
              <a:cs typeface="+mn-cs"/>
            </a:endParaRPr>
          </a:p>
        </p:txBody>
      </p:sp>
      <p:sp>
        <p:nvSpPr>
          <p:cNvPr id="6" name="5 Marcador de contenido"/>
          <p:cNvSpPr>
            <a:spLocks noGrp="1"/>
          </p:cNvSpPr>
          <p:nvPr>
            <p:ph sz="quarter" idx="4"/>
          </p:nvPr>
        </p:nvSpPr>
        <p:spPr>
          <a:xfrm>
            <a:off x="469557" y="556054"/>
            <a:ext cx="11096367" cy="2187146"/>
          </a:xfrm>
        </p:spPr>
        <p:txBody>
          <a:bodyPr vert="horz" lIns="91440" tIns="45720" rIns="91440" bIns="45720" rtlCol="0" anchor="ctr">
            <a:normAutofit lnSpcReduction="10000"/>
          </a:bodyPr>
          <a:lstStyle/>
          <a:p>
            <a:pPr algn="just"/>
            <a:r>
              <a:rPr lang="es-ES_tradnl" sz="1400" dirty="0"/>
              <a:t>La mitosis en células vegetales es similar a la de las células animales, pero carece de centrosomas.  El huso mitótico tiene forma de barril con los polos planos.</a:t>
            </a:r>
            <a:endParaRPr lang="es-ES_tradnl" sz="1400" dirty="0">
              <a:cs typeface="Calibri"/>
            </a:endParaRPr>
          </a:p>
          <a:p>
            <a:pPr algn="just"/>
            <a:r>
              <a:rPr lang="es-ES_tradnl" sz="1400" dirty="0"/>
              <a:t>Una banda de microtúbulos y filamentos de actina (“banda preprofase”)  se forma alrededor del ecuador en la mitosis temprana  y se desensambla en la prometafase dejando una zona pobre en actina, que marca el sito de  división celular  o corte. Esta zona cortical es la que determina el sitio de corte  y no el  huso mitótico.</a:t>
            </a:r>
            <a:endParaRPr lang="es-ES_tradnl" sz="1400" dirty="0">
              <a:cs typeface="Calibri"/>
            </a:endParaRPr>
          </a:p>
          <a:p>
            <a:pPr algn="just"/>
            <a:r>
              <a:rPr lang="es-ES_tradnl" sz="1400" dirty="0"/>
              <a:t>En la anafase tardía  un grupo de microtúbulos, filamentos de actina y vesículas del aparato de golgi forman alrededor del huso central, la cual es llamada “fragmoplasto”, esta se expande en forma de un disco doble con las terminaciones positivas de los microtúbulos  hacía la zona de corte.</a:t>
            </a:r>
            <a:endParaRPr lang="es-ES_tradnl" sz="1400" dirty="0">
              <a:cs typeface="Calibri"/>
            </a:endParaRPr>
          </a:p>
          <a:p>
            <a:pPr algn="just"/>
            <a:r>
              <a:rPr lang="es-ES_tradnl" sz="1400" dirty="0"/>
              <a:t>Las vesículas de golgi contienen materiales de la pared celular y se mueven a lo largo de los microtúbulos del fragmoplasto hacía la zona de corte, estas al fusionarse forman la nueva pared celular , esto inicia en el centro y gradualmente se va distribuyendo a lo ancho de la pared de la célula hasta que las dos células se dividen.</a:t>
            </a:r>
            <a:endParaRPr lang="es-ES_tradnl" sz="1400" dirty="0">
              <a:cs typeface="Calibri"/>
            </a:endParaRPr>
          </a:p>
        </p:txBody>
      </p:sp>
      <p:pic>
        <p:nvPicPr>
          <p:cNvPr id="57346" name="Picture 2" descr="47"/>
          <p:cNvPicPr>
            <a:picLocks noGrp="1" noChangeAspect="1" noChangeArrowheads="1"/>
          </p:cNvPicPr>
          <p:nvPr>
            <p:ph sz="half" idx="2"/>
          </p:nvPr>
        </p:nvPicPr>
        <p:blipFill>
          <a:blip r:embed="rId3" cstate="print"/>
          <a:stretch>
            <a:fillRect/>
          </a:stretch>
        </p:blipFill>
        <p:spPr bwMode="auto">
          <a:xfrm>
            <a:off x="835154" y="2830084"/>
            <a:ext cx="10515595" cy="304952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3 Título"/>
          <p:cNvSpPr txBox="1">
            <a:spLocks/>
          </p:cNvSpPr>
          <p:nvPr/>
        </p:nvSpPr>
        <p:spPr>
          <a:xfrm>
            <a:off x="481013" y="3752849"/>
            <a:ext cx="2657603" cy="2452687"/>
          </a:xfrm>
          <a:prstGeom prst="rect">
            <a:avLst/>
          </a:prstGeom>
        </p:spPr>
        <p:txBody>
          <a:bodyPr vert="horz" lIns="91440" tIns="45720" rIns="91440" bIns="45720" rtlCol="0" anchor="ctr" anchorCtr="0">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36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Light" panose="020F0302020204030204"/>
                <a:ea typeface="+mn-ea"/>
                <a:cs typeface="+mn-cs"/>
              </a:rPr>
              <a:t>CITOCINESIS EN BACTERIAS</a:t>
            </a:r>
          </a:p>
        </p:txBody>
      </p:sp>
      <p:pic>
        <p:nvPicPr>
          <p:cNvPr id="58370" name="Picture 2" descr="47_020a"/>
          <p:cNvPicPr>
            <a:picLocks noGrp="1" noChangeAspect="1" noChangeArrowheads="1"/>
          </p:cNvPicPr>
          <p:nvPr>
            <p:ph sz="half" idx="2"/>
          </p:nvPr>
        </p:nvPicPr>
        <p:blipFill rotWithShape="1">
          <a:blip r:embed="rId3" cstate="print"/>
          <a:srcRect t="-163" b="6609"/>
          <a:stretch/>
        </p:blipFill>
        <p:spPr bwMode="auto">
          <a:xfrm>
            <a:off x="481013" y="420130"/>
            <a:ext cx="11332046" cy="3332720"/>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p:spPr>
      </p:pic>
      <p:sp>
        <p:nvSpPr>
          <p:cNvPr id="6" name="5 Marcador de contenido"/>
          <p:cNvSpPr>
            <a:spLocks noGrp="1"/>
          </p:cNvSpPr>
          <p:nvPr>
            <p:ph sz="quarter" idx="4"/>
          </p:nvPr>
        </p:nvSpPr>
        <p:spPr>
          <a:xfrm>
            <a:off x="2879124" y="3752850"/>
            <a:ext cx="9131644" cy="2956869"/>
          </a:xfrm>
        </p:spPr>
        <p:txBody>
          <a:bodyPr vert="horz" lIns="91440" tIns="45720" rIns="91440" bIns="45720" rtlCol="0" anchor="ctr">
            <a:normAutofit lnSpcReduction="10000"/>
          </a:bodyPr>
          <a:lstStyle/>
          <a:p>
            <a:r>
              <a:rPr lang="es-ES_tradnl" sz="1200" dirty="0"/>
              <a:t>En muchas especies de bacterias  la división del citoplasma se da en un sito marcado por un anillo de filamentos formados por una proteína homóloga a la tubulina –GTP llamada FtsZ (</a:t>
            </a:r>
            <a:r>
              <a:rPr lang="es-ES_tradnl" sz="1200" i="1" dirty="0"/>
              <a:t>fts,</a:t>
            </a:r>
            <a:r>
              <a:rPr lang="es-ES_tradnl" sz="1200" dirty="0"/>
              <a:t> </a:t>
            </a:r>
            <a:r>
              <a:rPr lang="es-ES_tradnl" sz="1200" i="1" dirty="0"/>
              <a:t>filamentous temperature sensitive</a:t>
            </a:r>
            <a:r>
              <a:rPr lang="es-ES_tradnl" sz="1200" dirty="0"/>
              <a:t>; mutantes en los genes de </a:t>
            </a:r>
            <a:r>
              <a:rPr lang="es-ES_tradnl" sz="1200" i="1" dirty="0" err="1"/>
              <a:t>fts</a:t>
            </a:r>
            <a:r>
              <a:rPr lang="es-ES_tradnl" sz="1200" dirty="0"/>
              <a:t> no se pueden dividir y crecer).</a:t>
            </a:r>
          </a:p>
          <a:p>
            <a:r>
              <a:rPr lang="es-ES_tradnl" sz="1200" dirty="0"/>
              <a:t>Especies bacterianas difieren en sus estrategias para ubicar FtsZ en el sitio de corte.</a:t>
            </a:r>
          </a:p>
          <a:p>
            <a:pPr lvl="1"/>
            <a:r>
              <a:rPr lang="es-ES_tradnl" sz="1200" i="1" dirty="0"/>
              <a:t>Escherichia coli</a:t>
            </a:r>
            <a:r>
              <a:rPr lang="es-ES_tradnl" sz="1200" dirty="0"/>
              <a:t> usa los productos de tres genes (MinC, MinD, and MinE) para controlar la posición del sito de corte. Un anillo de MinE forma alrededor del ecuador y migra repetidoramente a lo largo de la superficie interna de la membrana celular de un extremo al otro. Al irse moviendo, MinE inactiva el complejo inhibitorio MInC/MinD en la corteza celular. Esta proceso permite que se ensamble un anillo de FTSZ solo en el centro de la célula. Se desconoce como  MinE y FtsZ identifican el centro de la célula.</a:t>
            </a:r>
          </a:p>
          <a:p>
            <a:pPr lvl="1"/>
            <a:r>
              <a:rPr lang="es-ES_tradnl" sz="1200" i="1" dirty="0"/>
              <a:t>Bacillus subtilis</a:t>
            </a:r>
            <a:r>
              <a:rPr lang="es-ES_tradnl" sz="1200" dirty="0"/>
              <a:t> usa diferentes proteínas para armar el anillo de FtsZ en el ecuador.</a:t>
            </a:r>
          </a:p>
          <a:p>
            <a:r>
              <a:rPr lang="es-ES_tradnl" sz="1200" dirty="0"/>
              <a:t>FtsZ es requerida para la citocinesis. El ensamblaje de los filamentos de la FTSZ es seguido por la hidrólisis del GTP asociado y es rápidamente disgregada, pero la relación de esta reacción con la citocinesis no se conoce aún.</a:t>
            </a:r>
          </a:p>
          <a:p>
            <a:r>
              <a:rPr lang="es-ES_tradnl" sz="1200" dirty="0"/>
              <a:t>El cloroplasto usa componentes del sistema FtsZ para su división.</a:t>
            </a:r>
          </a:p>
          <a:p>
            <a:r>
              <a:rPr lang="es-ES_tradnl" sz="1200" dirty="0"/>
              <a:t>La mitocondria de lagunas células primitivas eucariotas usan la división por FtsZ, pero las mitocondrias de células eucariotas superiores aparentemente usan los mecanismos de división de </a:t>
            </a:r>
            <a:r>
              <a:rPr lang="es-ES_tradnl" sz="1200"/>
              <a:t>dinamina-GTP.</a:t>
            </a:r>
            <a:endParaRPr lang="es-ES_tradnl"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lementos multimedia en línea 2" descr="MITOSIS (Paso a Paso)">
            <a:hlinkClick r:id="" action="ppaction://media"/>
            <a:extLst>
              <a:ext uri="{FF2B5EF4-FFF2-40B4-BE49-F238E27FC236}">
                <a16:creationId xmlns:a16="http://schemas.microsoft.com/office/drawing/2014/main" id="{07E3A38D-12B3-714A-9367-B502F9F2EBBE}"/>
              </a:ext>
            </a:extLst>
          </p:cNvPr>
          <p:cNvPicPr>
            <a:picLocks noRot="1" noChangeAspect="1"/>
          </p:cNvPicPr>
          <p:nvPr>
            <a:videoFile r:link="rId1"/>
          </p:nvPr>
        </p:nvPicPr>
        <p:blipFill>
          <a:blip r:embed="rId3"/>
          <a:stretch>
            <a:fillRect/>
          </a:stretch>
        </p:blipFill>
        <p:spPr>
          <a:xfrm>
            <a:off x="383208" y="246545"/>
            <a:ext cx="10987157" cy="6207744"/>
          </a:xfrm>
          <a:prstGeom prst="rect">
            <a:avLst/>
          </a:prstGeom>
        </p:spPr>
      </p:pic>
    </p:spTree>
    <p:extLst>
      <p:ext uri="{BB962C8B-B14F-4D97-AF65-F5344CB8AC3E}">
        <p14:creationId xmlns:p14="http://schemas.microsoft.com/office/powerpoint/2010/main" val="59890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Elementos multimedia en línea 1" descr="MEIOSIS [Paso a Paso]">
            <a:hlinkClick r:id="" action="ppaction://media"/>
            <a:extLst>
              <a:ext uri="{FF2B5EF4-FFF2-40B4-BE49-F238E27FC236}">
                <a16:creationId xmlns:a16="http://schemas.microsoft.com/office/drawing/2014/main" id="{5280FDCC-DF29-8645-8676-36F31CA71F87}"/>
              </a:ext>
            </a:extLst>
          </p:cNvPr>
          <p:cNvPicPr>
            <a:picLocks noRot="1" noChangeAspect="1"/>
          </p:cNvPicPr>
          <p:nvPr>
            <a:videoFile r:link="rId1"/>
          </p:nvPr>
        </p:nvPicPr>
        <p:blipFill>
          <a:blip r:embed="rId3"/>
          <a:stretch>
            <a:fillRect/>
          </a:stretch>
        </p:blipFill>
        <p:spPr>
          <a:xfrm>
            <a:off x="442844" y="286302"/>
            <a:ext cx="10997095" cy="6213359"/>
          </a:xfrm>
          <a:prstGeom prst="rect">
            <a:avLst/>
          </a:prstGeom>
        </p:spPr>
      </p:pic>
    </p:spTree>
    <p:extLst>
      <p:ext uri="{BB962C8B-B14F-4D97-AF65-F5344CB8AC3E}">
        <p14:creationId xmlns:p14="http://schemas.microsoft.com/office/powerpoint/2010/main" val="399415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lementos multimedia en línea 2" descr="La MEIOSIS en organismos con distintos CICLOS VITALES">
            <a:hlinkClick r:id="" action="ppaction://media"/>
            <a:extLst>
              <a:ext uri="{FF2B5EF4-FFF2-40B4-BE49-F238E27FC236}">
                <a16:creationId xmlns:a16="http://schemas.microsoft.com/office/drawing/2014/main" id="{D04CB681-CCA4-F640-9FF7-AC294F4DBB32}"/>
              </a:ext>
            </a:extLst>
          </p:cNvPr>
          <p:cNvPicPr>
            <a:picLocks noRot="1" noChangeAspect="1"/>
          </p:cNvPicPr>
          <p:nvPr>
            <a:videoFile r:link="rId1"/>
          </p:nvPr>
        </p:nvPicPr>
        <p:blipFill>
          <a:blip r:embed="rId3"/>
          <a:stretch>
            <a:fillRect/>
          </a:stretch>
        </p:blipFill>
        <p:spPr>
          <a:xfrm>
            <a:off x="760895" y="405572"/>
            <a:ext cx="10688983" cy="6039275"/>
          </a:xfrm>
          <a:prstGeom prst="rect">
            <a:avLst/>
          </a:prstGeom>
        </p:spPr>
      </p:pic>
    </p:spTree>
    <p:extLst>
      <p:ext uri="{BB962C8B-B14F-4D97-AF65-F5344CB8AC3E}">
        <p14:creationId xmlns:p14="http://schemas.microsoft.com/office/powerpoint/2010/main" val="333595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lementos multimedia en línea 2" descr="Posibles ERRORES en la MEIOSIS [Poliploidías y Aneuploidías]">
            <a:hlinkClick r:id="" action="ppaction://media"/>
            <a:extLst>
              <a:ext uri="{FF2B5EF4-FFF2-40B4-BE49-F238E27FC236}">
                <a16:creationId xmlns:a16="http://schemas.microsoft.com/office/drawing/2014/main" id="{EB2B7A45-A60C-DE4D-9450-BCFD3C18AEBA}"/>
              </a:ext>
            </a:extLst>
          </p:cNvPr>
          <p:cNvPicPr>
            <a:picLocks noRot="1" noChangeAspect="1"/>
          </p:cNvPicPr>
          <p:nvPr>
            <a:videoFile r:link="rId1"/>
          </p:nvPr>
        </p:nvPicPr>
        <p:blipFill>
          <a:blip r:embed="rId3"/>
          <a:stretch>
            <a:fillRect/>
          </a:stretch>
        </p:blipFill>
        <p:spPr>
          <a:xfrm>
            <a:off x="413026" y="316119"/>
            <a:ext cx="11076609" cy="6258284"/>
          </a:xfrm>
          <a:prstGeom prst="rect">
            <a:avLst/>
          </a:prstGeom>
        </p:spPr>
      </p:pic>
    </p:spTree>
    <p:extLst>
      <p:ext uri="{BB962C8B-B14F-4D97-AF65-F5344CB8AC3E}">
        <p14:creationId xmlns:p14="http://schemas.microsoft.com/office/powerpoint/2010/main" val="211711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1297</Words>
  <Application>Microsoft Office PowerPoint</Application>
  <PresentationFormat>Panorámica</PresentationFormat>
  <Paragraphs>77</Paragraphs>
  <Slides>19</Slides>
  <Notes>12</Notes>
  <HiddenSlides>0</HiddenSlides>
  <MMClips>4</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Calibri Light</vt:lpstr>
      <vt:lpstr>1_Tema de Office</vt:lpstr>
      <vt:lpstr>FASES DE LA MITOSIS</vt:lpstr>
      <vt:lpstr>METAFASE</vt:lpstr>
      <vt:lpstr>METAFASE</vt:lpstr>
      <vt:lpstr>FASES DE LA MITOSIS</vt:lpstr>
      <vt:lpstr>ANAFASE</vt:lpstr>
      <vt:lpstr>ANAFASE Dinámica del huso mitótico y separación de cromosomas </vt:lpstr>
      <vt:lpstr>FASES DE LA MITOSIS</vt:lpstr>
      <vt:lpstr>TELOFASE</vt:lpstr>
      <vt:lpstr>CITOCINESIS</vt:lpstr>
      <vt:lpstr>CITOCINESIS EN CÉLULAS ANIMALES ANILLO CONTRÁCTIL</vt:lpstr>
      <vt:lpstr>CITOCINESIS EN CÉLULAS ANIMALES POSICIÓN DEL SITIO DE CORTE (ANILLO CONTRÁCTIL)</vt:lpstr>
      <vt:lpstr>CITOCINESIS EN CÉLULAS ANIMALES CONTRACCIÓN DEL ANILLO CONTRÁCTIL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FASES DE LA MITOSIS</dc:title>
  <dc:creator>YESENIA GUADALUPE FLORES MARTINEZ</dc:creator>
  <cp:lastModifiedBy>YESENIA GUADALUPE FLORES MARTINEZ</cp:lastModifiedBy>
  <cp:revision>1</cp:revision>
  <dcterms:created xsi:type="dcterms:W3CDTF">2022-08-03T18:13:42Z</dcterms:created>
  <dcterms:modified xsi:type="dcterms:W3CDTF">2022-08-03T18:15:01Z</dcterms:modified>
</cp:coreProperties>
</file>