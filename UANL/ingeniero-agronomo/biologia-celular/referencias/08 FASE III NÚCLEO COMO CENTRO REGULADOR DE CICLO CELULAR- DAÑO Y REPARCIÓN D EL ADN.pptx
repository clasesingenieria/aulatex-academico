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4"/>
  </p:sldMasterIdLst>
  <p:notesMasterIdLst>
    <p:notesMasterId r:id="rId40"/>
  </p:notesMasterIdLst>
  <p:sldIdLst>
    <p:sldId id="263" r:id="rId5"/>
    <p:sldId id="257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9144000"/>
  <p:embeddedFontLst>
    <p:embeddedFont>
      <p:font typeface="Bernard MT Condensed" panose="02050806060905020404" pitchFamily="18" charset="0"/>
      <p:regular r:id="rId41"/>
    </p:embeddedFon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alibri Light" panose="020F0302020204030204" pitchFamily="34" charset="0"/>
      <p:regular r:id="rId46"/>
      <p:italic r:id="rId47"/>
    </p:embeddedFont>
    <p:embeddedFont>
      <p:font typeface="Century" panose="02040604050505020304" pitchFamily="18" charset="0"/>
      <p:regular r:id="rId48"/>
    </p:embeddedFont>
    <p:embeddedFont>
      <p:font typeface="Colonna MT" panose="04020805060202030203" pitchFamily="82" charset="0"/>
      <p:regular r:id="rId49"/>
    </p:embeddedFont>
    <p:embeddedFont>
      <p:font typeface="Elephant" panose="02020904090505020303" pitchFamily="18" charset="0"/>
      <p:regular r:id="rId50"/>
      <p:italic r:id="rId51"/>
    </p:embeddedFont>
    <p:embeddedFont>
      <p:font typeface="Gill Sans MT" panose="020B0502020104020203" pitchFamily="34" charset="0"/>
      <p:regular r:id="rId52"/>
      <p:bold r:id="rId53"/>
      <p:italic r:id="rId54"/>
      <p:boldItalic r:id="rId55"/>
    </p:embeddedFont>
    <p:embeddedFont>
      <p:font typeface="Montserrat" panose="00000500000000000000" pitchFamily="2" charset="0"/>
      <p:regular r:id="rId56"/>
      <p:bold r:id="rId57"/>
      <p:italic r:id="rId58"/>
      <p:boldItalic r:id="rId59"/>
    </p:embeddedFont>
    <p:embeddedFont>
      <p:font typeface="Rockwell Extra Bold" panose="02060903040505020403" pitchFamily="18" charset="0"/>
      <p:bold r:id="rId60"/>
    </p:embeddedFont>
    <p:embeddedFont>
      <p:font typeface="Wingdings 2" panose="05020102010507070707" pitchFamily="18" charset="2"/>
      <p:regular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gcaJxj30DIbSgWSDqQ0XeqNAzR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69A6"/>
    <a:srgbClr val="D9952F"/>
    <a:srgbClr val="363CAC"/>
    <a:srgbClr val="3B3F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4B8668-AF96-4536-9459-1D0E3A74921D}" v="24" dt="2022-08-02T15:53:05.8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74"/>
  </p:normalViewPr>
  <p:slideViewPr>
    <p:cSldViewPr snapToGrid="0">
      <p:cViewPr varScale="1">
        <p:scale>
          <a:sx n="60" d="100"/>
          <a:sy n="60" d="100"/>
        </p:scale>
        <p:origin x="78" y="103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font" Target="fonts/font15.fntdata"/><Relationship Id="rId63" Type="http://schemas.openxmlformats.org/officeDocument/2006/relationships/presProps" Target="presProps.xml"/><Relationship Id="rId68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font" Target="fonts/font18.fntdata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font" Target="fonts/font2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font" Target="fonts/font16.fntdata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1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font" Target="fonts/font6.fntdata"/><Relationship Id="rId59" Type="http://schemas.openxmlformats.org/officeDocument/2006/relationships/font" Target="fonts/font19.fntdata"/><Relationship Id="rId67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62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9.fntdata"/><Relationship Id="rId57" Type="http://schemas.openxmlformats.org/officeDocument/2006/relationships/font" Target="fonts/font17.fntdata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openxmlformats.org/officeDocument/2006/relationships/font" Target="fonts/font20.fntdata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ILINA CEDILLO ROSALES" userId="S::sibilina.cedillors@uanl.edu.mx::9e59ad33-eabb-4e50-a90f-9a88506eb433" providerId="AD" clId="Web-{5E4B8668-AF96-4536-9459-1D0E3A74921D}"/>
    <pc:docChg chg="modSld">
      <pc:chgData name="SIBILINA CEDILLO ROSALES" userId="S::sibilina.cedillors@uanl.edu.mx::9e59ad33-eabb-4e50-a90f-9a88506eb433" providerId="AD" clId="Web-{5E4B8668-AF96-4536-9459-1D0E3A74921D}" dt="2022-08-02T15:53:05.850" v="25" actId="14100"/>
      <pc:docMkLst>
        <pc:docMk/>
      </pc:docMkLst>
      <pc:sldChg chg="modSp">
        <pc:chgData name="SIBILINA CEDILLO ROSALES" userId="S::sibilina.cedillors@uanl.edu.mx::9e59ad33-eabb-4e50-a90f-9a88506eb433" providerId="AD" clId="Web-{5E4B8668-AF96-4536-9459-1D0E3A74921D}" dt="2022-08-02T15:50:43.861" v="1"/>
        <pc:sldMkLst>
          <pc:docMk/>
          <pc:sldMk cId="2582560420" sldId="273"/>
        </pc:sldMkLst>
        <pc:spChg chg="mod">
          <ac:chgData name="SIBILINA CEDILLO ROSALES" userId="S::sibilina.cedillors@uanl.edu.mx::9e59ad33-eabb-4e50-a90f-9a88506eb433" providerId="AD" clId="Web-{5E4B8668-AF96-4536-9459-1D0E3A74921D}" dt="2022-08-02T15:50:43.861" v="1"/>
          <ac:spMkLst>
            <pc:docMk/>
            <pc:sldMk cId="2582560420" sldId="273"/>
            <ac:spMk id="2" creationId="{DFB17EAC-DFB1-4EE2-895F-0D3D5C9EAD23}"/>
          </ac:spMkLst>
        </pc:spChg>
      </pc:sldChg>
      <pc:sldChg chg="modSp">
        <pc:chgData name="SIBILINA CEDILLO ROSALES" userId="S::sibilina.cedillors@uanl.edu.mx::9e59ad33-eabb-4e50-a90f-9a88506eb433" providerId="AD" clId="Web-{5E4B8668-AF96-4536-9459-1D0E3A74921D}" dt="2022-08-02T15:51:19.081" v="2" actId="14100"/>
        <pc:sldMkLst>
          <pc:docMk/>
          <pc:sldMk cId="3097577542" sldId="279"/>
        </pc:sldMkLst>
        <pc:picChg chg="mod">
          <ac:chgData name="SIBILINA CEDILLO ROSALES" userId="S::sibilina.cedillors@uanl.edu.mx::9e59ad33-eabb-4e50-a90f-9a88506eb433" providerId="AD" clId="Web-{5E4B8668-AF96-4536-9459-1D0E3A74921D}" dt="2022-08-02T15:51:19.081" v="2" actId="14100"/>
          <ac:picMkLst>
            <pc:docMk/>
            <pc:sldMk cId="3097577542" sldId="279"/>
            <ac:picMk id="4" creationId="{BDFC9E4E-902B-4242-B1BE-E513F3BF85E5}"/>
          </ac:picMkLst>
        </pc:picChg>
      </pc:sldChg>
      <pc:sldChg chg="modSp">
        <pc:chgData name="SIBILINA CEDILLO ROSALES" userId="S::sibilina.cedillors@uanl.edu.mx::9e59ad33-eabb-4e50-a90f-9a88506eb433" providerId="AD" clId="Web-{5E4B8668-AF96-4536-9459-1D0E3A74921D}" dt="2022-08-02T15:51:42.738" v="5" actId="14100"/>
        <pc:sldMkLst>
          <pc:docMk/>
          <pc:sldMk cId="1304622203" sldId="282"/>
        </pc:sldMkLst>
        <pc:spChg chg="mod">
          <ac:chgData name="SIBILINA CEDILLO ROSALES" userId="S::sibilina.cedillors@uanl.edu.mx::9e59ad33-eabb-4e50-a90f-9a88506eb433" providerId="AD" clId="Web-{5E4B8668-AF96-4536-9459-1D0E3A74921D}" dt="2022-08-02T15:51:37.066" v="3" actId="1076"/>
          <ac:spMkLst>
            <pc:docMk/>
            <pc:sldMk cId="1304622203" sldId="282"/>
            <ac:spMk id="4" creationId="{55538C58-4586-4431-821D-9156FF404AD7}"/>
          </ac:spMkLst>
        </pc:spChg>
        <pc:picChg chg="mod">
          <ac:chgData name="SIBILINA CEDILLO ROSALES" userId="S::sibilina.cedillors@uanl.edu.mx::9e59ad33-eabb-4e50-a90f-9a88506eb433" providerId="AD" clId="Web-{5E4B8668-AF96-4536-9459-1D0E3A74921D}" dt="2022-08-02T15:51:42.738" v="5" actId="14100"/>
          <ac:picMkLst>
            <pc:docMk/>
            <pc:sldMk cId="1304622203" sldId="282"/>
            <ac:picMk id="3" creationId="{3FE6F398-A5B2-4981-87A1-EC894ABF6C42}"/>
          </ac:picMkLst>
        </pc:picChg>
      </pc:sldChg>
      <pc:sldChg chg="modSp">
        <pc:chgData name="SIBILINA CEDILLO ROSALES" userId="S::sibilina.cedillors@uanl.edu.mx::9e59ad33-eabb-4e50-a90f-9a88506eb433" providerId="AD" clId="Web-{5E4B8668-AF96-4536-9459-1D0E3A74921D}" dt="2022-08-02T15:52:28.505" v="16" actId="20577"/>
        <pc:sldMkLst>
          <pc:docMk/>
          <pc:sldMk cId="1608823507" sldId="283"/>
        </pc:sldMkLst>
        <pc:spChg chg="mod">
          <ac:chgData name="SIBILINA CEDILLO ROSALES" userId="S::sibilina.cedillors@uanl.edu.mx::9e59ad33-eabb-4e50-a90f-9a88506eb433" providerId="AD" clId="Web-{5E4B8668-AF96-4536-9459-1D0E3A74921D}" dt="2022-08-02T15:52:28.505" v="16" actId="20577"/>
          <ac:spMkLst>
            <pc:docMk/>
            <pc:sldMk cId="1608823507" sldId="283"/>
            <ac:spMk id="2" creationId="{F28023FB-8A42-41E0-A671-E09A9D56B71C}"/>
          </ac:spMkLst>
        </pc:spChg>
        <pc:spChg chg="mod">
          <ac:chgData name="SIBILINA CEDILLO ROSALES" userId="S::sibilina.cedillors@uanl.edu.mx::9e59ad33-eabb-4e50-a90f-9a88506eb433" providerId="AD" clId="Web-{5E4B8668-AF96-4536-9459-1D0E3A74921D}" dt="2022-08-02T15:52:07.661" v="11" actId="1076"/>
          <ac:spMkLst>
            <pc:docMk/>
            <pc:sldMk cId="1608823507" sldId="283"/>
            <ac:spMk id="3" creationId="{BA80EC4A-68AE-4A89-B791-DA304015D197}"/>
          </ac:spMkLst>
        </pc:spChg>
      </pc:sldChg>
      <pc:sldChg chg="modSp">
        <pc:chgData name="SIBILINA CEDILLO ROSALES" userId="S::sibilina.cedillors@uanl.edu.mx::9e59ad33-eabb-4e50-a90f-9a88506eb433" providerId="AD" clId="Web-{5E4B8668-AF96-4536-9459-1D0E3A74921D}" dt="2022-08-02T15:53:00.741" v="24" actId="20577"/>
        <pc:sldMkLst>
          <pc:docMk/>
          <pc:sldMk cId="701626261" sldId="284"/>
        </pc:sldMkLst>
        <pc:spChg chg="mod">
          <ac:chgData name="SIBILINA CEDILLO ROSALES" userId="S::sibilina.cedillors@uanl.edu.mx::9e59ad33-eabb-4e50-a90f-9a88506eb433" providerId="AD" clId="Web-{5E4B8668-AF96-4536-9459-1D0E3A74921D}" dt="2022-08-02T15:53:00.741" v="24" actId="20577"/>
          <ac:spMkLst>
            <pc:docMk/>
            <pc:sldMk cId="701626261" sldId="284"/>
            <ac:spMk id="6" creationId="{0D75BF99-ACC9-4E20-B6A1-CDE64EB930D3}"/>
          </ac:spMkLst>
        </pc:spChg>
      </pc:sldChg>
      <pc:sldChg chg="modSp">
        <pc:chgData name="SIBILINA CEDILLO ROSALES" userId="S::sibilina.cedillors@uanl.edu.mx::9e59ad33-eabb-4e50-a90f-9a88506eb433" providerId="AD" clId="Web-{5E4B8668-AF96-4536-9459-1D0E3A74921D}" dt="2022-08-02T15:53:05.850" v="25" actId="14100"/>
        <pc:sldMkLst>
          <pc:docMk/>
          <pc:sldMk cId="3461070700" sldId="286"/>
        </pc:sldMkLst>
        <pc:picChg chg="mod">
          <ac:chgData name="SIBILINA CEDILLO ROSALES" userId="S::sibilina.cedillors@uanl.edu.mx::9e59ad33-eabb-4e50-a90f-9a88506eb433" providerId="AD" clId="Web-{5E4B8668-AF96-4536-9459-1D0E3A74921D}" dt="2022-08-02T15:53:05.850" v="25" actId="14100"/>
          <ac:picMkLst>
            <pc:docMk/>
            <pc:sldMk cId="3461070700" sldId="286"/>
            <ac:picMk id="4" creationId="{66BA4960-D5D2-4470-867F-B14DA3E51388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4BCC1DD-B902-4D6D-B70C-E9AC3E19FA10}" type="doc">
      <dgm:prSet loTypeId="urn:microsoft.com/office/officeart/2008/layout/LinedList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C276CED5-0B08-475E-B86E-06847F9CDA18}">
      <dgm:prSet/>
      <dgm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ESTA PRESENTACIÓN</a:t>
          </a:r>
        </a:p>
      </dgm:t>
    </dgm:pt>
    <dgm:pt modelId="{37E53BB2-D7C8-4D4D-8DFE-EAFB48AB2B81}" type="parTrans" cxnId="{9A9B7A73-2611-49E1-8786-15EF2378137B}">
      <dgm:prSet/>
      <dgm:spPr/>
      <dgm:t>
        <a:bodyPr/>
        <a:lstStyle/>
        <a:p>
          <a:endParaRPr lang="en-US"/>
        </a:p>
      </dgm:t>
    </dgm:pt>
    <dgm:pt modelId="{F02A109F-D2AC-4DC2-8AFD-360BCAE1812D}" type="sibTrans" cxnId="{9A9B7A73-2611-49E1-8786-15EF2378137B}">
      <dgm:prSet/>
      <dgm:spPr/>
      <dgm:t>
        <a:bodyPr/>
        <a:lstStyle/>
        <a:p>
          <a:endParaRPr lang="en-US"/>
        </a:p>
      </dgm:t>
    </dgm:pt>
    <dgm:pt modelId="{DFC6E42F-925D-4FC8-9687-802470AD5F94}">
      <dgm:prSet/>
      <dgm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3. MECANISMOS DE REPARACIÓN DEL ADN</a:t>
          </a:r>
        </a:p>
      </dgm:t>
    </dgm:pt>
    <dgm:pt modelId="{01AFEB6D-3C44-4A5A-AA1F-2FE4B9FC781A}" type="parTrans" cxnId="{8D2C6D2D-638C-43DF-A66B-BFC6862B3C57}">
      <dgm:prSet/>
      <dgm:spPr/>
      <dgm:t>
        <a:bodyPr/>
        <a:lstStyle/>
        <a:p>
          <a:endParaRPr lang="en-US"/>
        </a:p>
      </dgm:t>
    </dgm:pt>
    <dgm:pt modelId="{0DB0C0E0-B4D6-4814-AFBE-78611B474BC1}" type="sibTrans" cxnId="{8D2C6D2D-638C-43DF-A66B-BFC6862B3C57}">
      <dgm:prSet/>
      <dgm:spPr/>
      <dgm:t>
        <a:bodyPr/>
        <a:lstStyle/>
        <a:p>
          <a:endParaRPr lang="en-US"/>
        </a:p>
      </dgm:t>
    </dgm:pt>
    <dgm:pt modelId="{8CDD919B-0276-4667-8003-89603DD31C96}">
      <dgm:prSet/>
      <dgm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s-MX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</a:t>
          </a:r>
        </a:p>
      </dgm:t>
    </dgm:pt>
    <dgm:pt modelId="{9E76C7AC-375F-48BD-ADF2-DB86425544B7}" type="parTrans" cxnId="{DE79FB17-15FA-4495-8DDA-507A906EAAF0}">
      <dgm:prSet/>
      <dgm:spPr/>
      <dgm:t>
        <a:bodyPr/>
        <a:lstStyle/>
        <a:p>
          <a:endParaRPr lang="en-US"/>
        </a:p>
      </dgm:t>
    </dgm:pt>
    <dgm:pt modelId="{C376B45E-3062-45F6-81EB-8A5FA4A06CC4}" type="sibTrans" cxnId="{DE79FB17-15FA-4495-8DDA-507A906EAAF0}">
      <dgm:prSet/>
      <dgm:spPr/>
      <dgm:t>
        <a:bodyPr/>
        <a:lstStyle/>
        <a:p>
          <a:endParaRPr lang="en-US"/>
        </a:p>
      </dgm:t>
    </dgm:pt>
    <dgm:pt modelId="{28C826E9-3DB9-4A6F-A591-625F0429BC7E}">
      <dgm:prSet/>
      <dgm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Después de estudiar este material, serás capaz de:</a:t>
          </a:r>
        </a:p>
      </dgm:t>
    </dgm:pt>
    <dgm:pt modelId="{868DDB6C-D3FC-4F0C-8B9F-6E22E53D5847}" type="parTrans" cxnId="{7A44AF2E-4B81-4D1B-ABA1-03E5B3D48585}">
      <dgm:prSet/>
      <dgm:spPr/>
      <dgm:t>
        <a:bodyPr/>
        <a:lstStyle/>
        <a:p>
          <a:endParaRPr lang="en-US"/>
        </a:p>
      </dgm:t>
    </dgm:pt>
    <dgm:pt modelId="{352E936D-1228-4A0A-B51A-9D70EAA9D952}" type="sibTrans" cxnId="{7A44AF2E-4B81-4D1B-ABA1-03E5B3D48585}">
      <dgm:prSet/>
      <dgm:spPr/>
      <dgm:t>
        <a:bodyPr/>
        <a:lstStyle/>
        <a:p>
          <a:endParaRPr lang="en-US"/>
        </a:p>
      </dgm:t>
    </dgm:pt>
    <dgm:pt modelId="{608F19A9-0859-4FA6-8BDC-01EC6C763333}">
      <dgm:prSet/>
      <dgm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4</a:t>
          </a:r>
          <a:r>
            <a:rPr lang="es-MX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 Comprender  los mecanismos de reparación del ADN en células procariotas y eucariotas</a:t>
          </a:r>
          <a:r>
            <a:rPr lang="en-US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</a:t>
          </a:r>
        </a:p>
      </dgm:t>
    </dgm:pt>
    <dgm:pt modelId="{9555AEFB-01BB-4EAB-B753-26B18D624893}" type="parTrans" cxnId="{02BF68C5-3040-4673-8612-805F16364C31}">
      <dgm:prSet/>
      <dgm:spPr/>
      <dgm:t>
        <a:bodyPr/>
        <a:lstStyle/>
        <a:p>
          <a:endParaRPr lang="en-US"/>
        </a:p>
      </dgm:t>
    </dgm:pt>
    <dgm:pt modelId="{3154E1DD-0277-403D-9EA6-B37BD6DC5151}" type="sibTrans" cxnId="{02BF68C5-3040-4673-8612-805F16364C31}">
      <dgm:prSet/>
      <dgm:spPr/>
      <dgm:t>
        <a:bodyPr/>
        <a:lstStyle/>
        <a:p>
          <a:endParaRPr lang="en-US"/>
        </a:p>
      </dgm:t>
    </dgm:pt>
    <dgm:pt modelId="{819BD35C-996B-4505-B9FD-CDE43326F311}">
      <dgm:prSet/>
      <dgm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gm:spPr>
      <dgm:t>
        <a:bodyPr/>
        <a:lstStyle/>
        <a:p>
          <a:pPr>
            <a:buNone/>
          </a:pP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gm:t>
    </dgm:pt>
    <dgm:pt modelId="{4B3B94C2-E516-48A2-BF4D-270CC535BCC7}" type="parTrans" cxnId="{99F2ACEF-4B7B-43F8-A0D0-0F6C79FAF418}">
      <dgm:prSet/>
      <dgm:spPr/>
      <dgm:t>
        <a:bodyPr/>
        <a:lstStyle/>
        <a:p>
          <a:endParaRPr lang="en-US"/>
        </a:p>
      </dgm:t>
    </dgm:pt>
    <dgm:pt modelId="{A08A6D1C-5FE7-4DF7-A0BD-A0B4F9208E67}" type="sibTrans" cxnId="{99F2ACEF-4B7B-43F8-A0D0-0F6C79FAF418}">
      <dgm:prSet/>
      <dgm:spPr/>
      <dgm:t>
        <a:bodyPr/>
        <a:lstStyle/>
        <a:p>
          <a:endParaRPr lang="en-US"/>
        </a:p>
      </dgm:t>
    </dgm:pt>
    <dgm:pt modelId="{3212952F-97DD-8245-B818-617D69042E21}" type="pres">
      <dgm:prSet presAssocID="{14BCC1DD-B902-4D6D-B70C-E9AC3E19FA10}" presName="vert0" presStyleCnt="0">
        <dgm:presLayoutVars>
          <dgm:dir/>
          <dgm:animOne val="branch"/>
          <dgm:animLvl val="lvl"/>
        </dgm:presLayoutVars>
      </dgm:prSet>
      <dgm:spPr/>
    </dgm:pt>
    <dgm:pt modelId="{A4F1E4E3-D990-E747-BF0F-A025DD075B25}" type="pres">
      <dgm:prSet presAssocID="{C276CED5-0B08-475E-B86E-06847F9CDA18}" presName="thickLine" presStyleLbl="alignNode1" presStyleIdx="0" presStyleCnt="6"/>
      <dgm:spPr>
        <a:xfrm>
          <a:off x="0" y="2124"/>
          <a:ext cx="10515600" cy="0"/>
        </a:xfrm>
        <a:prstGeom prst="line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</dgm:pt>
    <dgm:pt modelId="{254865B9-F580-3B43-B2B2-8E29D934AC79}" type="pres">
      <dgm:prSet presAssocID="{C276CED5-0B08-475E-B86E-06847F9CDA18}" presName="horz1" presStyleCnt="0"/>
      <dgm:spPr/>
    </dgm:pt>
    <dgm:pt modelId="{AE9AA8F7-32AF-034A-B2B2-D8C964E1F4EB}" type="pres">
      <dgm:prSet presAssocID="{C276CED5-0B08-475E-B86E-06847F9CDA18}" presName="tx1" presStyleLbl="revTx" presStyleIdx="0" presStyleCnt="6"/>
      <dgm:spPr/>
    </dgm:pt>
    <dgm:pt modelId="{5B3AC993-EC12-2148-B1E1-B2117C2D6778}" type="pres">
      <dgm:prSet presAssocID="{C276CED5-0B08-475E-B86E-06847F9CDA18}" presName="vert1" presStyleCnt="0"/>
      <dgm:spPr/>
    </dgm:pt>
    <dgm:pt modelId="{2CC8C39B-5116-8740-9827-E6CF6BA3FC99}" type="pres">
      <dgm:prSet presAssocID="{DFC6E42F-925D-4FC8-9687-802470AD5F94}" presName="thickLine" presStyleLbl="alignNode1" presStyleIdx="1" presStyleCnt="6"/>
      <dgm:spPr>
        <a:xfrm>
          <a:off x="0" y="726639"/>
          <a:ext cx="10515600" cy="0"/>
        </a:xfrm>
        <a:prstGeom prst="line">
          <a:avLst/>
        </a:prstGeom>
        <a:solidFill>
          <a:srgbClr val="5B9BD5">
            <a:hueOff val="-1351709"/>
            <a:satOff val="-3484"/>
            <a:lumOff val="-2353"/>
            <a:alphaOff val="0"/>
          </a:srgbClr>
        </a:solidFill>
        <a:ln w="12700" cap="flat" cmpd="sng" algn="ctr">
          <a:solidFill>
            <a:srgbClr val="5B9BD5">
              <a:hueOff val="-1351709"/>
              <a:satOff val="-3484"/>
              <a:lumOff val="-2353"/>
              <a:alphaOff val="0"/>
            </a:srgbClr>
          </a:solidFill>
          <a:prstDash val="solid"/>
          <a:miter lim="800000"/>
        </a:ln>
        <a:effectLst/>
      </dgm:spPr>
    </dgm:pt>
    <dgm:pt modelId="{EDF8F333-4F4F-2E4F-8AB9-E86F549B0E48}" type="pres">
      <dgm:prSet presAssocID="{DFC6E42F-925D-4FC8-9687-802470AD5F94}" presName="horz1" presStyleCnt="0"/>
      <dgm:spPr/>
    </dgm:pt>
    <dgm:pt modelId="{94E30F64-7074-844E-B416-3325E15FD72D}" type="pres">
      <dgm:prSet presAssocID="{DFC6E42F-925D-4FC8-9687-802470AD5F94}" presName="tx1" presStyleLbl="revTx" presStyleIdx="1" presStyleCnt="6"/>
      <dgm:spPr/>
    </dgm:pt>
    <dgm:pt modelId="{FAF3BDDE-DB64-8549-B149-4EB74A2E8689}" type="pres">
      <dgm:prSet presAssocID="{DFC6E42F-925D-4FC8-9687-802470AD5F94}" presName="vert1" presStyleCnt="0"/>
      <dgm:spPr/>
    </dgm:pt>
    <dgm:pt modelId="{D5B1AB54-830F-7049-9930-A02A1F95DE86}" type="pres">
      <dgm:prSet presAssocID="{8CDD919B-0276-4667-8003-89603DD31C96}" presName="thickLine" presStyleLbl="alignNode1" presStyleIdx="2" presStyleCnt="6"/>
      <dgm:spPr>
        <a:xfrm>
          <a:off x="0" y="1451154"/>
          <a:ext cx="10515600" cy="0"/>
        </a:xfrm>
        <a:prstGeom prst="line">
          <a:avLst/>
        </a:prstGeom>
        <a:solidFill>
          <a:srgbClr val="5B9BD5">
            <a:hueOff val="-2703417"/>
            <a:satOff val="-6968"/>
            <a:lumOff val="-4706"/>
            <a:alphaOff val="0"/>
          </a:srgbClr>
        </a:solidFill>
        <a:ln w="12700" cap="flat" cmpd="sng" algn="ctr">
          <a:solidFill>
            <a:srgbClr val="5B9BD5">
              <a:hueOff val="-2703417"/>
              <a:satOff val="-6968"/>
              <a:lumOff val="-4706"/>
              <a:alphaOff val="0"/>
            </a:srgbClr>
          </a:solidFill>
          <a:prstDash val="solid"/>
          <a:miter lim="800000"/>
        </a:ln>
        <a:effectLst/>
      </dgm:spPr>
    </dgm:pt>
    <dgm:pt modelId="{5CF4A4BB-3DBE-7046-B896-34EA7097CC15}" type="pres">
      <dgm:prSet presAssocID="{8CDD919B-0276-4667-8003-89603DD31C96}" presName="horz1" presStyleCnt="0"/>
      <dgm:spPr/>
    </dgm:pt>
    <dgm:pt modelId="{0EC93E23-3334-434C-9B19-B2A4F018371F}" type="pres">
      <dgm:prSet presAssocID="{8CDD919B-0276-4667-8003-89603DD31C96}" presName="tx1" presStyleLbl="revTx" presStyleIdx="2" presStyleCnt="6"/>
      <dgm:spPr/>
    </dgm:pt>
    <dgm:pt modelId="{5CDC1C7A-E467-A34A-9843-4D532E166B2F}" type="pres">
      <dgm:prSet presAssocID="{8CDD919B-0276-4667-8003-89603DD31C96}" presName="vert1" presStyleCnt="0"/>
      <dgm:spPr/>
    </dgm:pt>
    <dgm:pt modelId="{ECBE63F8-3B96-2043-A89D-9150AACCE252}" type="pres">
      <dgm:prSet presAssocID="{28C826E9-3DB9-4A6F-A591-625F0429BC7E}" presName="thickLine" presStyleLbl="alignNode1" presStyleIdx="3" presStyleCnt="6"/>
      <dgm:spPr>
        <a:xfrm>
          <a:off x="0" y="2175669"/>
          <a:ext cx="10515600" cy="0"/>
        </a:xfrm>
        <a:prstGeom prst="line">
          <a:avLst/>
        </a:prstGeom>
        <a:solidFill>
          <a:srgbClr val="5B9BD5">
            <a:hueOff val="-4055126"/>
            <a:satOff val="-10451"/>
            <a:lumOff val="-7059"/>
            <a:alphaOff val="0"/>
          </a:srgbClr>
        </a:solidFill>
        <a:ln w="12700" cap="flat" cmpd="sng" algn="ctr">
          <a:solidFill>
            <a:srgbClr val="5B9BD5">
              <a:hueOff val="-4055126"/>
              <a:satOff val="-10451"/>
              <a:lumOff val="-7059"/>
              <a:alphaOff val="0"/>
            </a:srgbClr>
          </a:solidFill>
          <a:prstDash val="solid"/>
          <a:miter lim="800000"/>
        </a:ln>
        <a:effectLst/>
      </dgm:spPr>
    </dgm:pt>
    <dgm:pt modelId="{E068F44C-5239-9E45-912A-6B3192EFD326}" type="pres">
      <dgm:prSet presAssocID="{28C826E9-3DB9-4A6F-A591-625F0429BC7E}" presName="horz1" presStyleCnt="0"/>
      <dgm:spPr/>
    </dgm:pt>
    <dgm:pt modelId="{FBCFAFBE-2A89-DE44-A5FD-5D33E84D3F85}" type="pres">
      <dgm:prSet presAssocID="{28C826E9-3DB9-4A6F-A591-625F0429BC7E}" presName="tx1" presStyleLbl="revTx" presStyleIdx="3" presStyleCnt="6"/>
      <dgm:spPr/>
    </dgm:pt>
    <dgm:pt modelId="{2690BAD3-C9D3-934D-8AD5-6A1EE83D7837}" type="pres">
      <dgm:prSet presAssocID="{28C826E9-3DB9-4A6F-A591-625F0429BC7E}" presName="vert1" presStyleCnt="0"/>
      <dgm:spPr/>
    </dgm:pt>
    <dgm:pt modelId="{37FEEA17-B921-8A4C-9964-115A43D1B004}" type="pres">
      <dgm:prSet presAssocID="{608F19A9-0859-4FA6-8BDC-01EC6C763333}" presName="thickLine" presStyleLbl="alignNode1" presStyleIdx="4" presStyleCnt="6"/>
      <dgm:spPr>
        <a:xfrm>
          <a:off x="0" y="2900183"/>
          <a:ext cx="10515600" cy="0"/>
        </a:xfrm>
        <a:prstGeom prst="line">
          <a:avLst/>
        </a:prstGeom>
        <a:solidFill>
          <a:srgbClr val="5B9BD5">
            <a:hueOff val="-5406834"/>
            <a:satOff val="-13935"/>
            <a:lumOff val="-9412"/>
            <a:alphaOff val="0"/>
          </a:srgbClr>
        </a:solidFill>
        <a:ln w="12700" cap="flat" cmpd="sng" algn="ctr">
          <a:solidFill>
            <a:srgbClr val="5B9BD5">
              <a:hueOff val="-5406834"/>
              <a:satOff val="-13935"/>
              <a:lumOff val="-9412"/>
              <a:alphaOff val="0"/>
            </a:srgbClr>
          </a:solidFill>
          <a:prstDash val="solid"/>
          <a:miter lim="800000"/>
        </a:ln>
        <a:effectLst/>
      </dgm:spPr>
    </dgm:pt>
    <dgm:pt modelId="{9DDF96CB-729B-C045-B63F-E884C67998E6}" type="pres">
      <dgm:prSet presAssocID="{608F19A9-0859-4FA6-8BDC-01EC6C763333}" presName="horz1" presStyleCnt="0"/>
      <dgm:spPr/>
    </dgm:pt>
    <dgm:pt modelId="{8FF39CEE-5F11-6445-80E2-6DABC50DD543}" type="pres">
      <dgm:prSet presAssocID="{608F19A9-0859-4FA6-8BDC-01EC6C763333}" presName="tx1" presStyleLbl="revTx" presStyleIdx="4" presStyleCnt="6"/>
      <dgm:spPr/>
    </dgm:pt>
    <dgm:pt modelId="{4DB973E5-8BE6-8D4E-8B9E-974813B8FF9C}" type="pres">
      <dgm:prSet presAssocID="{608F19A9-0859-4FA6-8BDC-01EC6C763333}" presName="vert1" presStyleCnt="0"/>
      <dgm:spPr/>
    </dgm:pt>
    <dgm:pt modelId="{469A1699-CAAA-A64E-BA4E-8479777780EC}" type="pres">
      <dgm:prSet presAssocID="{819BD35C-996B-4505-B9FD-CDE43326F311}" presName="thickLine" presStyleLbl="alignNode1" presStyleIdx="5" presStyleCnt="6"/>
      <dgm:spPr>
        <a:xfrm>
          <a:off x="0" y="3624698"/>
          <a:ext cx="10515600" cy="0"/>
        </a:xfrm>
        <a:prstGeom prst="line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gm:spPr>
    </dgm:pt>
    <dgm:pt modelId="{0EEA2088-130A-D045-A80C-8337FF6874A8}" type="pres">
      <dgm:prSet presAssocID="{819BD35C-996B-4505-B9FD-CDE43326F311}" presName="horz1" presStyleCnt="0"/>
      <dgm:spPr/>
    </dgm:pt>
    <dgm:pt modelId="{70C0BAAC-100F-B84D-A77D-9D0A5FDCE814}" type="pres">
      <dgm:prSet presAssocID="{819BD35C-996B-4505-B9FD-CDE43326F311}" presName="tx1" presStyleLbl="revTx" presStyleIdx="5" presStyleCnt="6"/>
      <dgm:spPr/>
    </dgm:pt>
    <dgm:pt modelId="{5A427D43-33F2-8942-A329-3EB81779D32A}" type="pres">
      <dgm:prSet presAssocID="{819BD35C-996B-4505-B9FD-CDE43326F311}" presName="vert1" presStyleCnt="0"/>
      <dgm:spPr/>
    </dgm:pt>
  </dgm:ptLst>
  <dgm:cxnLst>
    <dgm:cxn modelId="{95984210-E954-D84A-B852-13310D682FB2}" type="presOf" srcId="{14BCC1DD-B902-4D6D-B70C-E9AC3E19FA10}" destId="{3212952F-97DD-8245-B818-617D69042E21}" srcOrd="0" destOrd="0" presId="urn:microsoft.com/office/officeart/2008/layout/LinedList"/>
    <dgm:cxn modelId="{DE79FB17-15FA-4495-8DDA-507A906EAAF0}" srcId="{14BCC1DD-B902-4D6D-B70C-E9AC3E19FA10}" destId="{8CDD919B-0276-4667-8003-89603DD31C96}" srcOrd="2" destOrd="0" parTransId="{9E76C7AC-375F-48BD-ADF2-DB86425544B7}" sibTransId="{C376B45E-3062-45F6-81EB-8A5FA4A06CC4}"/>
    <dgm:cxn modelId="{8D2C6D2D-638C-43DF-A66B-BFC6862B3C57}" srcId="{14BCC1DD-B902-4D6D-B70C-E9AC3E19FA10}" destId="{DFC6E42F-925D-4FC8-9687-802470AD5F94}" srcOrd="1" destOrd="0" parTransId="{01AFEB6D-3C44-4A5A-AA1F-2FE4B9FC781A}" sibTransId="{0DB0C0E0-B4D6-4814-AFBE-78611B474BC1}"/>
    <dgm:cxn modelId="{7A44AF2E-4B81-4D1B-ABA1-03E5B3D48585}" srcId="{14BCC1DD-B902-4D6D-B70C-E9AC3E19FA10}" destId="{28C826E9-3DB9-4A6F-A591-625F0429BC7E}" srcOrd="3" destOrd="0" parTransId="{868DDB6C-D3FC-4F0C-8B9F-6E22E53D5847}" sibTransId="{352E936D-1228-4A0A-B51A-9D70EAA9D952}"/>
    <dgm:cxn modelId="{245C9440-FEF1-9C46-9EF3-16C499FA61E3}" type="presOf" srcId="{608F19A9-0859-4FA6-8BDC-01EC6C763333}" destId="{8FF39CEE-5F11-6445-80E2-6DABC50DD543}" srcOrd="0" destOrd="0" presId="urn:microsoft.com/office/officeart/2008/layout/LinedList"/>
    <dgm:cxn modelId="{0A879E60-0436-2945-90E8-AD4A6770C767}" type="presOf" srcId="{8CDD919B-0276-4667-8003-89603DD31C96}" destId="{0EC93E23-3334-434C-9B19-B2A4F018371F}" srcOrd="0" destOrd="0" presId="urn:microsoft.com/office/officeart/2008/layout/LinedList"/>
    <dgm:cxn modelId="{9A9B7A73-2611-49E1-8786-15EF2378137B}" srcId="{14BCC1DD-B902-4D6D-B70C-E9AC3E19FA10}" destId="{C276CED5-0B08-475E-B86E-06847F9CDA18}" srcOrd="0" destOrd="0" parTransId="{37E53BB2-D7C8-4D4D-8DFE-EAFB48AB2B81}" sibTransId="{F02A109F-D2AC-4DC2-8AFD-360BCAE1812D}"/>
    <dgm:cxn modelId="{1427BB81-C7F3-CE4B-8CA7-4A94CFAA3F5F}" type="presOf" srcId="{28C826E9-3DB9-4A6F-A591-625F0429BC7E}" destId="{FBCFAFBE-2A89-DE44-A5FD-5D33E84D3F85}" srcOrd="0" destOrd="0" presId="urn:microsoft.com/office/officeart/2008/layout/LinedList"/>
    <dgm:cxn modelId="{02BF68C5-3040-4673-8612-805F16364C31}" srcId="{14BCC1DD-B902-4D6D-B70C-E9AC3E19FA10}" destId="{608F19A9-0859-4FA6-8BDC-01EC6C763333}" srcOrd="4" destOrd="0" parTransId="{9555AEFB-01BB-4EAB-B753-26B18D624893}" sibTransId="{3154E1DD-0277-403D-9EA6-B37BD6DC5151}"/>
    <dgm:cxn modelId="{BF6A53EA-A69D-3348-8424-ACF4C5ADAF35}" type="presOf" srcId="{C276CED5-0B08-475E-B86E-06847F9CDA18}" destId="{AE9AA8F7-32AF-034A-B2B2-D8C964E1F4EB}" srcOrd="0" destOrd="0" presId="urn:microsoft.com/office/officeart/2008/layout/LinedList"/>
    <dgm:cxn modelId="{99F2ACEF-4B7B-43F8-A0D0-0F6C79FAF418}" srcId="{14BCC1DD-B902-4D6D-B70C-E9AC3E19FA10}" destId="{819BD35C-996B-4505-B9FD-CDE43326F311}" srcOrd="5" destOrd="0" parTransId="{4B3B94C2-E516-48A2-BF4D-270CC535BCC7}" sibTransId="{A08A6D1C-5FE7-4DF7-A0BD-A0B4F9208E67}"/>
    <dgm:cxn modelId="{4F02A9F3-B4B7-1C4E-B89E-2C60927886F7}" type="presOf" srcId="{DFC6E42F-925D-4FC8-9687-802470AD5F94}" destId="{94E30F64-7074-844E-B416-3325E15FD72D}" srcOrd="0" destOrd="0" presId="urn:microsoft.com/office/officeart/2008/layout/LinedList"/>
    <dgm:cxn modelId="{4948C6F5-A287-0544-ADD7-5BD86E171562}" type="presOf" srcId="{819BD35C-996B-4505-B9FD-CDE43326F311}" destId="{70C0BAAC-100F-B84D-A77D-9D0A5FDCE814}" srcOrd="0" destOrd="0" presId="urn:microsoft.com/office/officeart/2008/layout/LinedList"/>
    <dgm:cxn modelId="{AFE1F6A5-EAF6-BF48-86C7-38AFE5EF678D}" type="presParOf" srcId="{3212952F-97DD-8245-B818-617D69042E21}" destId="{A4F1E4E3-D990-E747-BF0F-A025DD075B25}" srcOrd="0" destOrd="0" presId="urn:microsoft.com/office/officeart/2008/layout/LinedList"/>
    <dgm:cxn modelId="{5B32AB5E-8074-E04E-93AD-2CD133DC747D}" type="presParOf" srcId="{3212952F-97DD-8245-B818-617D69042E21}" destId="{254865B9-F580-3B43-B2B2-8E29D934AC79}" srcOrd="1" destOrd="0" presId="urn:microsoft.com/office/officeart/2008/layout/LinedList"/>
    <dgm:cxn modelId="{37591CAC-EDFA-134E-93EE-F4E762F946F0}" type="presParOf" srcId="{254865B9-F580-3B43-B2B2-8E29D934AC79}" destId="{AE9AA8F7-32AF-034A-B2B2-D8C964E1F4EB}" srcOrd="0" destOrd="0" presId="urn:microsoft.com/office/officeart/2008/layout/LinedList"/>
    <dgm:cxn modelId="{76E571AE-B161-3842-84C1-223297E74646}" type="presParOf" srcId="{254865B9-F580-3B43-B2B2-8E29D934AC79}" destId="{5B3AC993-EC12-2148-B1E1-B2117C2D6778}" srcOrd="1" destOrd="0" presId="urn:microsoft.com/office/officeart/2008/layout/LinedList"/>
    <dgm:cxn modelId="{FD35A3A4-5C50-B444-A1D7-1F61463A7581}" type="presParOf" srcId="{3212952F-97DD-8245-B818-617D69042E21}" destId="{2CC8C39B-5116-8740-9827-E6CF6BA3FC99}" srcOrd="2" destOrd="0" presId="urn:microsoft.com/office/officeart/2008/layout/LinedList"/>
    <dgm:cxn modelId="{90C7EBA8-11F0-E647-B997-3D8D64D4A733}" type="presParOf" srcId="{3212952F-97DD-8245-B818-617D69042E21}" destId="{EDF8F333-4F4F-2E4F-8AB9-E86F549B0E48}" srcOrd="3" destOrd="0" presId="urn:microsoft.com/office/officeart/2008/layout/LinedList"/>
    <dgm:cxn modelId="{63836A01-081D-6249-AF94-A34892FB9DE9}" type="presParOf" srcId="{EDF8F333-4F4F-2E4F-8AB9-E86F549B0E48}" destId="{94E30F64-7074-844E-B416-3325E15FD72D}" srcOrd="0" destOrd="0" presId="urn:microsoft.com/office/officeart/2008/layout/LinedList"/>
    <dgm:cxn modelId="{ECC9ABBC-9D2B-C245-87CE-5C9E005D6667}" type="presParOf" srcId="{EDF8F333-4F4F-2E4F-8AB9-E86F549B0E48}" destId="{FAF3BDDE-DB64-8549-B149-4EB74A2E8689}" srcOrd="1" destOrd="0" presId="urn:microsoft.com/office/officeart/2008/layout/LinedList"/>
    <dgm:cxn modelId="{B04C124D-BEBE-B84D-AF6D-57979C68A364}" type="presParOf" srcId="{3212952F-97DD-8245-B818-617D69042E21}" destId="{D5B1AB54-830F-7049-9930-A02A1F95DE86}" srcOrd="4" destOrd="0" presId="urn:microsoft.com/office/officeart/2008/layout/LinedList"/>
    <dgm:cxn modelId="{9C651067-F2DC-1843-9526-D6ABAC9DE157}" type="presParOf" srcId="{3212952F-97DD-8245-B818-617D69042E21}" destId="{5CF4A4BB-3DBE-7046-B896-34EA7097CC15}" srcOrd="5" destOrd="0" presId="urn:microsoft.com/office/officeart/2008/layout/LinedList"/>
    <dgm:cxn modelId="{79260178-24C6-354F-AB3E-4BB4769CC3B3}" type="presParOf" srcId="{5CF4A4BB-3DBE-7046-B896-34EA7097CC15}" destId="{0EC93E23-3334-434C-9B19-B2A4F018371F}" srcOrd="0" destOrd="0" presId="urn:microsoft.com/office/officeart/2008/layout/LinedList"/>
    <dgm:cxn modelId="{6857FD30-99E9-AC47-A6F6-F340BFED3B42}" type="presParOf" srcId="{5CF4A4BB-3DBE-7046-B896-34EA7097CC15}" destId="{5CDC1C7A-E467-A34A-9843-4D532E166B2F}" srcOrd="1" destOrd="0" presId="urn:microsoft.com/office/officeart/2008/layout/LinedList"/>
    <dgm:cxn modelId="{E9D00CBC-10C7-6E49-A578-073601059FC7}" type="presParOf" srcId="{3212952F-97DD-8245-B818-617D69042E21}" destId="{ECBE63F8-3B96-2043-A89D-9150AACCE252}" srcOrd="6" destOrd="0" presId="urn:microsoft.com/office/officeart/2008/layout/LinedList"/>
    <dgm:cxn modelId="{81C8445E-DD0F-CB4C-AC6B-79A1A8D7FA3E}" type="presParOf" srcId="{3212952F-97DD-8245-B818-617D69042E21}" destId="{E068F44C-5239-9E45-912A-6B3192EFD326}" srcOrd="7" destOrd="0" presId="urn:microsoft.com/office/officeart/2008/layout/LinedList"/>
    <dgm:cxn modelId="{3DFF2ED9-93FA-A643-83EC-36BA367DDAC7}" type="presParOf" srcId="{E068F44C-5239-9E45-912A-6B3192EFD326}" destId="{FBCFAFBE-2A89-DE44-A5FD-5D33E84D3F85}" srcOrd="0" destOrd="0" presId="urn:microsoft.com/office/officeart/2008/layout/LinedList"/>
    <dgm:cxn modelId="{B06C604F-1E7E-2C41-ABE6-898C48DE246F}" type="presParOf" srcId="{E068F44C-5239-9E45-912A-6B3192EFD326}" destId="{2690BAD3-C9D3-934D-8AD5-6A1EE83D7837}" srcOrd="1" destOrd="0" presId="urn:microsoft.com/office/officeart/2008/layout/LinedList"/>
    <dgm:cxn modelId="{604B83DE-10C5-114D-992B-5C9B3858DCA2}" type="presParOf" srcId="{3212952F-97DD-8245-B818-617D69042E21}" destId="{37FEEA17-B921-8A4C-9964-115A43D1B004}" srcOrd="8" destOrd="0" presId="urn:microsoft.com/office/officeart/2008/layout/LinedList"/>
    <dgm:cxn modelId="{45F0DD15-6603-F048-9C0F-F0B9FDB59D81}" type="presParOf" srcId="{3212952F-97DD-8245-B818-617D69042E21}" destId="{9DDF96CB-729B-C045-B63F-E884C67998E6}" srcOrd="9" destOrd="0" presId="urn:microsoft.com/office/officeart/2008/layout/LinedList"/>
    <dgm:cxn modelId="{582BC0D6-EB9C-2D4C-88D7-B94E52618E15}" type="presParOf" srcId="{9DDF96CB-729B-C045-B63F-E884C67998E6}" destId="{8FF39CEE-5F11-6445-80E2-6DABC50DD543}" srcOrd="0" destOrd="0" presId="urn:microsoft.com/office/officeart/2008/layout/LinedList"/>
    <dgm:cxn modelId="{81E46045-47CF-0E45-B2DD-B1D98E30B673}" type="presParOf" srcId="{9DDF96CB-729B-C045-B63F-E884C67998E6}" destId="{4DB973E5-8BE6-8D4E-8B9E-974813B8FF9C}" srcOrd="1" destOrd="0" presId="urn:microsoft.com/office/officeart/2008/layout/LinedList"/>
    <dgm:cxn modelId="{27C3D0AD-BDDB-D946-A3CC-CBA28819CBAE}" type="presParOf" srcId="{3212952F-97DD-8245-B818-617D69042E21}" destId="{469A1699-CAAA-A64E-BA4E-8479777780EC}" srcOrd="10" destOrd="0" presId="urn:microsoft.com/office/officeart/2008/layout/LinedList"/>
    <dgm:cxn modelId="{736BA5D7-97F8-6749-9A71-705A9BFA3B4C}" type="presParOf" srcId="{3212952F-97DD-8245-B818-617D69042E21}" destId="{0EEA2088-130A-D045-A80C-8337FF6874A8}" srcOrd="11" destOrd="0" presId="urn:microsoft.com/office/officeart/2008/layout/LinedList"/>
    <dgm:cxn modelId="{ED5BD7CD-40FA-3F4B-AB2F-B3D6A291F017}" type="presParOf" srcId="{0EEA2088-130A-D045-A80C-8337FF6874A8}" destId="{70C0BAAC-100F-B84D-A77D-9D0A5FDCE814}" srcOrd="0" destOrd="0" presId="urn:microsoft.com/office/officeart/2008/layout/LinedList"/>
    <dgm:cxn modelId="{A4B8EED1-6AE4-0142-A6C1-CB130C5EE442}" type="presParOf" srcId="{0EEA2088-130A-D045-A80C-8337FF6874A8}" destId="{5A427D43-33F2-8942-A329-3EB81779D32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6936BA-793C-4232-BA04-846415F0BF71}" type="doc">
      <dgm:prSet loTypeId="urn:microsoft.com/office/officeart/2005/8/layout/hProcess9" loCatId="process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s-MX"/>
        </a:p>
      </dgm:t>
    </dgm:pt>
    <dgm:pt modelId="{FCA7EAAD-743A-4AA4-B197-E5CDFD184CA3}">
      <dgm:prSet phldrT="[Texto]"/>
      <dgm:spPr>
        <a:xfrm>
          <a:off x="356339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marL="0" marR="0" indent="0" defTabSz="914400" eaLnBrk="1" fontAlgn="auto" latinLnBrk="0" hangingPunct="1"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Actividades que involucran una serie de procesos enzimáticos</a:t>
          </a:r>
        </a:p>
        <a:p>
          <a:pPr defTabSz="400050">
            <a:spcBef>
              <a:spcPct val="0"/>
            </a:spcBef>
            <a:spcAft>
              <a:spcPct val="35000"/>
            </a:spcAft>
            <a:buNone/>
          </a:pPr>
          <a:endParaRPr lang="es-MX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D0EA699D-D715-497A-B2B9-5EF5C807E0E9}" type="parTrans" cxnId="{376ED6E9-9072-4C0B-A73F-FF6602325F94}">
      <dgm:prSet/>
      <dgm:spPr/>
      <dgm:t>
        <a:bodyPr/>
        <a:lstStyle/>
        <a:p>
          <a:endParaRPr lang="es-MX" sz="3600"/>
        </a:p>
      </dgm:t>
    </dgm:pt>
    <dgm:pt modelId="{41B5E6F8-4D9C-42B8-9A1A-A229B4F02CFE}" type="sibTrans" cxnId="{376ED6E9-9072-4C0B-A73F-FF6602325F94}">
      <dgm:prSet/>
      <dgm:spPr/>
      <dgm:t>
        <a:bodyPr/>
        <a:lstStyle/>
        <a:p>
          <a:endParaRPr lang="es-MX"/>
        </a:p>
      </dgm:t>
    </dgm:pt>
    <dgm:pt modelId="{D8184AE9-6ABE-4834-9556-C0B95F73CB9F}">
      <dgm:prSet phldrT="[Texto]"/>
      <dgm:spPr>
        <a:xfrm>
          <a:off x="7004580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marR="0" lvl="0" defTabSz="3556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Reparación del  ADN</a:t>
          </a:r>
        </a:p>
        <a:p>
          <a:pPr marL="0" marR="0" lvl="0" indent="0" defTabSz="355600" eaLnBrk="1" fontAlgn="auto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Corrigen el daño en las moléculas del ADN</a:t>
          </a:r>
        </a:p>
        <a:p>
          <a:pPr defTabSz="355600">
            <a:spcBef>
              <a:spcPct val="0"/>
            </a:spcBef>
            <a:spcAft>
              <a:spcPct val="35000"/>
            </a:spcAft>
            <a:buNone/>
          </a:pPr>
          <a:endParaRPr lang="es-MX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gm:t>
    </dgm:pt>
    <dgm:pt modelId="{D3DA46C8-CB59-4C52-ACBE-B4CF6DC92C0F}" type="parTrans" cxnId="{F8AF5373-4FD7-40B3-B2EE-838EA7C7C689}">
      <dgm:prSet/>
      <dgm:spPr/>
      <dgm:t>
        <a:bodyPr/>
        <a:lstStyle/>
        <a:p>
          <a:endParaRPr lang="es-MX" sz="3600"/>
        </a:p>
      </dgm:t>
    </dgm:pt>
    <dgm:pt modelId="{43F72F2C-195C-4B06-BB35-CB3A933C08A0}" type="sibTrans" cxnId="{F8AF5373-4FD7-40B3-B2EE-838EA7C7C689}">
      <dgm:prSet/>
      <dgm:spPr/>
      <dgm:t>
        <a:bodyPr/>
        <a:lstStyle/>
        <a:p>
          <a:endParaRPr lang="es-MX"/>
        </a:p>
      </dgm:t>
    </dgm:pt>
    <dgm:pt modelId="{F86AFEB0-E402-412A-8511-277F83A41900}">
      <dgm:prSet phldrT="[Texto]"/>
      <dgm:spPr>
        <a:xfrm>
          <a:off x="3680460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gm:spPr>
      <dgm:t>
        <a:bodyPr/>
        <a:lstStyle/>
        <a:p>
          <a:pPr marL="0" marR="0" lvl="0" indent="0" defTabSz="3556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Identifican daño en las moléculas del ADN</a:t>
          </a:r>
        </a:p>
      </dgm:t>
    </dgm:pt>
    <dgm:pt modelId="{1FEFCD60-7F61-4F2D-B833-700D31AB3B23}" type="parTrans" cxnId="{B40B7C53-AA14-4DF6-A8DD-4E7EAAE5F26B}">
      <dgm:prSet/>
      <dgm:spPr/>
      <dgm:t>
        <a:bodyPr/>
        <a:lstStyle/>
        <a:p>
          <a:endParaRPr lang="es-MX" sz="3600"/>
        </a:p>
      </dgm:t>
    </dgm:pt>
    <dgm:pt modelId="{26D47DF7-49C8-40D9-A143-3787DFA8B8DC}" type="sibTrans" cxnId="{B40B7C53-AA14-4DF6-A8DD-4E7EAAE5F26B}">
      <dgm:prSet/>
      <dgm:spPr/>
      <dgm:t>
        <a:bodyPr/>
        <a:lstStyle/>
        <a:p>
          <a:endParaRPr lang="es-MX"/>
        </a:p>
      </dgm:t>
    </dgm:pt>
    <dgm:pt modelId="{028AD906-1470-E14E-8AEE-2FF69C3CAE3C}" type="pres">
      <dgm:prSet presAssocID="{066936BA-793C-4232-BA04-846415F0BF71}" presName="CompostProcess" presStyleCnt="0">
        <dgm:presLayoutVars>
          <dgm:dir/>
          <dgm:resizeHandles val="exact"/>
        </dgm:presLayoutVars>
      </dgm:prSet>
      <dgm:spPr/>
    </dgm:pt>
    <dgm:pt modelId="{9DC8EAC4-805B-5C4C-84F6-A984D846CB09}" type="pres">
      <dgm:prSet presAssocID="{066936BA-793C-4232-BA04-846415F0BF71}" presName="arrow" presStyleLbl="bgShp" presStyleIdx="0" presStyleCnt="1"/>
      <dgm:spPr>
        <a:xfrm>
          <a:off x="788669" y="0"/>
          <a:ext cx="8938260" cy="4351338"/>
        </a:xfrm>
        <a:prstGeom prst="rightArrow">
          <a:avLst/>
        </a:prstGeom>
        <a:solidFill>
          <a:srgbClr val="5B9BD5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</dgm:pt>
    <dgm:pt modelId="{CEF48F4B-A377-6D48-ABEE-57B1ACC446E7}" type="pres">
      <dgm:prSet presAssocID="{066936BA-793C-4232-BA04-846415F0BF71}" presName="linearProcess" presStyleCnt="0"/>
      <dgm:spPr/>
    </dgm:pt>
    <dgm:pt modelId="{CF1911FE-3A6C-0E4C-9094-58D70E2EE54E}" type="pres">
      <dgm:prSet presAssocID="{FCA7EAAD-743A-4AA4-B197-E5CDFD184CA3}" presName="textNode" presStyleLbl="node1" presStyleIdx="0" presStyleCnt="3">
        <dgm:presLayoutVars>
          <dgm:bulletEnabled val="1"/>
        </dgm:presLayoutVars>
      </dgm:prSet>
      <dgm:spPr/>
    </dgm:pt>
    <dgm:pt modelId="{7A651BEF-E1DF-1E41-9A68-F0814B629A4C}" type="pres">
      <dgm:prSet presAssocID="{41B5E6F8-4D9C-42B8-9A1A-A229B4F02CFE}" presName="sibTrans" presStyleCnt="0"/>
      <dgm:spPr/>
    </dgm:pt>
    <dgm:pt modelId="{10E52168-379C-2144-B9AD-763ECE9B0AB4}" type="pres">
      <dgm:prSet presAssocID="{F86AFEB0-E402-412A-8511-277F83A41900}" presName="textNode" presStyleLbl="node1" presStyleIdx="1" presStyleCnt="3">
        <dgm:presLayoutVars>
          <dgm:bulletEnabled val="1"/>
        </dgm:presLayoutVars>
      </dgm:prSet>
      <dgm:spPr/>
    </dgm:pt>
    <dgm:pt modelId="{33044029-36B0-3840-B047-CF7AA05F56D9}" type="pres">
      <dgm:prSet presAssocID="{26D47DF7-49C8-40D9-A143-3787DFA8B8DC}" presName="sibTrans" presStyleCnt="0"/>
      <dgm:spPr/>
    </dgm:pt>
    <dgm:pt modelId="{A581C4F6-06DE-B241-A0C2-14450A243E94}" type="pres">
      <dgm:prSet presAssocID="{D8184AE9-6ABE-4834-9556-C0B95F73CB9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AFF7A500-93A6-EF44-B7C2-476D4F338A14}" type="presOf" srcId="{F86AFEB0-E402-412A-8511-277F83A41900}" destId="{10E52168-379C-2144-B9AD-763ECE9B0AB4}" srcOrd="0" destOrd="0" presId="urn:microsoft.com/office/officeart/2005/8/layout/hProcess9"/>
    <dgm:cxn modelId="{46B91A0E-6F44-5747-8AAF-83A77E36EA33}" type="presOf" srcId="{D8184AE9-6ABE-4834-9556-C0B95F73CB9F}" destId="{A581C4F6-06DE-B241-A0C2-14450A243E94}" srcOrd="0" destOrd="0" presId="urn:microsoft.com/office/officeart/2005/8/layout/hProcess9"/>
    <dgm:cxn modelId="{CDA9203F-40F1-8C4B-BCCC-6FB2A090581C}" type="presOf" srcId="{FCA7EAAD-743A-4AA4-B197-E5CDFD184CA3}" destId="{CF1911FE-3A6C-0E4C-9094-58D70E2EE54E}" srcOrd="0" destOrd="0" presId="urn:microsoft.com/office/officeart/2005/8/layout/hProcess9"/>
    <dgm:cxn modelId="{F8AF5373-4FD7-40B3-B2EE-838EA7C7C689}" srcId="{066936BA-793C-4232-BA04-846415F0BF71}" destId="{D8184AE9-6ABE-4834-9556-C0B95F73CB9F}" srcOrd="2" destOrd="0" parTransId="{D3DA46C8-CB59-4C52-ACBE-B4CF6DC92C0F}" sibTransId="{43F72F2C-195C-4B06-BB35-CB3A933C08A0}"/>
    <dgm:cxn modelId="{B40B7C53-AA14-4DF6-A8DD-4E7EAAE5F26B}" srcId="{066936BA-793C-4232-BA04-846415F0BF71}" destId="{F86AFEB0-E402-412A-8511-277F83A41900}" srcOrd="1" destOrd="0" parTransId="{1FEFCD60-7F61-4F2D-B833-700D31AB3B23}" sibTransId="{26D47DF7-49C8-40D9-A143-3787DFA8B8DC}"/>
    <dgm:cxn modelId="{96513FA0-4ECC-5142-8703-FDF86222F024}" type="presOf" srcId="{066936BA-793C-4232-BA04-846415F0BF71}" destId="{028AD906-1470-E14E-8AEE-2FF69C3CAE3C}" srcOrd="0" destOrd="0" presId="urn:microsoft.com/office/officeart/2005/8/layout/hProcess9"/>
    <dgm:cxn modelId="{376ED6E9-9072-4C0B-A73F-FF6602325F94}" srcId="{066936BA-793C-4232-BA04-846415F0BF71}" destId="{FCA7EAAD-743A-4AA4-B197-E5CDFD184CA3}" srcOrd="0" destOrd="0" parTransId="{D0EA699D-D715-497A-B2B9-5EF5C807E0E9}" sibTransId="{41B5E6F8-4D9C-42B8-9A1A-A229B4F02CFE}"/>
    <dgm:cxn modelId="{551D12E3-4EDA-0D4B-867C-A480C27A2E8E}" type="presParOf" srcId="{028AD906-1470-E14E-8AEE-2FF69C3CAE3C}" destId="{9DC8EAC4-805B-5C4C-84F6-A984D846CB09}" srcOrd="0" destOrd="0" presId="urn:microsoft.com/office/officeart/2005/8/layout/hProcess9"/>
    <dgm:cxn modelId="{DF45FD44-F810-8443-A296-C50A3C2A4373}" type="presParOf" srcId="{028AD906-1470-E14E-8AEE-2FF69C3CAE3C}" destId="{CEF48F4B-A377-6D48-ABEE-57B1ACC446E7}" srcOrd="1" destOrd="0" presId="urn:microsoft.com/office/officeart/2005/8/layout/hProcess9"/>
    <dgm:cxn modelId="{3544180B-C28D-FC46-90D1-CA478B46E5BC}" type="presParOf" srcId="{CEF48F4B-A377-6D48-ABEE-57B1ACC446E7}" destId="{CF1911FE-3A6C-0E4C-9094-58D70E2EE54E}" srcOrd="0" destOrd="0" presId="urn:microsoft.com/office/officeart/2005/8/layout/hProcess9"/>
    <dgm:cxn modelId="{94A30906-3385-C240-83C3-256BCB16A502}" type="presParOf" srcId="{CEF48F4B-A377-6D48-ABEE-57B1ACC446E7}" destId="{7A651BEF-E1DF-1E41-9A68-F0814B629A4C}" srcOrd="1" destOrd="0" presId="urn:microsoft.com/office/officeart/2005/8/layout/hProcess9"/>
    <dgm:cxn modelId="{D1D98A13-A6F5-8249-B591-5E6A7907BF99}" type="presParOf" srcId="{CEF48F4B-A377-6D48-ABEE-57B1ACC446E7}" destId="{10E52168-379C-2144-B9AD-763ECE9B0AB4}" srcOrd="2" destOrd="0" presId="urn:microsoft.com/office/officeart/2005/8/layout/hProcess9"/>
    <dgm:cxn modelId="{FC38CA41-8025-1F42-BE9C-34F9F94C4F80}" type="presParOf" srcId="{CEF48F4B-A377-6D48-ABEE-57B1ACC446E7}" destId="{33044029-36B0-3840-B047-CF7AA05F56D9}" srcOrd="3" destOrd="0" presId="urn:microsoft.com/office/officeart/2005/8/layout/hProcess9"/>
    <dgm:cxn modelId="{2CB16D3F-3B02-594C-A803-A1E59CB9B915}" type="presParOf" srcId="{CEF48F4B-A377-6D48-ABEE-57B1ACC446E7}" destId="{A581C4F6-06DE-B241-A0C2-14450A243E94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1E4E3-D990-E747-BF0F-A025DD075B2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rgbClr val="5B9BD5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9AA8F7-32AF-034A-B2B2-D8C964E1F4EB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CONTENIDO DE ESTA PRESENTACIÓN</a:t>
          </a:r>
        </a:p>
      </dsp:txBody>
      <dsp:txXfrm>
        <a:off x="0" y="2124"/>
        <a:ext cx="10515600" cy="724514"/>
      </dsp:txXfrm>
    </dsp:sp>
    <dsp:sp modelId="{2CC8C39B-5116-8740-9827-E6CF6BA3FC99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rgbClr val="5B9BD5">
            <a:hueOff val="-1351709"/>
            <a:satOff val="-3484"/>
            <a:lumOff val="-2353"/>
            <a:alphaOff val="0"/>
          </a:srgbClr>
        </a:solidFill>
        <a:ln w="12700" cap="flat" cmpd="sng" algn="ctr">
          <a:solidFill>
            <a:srgbClr val="5B9BD5">
              <a:hueOff val="-1351709"/>
              <a:satOff val="-3484"/>
              <a:lumOff val="-2353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E30F64-7074-844E-B416-3325E15FD72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3. MECANISMOS DE REPARACIÓN DEL ADN</a:t>
          </a:r>
        </a:p>
      </dsp:txBody>
      <dsp:txXfrm>
        <a:off x="0" y="726639"/>
        <a:ext cx="10515600" cy="724514"/>
      </dsp:txXfrm>
    </dsp:sp>
    <dsp:sp modelId="{D5B1AB54-830F-7049-9930-A02A1F95DE86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rgbClr val="5B9BD5">
            <a:hueOff val="-2703417"/>
            <a:satOff val="-6968"/>
            <a:lumOff val="-4706"/>
            <a:alphaOff val="0"/>
          </a:srgbClr>
        </a:solidFill>
        <a:ln w="12700" cap="flat" cmpd="sng" algn="ctr">
          <a:solidFill>
            <a:srgbClr val="5B9BD5">
              <a:hueOff val="-2703417"/>
              <a:satOff val="-6968"/>
              <a:lumOff val="-4706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93E23-3334-434C-9B19-B2A4F018371F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COMPETENCIAS ESPECÍFICAS</a:t>
          </a:r>
          <a:r>
            <a:rPr lang="en-US" sz="2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</a:t>
          </a:r>
        </a:p>
      </dsp:txBody>
      <dsp:txXfrm>
        <a:off x="0" y="1451154"/>
        <a:ext cx="10515600" cy="724514"/>
      </dsp:txXfrm>
    </dsp:sp>
    <dsp:sp modelId="{ECBE63F8-3B96-2043-A89D-9150AACCE25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rgbClr val="5B9BD5">
            <a:hueOff val="-4055126"/>
            <a:satOff val="-10451"/>
            <a:lumOff val="-7059"/>
            <a:alphaOff val="0"/>
          </a:srgbClr>
        </a:solidFill>
        <a:ln w="12700" cap="flat" cmpd="sng" algn="ctr">
          <a:solidFill>
            <a:srgbClr val="5B9BD5">
              <a:hueOff val="-4055126"/>
              <a:satOff val="-10451"/>
              <a:lumOff val="-7059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CFAFBE-2A89-DE44-A5FD-5D33E84D3F85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Después de estudiar este material, serás capaz de:</a:t>
          </a:r>
        </a:p>
      </dsp:txBody>
      <dsp:txXfrm>
        <a:off x="0" y="2175669"/>
        <a:ext cx="10515600" cy="724514"/>
      </dsp:txXfrm>
    </dsp:sp>
    <dsp:sp modelId="{37FEEA17-B921-8A4C-9964-115A43D1B004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rgbClr val="5B9BD5">
            <a:hueOff val="-5406834"/>
            <a:satOff val="-13935"/>
            <a:lumOff val="-9412"/>
            <a:alphaOff val="0"/>
          </a:srgbClr>
        </a:solidFill>
        <a:ln w="12700" cap="flat" cmpd="sng" algn="ctr">
          <a:solidFill>
            <a:srgbClr val="5B9BD5">
              <a:hueOff val="-5406834"/>
              <a:satOff val="-13935"/>
              <a:lumOff val="-9412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F39CEE-5F11-6445-80E2-6DABC50DD543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4</a:t>
          </a:r>
          <a:r>
            <a:rPr lang="es-MX" sz="2200" kern="1200" noProof="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 Comprender  los mecanismos de reparación del ADN en células procariotas y eucariotas</a:t>
          </a:r>
          <a:r>
            <a:rPr lang="en-US" sz="2200" kern="1200" dirty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 panose="020F0502020204030204"/>
              <a:ea typeface="+mn-ea"/>
              <a:cs typeface="+mn-cs"/>
            </a:rPr>
            <a:t>.</a:t>
          </a:r>
        </a:p>
      </dsp:txBody>
      <dsp:txXfrm>
        <a:off x="0" y="2900183"/>
        <a:ext cx="10515600" cy="724514"/>
      </dsp:txXfrm>
    </dsp:sp>
    <dsp:sp modelId="{469A1699-CAAA-A64E-BA4E-8479777780EC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rgbClr val="5B9BD5">
            <a:hueOff val="-6758543"/>
            <a:satOff val="-17419"/>
            <a:lumOff val="-11765"/>
            <a:alphaOff val="0"/>
          </a:srgbClr>
        </a:solidFill>
        <a:ln w="12700" cap="flat" cmpd="sng" algn="ctr">
          <a:solidFill>
            <a:srgbClr val="5B9BD5">
              <a:hueOff val="-6758543"/>
              <a:satOff val="-17419"/>
              <a:lumOff val="-11765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C0BAAC-100F-B84D-A77D-9D0A5FDCE814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 panose="020F0502020204030204"/>
            <a:ea typeface="+mn-ea"/>
            <a:cs typeface="+mn-cs"/>
          </a:endParaRPr>
        </a:p>
      </dsp:txBody>
      <dsp:txXfrm>
        <a:off x="0" y="3624698"/>
        <a:ext cx="10515600" cy="724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C8EAC4-805B-5C4C-84F6-A984D846CB09}">
      <dsp:nvSpPr>
        <dsp:cNvPr id="0" name=""/>
        <dsp:cNvSpPr/>
      </dsp:nvSpPr>
      <dsp:spPr>
        <a:xfrm>
          <a:off x="788670" y="0"/>
          <a:ext cx="8938260" cy="4351338"/>
        </a:xfrm>
        <a:prstGeom prst="rightArrow">
          <a:avLst/>
        </a:prstGeom>
        <a:solidFill>
          <a:srgbClr val="5B9BD5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1911FE-3A6C-0E4C-9094-58D70E2EE54E}">
      <dsp:nvSpPr>
        <dsp:cNvPr id="0" name=""/>
        <dsp:cNvSpPr/>
      </dsp:nvSpPr>
      <dsp:spPr>
        <a:xfrm>
          <a:off x="356339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marR="0" lvl="0" indent="0" algn="ctr" defTabSz="914400" eaLnBrk="1" fontAlgn="auto" latinLnBrk="0" hangingPunct="1">
            <a:lnSpc>
              <a:spcPct val="90000"/>
            </a:lnSpc>
            <a:spcBef>
              <a:spcPct val="0"/>
            </a:spcBef>
            <a:spcAft>
              <a:spcPts val="0"/>
            </a:spcAft>
            <a:buClrTx/>
            <a:buSzTx/>
            <a:buFontTx/>
            <a:buNone/>
            <a:tabLst/>
            <a:defRPr/>
          </a:pPr>
          <a:r>
            <a:rPr lang="es-MX" sz="1900" kern="120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Actividades que involucran una serie de procesos enzimáticos</a:t>
          </a:r>
        </a:p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MX" sz="1900" kern="120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441305" y="1390367"/>
        <a:ext cx="2984748" cy="1570603"/>
      </dsp:txXfrm>
    </dsp:sp>
    <dsp:sp modelId="{10E52168-379C-2144-B9AD-763ECE9B0AB4}">
      <dsp:nvSpPr>
        <dsp:cNvPr id="0" name=""/>
        <dsp:cNvSpPr/>
      </dsp:nvSpPr>
      <dsp:spPr>
        <a:xfrm>
          <a:off x="3680460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marR="0" lvl="0" indent="0" algn="ctr" defTabSz="3556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sz="1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Identifican daño en las moléculas del ADN</a:t>
          </a:r>
        </a:p>
      </dsp:txBody>
      <dsp:txXfrm>
        <a:off x="3765426" y="1390367"/>
        <a:ext cx="2984748" cy="1570603"/>
      </dsp:txXfrm>
    </dsp:sp>
    <dsp:sp modelId="{A581C4F6-06DE-B241-A0C2-14450A243E94}">
      <dsp:nvSpPr>
        <dsp:cNvPr id="0" name=""/>
        <dsp:cNvSpPr/>
      </dsp:nvSpPr>
      <dsp:spPr>
        <a:xfrm>
          <a:off x="7004580" y="1305401"/>
          <a:ext cx="3154680" cy="1740535"/>
        </a:xfrm>
        <a:prstGeom prst="roundRect">
          <a:avLst/>
        </a:prstGeom>
        <a:solidFill>
          <a:srgbClr val="5B9BD5">
            <a:hueOff val="0"/>
            <a:satOff val="0"/>
            <a:lumOff val="0"/>
            <a:alphaOff val="0"/>
          </a:srgbClr>
        </a:solidFill>
        <a:ln w="127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R="0" lvl="0" algn="ctr" defTabSz="355600" eaLnBrk="1" fontAlgn="auto" latinLnBrk="0" hangingPunct="1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sz="1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Reparación del  ADN</a:t>
          </a:r>
        </a:p>
        <a:p>
          <a:pPr marL="0" marR="0" lvl="0" indent="0" algn="ctr" defTabSz="355600" eaLnBrk="1" fontAlgn="auto" latinLnBrk="0" hangingPunct="1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  <a:tabLst/>
            <a:defRPr/>
          </a:pPr>
          <a:r>
            <a:rPr lang="es-MX" sz="1900" kern="1200" dirty="0">
              <a:solidFill>
                <a:sysClr val="window" lastClr="FFFFFF"/>
              </a:solidFill>
              <a:latin typeface="Calibri" panose="020F0502020204030204"/>
              <a:ea typeface="+mn-ea"/>
              <a:cs typeface="+mn-cs"/>
            </a:rPr>
            <a:t>Corrigen el daño en las moléculas del ADN</a:t>
          </a:r>
        </a:p>
        <a:p>
          <a:pPr algn="ctr" defTabSz="355600">
            <a:spcBef>
              <a:spcPct val="0"/>
            </a:spcBef>
            <a:spcAft>
              <a:spcPct val="35000"/>
            </a:spcAft>
            <a:buNone/>
          </a:pPr>
          <a:endParaRPr lang="es-MX" sz="1900" kern="1200" dirty="0">
            <a:solidFill>
              <a:sysClr val="window" lastClr="FFFFFF"/>
            </a:solidFill>
            <a:latin typeface="Calibri" panose="020F0502020204030204"/>
            <a:ea typeface="+mn-ea"/>
            <a:cs typeface="+mn-cs"/>
          </a:endParaRPr>
        </a:p>
      </dsp:txBody>
      <dsp:txXfrm>
        <a:off x="7089546" y="1390367"/>
        <a:ext cx="2984748" cy="1570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9312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preserve="1" userDrawn="1">
  <p:cSld name="1_Diapositiva de títu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5AE9B2B-BDD2-FA48-A185-2A1E6379AA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15948" y="-8971"/>
            <a:ext cx="12223896" cy="6875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07897"/>
      </p:ext>
    </p:extLst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objetos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A62E7108-1356-3340-BF60-2F134A68017B}"/>
              </a:ext>
            </a:extLst>
          </p:cNvPr>
          <p:cNvSpPr/>
          <p:nvPr userDrawn="1"/>
        </p:nvSpPr>
        <p:spPr>
          <a:xfrm>
            <a:off x="-13738" y="6522635"/>
            <a:ext cx="12205738" cy="1595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BD2549-D66F-BD4B-AAC5-C099F0CDA3CF}"/>
              </a:ext>
            </a:extLst>
          </p:cNvPr>
          <p:cNvSpPr/>
          <p:nvPr userDrawn="1"/>
        </p:nvSpPr>
        <p:spPr>
          <a:xfrm>
            <a:off x="-3136" y="6578984"/>
            <a:ext cx="12202880" cy="28466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0BF20E5-7303-7D41-8B4B-D1D9F7547698}"/>
              </a:ext>
            </a:extLst>
          </p:cNvPr>
          <p:cNvSpPr/>
          <p:nvPr userDrawn="1"/>
        </p:nvSpPr>
        <p:spPr>
          <a:xfrm>
            <a:off x="-10880" y="0"/>
            <a:ext cx="12202880" cy="130880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Triángulo rectángulo 8">
            <a:extLst>
              <a:ext uri="{FF2B5EF4-FFF2-40B4-BE49-F238E27FC236}">
                <a16:creationId xmlns:a16="http://schemas.microsoft.com/office/drawing/2014/main" id="{68D5DB19-C746-7A4F-BEBF-37C6469CB885}"/>
              </a:ext>
            </a:extLst>
          </p:cNvPr>
          <p:cNvSpPr/>
          <p:nvPr userDrawn="1"/>
        </p:nvSpPr>
        <p:spPr>
          <a:xfrm rot="5400000">
            <a:off x="-13738" y="0"/>
            <a:ext cx="1299411" cy="1299411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2" name="Google Shape;22;p10"/>
          <p:cNvSpPr txBox="1"/>
          <p:nvPr/>
        </p:nvSpPr>
        <p:spPr>
          <a:xfrm>
            <a:off x="1708507" y="6522635"/>
            <a:ext cx="85207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2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UNIVERSIDAD AUTÓNOMA DE NUEVO LEÓN    I    SECRETARÍA DE INNOVACIÓN Y DESARROLLO DIGITAL   I   EDUCACIÓN DIGITAL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200" y="305080"/>
            <a:ext cx="10750899" cy="680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  <a:defRPr b="1" i="0"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491916"/>
            <a:ext cx="10515600" cy="468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E2F3"/>
              </a:buClr>
              <a:buSzPts val="3200"/>
              <a:buChar char="•"/>
              <a:defRPr>
                <a:solidFill>
                  <a:schemeClr val="bg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8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4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8E2F3"/>
              </a:buClr>
              <a:buSzPts val="2000"/>
              <a:buChar char="•"/>
              <a:defRPr>
                <a:solidFill>
                  <a:srgbClr val="D8E2F3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" name="Franja diagonal 9">
            <a:extLst>
              <a:ext uri="{FF2B5EF4-FFF2-40B4-BE49-F238E27FC236}">
                <a16:creationId xmlns:a16="http://schemas.microsoft.com/office/drawing/2014/main" id="{CAE03C44-681D-6245-9D70-5DEA22DAFB61}"/>
              </a:ext>
            </a:extLst>
          </p:cNvPr>
          <p:cNvSpPr/>
          <p:nvPr userDrawn="1"/>
        </p:nvSpPr>
        <p:spPr>
          <a:xfrm rot="5400000">
            <a:off x="11181347" y="0"/>
            <a:ext cx="1010653" cy="1010653"/>
          </a:xfrm>
          <a:prstGeom prst="diagStrip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>
  <p:cSld name="En blanco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695850F-16F5-7D45-B707-125EC4832F0C}"/>
              </a:ext>
            </a:extLst>
          </p:cNvPr>
          <p:cNvSpPr/>
          <p:nvPr userDrawn="1"/>
        </p:nvSpPr>
        <p:spPr>
          <a:xfrm rot="16200000">
            <a:off x="-3074641" y="3357093"/>
            <a:ext cx="6858001" cy="1438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E07FCE2-BBA4-1E47-B773-5DE0CCB8E454}"/>
              </a:ext>
            </a:extLst>
          </p:cNvPr>
          <p:cNvSpPr/>
          <p:nvPr userDrawn="1"/>
        </p:nvSpPr>
        <p:spPr>
          <a:xfrm>
            <a:off x="-13738" y="-45269"/>
            <a:ext cx="394738" cy="6925731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213509" y="121763"/>
            <a:ext cx="10515600" cy="98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491916"/>
            <a:ext cx="10515600" cy="4685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0CECE"/>
              </a:buClr>
              <a:buSzPts val="3200"/>
              <a:buFont typeface="Arial"/>
              <a:buChar char="•"/>
              <a:defRPr sz="32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0CECE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rgbClr val="D0CECE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0" r:id="rId2"/>
    <p:sldLayoutId id="2147483655" r:id="rId3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FBXcJN1ETa4?feature=oembed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a.ceibal.edu.uy/elp/la-ciencia-y-los-superheroes-hulk-y-su-adn/agentes_mutagnicos.html" TargetMode="External"/><Relationship Id="rId7" Type="http://schemas.openxmlformats.org/officeDocument/2006/relationships/image" Target="../media/image11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s.wikipedia.org/wiki/Carcin%C3%B3geno" TargetMode="External"/><Relationship Id="rId5" Type="http://schemas.openxmlformats.org/officeDocument/2006/relationships/image" Target="../media/image10.png"/><Relationship Id="rId4" Type="http://schemas.openxmlformats.org/officeDocument/2006/relationships/hyperlink" Target="https://creativecommons.org/licenses/by-sa/3.0/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vP8-5Bhd2ag?feature=oembed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31stiofJjYw?feature=oembed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3.xml"/><Relationship Id="rId1" Type="http://schemas.openxmlformats.org/officeDocument/2006/relationships/video" Target="https://www.youtube.com/embed/86JCMM5kb2A?feature=oembed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B003C2B-C776-214F-8D1F-F284EC173B1F}"/>
              </a:ext>
            </a:extLst>
          </p:cNvPr>
          <p:cNvSpPr txBox="1"/>
          <p:nvPr/>
        </p:nvSpPr>
        <p:spPr>
          <a:xfrm>
            <a:off x="6679581" y="2459341"/>
            <a:ext cx="5185317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900" b="1" dirty="0">
                <a:solidFill>
                  <a:schemeClr val="accent2"/>
                </a:solidFill>
              </a:rPr>
              <a:t>BIOLOGÍA CELULAR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B1BB62C-7237-C24F-8898-650F0D5FE51C}"/>
              </a:ext>
            </a:extLst>
          </p:cNvPr>
          <p:cNvSpPr txBox="1"/>
          <p:nvPr/>
        </p:nvSpPr>
        <p:spPr>
          <a:xfrm>
            <a:off x="6679581" y="3078018"/>
            <a:ext cx="518531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3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Primer Ciclo</a:t>
            </a:r>
          </a:p>
        </p:txBody>
      </p:sp>
    </p:spTree>
    <p:extLst>
      <p:ext uri="{BB962C8B-B14F-4D97-AF65-F5344CB8AC3E}">
        <p14:creationId xmlns:p14="http://schemas.microsoft.com/office/powerpoint/2010/main" val="1961899335"/>
      </p:ext>
    </p:extLst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10F5AF-7056-C140-BD1D-55D27000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DAÑO Y REPARACIÓN DEL ADN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4840B24-05E6-4EA1-9FA5-483C8255F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41" y="1574182"/>
            <a:ext cx="10510415" cy="43834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4E40458E-D668-4101-86C8-623690741B06}"/>
              </a:ext>
            </a:extLst>
          </p:cNvPr>
          <p:cNvSpPr txBox="1">
            <a:spLocks/>
          </p:cNvSpPr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Daño y Reparación del ADN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graphicFrame>
        <p:nvGraphicFramePr>
          <p:cNvPr id="4" name="2 Marcador de contenido">
            <a:extLst>
              <a:ext uri="{FF2B5EF4-FFF2-40B4-BE49-F238E27FC236}">
                <a16:creationId xmlns:a16="http://schemas.microsoft.com/office/drawing/2014/main" id="{0048EC0C-6D9B-46D7-AFBD-78BF5E4863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244788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547A271-6A6C-460E-B402-79A849955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8026" y="96838"/>
            <a:ext cx="9417562" cy="588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4 Rectángulo">
            <a:extLst>
              <a:ext uri="{FF2B5EF4-FFF2-40B4-BE49-F238E27FC236}">
                <a16:creationId xmlns:a16="http://schemas.microsoft.com/office/drawing/2014/main" id="{469D76AB-767F-4876-A0F8-897A309CAEBC}"/>
              </a:ext>
            </a:extLst>
          </p:cNvPr>
          <p:cNvSpPr/>
          <p:nvPr/>
        </p:nvSpPr>
        <p:spPr>
          <a:xfrm>
            <a:off x="8283247" y="6233494"/>
            <a:ext cx="2936576" cy="2740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Tx/>
              <a:buFontTx/>
              <a:buNone/>
            </a:pPr>
            <a:r>
              <a:rPr lang="en-US" sz="1181" b="1" i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Zygote 18, pp. 357–365. 2010</a:t>
            </a:r>
            <a:endParaRPr lang="es-MX" sz="1181" b="1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5 CuadroTexto">
            <a:extLst>
              <a:ext uri="{FF2B5EF4-FFF2-40B4-BE49-F238E27FC236}">
                <a16:creationId xmlns:a16="http://schemas.microsoft.com/office/drawing/2014/main" id="{6A2CE344-3065-4189-8AF6-B62582FA7407}"/>
              </a:ext>
            </a:extLst>
          </p:cNvPr>
          <p:cNvSpPr txBox="1"/>
          <p:nvPr/>
        </p:nvSpPr>
        <p:spPr>
          <a:xfrm>
            <a:off x="1102403" y="4275627"/>
            <a:ext cx="3775505" cy="1183209"/>
          </a:xfrm>
          <a:prstGeom prst="rect">
            <a:avLst/>
          </a:prstGeom>
          <a:gradFill rotWithShape="1">
            <a:gsLst>
              <a:gs pos="0">
                <a:srgbClr val="A5A5A5">
                  <a:satMod val="103000"/>
                  <a:lumMod val="102000"/>
                  <a:tint val="94000"/>
                </a:srgbClr>
              </a:gs>
              <a:gs pos="50000">
                <a:srgbClr val="A5A5A5">
                  <a:satMod val="110000"/>
                  <a:lumMod val="100000"/>
                  <a:shade val="100000"/>
                </a:srgbClr>
              </a:gs>
              <a:gs pos="100000">
                <a:srgbClr val="A5A5A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A5A5A5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363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Apoptosis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363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Muerte celular programada</a:t>
            </a:r>
          </a:p>
        </p:txBody>
      </p:sp>
      <p:sp>
        <p:nvSpPr>
          <p:cNvPr id="5" name="6 CuadroTexto">
            <a:extLst>
              <a:ext uri="{FF2B5EF4-FFF2-40B4-BE49-F238E27FC236}">
                <a16:creationId xmlns:a16="http://schemas.microsoft.com/office/drawing/2014/main" id="{CCD31E5E-E9B4-4CDE-8835-374848AD4726}"/>
              </a:ext>
            </a:extLst>
          </p:cNvPr>
          <p:cNvSpPr txBox="1"/>
          <p:nvPr/>
        </p:nvSpPr>
        <p:spPr>
          <a:xfrm>
            <a:off x="5089461" y="4789705"/>
            <a:ext cx="3990467" cy="1421928"/>
          </a:xfrm>
          <a:prstGeom prst="rect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8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Tolerancia a la lesión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8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Mutaciones o carcinogénesis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19F4DA1B-CF85-4899-AEA6-36B122647F98}"/>
              </a:ext>
            </a:extLst>
          </p:cNvPr>
          <p:cNvSpPr txBox="1"/>
          <p:nvPr/>
        </p:nvSpPr>
        <p:spPr>
          <a:xfrm>
            <a:off x="9291480" y="4295292"/>
            <a:ext cx="2202430" cy="757130"/>
          </a:xfrm>
          <a:prstGeom prst="rect">
            <a:avLst/>
          </a:prstGeom>
          <a:solidFill>
            <a:srgbClr val="FFC000"/>
          </a:solidFill>
          <a:ln w="12700" cap="flat" cmpd="sng" algn="ctr">
            <a:solidFill>
              <a:srgbClr val="FFC000">
                <a:shade val="50000"/>
              </a:srgbClr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16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Reparación de la lesión</a:t>
            </a:r>
            <a:endParaRPr kumimoji="0" lang="es-MX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9 Rayo">
            <a:extLst>
              <a:ext uri="{FF2B5EF4-FFF2-40B4-BE49-F238E27FC236}">
                <a16:creationId xmlns:a16="http://schemas.microsoft.com/office/drawing/2014/main" id="{2F8C5E92-E0E6-4BBB-92E9-633020B69DF4}"/>
              </a:ext>
            </a:extLst>
          </p:cNvPr>
          <p:cNvSpPr/>
          <p:nvPr/>
        </p:nvSpPr>
        <p:spPr>
          <a:xfrm rot="19869106">
            <a:off x="633577" y="-29904"/>
            <a:ext cx="4704590" cy="2441078"/>
          </a:xfrm>
          <a:prstGeom prst="lightningBol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160" dirty="0"/>
          </a:p>
          <a:p>
            <a:pPr algn="ctr"/>
            <a:endParaRPr lang="es-MX" sz="2160" dirty="0"/>
          </a:p>
          <a:p>
            <a:pPr algn="ctr"/>
            <a:endParaRPr lang="es-MX" sz="2160" dirty="0"/>
          </a:p>
          <a:p>
            <a:pPr algn="ctr"/>
            <a:endParaRPr lang="es-MX" sz="2160" dirty="0"/>
          </a:p>
        </p:txBody>
      </p:sp>
      <p:sp>
        <p:nvSpPr>
          <p:cNvPr id="7" name="10 CuadroTexto">
            <a:extLst>
              <a:ext uri="{FF2B5EF4-FFF2-40B4-BE49-F238E27FC236}">
                <a16:creationId xmlns:a16="http://schemas.microsoft.com/office/drawing/2014/main" id="{CC711908-2B6F-494A-ABB4-0F09F85FA5FD}"/>
              </a:ext>
            </a:extLst>
          </p:cNvPr>
          <p:cNvSpPr txBox="1"/>
          <p:nvPr/>
        </p:nvSpPr>
        <p:spPr>
          <a:xfrm>
            <a:off x="1283810" y="888557"/>
            <a:ext cx="407426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s-MX" sz="2160" b="1" i="1" kern="1200" dirty="0">
                <a:solidFill>
                  <a:schemeClr val="tx1"/>
                </a:solidFill>
                <a:latin typeface="Calibri" panose="020F0502020204030204"/>
                <a:ea typeface="+mn-ea"/>
                <a:cs typeface="+mn-cs"/>
              </a:rPr>
              <a:t>DAÑO AL ADN</a:t>
            </a:r>
          </a:p>
        </p:txBody>
      </p:sp>
    </p:spTree>
    <p:extLst>
      <p:ext uri="{BB962C8B-B14F-4D97-AF65-F5344CB8AC3E}">
        <p14:creationId xmlns:p14="http://schemas.microsoft.com/office/powerpoint/2010/main" val="1830639286"/>
      </p:ext>
    </p:extLst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DB3B522-AF47-46AE-AD96-1FAE5710AC0B}"/>
              </a:ext>
            </a:extLst>
          </p:cNvPr>
          <p:cNvSpPr txBox="1">
            <a:spLocks/>
          </p:cNvSpPr>
          <p:nvPr/>
        </p:nvSpPr>
        <p:spPr>
          <a:xfrm>
            <a:off x="838200" y="556995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Reparación del ADN</a:t>
            </a:r>
          </a:p>
        </p:txBody>
      </p:sp>
      <p:graphicFrame>
        <p:nvGraphicFramePr>
          <p:cNvPr id="3" name="3 Diagrama">
            <a:extLst>
              <a:ext uri="{FF2B5EF4-FFF2-40B4-BE49-F238E27FC236}">
                <a16:creationId xmlns:a16="http://schemas.microsoft.com/office/drawing/2014/main" id="{3BE8D9A5-9FB4-4227-9761-75546AC8C1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053737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3484501"/>
      </p:ext>
    </p:extLst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AA1E44F6-960B-436B-A8C4-959FE4FB941F}"/>
              </a:ext>
            </a:extLst>
          </p:cNvPr>
          <p:cNvSpPr txBox="1">
            <a:spLocks noChangeArrowheads="1"/>
          </p:cNvSpPr>
          <p:nvPr/>
        </p:nvSpPr>
        <p:spPr>
          <a:xfrm>
            <a:off x="565786" y="-76814"/>
            <a:ext cx="9883098" cy="647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840" b="0" i="0" u="none" strike="noStrike" kern="1200" cap="none" spc="0" normalizeH="0" baseline="0" noProof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ADN POLIMERASA  (AUTOCORRECTORA)</a:t>
            </a:r>
            <a:endParaRPr kumimoji="0" lang="es-ES" sz="3840" b="0" i="0" u="none" strike="noStrike" kern="1200" cap="none" spc="0" normalizeH="0" baseline="0" noProof="0" dirty="0">
              <a:ln>
                <a:noFill/>
              </a:ln>
              <a:solidFill>
                <a:srgbClr val="A5A5A5">
                  <a:lumMod val="50000"/>
                </a:srgbClr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15C4DAC-5A57-4FAE-9D5F-8D370FF46351}"/>
              </a:ext>
            </a:extLst>
          </p:cNvPr>
          <p:cNvSpPr txBox="1">
            <a:spLocks noChangeArrowheads="1"/>
          </p:cNvSpPr>
          <p:nvPr/>
        </p:nvSpPr>
        <p:spPr>
          <a:xfrm>
            <a:off x="670113" y="495585"/>
            <a:ext cx="7114186" cy="1447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 la replicación la ADN-polimerasa comete 1 error por cada 10</a:t>
            </a:r>
            <a:r>
              <a:rPr kumimoji="0" lang="es-MX" sz="28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es-MX" sz="28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pares de bases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endParaRPr kumimoji="0" lang="es-MX" sz="28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5" descr="DNA 6-18">
            <a:extLst>
              <a:ext uri="{FF2B5EF4-FFF2-40B4-BE49-F238E27FC236}">
                <a16:creationId xmlns:a16="http://schemas.microsoft.com/office/drawing/2014/main" id="{BAFCE690-1192-4F22-ACDB-E41A8C4A2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84839" y="2131540"/>
            <a:ext cx="3485827" cy="4530725"/>
          </a:xfrm>
          <a:prstGeom prst="rect">
            <a:avLst/>
          </a:prstGeom>
        </p:spPr>
      </p:pic>
      <p:pic>
        <p:nvPicPr>
          <p:cNvPr id="5" name="Picture 2" descr="http://www.clontech.com/US/Support/Clontech_Cartoons/xxclt_ibcGetAttachment.jsp?cItemId=61937">
            <a:extLst>
              <a:ext uri="{FF2B5EF4-FFF2-40B4-BE49-F238E27FC236}">
                <a16:creationId xmlns:a16="http://schemas.microsoft.com/office/drawing/2014/main" id="{1DB9F80C-39C0-4173-A9CA-DDD607BBA9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90448" y="1753020"/>
            <a:ext cx="6993851" cy="4788238"/>
          </a:xfrm>
          <a:prstGeom prst="rect">
            <a:avLst/>
          </a:prstGeom>
          <a:noFill/>
        </p:spPr>
      </p:pic>
      <p:sp>
        <p:nvSpPr>
          <p:cNvPr id="6" name="5 Rectángulo">
            <a:extLst>
              <a:ext uri="{FF2B5EF4-FFF2-40B4-BE49-F238E27FC236}">
                <a16:creationId xmlns:a16="http://schemas.microsoft.com/office/drawing/2014/main" id="{634CF2C9-7886-4C26-9FCE-0757D8018F39}"/>
              </a:ext>
            </a:extLst>
          </p:cNvPr>
          <p:cNvSpPr/>
          <p:nvPr/>
        </p:nvSpPr>
        <p:spPr>
          <a:xfrm>
            <a:off x="7842341" y="570541"/>
            <a:ext cx="3870283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Tx/>
              <a:buFontTx/>
              <a:buNone/>
            </a:pPr>
            <a:r>
              <a:rPr lang="es-MX" sz="16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Lectura de prueba (</a:t>
            </a:r>
            <a:r>
              <a:rPr lang="es-MX" sz="1600" b="1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proof</a:t>
            </a:r>
            <a:r>
              <a:rPr lang="es-MX" sz="16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</a:t>
            </a:r>
            <a:r>
              <a:rPr lang="es-MX" sz="1600" b="1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reading</a:t>
            </a:r>
            <a:r>
              <a:rPr lang="es-MX" sz="1600" b="1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914400" lvl="2">
              <a:lnSpc>
                <a:spcPct val="90000"/>
              </a:lnSpc>
              <a:buClrTx/>
              <a:buFontTx/>
              <a:buNone/>
            </a:pPr>
            <a:r>
              <a:rPr lang="es-MX" sz="16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ADN-polimerasa verifica antes de colocar el siguiente nucleótido en la cadena creciente </a:t>
            </a:r>
          </a:p>
          <a:p>
            <a:pPr marL="914400" lvl="2">
              <a:lnSpc>
                <a:spcPct val="90000"/>
              </a:lnSpc>
              <a:buClrTx/>
              <a:buFontTx/>
              <a:buNone/>
            </a:pPr>
            <a:r>
              <a:rPr lang="es-MX" sz="16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Si no es correcto corta el enlace fosfodiéster del nucleótido y lo elimina (segmento </a:t>
            </a:r>
            <a:r>
              <a:rPr lang="el-GR" sz="16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ε</a:t>
            </a:r>
            <a:r>
              <a:rPr lang="es-MX" sz="16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)</a:t>
            </a:r>
            <a:endParaRPr lang="es-ES" sz="16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6 Llamada ovalada">
            <a:extLst>
              <a:ext uri="{FF2B5EF4-FFF2-40B4-BE49-F238E27FC236}">
                <a16:creationId xmlns:a16="http://schemas.microsoft.com/office/drawing/2014/main" id="{C5546C2D-4769-4C36-A852-72CCC16CA721}"/>
              </a:ext>
            </a:extLst>
          </p:cNvPr>
          <p:cNvSpPr/>
          <p:nvPr/>
        </p:nvSpPr>
        <p:spPr>
          <a:xfrm>
            <a:off x="904569" y="1402115"/>
            <a:ext cx="4285816" cy="1272926"/>
          </a:xfrm>
          <a:prstGeom prst="wedgeEllipseCallout">
            <a:avLst>
              <a:gd name="adj1" fmla="val 38550"/>
              <a:gd name="adj2" fmla="val 57498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Solo acéptalo </a:t>
            </a:r>
            <a:r>
              <a:rPr kumimoji="0" lang="es-MX" sz="256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Taq</a:t>
            </a:r>
            <a:r>
              <a:rPr kumimoji="0" lang="es-MX" sz="256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-polimerasa, </a:t>
            </a:r>
            <a:r>
              <a:rPr kumimoji="0" lang="es-MX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 eres muy buena en la copia</a:t>
            </a:r>
          </a:p>
        </p:txBody>
      </p:sp>
    </p:spTree>
    <p:extLst>
      <p:ext uri="{BB962C8B-B14F-4D97-AF65-F5344CB8AC3E}">
        <p14:creationId xmlns:p14="http://schemas.microsoft.com/office/powerpoint/2010/main" val="1969970712"/>
      </p:ext>
    </p:extLst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texto">
            <a:extLst>
              <a:ext uri="{FF2B5EF4-FFF2-40B4-BE49-F238E27FC236}">
                <a16:creationId xmlns:a16="http://schemas.microsoft.com/office/drawing/2014/main" id="{58599635-4949-41DC-A1DF-A3F06C561814}"/>
              </a:ext>
            </a:extLst>
          </p:cNvPr>
          <p:cNvSpPr txBox="1">
            <a:spLocks/>
          </p:cNvSpPr>
          <p:nvPr/>
        </p:nvSpPr>
        <p:spPr>
          <a:xfrm>
            <a:off x="566217" y="365919"/>
            <a:ext cx="4130171" cy="40135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0" lang="es-ES" sz="2026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15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DESAPAREAMIENTO DE BASES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15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(Mismatch)</a:t>
            </a:r>
            <a:endParaRPr kumimoji="0" lang="es-MX" sz="315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7 Elipse">
            <a:extLst>
              <a:ext uri="{FF2B5EF4-FFF2-40B4-BE49-F238E27FC236}">
                <a16:creationId xmlns:a16="http://schemas.microsoft.com/office/drawing/2014/main" id="{445F4D8F-4373-4F85-97F6-8F7785973EB2}"/>
              </a:ext>
            </a:extLst>
          </p:cNvPr>
          <p:cNvSpPr/>
          <p:nvPr/>
        </p:nvSpPr>
        <p:spPr>
          <a:xfrm>
            <a:off x="4651183" y="380482"/>
            <a:ext cx="3690661" cy="3577388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363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363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5´--CT</a:t>
            </a:r>
            <a:r>
              <a:rPr kumimoji="0" lang="es-ES" sz="2160" b="1" i="0" u="sng" strike="noStrike" kern="1200" cap="none" spc="0" normalizeH="0" baseline="0" noProof="0" dirty="0">
                <a:ln w="10541" cmpd="sng">
                  <a:solidFill>
                    <a:srgbClr val="4472C4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92D050"/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A-- 3´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|| |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3´--GA</a:t>
            </a:r>
            <a:r>
              <a:rPr kumimoji="0" lang="es-ES" sz="2160" b="1" i="0" u="none" strike="noStrike" kern="1200" cap="all" spc="0" normalizeH="0" baseline="0" noProof="0" dirty="0">
                <a:ln w="9000" cmpd="sng">
                  <a:solidFill>
                    <a:srgbClr val="FFC000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FFC00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 --5´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363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363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3 Elipse">
            <a:extLst>
              <a:ext uri="{FF2B5EF4-FFF2-40B4-BE49-F238E27FC236}">
                <a16:creationId xmlns:a16="http://schemas.microsoft.com/office/drawing/2014/main" id="{A2100F96-A83A-47FF-8140-6BA71330BDBE}"/>
              </a:ext>
            </a:extLst>
          </p:cNvPr>
          <p:cNvSpPr/>
          <p:nvPr/>
        </p:nvSpPr>
        <p:spPr>
          <a:xfrm>
            <a:off x="8380571" y="3029421"/>
            <a:ext cx="3438695" cy="3401747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5´--CT</a:t>
            </a:r>
            <a:r>
              <a:rPr kumimoji="0" lang="es-ES" sz="2160" b="1" i="0" u="none" strike="noStrike" kern="1200" cap="all" spc="0" normalizeH="0" baseline="0" noProof="0" dirty="0">
                <a:ln w="9000" cmpd="sng">
                  <a:solidFill>
                    <a:srgbClr val="FFC000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FFC00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A-- 3´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|| |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3´--GA</a:t>
            </a:r>
            <a:r>
              <a:rPr kumimoji="0" lang="es-ES" sz="2160" b="1" i="0" u="none" strike="noStrike" kern="1200" cap="all" spc="0" normalizeH="0" baseline="0" noProof="0" dirty="0">
                <a:ln w="9000" cmpd="sng">
                  <a:solidFill>
                    <a:srgbClr val="FFC000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FFC000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 --5</a:t>
            </a:r>
            <a:r>
              <a:rPr kumimoji="0" lang="es-ES" sz="2160" b="1" i="0" u="none" strike="noStrike" kern="1200" cap="none" spc="0" normalizeH="0" baseline="0" noProof="0" dirty="0">
                <a:ln w="11430"/>
                <a:gradFill>
                  <a:gsLst>
                    <a:gs pos="0">
                      <a:srgbClr val="ED7D31">
                        <a:tint val="70000"/>
                        <a:satMod val="245000"/>
                      </a:srgbClr>
                    </a:gs>
                    <a:gs pos="75000">
                      <a:srgbClr val="ED7D31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ED7D31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´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4 Elipse">
            <a:extLst>
              <a:ext uri="{FF2B5EF4-FFF2-40B4-BE49-F238E27FC236}">
                <a16:creationId xmlns:a16="http://schemas.microsoft.com/office/drawing/2014/main" id="{2A473CBB-BEBA-4950-B05C-9E2A91CA489A}"/>
              </a:ext>
            </a:extLst>
          </p:cNvPr>
          <p:cNvSpPr/>
          <p:nvPr/>
        </p:nvSpPr>
        <p:spPr>
          <a:xfrm>
            <a:off x="648132" y="3307488"/>
            <a:ext cx="3438694" cy="3401747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solidFill>
                <a:prstClr val="whit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5´--CT</a:t>
            </a:r>
            <a:r>
              <a:rPr kumimoji="0" lang="es-ES" sz="2160" b="1" i="0" u="sng" strike="noStrike" kern="1200" cap="none" spc="0" normalizeH="0" baseline="0" noProof="0" dirty="0">
                <a:ln w="11430"/>
                <a:solidFill>
                  <a:srgbClr val="92D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A-- 3´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|| |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3´--GA</a:t>
            </a:r>
            <a:r>
              <a:rPr kumimoji="0" lang="es-ES" sz="2160" b="1" i="0" u="sng" strike="noStrike" kern="1200" cap="none" spc="0" normalizeH="0" baseline="0" noProof="0" dirty="0">
                <a:ln w="11430"/>
                <a:solidFill>
                  <a:srgbClr val="92D05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C</a:t>
            </a:r>
            <a:r>
              <a:rPr kumimoji="0" lang="es-ES" sz="216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 --5</a:t>
            </a:r>
            <a:r>
              <a:rPr kumimoji="0" lang="es-ES" sz="2160" b="1" i="0" u="none" strike="noStrike" kern="1200" cap="none" spc="0" normalizeH="0" baseline="0" noProof="0" dirty="0">
                <a:ln w="11430"/>
                <a:gradFill>
                  <a:gsLst>
                    <a:gs pos="0">
                      <a:srgbClr val="ED7D31">
                        <a:tint val="70000"/>
                        <a:satMod val="245000"/>
                      </a:srgbClr>
                    </a:gs>
                    <a:gs pos="75000">
                      <a:srgbClr val="ED7D31">
                        <a:tint val="90000"/>
                        <a:shade val="60000"/>
                        <a:satMod val="240000"/>
                      </a:srgbClr>
                    </a:gs>
                    <a:gs pos="100000">
                      <a:srgbClr val="ED7D31">
                        <a:tint val="100000"/>
                        <a:shade val="50000"/>
                        <a:satMod val="240000"/>
                      </a:srgb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´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216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6 Flecha abajo">
            <a:extLst>
              <a:ext uri="{FF2B5EF4-FFF2-40B4-BE49-F238E27FC236}">
                <a16:creationId xmlns:a16="http://schemas.microsoft.com/office/drawing/2014/main" id="{588229C3-B1FF-4315-8AD4-B45CF392D911}"/>
              </a:ext>
            </a:extLst>
          </p:cNvPr>
          <p:cNvSpPr/>
          <p:nvPr/>
        </p:nvSpPr>
        <p:spPr>
          <a:xfrm rot="3210340">
            <a:off x="3700906" y="2976974"/>
            <a:ext cx="1092941" cy="1207988"/>
          </a:xfrm>
          <a:prstGeom prst="downArrow">
            <a:avLst/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216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8 Flecha derecha">
            <a:extLst>
              <a:ext uri="{FF2B5EF4-FFF2-40B4-BE49-F238E27FC236}">
                <a16:creationId xmlns:a16="http://schemas.microsoft.com/office/drawing/2014/main" id="{F7048EB0-2EF4-4E40-940F-06A8C195FDD2}"/>
              </a:ext>
            </a:extLst>
          </p:cNvPr>
          <p:cNvSpPr/>
          <p:nvPr/>
        </p:nvSpPr>
        <p:spPr>
          <a:xfrm rot="2596057">
            <a:off x="7816299" y="1821936"/>
            <a:ext cx="2443909" cy="2443973"/>
          </a:xfrm>
          <a:prstGeom prst="rightArrow">
            <a:avLst>
              <a:gd name="adj1" fmla="val 50000"/>
              <a:gd name="adj2" fmla="val 58839"/>
            </a:avLst>
          </a:prstGeom>
          <a:solidFill>
            <a:srgbClr val="4472C4"/>
          </a:solidFill>
          <a:ln w="12700" cap="flat" cmpd="sng" algn="ctr">
            <a:solidFill>
              <a:srgbClr val="4472C4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16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MUTACIÓN</a:t>
            </a:r>
          </a:p>
        </p:txBody>
      </p:sp>
    </p:spTree>
    <p:extLst>
      <p:ext uri="{BB962C8B-B14F-4D97-AF65-F5344CB8AC3E}">
        <p14:creationId xmlns:p14="http://schemas.microsoft.com/office/powerpoint/2010/main" val="238831210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8 Título">
            <a:extLst>
              <a:ext uri="{FF2B5EF4-FFF2-40B4-BE49-F238E27FC236}">
                <a16:creationId xmlns:a16="http://schemas.microsoft.com/office/drawing/2014/main" id="{76861020-4892-4A89-BBC3-15928520DB41}"/>
              </a:ext>
            </a:extLst>
          </p:cNvPr>
          <p:cNvSpPr txBox="1">
            <a:spLocks/>
          </p:cNvSpPr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TIPO DE MUTACIONES Y SU EFECTO EN LA PROTEÍNA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2C57DD-6E46-49BD-A7F3-0622243A0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038600" y="284205"/>
            <a:ext cx="7972168" cy="627723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24530586"/>
      </p:ext>
    </p:extLst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35D15D2-F4F3-4A37-B1DD-385077BF423C}"/>
              </a:ext>
            </a:extLst>
          </p:cNvPr>
          <p:cNvSpPr txBox="1">
            <a:spLocks noChangeArrowheads="1"/>
          </p:cNvSpPr>
          <p:nvPr/>
        </p:nvSpPr>
        <p:spPr>
          <a:xfrm>
            <a:off x="305338" y="185743"/>
            <a:ext cx="6002110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MUTACIONES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6816368-9013-4BA6-B1BD-C948F7419D86}"/>
              </a:ext>
            </a:extLst>
          </p:cNvPr>
          <p:cNvSpPr txBox="1">
            <a:spLocks noChangeArrowheads="1"/>
          </p:cNvSpPr>
          <p:nvPr/>
        </p:nvSpPr>
        <p:spPr>
          <a:xfrm>
            <a:off x="836680" y="1272746"/>
            <a:ext cx="6002110" cy="48613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Son aquellos cambios o modificaciones perman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entes </a:t>
            </a: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 ADN (fallo del mecanismo de reparación)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Mutaciones puntuales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Deleciones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Inserciones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Duplicaciones</a:t>
            </a:r>
          </a:p>
          <a:p>
            <a:pPr marL="411443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0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Mutación de un solo nucleótido puede ser fatal para un organismo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Enfermedad de células falciformes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Cambio en un nucleótido que sirve de molde para la producción de la beta-globina (cambio en un aminoácido)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720"/>
              </a:spcAft>
              <a:buClr>
                <a:srgbClr val="F6A625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Cáncer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5" descr="DNA 6-23">
            <a:extLst>
              <a:ext uri="{FF2B5EF4-FFF2-40B4-BE49-F238E27FC236}">
                <a16:creationId xmlns:a16="http://schemas.microsoft.com/office/drawing/2014/main" id="{61AFB405-2F88-4F14-B7AA-525A19D0B1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1098" r="-2" b="-2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50862474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s multimedia en línea 6" title="Anemia Falciforme">
            <a:hlinkClick r:id="" action="ppaction://media"/>
            <a:extLst>
              <a:ext uri="{FF2B5EF4-FFF2-40B4-BE49-F238E27FC236}">
                <a16:creationId xmlns:a16="http://schemas.microsoft.com/office/drawing/2014/main" id="{820E6519-6895-453A-BD2F-6133147689DD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16242" y="223172"/>
            <a:ext cx="11348064" cy="6411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7109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 Título">
            <a:extLst>
              <a:ext uri="{FF2B5EF4-FFF2-40B4-BE49-F238E27FC236}">
                <a16:creationId xmlns:a16="http://schemas.microsoft.com/office/drawing/2014/main" id="{B5ECB70B-EF1E-4089-8981-AAF404309A6D}"/>
              </a:ext>
            </a:extLst>
          </p:cNvPr>
          <p:cNvSpPr txBox="1">
            <a:spLocks/>
          </p:cNvSpPr>
          <p:nvPr/>
        </p:nvSpPr>
        <p:spPr>
          <a:xfrm>
            <a:off x="1303240" y="619905"/>
            <a:ext cx="9802090" cy="4629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4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Otros agentes causantes de mutaciones</a:t>
            </a:r>
            <a:endParaRPr kumimoji="0" lang="es-MX" sz="4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2 Marcador de texto">
            <a:extLst>
              <a:ext uri="{FF2B5EF4-FFF2-40B4-BE49-F238E27FC236}">
                <a16:creationId xmlns:a16="http://schemas.microsoft.com/office/drawing/2014/main" id="{1A37A26A-8D0F-4371-B50C-2F54823A3A3D}"/>
              </a:ext>
            </a:extLst>
          </p:cNvPr>
          <p:cNvSpPr txBox="1">
            <a:spLocks/>
          </p:cNvSpPr>
          <p:nvPr/>
        </p:nvSpPr>
        <p:spPr>
          <a:xfrm>
            <a:off x="2167595" y="1491440"/>
            <a:ext cx="3394710" cy="3479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363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Mutagénicos</a:t>
            </a:r>
            <a:endParaRPr kumimoji="0" lang="es-MX" sz="2363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3 Marcador de contenido">
            <a:extLst>
              <a:ext uri="{FF2B5EF4-FFF2-40B4-BE49-F238E27FC236}">
                <a16:creationId xmlns:a16="http://schemas.microsoft.com/office/drawing/2014/main" id="{EC45945E-8813-4BBB-8001-A605DE61C55E}"/>
              </a:ext>
            </a:extLst>
          </p:cNvPr>
          <p:cNvSpPr txBox="1">
            <a:spLocks/>
          </p:cNvSpPr>
          <p:nvPr/>
        </p:nvSpPr>
        <p:spPr>
          <a:xfrm>
            <a:off x="868697" y="1839396"/>
            <a:ext cx="5157787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718" marR="0" lvl="1" indent="-231434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s-MX" sz="2363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Ocasionan cambios en la secuencia de ADN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699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7 Marcador de texto">
            <a:extLst>
              <a:ext uri="{FF2B5EF4-FFF2-40B4-BE49-F238E27FC236}">
                <a16:creationId xmlns:a16="http://schemas.microsoft.com/office/drawing/2014/main" id="{AD07A200-64BD-48B4-8DC0-2E6D92F077CC}"/>
              </a:ext>
            </a:extLst>
          </p:cNvPr>
          <p:cNvSpPr txBox="1">
            <a:spLocks/>
          </p:cNvSpPr>
          <p:nvPr/>
        </p:nvSpPr>
        <p:spPr>
          <a:xfrm>
            <a:off x="6204285" y="1344279"/>
            <a:ext cx="5183188" cy="35411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363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Protooncogén</a:t>
            </a:r>
            <a:endParaRPr kumimoji="0" lang="es-MX" sz="2363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8 Marcador de contenido">
            <a:extLst>
              <a:ext uri="{FF2B5EF4-FFF2-40B4-BE49-F238E27FC236}">
                <a16:creationId xmlns:a16="http://schemas.microsoft.com/office/drawing/2014/main" id="{F3387DB7-17D1-465B-9B5F-1EEA39F99AC8}"/>
              </a:ext>
            </a:extLst>
          </p:cNvPr>
          <p:cNvSpPr txBox="1">
            <a:spLocks/>
          </p:cNvSpPr>
          <p:nvPr/>
        </p:nvSpPr>
        <p:spPr>
          <a:xfrm>
            <a:off x="6215398" y="1864615"/>
            <a:ext cx="5183188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1718" marR="0" lvl="1" indent="-231434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Wingdings 2"/>
              <a:buChar char="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 con un segmento de ADN incorporado o mutado que participa en el control de la proliferación o división celular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Imagen 6" descr="Imagen que contiene comida, interior, cubierto, pila&#10;&#10;Descripción generada automáticamente">
            <a:extLst>
              <a:ext uri="{FF2B5EF4-FFF2-40B4-BE49-F238E27FC236}">
                <a16:creationId xmlns:a16="http://schemas.microsoft.com/office/drawing/2014/main" id="{2C09006F-9D0B-47FF-B25C-964A7B99D3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79783" y="2872799"/>
            <a:ext cx="4882522" cy="3219413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0DE086CA-F0EE-4C35-A1DD-83441FB8C2A1}"/>
              </a:ext>
            </a:extLst>
          </p:cNvPr>
          <p:cNvSpPr txBox="1"/>
          <p:nvPr/>
        </p:nvSpPr>
        <p:spPr>
          <a:xfrm>
            <a:off x="262104" y="6165143"/>
            <a:ext cx="2926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Tx/>
              <a:buFontTx/>
              <a:buNone/>
            </a:pPr>
            <a:r>
              <a:rPr lang="es-MX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  <a:hlinkClick r:id="rId3" tooltip="https://rea.ceibal.edu.uy/elp/la-ciencia-y-los-superheroes-hulk-y-su-adn/agentes_mutagnicos.html"/>
              </a:rPr>
              <a:t>Esta foto</a:t>
            </a:r>
            <a:r>
              <a:rPr lang="es-MX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 de Autor desconocido está bajo licencia </a:t>
            </a:r>
            <a:r>
              <a:rPr lang="es-MX" sz="90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  <a:hlinkClick r:id="rId4" tooltip="https://creativecommons.org/licenses/by-sa/3.0/"/>
              </a:rPr>
              <a:t>CC BY-SA</a:t>
            </a:r>
            <a:endParaRPr lang="es-MX" sz="90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agen 8" descr="Imagen que contiene firmar, parada, frente, tráfico&#10;&#10;Descripción generada automáticamente">
            <a:extLst>
              <a:ext uri="{FF2B5EF4-FFF2-40B4-BE49-F238E27FC236}">
                <a16:creationId xmlns:a16="http://schemas.microsoft.com/office/drawing/2014/main" id="{E8AFFAB6-92F6-4AAA-8C1B-1CDEBD0DCC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349857" y="2948934"/>
            <a:ext cx="2095500" cy="2095500"/>
          </a:xfrm>
          <a:prstGeom prst="rect">
            <a:avLst/>
          </a:prstGeom>
        </p:spPr>
      </p:pic>
      <p:pic>
        <p:nvPicPr>
          <p:cNvPr id="10" name="Picture 2" descr="Resultado de imagen de protooncogenes y oncogenes">
            <a:extLst>
              <a:ext uri="{FF2B5EF4-FFF2-40B4-BE49-F238E27FC236}">
                <a16:creationId xmlns:a16="http://schemas.microsoft.com/office/drawing/2014/main" id="{B3DE7159-D199-48F7-A005-B7A38E121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5673" y="2716352"/>
            <a:ext cx="6125457" cy="35346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23787"/>
      </p:ext>
    </p:extLst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166C97A3-C984-4E81-80D9-9318FB4BA2B3}"/>
              </a:ext>
            </a:extLst>
          </p:cNvPr>
          <p:cNvSpPr txBox="1">
            <a:spLocks/>
          </p:cNvSpPr>
          <p:nvPr/>
        </p:nvSpPr>
        <p:spPr>
          <a:xfrm>
            <a:off x="987209" y="-177740"/>
            <a:ext cx="8641080" cy="154305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699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Cambios en la secuencia del ADN</a:t>
            </a:r>
            <a:br>
              <a:rPr kumimoji="0" lang="es-MX" sz="2699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endParaRPr kumimoji="0" lang="es-MX" sz="2699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3" name="4 Marcador de texto">
            <a:extLst>
              <a:ext uri="{FF2B5EF4-FFF2-40B4-BE49-F238E27FC236}">
                <a16:creationId xmlns:a16="http://schemas.microsoft.com/office/drawing/2014/main" id="{F1C0C408-3C08-4C66-AE2D-E803764D7F5C}"/>
              </a:ext>
            </a:extLst>
          </p:cNvPr>
          <p:cNvSpPr txBox="1">
            <a:spLocks/>
          </p:cNvSpPr>
          <p:nvPr/>
        </p:nvSpPr>
        <p:spPr>
          <a:xfrm>
            <a:off x="6070893" y="864071"/>
            <a:ext cx="4995677" cy="54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88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Cambios a lago plazo </a:t>
            </a:r>
            <a:endParaRPr kumimoji="0" lang="es-MX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C08E71-6D36-461A-BDAD-1AF8735B820B}"/>
              </a:ext>
            </a:extLst>
          </p:cNvPr>
          <p:cNvSpPr txBox="1">
            <a:spLocks noChangeArrowheads="1"/>
          </p:cNvSpPr>
          <p:nvPr/>
        </p:nvSpPr>
        <p:spPr>
          <a:xfrm>
            <a:off x="6153027" y="1648397"/>
            <a:ext cx="4995677" cy="1650044"/>
          </a:xfrm>
          <a:prstGeom prst="rect">
            <a:avLst/>
          </a:prstGeom>
          <a:solidFill>
            <a:srgbClr val="A5A5A5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359" marR="0" lvl="1" indent="-80359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56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permiten la adaptación de los organismos a condiciones cambiantes y colonización de nuevos hábitats</a:t>
            </a:r>
          </a:p>
          <a:p>
            <a:pPr marL="685800" marR="0" lvl="1" indent="-228600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56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5 Marcador de texto">
            <a:extLst>
              <a:ext uri="{FF2B5EF4-FFF2-40B4-BE49-F238E27FC236}">
                <a16:creationId xmlns:a16="http://schemas.microsoft.com/office/drawing/2014/main" id="{5FCB5DD3-3377-4948-99DE-58F0426DE157}"/>
              </a:ext>
            </a:extLst>
          </p:cNvPr>
          <p:cNvSpPr txBox="1">
            <a:spLocks/>
          </p:cNvSpPr>
          <p:nvPr/>
        </p:nvSpPr>
        <p:spPr>
          <a:xfrm>
            <a:off x="777141" y="873519"/>
            <a:ext cx="4995677" cy="540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688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Cambios a corto plazo </a:t>
            </a:r>
            <a:endParaRPr kumimoji="0" lang="es-MX" sz="2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6 Marcador de contenido">
            <a:extLst>
              <a:ext uri="{FF2B5EF4-FFF2-40B4-BE49-F238E27FC236}">
                <a16:creationId xmlns:a16="http://schemas.microsoft.com/office/drawing/2014/main" id="{9995181F-DEAB-4754-A6B0-02139821A883}"/>
              </a:ext>
            </a:extLst>
          </p:cNvPr>
          <p:cNvSpPr txBox="1">
            <a:spLocks/>
          </p:cNvSpPr>
          <p:nvPr/>
        </p:nvSpPr>
        <p:spPr>
          <a:xfrm>
            <a:off x="777141" y="1591547"/>
            <a:ext cx="4995677" cy="1650044"/>
          </a:xfrm>
          <a:prstGeom prst="rect">
            <a:avLst/>
          </a:prstGeom>
          <a:gradFill rotWithShape="1">
            <a:gsLst>
              <a:gs pos="0">
                <a:srgbClr val="ED7D31">
                  <a:satMod val="103000"/>
                  <a:lumMod val="102000"/>
                  <a:tint val="94000"/>
                </a:srgbClr>
              </a:gs>
              <a:gs pos="50000">
                <a:srgbClr val="ED7D31">
                  <a:satMod val="110000"/>
                  <a:lumMod val="100000"/>
                  <a:shade val="100000"/>
                </a:srgbClr>
              </a:gs>
              <a:gs pos="100000">
                <a:srgbClr val="ED7D31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359" marR="0" lvl="1" indent="-80359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s-MX" sz="2880" b="1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descompensan los procesos fisiológicos y del desarrollo del individuo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288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C82FA22F-6A8E-47D7-9DA8-4C0BB957631F}"/>
              </a:ext>
            </a:extLst>
          </p:cNvPr>
          <p:cNvSpPr/>
          <p:nvPr/>
        </p:nvSpPr>
        <p:spPr>
          <a:xfrm>
            <a:off x="777144" y="3429000"/>
            <a:ext cx="10371560" cy="3194721"/>
          </a:xfrm>
          <a:prstGeom prst="rect">
            <a:avLst/>
          </a:prstGeom>
          <a:gradFill rotWithShape="1">
            <a:gsLst>
              <a:gs pos="0">
                <a:srgbClr val="ED7D31">
                  <a:lumMod val="110000"/>
                  <a:satMod val="105000"/>
                  <a:tint val="67000"/>
                </a:srgbClr>
              </a:gs>
              <a:gs pos="50000">
                <a:srgbClr val="ED7D31">
                  <a:lumMod val="105000"/>
                  <a:satMod val="103000"/>
                  <a:tint val="73000"/>
                </a:srgbClr>
              </a:gs>
              <a:gs pos="100000">
                <a:srgbClr val="ED7D31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ED7D31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305362" marR="0" lvl="1" indent="-305362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s-MX" sz="31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5362" marR="0" lvl="1" indent="-305362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s-MX" sz="31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Organismos deben ser estables genéticamente para sobrevivir </a:t>
            </a:r>
          </a:p>
          <a:p>
            <a:pPr marL="305362" marR="0" lvl="0" indent="-305362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endParaRPr kumimoji="0" lang="es-MX" sz="31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05362" marR="0" lvl="0" indent="-305362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v"/>
              <a:tabLst/>
              <a:defRPr/>
            </a:pPr>
            <a:r>
              <a:rPr kumimoji="0" lang="es-MX" sz="31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Errores temporales en la síntesis de ADN son corregidos por los procesos de reparación del ADN</a:t>
            </a:r>
          </a:p>
          <a:p>
            <a:pPr marL="0" marR="0" lvl="0" indent="0" defTabSz="91440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315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267314"/>
      </p:ext>
    </p:extLst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 Marcador de texto">
            <a:extLst>
              <a:ext uri="{FF2B5EF4-FFF2-40B4-BE49-F238E27FC236}">
                <a16:creationId xmlns:a16="http://schemas.microsoft.com/office/drawing/2014/main" id="{DFB17EAC-DFB1-4EE2-895F-0D3D5C9EAD23}"/>
              </a:ext>
            </a:extLst>
          </p:cNvPr>
          <p:cNvSpPr txBox="1">
            <a:spLocks/>
          </p:cNvSpPr>
          <p:nvPr/>
        </p:nvSpPr>
        <p:spPr>
          <a:xfrm>
            <a:off x="593610" y="2121763"/>
            <a:ext cx="3822192" cy="11668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¿con cuántas sustancias mutagénicas tienen contacto diariamente?</a:t>
            </a:r>
          </a:p>
        </p:txBody>
      </p:sp>
      <p:pic>
        <p:nvPicPr>
          <p:cNvPr id="3" name="7 Marcador de contenido">
            <a:extLst>
              <a:ext uri="{FF2B5EF4-FFF2-40B4-BE49-F238E27FC236}">
                <a16:creationId xmlns:a16="http://schemas.microsoft.com/office/drawing/2014/main" id="{FB33EC0A-202B-4EB1-BE7C-C9C6FFECA00F}"/>
              </a:ext>
            </a:extLst>
          </p:cNvPr>
          <p:cNvPicPr>
            <a:picLocks/>
          </p:cNvPicPr>
          <p:nvPr/>
        </p:nvPicPr>
        <p:blipFill rotWithShape="1">
          <a:blip r:embed="rId2" cstate="print"/>
          <a:srcRect t="9887" r="-2" b="10953"/>
          <a:stretch/>
        </p:blipFill>
        <p:spPr bwMode="auto">
          <a:xfrm>
            <a:off x="5620564" y="484632"/>
            <a:ext cx="5576955" cy="573328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82560420"/>
      </p:ext>
    </p:extLst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texto">
            <a:extLst>
              <a:ext uri="{FF2B5EF4-FFF2-40B4-BE49-F238E27FC236}">
                <a16:creationId xmlns:a16="http://schemas.microsoft.com/office/drawing/2014/main" id="{B81F9F0B-E3E4-43B9-B158-40EBFC9F8B6B}"/>
              </a:ext>
            </a:extLst>
          </p:cNvPr>
          <p:cNvSpPr txBox="1">
            <a:spLocks/>
          </p:cNvSpPr>
          <p:nvPr/>
        </p:nvSpPr>
        <p:spPr>
          <a:xfrm>
            <a:off x="297041" y="137528"/>
            <a:ext cx="11696176" cy="211137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DESAPAREAMIENTO DE BASES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UNIÓN DEFICIENTE DE BASES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600" b="0" i="0" u="none" strike="noStrike" kern="1200" cap="none" spc="0" normalizeH="0" baseline="0" noProof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(Mistmatch)</a:t>
            </a:r>
            <a:endParaRPr kumimoji="0" lang="es-MX" sz="36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7 Elipse">
            <a:extLst>
              <a:ext uri="{FF2B5EF4-FFF2-40B4-BE49-F238E27FC236}">
                <a16:creationId xmlns:a16="http://schemas.microsoft.com/office/drawing/2014/main" id="{B22C0F92-D2B2-463D-9921-3215512852DB}"/>
              </a:ext>
            </a:extLst>
          </p:cNvPr>
          <p:cNvSpPr/>
          <p:nvPr/>
        </p:nvSpPr>
        <p:spPr>
          <a:xfrm>
            <a:off x="5297474" y="493818"/>
            <a:ext cx="6894526" cy="6223552"/>
          </a:xfrm>
          <a:prstGeom prst="ellipse">
            <a:avLst/>
          </a:prstGeom>
          <a:solidFill>
            <a:sysClr val="windowText" lastClr="000000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12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512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8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5´--CT</a:t>
            </a:r>
            <a:r>
              <a:rPr kumimoji="0" lang="es-ES" sz="4480" b="1" i="0" u="none" strike="noStrike" kern="1200" cap="none" spc="0" normalizeH="0" baseline="0" noProof="0" dirty="0">
                <a:ln w="10541" cmpd="sng">
                  <a:solidFill>
                    <a:srgbClr val="4472C4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4472C4">
                    <a:lumMod val="10000"/>
                    <a:lumOff val="9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G</a:t>
            </a:r>
            <a:r>
              <a:rPr kumimoji="0" lang="es-ES" sz="448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A-- 3´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8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    || |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8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3´--GA</a:t>
            </a:r>
            <a:r>
              <a:rPr kumimoji="0" lang="es-ES" sz="4480" b="1" i="0" u="none" strike="noStrike" kern="1200" cap="none" spc="0" normalizeH="0" baseline="0" noProof="0" dirty="0">
                <a:ln w="10541" cmpd="sng">
                  <a:solidFill>
                    <a:srgbClr val="4472C4">
                      <a:shade val="88000"/>
                      <a:satMod val="110000"/>
                    </a:srgbClr>
                  </a:solidFill>
                  <a:prstDash val="solid"/>
                </a:ln>
                <a:solidFill>
                  <a:srgbClr val="4472C4">
                    <a:lumMod val="10000"/>
                    <a:lumOff val="90000"/>
                  </a:srgbClr>
                </a:solidFill>
                <a:effectLst/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A</a:t>
            </a:r>
            <a:r>
              <a:rPr kumimoji="0" lang="es-ES" sz="4480" b="1" i="0" u="none" strike="noStrike" kern="1200" cap="none" spc="0" normalizeH="0" baseline="0" noProof="0" dirty="0">
                <a:ln w="11430"/>
                <a:solidFill>
                  <a:prstClr val="white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Courier New" pitchFamily="49" charset="0"/>
                <a:ea typeface="+mn-ea"/>
                <a:cs typeface="Courier New" pitchFamily="49" charset="0"/>
              </a:rPr>
              <a:t>T --5´</a:t>
            </a:r>
            <a:endParaRPr kumimoji="0" lang="es-ES" sz="5120" b="1" i="0" u="none" strike="noStrike" kern="1200" cap="none" spc="0" normalizeH="0" baseline="0" noProof="0" dirty="0">
              <a:ln w="11430"/>
              <a:solidFill>
                <a:prstClr val="white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4480" b="1" i="0" u="none" strike="noStrike" kern="1200" cap="none" spc="0" normalizeH="0" baseline="0" noProof="0" dirty="0">
              <a:ln w="11430"/>
              <a:gradFill>
                <a:gsLst>
                  <a:gs pos="0">
                    <a:srgbClr val="ED7D31">
                      <a:tint val="70000"/>
                      <a:satMod val="245000"/>
                    </a:srgbClr>
                  </a:gs>
                  <a:gs pos="75000">
                    <a:srgbClr val="ED7D31">
                      <a:tint val="90000"/>
                      <a:shade val="60000"/>
                      <a:satMod val="240000"/>
                    </a:srgbClr>
                  </a:gs>
                  <a:gs pos="100000">
                    <a:srgbClr val="ED7D31">
                      <a:tint val="100000"/>
                      <a:shade val="50000"/>
                      <a:satMod val="240000"/>
                    </a:srgb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uLnTx/>
              <a:uFillTx/>
              <a:latin typeface="Courier New" pitchFamily="49" charset="0"/>
              <a:ea typeface="+mn-ea"/>
              <a:cs typeface="Courier New" pitchFamily="49" charset="0"/>
            </a:endParaRPr>
          </a:p>
        </p:txBody>
      </p:sp>
      <p:sp>
        <p:nvSpPr>
          <p:cNvPr id="4" name="4 Rectángulo">
            <a:extLst>
              <a:ext uri="{FF2B5EF4-FFF2-40B4-BE49-F238E27FC236}">
                <a16:creationId xmlns:a16="http://schemas.microsoft.com/office/drawing/2014/main" id="{4744AAC1-698A-425C-92F7-4F75267C5259}"/>
              </a:ext>
            </a:extLst>
          </p:cNvPr>
          <p:cNvSpPr/>
          <p:nvPr/>
        </p:nvSpPr>
        <p:spPr>
          <a:xfrm>
            <a:off x="792865" y="3921011"/>
            <a:ext cx="37978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518"/>
              </a:spcBef>
              <a:buClrTx/>
              <a:buFontTx/>
              <a:buNone/>
              <a:defRPr/>
            </a:pPr>
            <a:r>
              <a:rPr lang="es-MX" sz="2800" kern="1200" dirty="0">
                <a:solidFill>
                  <a:prstClr val="black"/>
                </a:solidFill>
                <a:effectLst>
                  <a:outerShdw blurRad="76200" sx="101000" sy="101000" algn="ctr" rotWithShape="0">
                    <a:prstClr val="black">
                      <a:lumMod val="85000"/>
                      <a:alpha val="40000"/>
                    </a:prstClr>
                  </a:outerShdw>
                </a:effectLst>
                <a:latin typeface="Gill Sans MT"/>
                <a:ea typeface="+mn-ea"/>
                <a:cs typeface="+mn-cs"/>
              </a:rPr>
              <a:t>Corrección de DESAPAREAMIENTO DE BASES  (Mismatch Repair (MMR)</a:t>
            </a:r>
          </a:p>
        </p:txBody>
      </p:sp>
      <p:sp>
        <p:nvSpPr>
          <p:cNvPr id="5" name="6 Flecha abajo">
            <a:extLst>
              <a:ext uri="{FF2B5EF4-FFF2-40B4-BE49-F238E27FC236}">
                <a16:creationId xmlns:a16="http://schemas.microsoft.com/office/drawing/2014/main" id="{D87A03E7-60C1-4490-A9B0-41A6447AF6EB}"/>
              </a:ext>
            </a:extLst>
          </p:cNvPr>
          <p:cNvSpPr/>
          <p:nvPr/>
        </p:nvSpPr>
        <p:spPr>
          <a:xfrm>
            <a:off x="1312642" y="1945577"/>
            <a:ext cx="1275893" cy="1579676"/>
          </a:xfrm>
          <a:prstGeom prst="downArrow">
            <a:avLst/>
          </a:prstGeom>
          <a:gradFill rotWithShape="1">
            <a:gsLst>
              <a:gs pos="0">
                <a:srgbClr val="5B9BD5">
                  <a:satMod val="103000"/>
                  <a:lumMod val="102000"/>
                  <a:tint val="94000"/>
                </a:srgbClr>
              </a:gs>
              <a:gs pos="50000">
                <a:srgbClr val="5B9BD5">
                  <a:satMod val="110000"/>
                  <a:lumMod val="100000"/>
                  <a:shade val="100000"/>
                </a:srgbClr>
              </a:gs>
              <a:gs pos="100000">
                <a:srgbClr val="5B9BD5">
                  <a:lumMod val="99000"/>
                  <a:satMod val="120000"/>
                  <a:shade val="78000"/>
                </a:srgbClr>
              </a:gs>
            </a:gsLst>
            <a:lin ang="5400000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216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933582"/>
      </p:ext>
    </p:extLst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332BFA2-E7E5-4237-947F-292C2D5F5752}"/>
              </a:ext>
            </a:extLst>
          </p:cNvPr>
          <p:cNvSpPr txBox="1">
            <a:spLocks noChangeArrowheads="1"/>
          </p:cNvSpPr>
          <p:nvPr/>
        </p:nvSpPr>
        <p:spPr>
          <a:xfrm>
            <a:off x="4176593" y="403610"/>
            <a:ext cx="7089911" cy="1083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200" b="1">
                <a:latin typeface="Bernard MT Condensed" panose="02050806060905020404" pitchFamily="18" charset="77"/>
              </a:rPr>
              <a:t>REPARACIÓN DE DESAPAREAMIENTO DE BASES  (MMR, MISMATCH REPAIR) EUCARIOTAS Y PROCARIOTAS</a:t>
            </a:r>
            <a:br>
              <a:rPr lang="en-US" sz="3200" b="1">
                <a:latin typeface="Bernard MT Condensed" panose="02050806060905020404" pitchFamily="18" charset="77"/>
              </a:rPr>
            </a:br>
            <a:r>
              <a:rPr lang="en-US" sz="3200" b="1">
                <a:latin typeface="Bernard MT Condensed" panose="02050806060905020404" pitchFamily="18" charset="77"/>
              </a:rPr>
              <a:t>	</a:t>
            </a:r>
            <a:endParaRPr lang="en-US" sz="3200" b="1" dirty="0">
              <a:latin typeface="Bernard MT Condensed" panose="02050806060905020404" pitchFamily="18" charset="77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75AA25-910A-4B21-81F7-E009E98A4B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66503" t="-2" r="-35476"/>
          <a:stretch/>
        </p:blipFill>
        <p:spPr bwMode="auto">
          <a:xfrm>
            <a:off x="98874" y="10"/>
            <a:ext cx="815543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noFill/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B42DAE-5834-49D3-BB4B-9E99F5C4A69C}"/>
              </a:ext>
            </a:extLst>
          </p:cNvPr>
          <p:cNvSpPr txBox="1">
            <a:spLocks noChangeArrowheads="1"/>
          </p:cNvSpPr>
          <p:nvPr/>
        </p:nvSpPr>
        <p:spPr>
          <a:xfrm>
            <a:off x="4460789" y="1890584"/>
            <a:ext cx="6893009" cy="42863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Actúa solamente en cadenas nuevas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Comprende la reparación de bases mal apareadas pero inmediatamente después de la Replicación del ADN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Procariotas (GATC metiladas en A en cadenas molde)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Eucariotas (presentan nicks, melladuras o discontinuidad),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Cáncer de colon (mutación en genes de alguna proteína del sistema de reparación de desapareamientos o unión  deficiente de bases)</a:t>
            </a: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0531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1A7C7A9-D9B7-4F38-AAD3-594F37C3A323}"/>
              </a:ext>
            </a:extLst>
          </p:cNvPr>
          <p:cNvSpPr txBox="1">
            <a:spLocks noChangeArrowheads="1"/>
          </p:cNvSpPr>
          <p:nvPr/>
        </p:nvSpPr>
        <p:spPr>
          <a:xfrm>
            <a:off x="631674" y="1819687"/>
            <a:ext cx="6027577" cy="50690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Desapareamientos causan cambio en geometría de la doble hélice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Proteínas de reparación eliminan el ADN sintetizado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ADN-polimerasa (I, </a:t>
            </a:r>
            <a:r>
              <a:rPr kumimoji="0" lang="el-GR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δ</a:t>
            </a: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sintetiza el fragmento y va haciendo corrección de prueba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ADN ligasa sella las discontinuidades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Discontinuidades permanecen poco tiempo, la corrección debe hacerse rápidamente</a:t>
            </a: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C338BB-6CB5-4AC3-BC0B-8ECE12E12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66800" b="4955"/>
          <a:stretch>
            <a:fillRect/>
          </a:stretch>
        </p:blipFill>
        <p:spPr bwMode="auto">
          <a:xfrm>
            <a:off x="6740997" y="464630"/>
            <a:ext cx="5237922" cy="59287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3FF0CFA8-3A26-4AC9-B49E-21396DF7083B}"/>
              </a:ext>
            </a:extLst>
          </p:cNvPr>
          <p:cNvSpPr txBox="1">
            <a:spLocks noChangeArrowheads="1"/>
          </p:cNvSpPr>
          <p:nvPr/>
        </p:nvSpPr>
        <p:spPr>
          <a:xfrm>
            <a:off x="277249" y="600476"/>
            <a:ext cx="7089911" cy="1083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200" b="1">
                <a:latin typeface="Bernard MT Condensed" panose="02050806060905020404" pitchFamily="18" charset="77"/>
              </a:rPr>
              <a:t>REPARACIÓN DE DESAPAREAMIENTO DE BASES  (MMR, MISMATCH REPAIR) EUCARIOTAS </a:t>
            </a:r>
            <a:br>
              <a:rPr lang="en-US" sz="3200" b="1">
                <a:latin typeface="Bernard MT Condensed" panose="02050806060905020404" pitchFamily="18" charset="77"/>
              </a:rPr>
            </a:br>
            <a:r>
              <a:rPr lang="en-US" sz="3200" b="1">
                <a:latin typeface="Bernard MT Condensed" panose="02050806060905020404" pitchFamily="18" charset="77"/>
              </a:rPr>
              <a:t>	</a:t>
            </a:r>
            <a:endParaRPr lang="en-US" sz="3200" b="1" dirty="0">
              <a:latin typeface="Bernard MT Condensed" panose="020508060609050204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208978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371B9E67-29ED-4FB5-A03A-68AA64C0C5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27054"/>
          <a:stretch/>
        </p:blipFill>
        <p:spPr bwMode="auto">
          <a:xfrm>
            <a:off x="5906529" y="861369"/>
            <a:ext cx="5901157" cy="5870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43F899-E6F0-4592-844B-7D95EF0171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55938"/>
          <a:stretch/>
        </p:blipFill>
        <p:spPr bwMode="auto">
          <a:xfrm>
            <a:off x="457198" y="1134880"/>
            <a:ext cx="5449331" cy="558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FB512860-88F6-4A90-8DC1-F713C7913431}"/>
              </a:ext>
            </a:extLst>
          </p:cNvPr>
          <p:cNvSpPr txBox="1">
            <a:spLocks noChangeArrowheads="1"/>
          </p:cNvSpPr>
          <p:nvPr/>
        </p:nvSpPr>
        <p:spPr>
          <a:xfrm>
            <a:off x="300332" y="319686"/>
            <a:ext cx="11507355" cy="1083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  <a:buNone/>
            </a:pPr>
            <a:r>
              <a:rPr lang="en-US" sz="32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REPARACIÓN DE DESAPAREAMIENTO DE BASES  (MMR, MISMATCH REPAIR) PROCARIOTAS</a:t>
            </a:r>
            <a:br>
              <a:rPr lang="en-US" sz="3200" b="1" dirty="0">
                <a:solidFill>
                  <a:prstClr val="black"/>
                </a:solidFill>
                <a:latin typeface="Bernard MT Condensed" panose="02050806060905020404" pitchFamily="18" charset="77"/>
              </a:rPr>
            </a:br>
            <a:r>
              <a:rPr lang="en-US" sz="32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950294003"/>
      </p:ext>
    </p:extLst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29EF1FA-E00C-4B9D-9673-BBB6A8204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87370" y="1753871"/>
            <a:ext cx="1889760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5208EDC-4755-4B01-8B02-E62C464B6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54" y="330208"/>
            <a:ext cx="11035389" cy="6197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2624755"/>
      </p:ext>
    </p:extLst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F39CAC3F-99E0-4B8B-AE55-839E510BFC7E}"/>
              </a:ext>
            </a:extLst>
          </p:cNvPr>
          <p:cNvSpPr txBox="1">
            <a:spLocks/>
          </p:cNvSpPr>
          <p:nvPr/>
        </p:nvSpPr>
        <p:spPr>
          <a:xfrm>
            <a:off x="235363" y="0"/>
            <a:ext cx="9680576" cy="964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buClrTx/>
              <a:buFontTx/>
            </a:pPr>
            <a:r>
              <a:rPr lang="es-MX" sz="2900" b="1">
                <a:latin typeface="Bernard MT Condensed" panose="02050806060905020404" pitchFamily="18" charset="77"/>
              </a:rPr>
              <a:t>LESIONES DEL ADN QUE REQUIEREN REPARACIÓN</a:t>
            </a:r>
            <a:endParaRPr lang="es-MX" sz="2900" b="1" dirty="0">
              <a:latin typeface="Bernard MT Condensed" panose="02050806060905020404" pitchFamily="18" charset="77"/>
            </a:endParaRPr>
          </a:p>
        </p:txBody>
      </p:sp>
      <p:graphicFrame>
        <p:nvGraphicFramePr>
          <p:cNvPr id="3" name="6 Marcador de contenido">
            <a:extLst>
              <a:ext uri="{FF2B5EF4-FFF2-40B4-BE49-F238E27FC236}">
                <a16:creationId xmlns:a16="http://schemas.microsoft.com/office/drawing/2014/main" id="{81BAEF15-D3C5-4842-9315-297F78B64D5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903248"/>
              </p:ext>
            </p:extLst>
          </p:nvPr>
        </p:nvGraphicFramePr>
        <p:xfrm>
          <a:off x="4397208" y="840051"/>
          <a:ext cx="7794792" cy="5758608"/>
        </p:xfrm>
        <a:graphic>
          <a:graphicData uri="http://schemas.openxmlformats.org/drawingml/2006/table">
            <a:tbl>
              <a:tblPr firstRow="1" bandRow="1"/>
              <a:tblGrid>
                <a:gridCol w="2514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0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105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2400" dirty="0"/>
                        <a:t>LESIÓN</a:t>
                      </a:r>
                      <a:r>
                        <a:rPr lang="es-MX" sz="2400" baseline="0" dirty="0"/>
                        <a:t> DEL ADN</a:t>
                      </a:r>
                      <a:endParaRPr lang="es-MX" sz="2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2400" dirty="0"/>
                        <a:t>EJEMPLO/CAUSA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9945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Base Faltante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Extracción de purinas por ácidos o calor (cond. fisiológicas ≈10</a:t>
                      </a:r>
                      <a:r>
                        <a:rPr lang="es-MX" sz="1400" baseline="30000" dirty="0"/>
                        <a:t>4 </a:t>
                      </a:r>
                      <a:r>
                        <a:rPr lang="es-MX" sz="1400" baseline="0" dirty="0"/>
                        <a:t>purinas/día/cel. genoma mamífero);  extracción de bases alteradas por las ADN glucosilasas (uracilo)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52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Base Alterada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Radiación</a:t>
                      </a:r>
                      <a:r>
                        <a:rPr lang="es-MX" sz="1400" baseline="0" dirty="0"/>
                        <a:t> ionizante; agentes alquilantes 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84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Base</a:t>
                      </a:r>
                      <a:r>
                        <a:rPr lang="es-MX" sz="1400" baseline="0" dirty="0"/>
                        <a:t> Incorrecta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Mutaciones</a:t>
                      </a:r>
                      <a:r>
                        <a:rPr lang="es-MX" sz="1400" baseline="0" dirty="0"/>
                        <a:t> que afectan la lectura de prueba por exonucleasas 3´-5´ de las bases incorporadas en forma incorrecta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88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Saliencia U</a:t>
                      </a:r>
                      <a:r>
                        <a:rPr lang="es-MX" sz="1400" baseline="0" dirty="0"/>
                        <a:t> Horquilla Debido A La Eliminación O Inserción De Un Nucleótido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Agentes</a:t>
                      </a:r>
                      <a:r>
                        <a:rPr lang="es-MX" sz="1400" baseline="0" dirty="0"/>
                        <a:t> intercalantes (acridinas) que causan adición o pérdida de un nucleótido durante la recombinación o la replicación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17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Pirimidinas</a:t>
                      </a:r>
                      <a:r>
                        <a:rPr lang="es-MX" sz="1400" baseline="0" dirty="0"/>
                        <a:t> Ligadas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Dímeros</a:t>
                      </a:r>
                      <a:r>
                        <a:rPr lang="es-MX" sz="1400" baseline="0" dirty="0"/>
                        <a:t> ciclobutílicos (timina) producto de irradiaciones UV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6226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Ruptura</a:t>
                      </a:r>
                      <a:r>
                        <a:rPr lang="es-MX" sz="1400" baseline="0" dirty="0"/>
                        <a:t> Monocatenaria o Bicatenaria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Rotura de enlaces fosfodiéster</a:t>
                      </a:r>
                      <a:r>
                        <a:rPr lang="es-MX" sz="1400" baseline="0" dirty="0"/>
                        <a:t> por radiación ionizante o agentes químicos (bleomicina)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592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Aductos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Unión de químicos</a:t>
                      </a:r>
                      <a:r>
                        <a:rPr lang="es-MX" sz="1400" baseline="0" dirty="0"/>
                        <a:t> por enlaces covalentes a distintos grupos funcionales del nucleótido (Aflatoxinas, </a:t>
                      </a:r>
                      <a:r>
                        <a:rPr lang="es-MX" sz="1400" b="1" dirty="0"/>
                        <a:t>Doxorrubicina)</a:t>
                      </a:r>
                      <a:r>
                        <a:rPr lang="es-MX" sz="1400" baseline="0" dirty="0"/>
                        <a:t> 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73728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Cadenas Entrecruzadas</a:t>
                      </a:r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Unión</a:t>
                      </a:r>
                      <a:r>
                        <a:rPr lang="es-MX" sz="1400" baseline="0" dirty="0"/>
                        <a:t> covalente entre dos cadenas por agentes alquilantes bifuncionales (mitomicina C)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53361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Fragmentos</a:t>
                      </a:r>
                      <a:r>
                        <a:rPr lang="es-MX" sz="1400" baseline="0" dirty="0"/>
                        <a:t> De La 3´desoxiribosa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r>
                        <a:rPr lang="es-MX" sz="1400" dirty="0"/>
                        <a:t>Alteración</a:t>
                      </a:r>
                      <a:r>
                        <a:rPr lang="es-MX" sz="1400" baseline="0" dirty="0"/>
                        <a:t> de la estructura de la desoxirribosa por radicales libres que conducen a rotura de cadenas</a:t>
                      </a:r>
                      <a:endParaRPr lang="es-MX" sz="1400" dirty="0"/>
                    </a:p>
                  </a:txBody>
                  <a:tcPr marL="77154" marR="77154" marT="38576" marB="38576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72C4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BDFC9E4E-902B-4242-B1BE-E513F3BF8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2516" y="968083"/>
            <a:ext cx="3666152" cy="5646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7577542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ACDCF808-05BD-45F3-A74A-BB98342C6A5E}"/>
              </a:ext>
            </a:extLst>
          </p:cNvPr>
          <p:cNvSpPr txBox="1">
            <a:spLocks/>
          </p:cNvSpPr>
          <p:nvPr/>
        </p:nvSpPr>
        <p:spPr>
          <a:xfrm>
            <a:off x="674237" y="914400"/>
            <a:ext cx="3657600" cy="2887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600"/>
              </a:spcAft>
              <a:buClrTx/>
              <a:buFontTx/>
              <a:buNone/>
            </a:pPr>
            <a:r>
              <a:rPr lang="es-MX" sz="4800" b="1" dirty="0">
                <a:latin typeface="Calibri Light" panose="020F0302020204030204"/>
              </a:rPr>
              <a:t>LESIONES</a:t>
            </a:r>
            <a:r>
              <a:rPr lang="en-US" sz="4800" b="1" dirty="0">
                <a:latin typeface="Calibri Light" panose="020F0302020204030204"/>
              </a:rPr>
              <a:t> DEL </a:t>
            </a:r>
            <a:r>
              <a:rPr lang="es-MX" sz="4800" b="1" dirty="0">
                <a:latin typeface="Calibri Light" panose="020F0302020204030204"/>
              </a:rPr>
              <a:t>ADN QUE REQUIEREN REPARACIÓN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29B88-D6F8-4FF5-86C6-F13C8215F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331837" y="213713"/>
            <a:ext cx="7641860" cy="62870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8444118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Marcador de texto">
            <a:extLst>
              <a:ext uri="{FF2B5EF4-FFF2-40B4-BE49-F238E27FC236}">
                <a16:creationId xmlns:a16="http://schemas.microsoft.com/office/drawing/2014/main" id="{611CDD30-89EF-442F-B178-3CDF605ED4D1}"/>
              </a:ext>
            </a:extLst>
          </p:cNvPr>
          <p:cNvSpPr txBox="1">
            <a:spLocks/>
          </p:cNvSpPr>
          <p:nvPr/>
        </p:nvSpPr>
        <p:spPr>
          <a:xfrm>
            <a:off x="6951030" y="1117964"/>
            <a:ext cx="4212469" cy="42993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31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Agentes carcinógenos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699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Sustancias químicas causantes de cáncer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251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acción directa: electrófilos reactivos (buscan centros de carga negativo (metansulfonato de etilo)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251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acción indirecta: biotransformados por enzimas de organismo (hígado). Metabolitos reactivos. 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s-MX" sz="2251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04BFD0-6711-4E02-8D80-2BDDEA46C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7815" y="216860"/>
            <a:ext cx="5255241" cy="6641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1237839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2" grpI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8F8367C5-86D2-4873-852F-6B6349C12546}"/>
              </a:ext>
            </a:extLst>
          </p:cNvPr>
          <p:cNvSpPr txBox="1">
            <a:spLocks/>
          </p:cNvSpPr>
          <p:nvPr/>
        </p:nvSpPr>
        <p:spPr>
          <a:xfrm>
            <a:off x="3548270" y="129209"/>
            <a:ext cx="8643730" cy="1015379"/>
          </a:xfrm>
          <a:prstGeom prst="rect">
            <a:avLst/>
          </a:prstGeom>
        </p:spPr>
        <p:txBody>
          <a:bodyPr vert="horz" lIns="146304" tIns="73152" rIns="146304" bIns="73152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731502">
              <a:buClrTx/>
              <a:buFontTx/>
            </a:pPr>
            <a:r>
              <a:rPr lang="en-US" sz="2900" b="1">
                <a:latin typeface="Bernard MT Condensed" panose="02050806060905020404" pitchFamily="18" charset="77"/>
              </a:rPr>
              <a:t>MECANISMOS ENZIMÁTICOS DE REPARACIÓN DEL ADN (DAÑOS DEL ADN)</a:t>
            </a:r>
            <a:endParaRPr lang="en-US" sz="2900" b="1" dirty="0">
              <a:latin typeface="Bernard MT Condensed" panose="02050806060905020404" pitchFamily="18" charset="77"/>
            </a:endParaRPr>
          </a:p>
        </p:txBody>
      </p:sp>
      <p:pic>
        <p:nvPicPr>
          <p:cNvPr id="3" name="4 Imagen" descr="C:\Users\SIBILINA CEDILLO\Documents\CLASES\Material apoyo Biol cel\LIbro Biol cel Pollard\figuras\S9781416022558-043-f013.jpg">
            <a:extLst>
              <a:ext uri="{FF2B5EF4-FFF2-40B4-BE49-F238E27FC236}">
                <a16:creationId xmlns:a16="http://schemas.microsoft.com/office/drawing/2014/main" id="{3FE6F398-A5B2-4981-87A1-EC894ABF6C42}"/>
              </a:ext>
            </a:extLst>
          </p:cNvPr>
          <p:cNvPicPr/>
          <p:nvPr/>
        </p:nvPicPr>
        <p:blipFill rotWithShape="1">
          <a:blip r:embed="rId2" cstate="print"/>
          <a:srcRect l="7771" r="7768" b="-3"/>
          <a:stretch/>
        </p:blipFill>
        <p:spPr bwMode="auto">
          <a:xfrm>
            <a:off x="487607" y="129209"/>
            <a:ext cx="3060664" cy="6592329"/>
          </a:xfrm>
          <a:prstGeom prst="rect">
            <a:avLst/>
          </a:prstGeom>
          <a:noFill/>
        </p:spPr>
      </p:pic>
      <p:sp>
        <p:nvSpPr>
          <p:cNvPr id="4" name="3 Rectángulo">
            <a:extLst>
              <a:ext uri="{FF2B5EF4-FFF2-40B4-BE49-F238E27FC236}">
                <a16:creationId xmlns:a16="http://schemas.microsoft.com/office/drawing/2014/main" id="{55538C58-4586-4431-821D-9156FF404AD7}"/>
              </a:ext>
            </a:extLst>
          </p:cNvPr>
          <p:cNvSpPr/>
          <p:nvPr/>
        </p:nvSpPr>
        <p:spPr>
          <a:xfrm>
            <a:off x="3896982" y="894321"/>
            <a:ext cx="8289234" cy="5615807"/>
          </a:xfrm>
          <a:prstGeom prst="rect">
            <a:avLst/>
          </a:prstGeom>
        </p:spPr>
        <p:txBody>
          <a:bodyPr vert="horz" lIns="146304" tIns="73152" rIns="146304" bIns="73152" rtlCol="0" anchor="ctr">
            <a:normAutofit/>
          </a:bodyPr>
          <a:lstStyle/>
          <a:p>
            <a:pPr marL="342900" indent="-342900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 sz="2240" b="1" kern="1200" dirty="0">
                <a:solidFill>
                  <a:srgbClr val="A5A5A5">
                    <a:lumMod val="50000"/>
                  </a:srgbClr>
                </a:solidFill>
                <a:latin typeface="Calibri" panose="020F0502020204030204"/>
                <a:ea typeface="+mn-ea"/>
                <a:cs typeface="+mn-cs"/>
              </a:rPr>
              <a:t>Reparación por escisión  nucleotídica </a:t>
            </a:r>
            <a:r>
              <a:rPr lang="es-ES_tradnl" sz="2240" kern="1200" dirty="0">
                <a:solidFill>
                  <a:srgbClr val="A5A5A5">
                    <a:lumMod val="50000"/>
                  </a:srgbClr>
                </a:solidFill>
                <a:latin typeface="Calibri" panose="020F0502020204030204"/>
                <a:ea typeface="+mn-ea"/>
                <a:cs typeface="+mn-cs"/>
              </a:rPr>
              <a:t>(</a:t>
            </a: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NER,</a:t>
            </a:r>
            <a:r>
              <a:rPr lang="es-ES_tradnl" sz="2240" i="1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 nucleotide excision repair)</a:t>
            </a:r>
            <a:endParaRPr lang="es-ES_tradnl" sz="2240" kern="1200" dirty="0">
              <a:solidFill>
                <a:srgbClr val="44546A"/>
              </a:solidFill>
              <a:latin typeface="Calibri" panose="020F0502020204030204"/>
              <a:ea typeface="+mn-ea"/>
              <a:cs typeface="+mn-cs"/>
            </a:endParaRPr>
          </a:p>
          <a:p>
            <a:pPr marL="153616" lvl="1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Tx/>
              <a:buNone/>
            </a:pP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Comprende la eliminación de una región dañada por sistemas de nucleasas especializadas y síntesis de ADN para rellenar la brecha (dímeros de timina, fijación de grupos carcinogénicos al ADN)</a:t>
            </a:r>
          </a:p>
          <a:p>
            <a:pPr indent="-274313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sz="2240" b="1" kern="1200" dirty="0">
                <a:solidFill>
                  <a:srgbClr val="A5A5A5">
                    <a:lumMod val="50000"/>
                  </a:srgbClr>
                </a:solidFill>
                <a:latin typeface="Calibri" panose="020F0502020204030204"/>
                <a:ea typeface="+mn-ea"/>
                <a:cs typeface="+mn-cs"/>
              </a:rPr>
              <a:t>Reparación por escisión de base </a:t>
            </a: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(BER, </a:t>
            </a:r>
            <a:r>
              <a:rPr lang="es-ES_tradnl" sz="2240" i="1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base excision repair)</a:t>
            </a:r>
          </a:p>
          <a:p>
            <a:pPr marL="153616" lvl="1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Tx/>
              <a:buNone/>
            </a:pP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Se reconoce o eliminan solo  un nucleótido dañado y se sustituye por otro</a:t>
            </a:r>
          </a:p>
          <a:p>
            <a:pPr indent="-274313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s-ES_tradnl" sz="2240" b="1" kern="1200" dirty="0">
                <a:solidFill>
                  <a:srgbClr val="A5A5A5">
                    <a:lumMod val="50000"/>
                  </a:srgbClr>
                </a:solidFill>
                <a:latin typeface="Calibri" panose="020F0502020204030204"/>
                <a:ea typeface="+mn-ea"/>
                <a:cs typeface="+mn-cs"/>
              </a:rPr>
              <a:t>Reparación de rupturas del ADN bicatenario</a:t>
            </a:r>
          </a:p>
          <a:p>
            <a:pPr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Tx/>
              <a:buNone/>
            </a:pP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Comprende la reparación de la ruptura de las dos cadenas del ADN. Existen 2 tipos: </a:t>
            </a:r>
          </a:p>
          <a:p>
            <a:pPr marL="800100" lvl="1" indent="-342900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Reparación de tipo no homóloga</a:t>
            </a:r>
          </a:p>
          <a:p>
            <a:pPr marL="800100" lvl="1" indent="-342900" defTabSz="731502">
              <a:lnSpc>
                <a:spcPct val="90000"/>
              </a:lnSpc>
              <a:spcBef>
                <a:spcPct val="20000"/>
              </a:spcBef>
              <a:spcAft>
                <a:spcPts val="960"/>
              </a:spcAft>
              <a:buClr>
                <a:srgbClr val="F5917B"/>
              </a:buClr>
              <a:buSzPct val="92000"/>
              <a:buFont typeface="Arial" panose="020B0604020202020204" pitchFamily="34" charset="0"/>
              <a:buChar char="•"/>
            </a:pPr>
            <a:r>
              <a:rPr lang="es-ES_tradnl" sz="2240" kern="1200" dirty="0">
                <a:solidFill>
                  <a:srgbClr val="44546A"/>
                </a:solidFill>
                <a:latin typeface="Calibri" panose="020F0502020204030204"/>
                <a:ea typeface="+mn-ea"/>
                <a:cs typeface="+mn-cs"/>
              </a:rPr>
              <a:t>Reparación por recombinación con cromosoma homólogo</a:t>
            </a:r>
          </a:p>
        </p:txBody>
      </p:sp>
    </p:spTree>
    <p:extLst>
      <p:ext uri="{BB962C8B-B14F-4D97-AF65-F5344CB8AC3E}">
        <p14:creationId xmlns:p14="http://schemas.microsoft.com/office/powerpoint/2010/main" val="1304622203"/>
      </p:ext>
    </p:extLst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28023FB-8A42-41E0-A671-E09A9D56B71C}"/>
              </a:ext>
            </a:extLst>
          </p:cNvPr>
          <p:cNvSpPr txBox="1">
            <a:spLocks noChangeArrowheads="1"/>
          </p:cNvSpPr>
          <p:nvPr/>
        </p:nvSpPr>
        <p:spPr>
          <a:xfrm>
            <a:off x="591673" y="261556"/>
            <a:ext cx="4294235" cy="1327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defRPr/>
            </a:pPr>
            <a:r>
              <a:rPr lang="en-US" sz="2500" b="1" dirty="0">
                <a:latin typeface="Bernard MT Condensed"/>
              </a:rPr>
              <a:t>REPARACIÓN DE DESAPAREAMIENTOS DE BASES  (MMR, MISMATCH REPAIR)</a:t>
            </a:r>
            <a:b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	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A80EC4A-68AE-4A89-B791-DA304015D197}"/>
              </a:ext>
            </a:extLst>
          </p:cNvPr>
          <p:cNvSpPr txBox="1">
            <a:spLocks noChangeArrowheads="1"/>
          </p:cNvSpPr>
          <p:nvPr/>
        </p:nvSpPr>
        <p:spPr>
          <a:xfrm>
            <a:off x="759573" y="1718265"/>
            <a:ext cx="4073765" cy="49538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Actúa solamente en cadenas nuevas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Comprende la reparación de bases mal apareadas pero inmediatamente después de la Replicación del ADN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Procariotas (GATC metiladas en A en cadenas molde)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Eucariotas (presentan nicks discontinuidad),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96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Cáncer de colon (mutación en genes de alguna proteína del sistema de reparación de desapareamientos)</a:t>
            </a:r>
            <a:endParaRPr kumimoji="0" lang="es-MX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54DFEDA-DDB8-4DC1-95BE-58F195B6B3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66172" r="-75" b="4095"/>
          <a:stretch/>
        </p:blipFill>
        <p:spPr bwMode="auto">
          <a:xfrm>
            <a:off x="4978143" y="261556"/>
            <a:ext cx="7213857" cy="6334888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160882350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801021DA-327D-4B27-B3B0-A21F15619BA5}"/>
              </a:ext>
            </a:extLst>
          </p:cNvPr>
          <p:cNvSpPr txBox="1">
            <a:spLocks noChangeArrowheads="1"/>
          </p:cNvSpPr>
          <p:nvPr/>
        </p:nvSpPr>
        <p:spPr>
          <a:xfrm>
            <a:off x="579109" y="149087"/>
            <a:ext cx="11122715" cy="739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s-MX" sz="2900" b="1">
                <a:latin typeface="Bernard MT Condensed" panose="02050806060905020404" pitchFamily="18" charset="77"/>
              </a:rPr>
              <a:t>Reparación por escisión  nucleotídica (NER, nucleotide excision repair)</a:t>
            </a:r>
            <a:endParaRPr lang="es-ES" sz="2900" b="1" dirty="0">
              <a:latin typeface="Bernard MT Condensed" panose="02050806060905020404" pitchFamily="18" charset="77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75BF99-ACC9-4E20-B6A1-CDE64EB930D3}"/>
              </a:ext>
            </a:extLst>
          </p:cNvPr>
          <p:cNvSpPr txBox="1">
            <a:spLocks noChangeArrowheads="1"/>
          </p:cNvSpPr>
          <p:nvPr/>
        </p:nvSpPr>
        <p:spPr>
          <a:xfrm>
            <a:off x="425815" y="1079743"/>
            <a:ext cx="6352672" cy="6921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251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Varios mecanismos de reparación, catalizados por diferentes grupos de enzimas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251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Tres etapas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ADN dañado es eliminado por una endonucleasa (corta enlaces fosfodiéster) dejando un hueco </a:t>
            </a:r>
          </a:p>
          <a:p>
            <a:pPr lvl="1">
              <a:buClrTx/>
              <a:defRPr/>
            </a:pP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Una ADN polimerasa de reparación une el nucleótido al extremo 3´ (función </a:t>
            </a:r>
            <a:r>
              <a:rPr kumimoji="0" lang="es-MX" sz="2400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autocorrectora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en muchas células</a:t>
            </a:r>
            <a:r>
              <a:rPr lang="es-MX" dirty="0">
                <a:latin typeface="Calibri" panose="020F0502020204030204"/>
              </a:rPr>
              <a:t> 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procariotas: </a:t>
            </a:r>
            <a:r>
              <a:rPr lang="es-MX" dirty="0">
                <a:latin typeface="Calibri" panose="020F0502020204030204"/>
              </a:rPr>
              <a:t>la ADN-polimerasa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(I y II)</a:t>
            </a:r>
            <a:r>
              <a:rPr lang="es-MX" dirty="0">
                <a:latin typeface="Calibri" panose="020F0502020204030204"/>
              </a:rPr>
              <a:t> </a:t>
            </a:r>
            <a:endParaRPr lang="es-MX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cs typeface="Calibri"/>
            </a:endParaRPr>
          </a:p>
          <a:p>
            <a:pPr lvl="1">
              <a:buClrTx/>
              <a:defRPr/>
            </a:pP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Eucariotas:</a:t>
            </a:r>
            <a:r>
              <a:rPr lang="es-MX" dirty="0">
                <a:latin typeface="Calibri" panose="020F0502020204030204"/>
              </a:rPr>
              <a:t> 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lang="es-MX" dirty="0">
                <a:latin typeface="Calibri" panose="020F0502020204030204"/>
              </a:rPr>
              <a:t>la ADN-polimerasa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β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δ</a:t>
            </a: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y </a:t>
            </a:r>
            <a:r>
              <a:rPr kumimoji="0" lang="el-GR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ε</a:t>
            </a:r>
            <a:endParaRPr kumimoji="0" lang="es-MX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Después de agregar el nucleótido, la ADN-ligasa forma el enlace fosfodiéster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E7C0491-A4BE-4207-A3D3-FF5B80DE73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33195" r="33200" b="3882"/>
          <a:stretch>
            <a:fillRect/>
          </a:stretch>
        </p:blipFill>
        <p:spPr bwMode="auto">
          <a:xfrm>
            <a:off x="6778487" y="888865"/>
            <a:ext cx="4615224" cy="53535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3 Título">
            <a:extLst>
              <a:ext uri="{FF2B5EF4-FFF2-40B4-BE49-F238E27FC236}">
                <a16:creationId xmlns:a16="http://schemas.microsoft.com/office/drawing/2014/main" id="{8119219E-2DA5-4D92-BE7A-DA1411E87E62}"/>
              </a:ext>
            </a:extLst>
          </p:cNvPr>
          <p:cNvSpPr txBox="1">
            <a:spLocks/>
          </p:cNvSpPr>
          <p:nvPr/>
        </p:nvSpPr>
        <p:spPr>
          <a:xfrm>
            <a:off x="1713135" y="6017832"/>
            <a:ext cx="9680576" cy="9644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buClrTx/>
              <a:buFontTx/>
              <a:buNone/>
            </a:pPr>
            <a:r>
              <a:rPr lang="es-MX" sz="2900" b="1" dirty="0">
                <a:solidFill>
                  <a:prstClr val="black"/>
                </a:solidFill>
                <a:latin typeface="Bernard MT Condensed" panose="02050806060905020404" pitchFamily="18" charset="77"/>
              </a:rPr>
              <a:t>REPARACIÓN NER EUCARIOTAS</a:t>
            </a:r>
          </a:p>
        </p:txBody>
      </p:sp>
    </p:spTree>
    <p:extLst>
      <p:ext uri="{BB962C8B-B14F-4D97-AF65-F5344CB8AC3E}">
        <p14:creationId xmlns:p14="http://schemas.microsoft.com/office/powerpoint/2010/main" val="7016262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Título">
            <a:extLst>
              <a:ext uri="{FF2B5EF4-FFF2-40B4-BE49-F238E27FC236}">
                <a16:creationId xmlns:a16="http://schemas.microsoft.com/office/drawing/2014/main" id="{17AE9385-1F58-4260-B933-BBA09D11968D}"/>
              </a:ext>
            </a:extLst>
          </p:cNvPr>
          <p:cNvSpPr txBox="1">
            <a:spLocks/>
          </p:cNvSpPr>
          <p:nvPr/>
        </p:nvSpPr>
        <p:spPr>
          <a:xfrm>
            <a:off x="648929" y="629266"/>
            <a:ext cx="4944152" cy="1622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2900" b="1">
                <a:latin typeface="Bernard MT Condensed" panose="02050806060905020404" pitchFamily="18" charset="77"/>
              </a:rPr>
              <a:t>REPARACIÓN NER EN PROCARIOTAS</a:t>
            </a:r>
            <a:endParaRPr lang="en-US" sz="2900" b="1" dirty="0">
              <a:latin typeface="Bernard MT Condensed" panose="02050806060905020404" pitchFamily="18" charset="77"/>
            </a:endParaRPr>
          </a:p>
        </p:txBody>
      </p:sp>
      <p:sp>
        <p:nvSpPr>
          <p:cNvPr id="3" name="2 Marcador de texto">
            <a:extLst>
              <a:ext uri="{FF2B5EF4-FFF2-40B4-BE49-F238E27FC236}">
                <a16:creationId xmlns:a16="http://schemas.microsoft.com/office/drawing/2014/main" id="{E438F5BA-20CA-4F0B-A625-C3D5997ECE84}"/>
              </a:ext>
            </a:extLst>
          </p:cNvPr>
          <p:cNvSpPr txBox="1">
            <a:spLocks/>
          </p:cNvSpPr>
          <p:nvPr/>
        </p:nvSpPr>
        <p:spPr>
          <a:xfrm>
            <a:off x="648930" y="2438400"/>
            <a:ext cx="4944151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Complejos enzimáticos reconocen estos sitos por la alteración en estructura de ADN y cortan varios nucleótidos antes y después del defecto eliminando la cadena defectuosa</a:t>
            </a:r>
          </a:p>
          <a:p>
            <a:pPr marL="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Polimerasa sintetiza nueva cadena ADN y ligasa liga el segmento a la cadena</a:t>
            </a:r>
            <a:endParaRPr kumimoji="0" lang="es-MX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AD1ECA5-CDC6-4547-AAF0-1EEA5702F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320192" y="153796"/>
            <a:ext cx="5529937" cy="6581139"/>
          </a:xfrm>
          <a:prstGeom prst="rect">
            <a:avLst/>
          </a:prstGeom>
          <a:noFill/>
          <a:effectLst/>
        </p:spPr>
      </p:pic>
    </p:spTree>
    <p:extLst>
      <p:ext uri="{BB962C8B-B14F-4D97-AF65-F5344CB8AC3E}">
        <p14:creationId xmlns:p14="http://schemas.microsoft.com/office/powerpoint/2010/main" val="320666806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A38FE62-B131-4D25-A312-046F7606ADFF}"/>
              </a:ext>
            </a:extLst>
          </p:cNvPr>
          <p:cNvSpPr txBox="1">
            <a:spLocks noChangeArrowheads="1"/>
          </p:cNvSpPr>
          <p:nvPr/>
        </p:nvSpPr>
        <p:spPr>
          <a:xfrm>
            <a:off x="581190" y="0"/>
            <a:ext cx="11029616" cy="1351733"/>
          </a:xfrm>
          <a:prstGeom prst="rect">
            <a:avLst/>
          </a:prstGeom>
        </p:spPr>
        <p:txBody>
          <a:bodyPr vert="horz" lIns="146304" tIns="73152" rIns="146304" bIns="73152" rtlCol="0" anchor="b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n-US" sz="3600" b="1">
                <a:latin typeface="Bernard MT Condensed" panose="02050806060905020404" pitchFamily="18" charset="77"/>
              </a:rPr>
              <a:t>REPARACIÓN POR ESCISIÓN DE BASE (BER, BASE EXCISION REPAIR)</a:t>
            </a:r>
            <a:br>
              <a:rPr lang="en-US" sz="3600" b="1">
                <a:latin typeface="Bernard MT Condensed" panose="02050806060905020404" pitchFamily="18" charset="77"/>
              </a:rPr>
            </a:br>
            <a:r>
              <a:rPr lang="en-US" sz="3600" b="1">
                <a:latin typeface="Bernard MT Condensed" panose="02050806060905020404" pitchFamily="18" charset="77"/>
              </a:rPr>
              <a:t>ALTERACIONES QUE SUFRE EL ADN</a:t>
            </a:r>
            <a:endParaRPr lang="en-US" sz="3600" b="1" dirty="0">
              <a:latin typeface="Bernard MT Condensed" panose="02050806060905020404" pitchFamily="18" charset="77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86EEC95-5391-46D3-8D55-5896E834AD21}"/>
              </a:ext>
            </a:extLst>
          </p:cNvPr>
          <p:cNvSpPr txBox="1">
            <a:spLocks noChangeArrowheads="1"/>
          </p:cNvSpPr>
          <p:nvPr/>
        </p:nvSpPr>
        <p:spPr>
          <a:xfrm>
            <a:off x="6561730" y="1463756"/>
            <a:ext cx="5275000" cy="53942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ES_tradnl" sz="3150" b="0" i="0" u="none" strike="noStrike" kern="1200" cap="none" spc="0" normalizeH="0" baseline="0" noProof="0">
                <a:ln>
                  <a:noFill/>
                </a:ln>
                <a:solidFill>
                  <a:srgbClr val="A5A5A5">
                    <a:lumMod val="50000"/>
                  </a:srgbClr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ADN sufre colisiones térmicas que alteran su estructura química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Despurinación (10</a:t>
            </a:r>
            <a:r>
              <a:rPr kumimoji="0" lang="es-ES_tradnl" sz="2400" b="0" i="0" u="none" strike="noStrike" kern="1200" cap="none" spc="0" normalizeH="0" baseline="30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</a:t>
            </a: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bases purínicas (AG) se pierden en segundos (Sitios apurínicos reconocidos por enzimas de reparación)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_tradnl" sz="24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Desaminación pérdida espontánea de un grupo amino de la citosina (C) convirtiéndola en uracilo (U)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ES_tradnl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5" descr="DNA 6-27">
            <a:extLst>
              <a:ext uri="{FF2B5EF4-FFF2-40B4-BE49-F238E27FC236}">
                <a16:creationId xmlns:a16="http://schemas.microsoft.com/office/drawing/2014/main" id="{66BA4960-D5D2-4470-867F-B14DA3E51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05" r="-726" b="3"/>
          <a:stretch/>
        </p:blipFill>
        <p:spPr>
          <a:xfrm>
            <a:off x="526662" y="1570394"/>
            <a:ext cx="6033166" cy="486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07070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060F29FE-71C5-468A-8A0F-838841F937ED}"/>
              </a:ext>
            </a:extLst>
          </p:cNvPr>
          <p:cNvSpPr txBox="1">
            <a:spLocks/>
          </p:cNvSpPr>
          <p:nvPr/>
        </p:nvSpPr>
        <p:spPr>
          <a:xfrm>
            <a:off x="752093" y="352632"/>
            <a:ext cx="11233245" cy="5349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r>
              <a:rPr lang="es-MX" sz="3200" b="1">
                <a:latin typeface="Bernard MT Condensed" panose="02050806060905020404" pitchFamily="18" charset="77"/>
              </a:rPr>
              <a:t>REPARACIÓN POR ESCISIÓN DE BASE (BER, BASE EXCISION REPAIR)</a:t>
            </a:r>
            <a:endParaRPr lang="es-ES" sz="3200" b="1" dirty="0">
              <a:latin typeface="Bernard MT Condensed" panose="02050806060905020404" pitchFamily="18" charset="77"/>
            </a:endParaRPr>
          </a:p>
        </p:txBody>
      </p:sp>
      <p:sp>
        <p:nvSpPr>
          <p:cNvPr id="3" name="6 Marcador de contenido">
            <a:extLst>
              <a:ext uri="{FF2B5EF4-FFF2-40B4-BE49-F238E27FC236}">
                <a16:creationId xmlns:a16="http://schemas.microsoft.com/office/drawing/2014/main" id="{FC2C1B84-382F-4BD3-AD25-2B204F6D6F2E}"/>
              </a:ext>
            </a:extLst>
          </p:cNvPr>
          <p:cNvSpPr txBox="1">
            <a:spLocks/>
          </p:cNvSpPr>
          <p:nvPr/>
        </p:nvSpPr>
        <p:spPr>
          <a:xfrm>
            <a:off x="5192550" y="960363"/>
            <a:ext cx="6122987" cy="48402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DNA glicosilasa: </a:t>
            </a:r>
            <a:r>
              <a:rPr kumimoji="0" lang="es-ES" sz="28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elimina base nitrogenada (uracilo)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Endonucleasa AP </a:t>
            </a:r>
            <a:r>
              <a:rPr kumimoji="0" lang="es-ES" sz="28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corta enlace fosfodiéster</a:t>
            </a:r>
            <a:endParaRPr kumimoji="0" lang="es-ES" sz="288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Polimerasa </a:t>
            </a:r>
            <a:r>
              <a:rPr kumimoji="0" lang="el-GR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β</a:t>
            </a:r>
            <a:r>
              <a:rPr kumimoji="0" lang="es-ES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s-ES" sz="28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elimina nucleótido y coloca uno nuevo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2850" b="1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ADN ligasa III: </a:t>
            </a:r>
            <a:r>
              <a:rPr kumimoji="0" lang="es-ES" sz="285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forma enlace fosfodiéster</a:t>
            </a:r>
            <a:endParaRPr kumimoji="0" lang="es-ES" sz="288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karp6_fig_13_27">
            <a:extLst>
              <a:ext uri="{FF2B5EF4-FFF2-40B4-BE49-F238E27FC236}">
                <a16:creationId xmlns:a16="http://schemas.microsoft.com/office/drawing/2014/main" id="{475B2302-D7E1-4690-B4EC-F9E1D7450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3354" y="755560"/>
            <a:ext cx="4502133" cy="610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" descr="karp6_fig_13_28">
            <a:extLst>
              <a:ext uri="{FF2B5EF4-FFF2-40B4-BE49-F238E27FC236}">
                <a16:creationId xmlns:a16="http://schemas.microsoft.com/office/drawing/2014/main" id="{C3803FDC-CAE0-4207-849F-3FB9DF34E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02057" y="5420591"/>
            <a:ext cx="7083281" cy="1092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5381115"/>
      </p:ext>
    </p:extLst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descr="What happens when your DNA is damaged? - Monica Menesini">
            <a:hlinkClick r:id="" action="ppaction://media"/>
            <a:extLst>
              <a:ext uri="{FF2B5EF4-FFF2-40B4-BE49-F238E27FC236}">
                <a16:creationId xmlns:a16="http://schemas.microsoft.com/office/drawing/2014/main" id="{D4760B56-C9DD-4E3B-B069-E6C7E0CB61C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06854" y="327633"/>
            <a:ext cx="10978291" cy="6202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2536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E69F28E6-E7C6-48D8-8810-B3226A799590}"/>
              </a:ext>
            </a:extLst>
          </p:cNvPr>
          <p:cNvSpPr txBox="1">
            <a:spLocks/>
          </p:cNvSpPr>
          <p:nvPr/>
        </p:nvSpPr>
        <p:spPr>
          <a:xfrm>
            <a:off x="731520" y="1115568"/>
            <a:ext cx="3364992" cy="2843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REPARACIÓN DE RUPTURAS BICATENARIAS  DE TIPO NO HOMÓLOGO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B8EC10-170B-4F99-8003-A3EB54A92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21994" y="450220"/>
            <a:ext cx="7203662" cy="601615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26562222"/>
      </p:ext>
    </p:extLst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descr="Non-homologous end joining">
            <a:hlinkClick r:id="" action="ppaction://media"/>
            <a:extLst>
              <a:ext uri="{FF2B5EF4-FFF2-40B4-BE49-F238E27FC236}">
                <a16:creationId xmlns:a16="http://schemas.microsoft.com/office/drawing/2014/main" id="{68DF74B8-2400-40D7-A4BF-A8C0E6659F1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869878" y="398131"/>
            <a:ext cx="10728739" cy="606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49101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4 Título">
            <a:extLst>
              <a:ext uri="{FF2B5EF4-FFF2-40B4-BE49-F238E27FC236}">
                <a16:creationId xmlns:a16="http://schemas.microsoft.com/office/drawing/2014/main" id="{7CD74475-915D-4900-9048-F79EFCBE0322}"/>
              </a:ext>
            </a:extLst>
          </p:cNvPr>
          <p:cNvSpPr txBox="1">
            <a:spLocks/>
          </p:cNvSpPr>
          <p:nvPr/>
        </p:nvSpPr>
        <p:spPr>
          <a:xfrm>
            <a:off x="731520" y="1115568"/>
            <a:ext cx="3364992" cy="2843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5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REPARACIÓN POR RECOMBINACIÓN DE CROMOSOMAS HOMÓLOGOS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59F539-F383-44FA-BBB5-077B3155D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521994" y="293376"/>
            <a:ext cx="7578164" cy="611440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92618600"/>
      </p:ext>
    </p:extLst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s multimedia en línea 1" descr="Homology-dependent double strand break repair">
            <a:hlinkClick r:id="" action="ppaction://media"/>
            <a:extLst>
              <a:ext uri="{FF2B5EF4-FFF2-40B4-BE49-F238E27FC236}">
                <a16:creationId xmlns:a16="http://schemas.microsoft.com/office/drawing/2014/main" id="{2EB300BB-A683-42CF-8E77-380A07D70EE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671995" y="364437"/>
            <a:ext cx="10848009" cy="61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2053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87B0C0E6-424A-4945-9748-5EED90833F13}"/>
              </a:ext>
            </a:extLst>
          </p:cNvPr>
          <p:cNvSpPr txBox="1">
            <a:spLocks noChangeArrowheads="1"/>
          </p:cNvSpPr>
          <p:nvPr/>
        </p:nvSpPr>
        <p:spPr>
          <a:xfrm>
            <a:off x="1064108" y="417890"/>
            <a:ext cx="9883098" cy="19366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251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Evolución</a:t>
            </a:r>
          </a:p>
          <a:p>
            <a:pPr marL="685800" marR="0" lvl="1" indent="-228600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26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98% Identidad Chimpancé y Humanos después de 5 millones de años</a:t>
            </a:r>
          </a:p>
          <a:p>
            <a:pPr marL="685800" marR="0" lvl="1" indent="-228600" algn="l" defTabSz="914400" rtl="0" eaLnBrk="1" fontAlgn="auto" latinLnBrk="0" hangingPunct="1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2026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Humanos y ballenas presentan cromosomas similares  y proteínas casi idénticas</a:t>
            </a:r>
            <a:endParaRPr kumimoji="0" lang="es-ES" sz="2026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6" descr="DNA FIG 6-31">
            <a:extLst>
              <a:ext uri="{FF2B5EF4-FFF2-40B4-BE49-F238E27FC236}">
                <a16:creationId xmlns:a16="http://schemas.microsoft.com/office/drawing/2014/main" id="{9248A3BC-17FF-4A7C-AFAA-5E13345AF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027938" y="1815272"/>
            <a:ext cx="8919267" cy="4610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4378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1 Título">
            <a:extLst>
              <a:ext uri="{FF2B5EF4-FFF2-40B4-BE49-F238E27FC236}">
                <a16:creationId xmlns:a16="http://schemas.microsoft.com/office/drawing/2014/main" id="{00AB9109-9151-4F3D-9B8A-54F1BEBCB1F1}"/>
              </a:ext>
            </a:extLst>
          </p:cNvPr>
          <p:cNvSpPr txBox="1">
            <a:spLocks/>
          </p:cNvSpPr>
          <p:nvPr/>
        </p:nvSpPr>
        <p:spPr>
          <a:xfrm>
            <a:off x="731520" y="1115568"/>
            <a:ext cx="3364992" cy="2843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5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MEDICAMENTOS QUE AFECTAN MATERIAL GENÉTICO</a:t>
            </a:r>
          </a:p>
        </p:txBody>
      </p:sp>
      <p:graphicFrame>
        <p:nvGraphicFramePr>
          <p:cNvPr id="4" name="4 Marcador de contenido">
            <a:extLst>
              <a:ext uri="{FF2B5EF4-FFF2-40B4-BE49-F238E27FC236}">
                <a16:creationId xmlns:a16="http://schemas.microsoft.com/office/drawing/2014/main" id="{08265B24-6A5D-44C6-85D4-DCD0E75620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0195544"/>
              </p:ext>
            </p:extLst>
          </p:nvPr>
        </p:nvGraphicFramePr>
        <p:xfrm>
          <a:off x="3945836" y="458920"/>
          <a:ext cx="7779821" cy="5940156"/>
        </p:xfrm>
        <a:graphic>
          <a:graphicData uri="http://schemas.openxmlformats.org/drawingml/2006/table">
            <a:tbl>
              <a:tblPr firstRow="1" bandRow="1"/>
              <a:tblGrid>
                <a:gridCol w="1846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1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9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328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98282">
                <a:tc gridSpan="5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800" u="none" strike="noStrike" dirty="0"/>
                        <a:t>Quinolonas</a:t>
                      </a:r>
                      <a:endParaRPr lang="es-MX" sz="28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Rockwell Extra Bold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572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Ciprofloxacina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Cipro</a:t>
                      </a:r>
                      <a:r>
                        <a:rPr lang="es-MX" sz="1600" noProof="0" dirty="0"/>
                        <a:t>, </a:t>
                      </a:r>
                      <a:r>
                        <a:rPr lang="es-MX" sz="1600" u="none" strike="noStrike" noProof="0" dirty="0"/>
                        <a:t>Ciproxin</a:t>
                      </a:r>
                      <a:r>
                        <a:rPr lang="es-MX" sz="1600" noProof="0" dirty="0"/>
                        <a:t>, Ciprobay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rowSpan="9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90488" indent="0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noProof="0" dirty="0"/>
                        <a:t>Infecciones del tracto urinario, </a:t>
                      </a:r>
                      <a:r>
                        <a:rPr lang="es-MX" sz="1600" u="none" strike="noStrike" noProof="0" dirty="0"/>
                        <a:t>prostatitis</a:t>
                      </a:r>
                      <a:r>
                        <a:rPr lang="es-MX" sz="1600" u="none" strike="noStrike" baseline="0" noProof="0" dirty="0"/>
                        <a:t> </a:t>
                      </a:r>
                      <a:r>
                        <a:rPr lang="es-MX" sz="1600" noProof="0" dirty="0"/>
                        <a:t>bacteriana, </a:t>
                      </a:r>
                      <a:r>
                        <a:rPr lang="es-MX" sz="1600" u="none" strike="noStrike" noProof="0" dirty="0"/>
                        <a:t>neumonía</a:t>
                      </a:r>
                      <a:r>
                        <a:rPr lang="es-MX" sz="1600" u="none" strike="noStrike" baseline="0" noProof="0" dirty="0"/>
                        <a:t> </a:t>
                      </a:r>
                      <a:r>
                        <a:rPr lang="es-MX" sz="1600" u="none" strike="noStrike" noProof="0" dirty="0"/>
                        <a:t>adquirida en la comunidad,</a:t>
                      </a:r>
                      <a:r>
                        <a:rPr lang="es-MX" sz="1600" noProof="0" dirty="0"/>
                        <a:t> </a:t>
                      </a:r>
                      <a:r>
                        <a:rPr lang="es-MX" sz="1600" u="none" strike="noStrike" noProof="0" dirty="0"/>
                        <a:t>diarrea</a:t>
                      </a:r>
                      <a:r>
                        <a:rPr lang="es-MX" sz="1600" noProof="0" dirty="0"/>
                        <a:t> bacteriana, infecciones por </a:t>
                      </a:r>
                      <a:r>
                        <a:rPr lang="es-MX" sz="1600" u="none" strike="noStrike" noProof="0" dirty="0"/>
                        <a:t>micoplasma</a:t>
                      </a:r>
                      <a:r>
                        <a:rPr lang="es-MX" sz="1600" u="none" strike="noStrike" baseline="0" noProof="0" dirty="0"/>
                        <a:t>  y </a:t>
                      </a:r>
                      <a:r>
                        <a:rPr lang="es-MX" sz="1600" u="none" strike="noStrike" noProof="0" dirty="0"/>
                        <a:t>gonorrea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olonna MT" pitchFamily="82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rowSpan="9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noProof="0" dirty="0"/>
                        <a:t>Náusea 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noProof="0" dirty="0"/>
                        <a:t>(raro)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MX" sz="1600" u="none" strike="noStrike" noProof="0" dirty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s-MX" sz="1600" u="none" strike="noStrike" noProof="0" dirty="0"/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Tendinosis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noProof="0" dirty="0"/>
                        <a:t>(raro)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olonna MT" pitchFamily="82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rowSpan="9"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marL="90488" indent="0"/>
                      <a:r>
                        <a:rPr kumimoji="0" lang="es-MX" sz="1600" kern="1200" baseline="0" noProof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0" lang="es-MX" sz="1400" kern="1200" baseline="0" noProof="0" dirty="0">
                          <a:solidFill>
                            <a:schemeClr val="tx1"/>
                          </a:solidFill>
                        </a:rPr>
                        <a:t>Las quinolonas son antibióticos cuyo blanco primario son la </a:t>
                      </a:r>
                      <a:r>
                        <a:rPr kumimoji="0" lang="es-MX" sz="1400" b="1" kern="1200" baseline="0" noProof="0" dirty="0">
                          <a:solidFill>
                            <a:schemeClr val="tx1"/>
                          </a:solidFill>
                        </a:rPr>
                        <a:t>ADN girasa </a:t>
                      </a:r>
                      <a:r>
                        <a:rPr kumimoji="0" lang="es-MX" sz="1400" kern="1200" baseline="0" noProof="0" dirty="0">
                          <a:solidFill>
                            <a:schemeClr val="tx1"/>
                          </a:solidFill>
                        </a:rPr>
                        <a:t>en organismos </a:t>
                      </a:r>
                      <a:r>
                        <a:rPr kumimoji="0" lang="es-MX" sz="1400" b="1" kern="1200" baseline="0" noProof="0" dirty="0">
                          <a:solidFill>
                            <a:schemeClr val="tx1"/>
                          </a:solidFill>
                        </a:rPr>
                        <a:t>Gram negativos </a:t>
                      </a:r>
                      <a:r>
                        <a:rPr kumimoji="0" lang="es-MX" sz="1400" kern="1200" baseline="0" noProof="0" dirty="0">
                          <a:solidFill>
                            <a:schemeClr val="tx1"/>
                          </a:solidFill>
                        </a:rPr>
                        <a:t>(mantener un nivel de enrrollamiento del ADN que facilite el movimiento hacia los complejos que se forman en la replicación y la Transcripción) y </a:t>
                      </a:r>
                      <a:r>
                        <a:rPr kumimoji="0" lang="es-MX" sz="1400" b="1" kern="1200" baseline="0" noProof="0" dirty="0">
                          <a:solidFill>
                            <a:schemeClr val="tx1"/>
                          </a:solidFill>
                        </a:rPr>
                        <a:t>la topoisomerasa</a:t>
                      </a:r>
                    </a:p>
                    <a:p>
                      <a:pPr marL="90488" indent="0"/>
                      <a:r>
                        <a:rPr kumimoji="0" lang="es-MX" sz="1400" b="1" kern="1200" baseline="0" noProof="0" dirty="0">
                          <a:solidFill>
                            <a:schemeClr val="tx1"/>
                          </a:solidFill>
                        </a:rPr>
                        <a:t>IV</a:t>
                      </a:r>
                      <a:r>
                        <a:rPr kumimoji="0" lang="es-MX" sz="1400" kern="1200" baseline="0" noProof="0" dirty="0">
                          <a:solidFill>
                            <a:schemeClr val="tx1"/>
                          </a:solidFill>
                        </a:rPr>
                        <a:t> en </a:t>
                      </a:r>
                      <a:r>
                        <a:rPr kumimoji="0" lang="es-MX" sz="1400" b="1" kern="1200" baseline="0" noProof="0" dirty="0">
                          <a:solidFill>
                            <a:schemeClr val="tx1"/>
                          </a:solidFill>
                        </a:rPr>
                        <a:t>organismos Gram positivos </a:t>
                      </a:r>
                      <a:r>
                        <a:rPr kumimoji="0" lang="es-MX" sz="1400" kern="1200" baseline="0" noProof="0" dirty="0">
                          <a:solidFill>
                            <a:schemeClr val="tx1"/>
                          </a:solidFill>
                        </a:rPr>
                        <a:t>(separa las hebras de ADN tras cada replicación y relaja cadena de ADN)</a:t>
                      </a:r>
                      <a:endParaRPr lang="es-MX" sz="14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olonna MT" pitchFamily="82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Enoxacina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</a:pP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Gatifloxacina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Tequin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Levofloxacina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Tavanic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noProof="0" dirty="0"/>
                        <a:t>Lomefloxacina</a:t>
                      </a: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</a:pPr>
                      <a:endParaRPr lang="es-MX" sz="1600" b="1" noProof="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Moxifloxacina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Avelox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Norfloxacina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dirty="0"/>
                        <a:t>Noroxin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Ofloxacina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Ocuflox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01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Trovafloxacina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1600" u="none" strike="noStrike" dirty="0"/>
                        <a:t>Trovan</a:t>
                      </a:r>
                      <a:endParaRPr lang="es-MX" sz="1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Elephant" pitchFamily="18" charset="0"/>
                        <a:ea typeface="Calibri"/>
                        <a:cs typeface="Times New Roman"/>
                      </a:endParaRPr>
                    </a:p>
                  </a:txBody>
                  <a:tcPr marL="10015" marR="10015" marT="10494" marB="104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Text" lastClr="000000">
                        <a:tint val="20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9589409"/>
      </p:ext>
    </p:extLst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>
            <a:extLst>
              <a:ext uri="{FF2B5EF4-FFF2-40B4-BE49-F238E27FC236}">
                <a16:creationId xmlns:a16="http://schemas.microsoft.com/office/drawing/2014/main" id="{5FA3FE61-D574-4744-BA44-6D6971A4E094}"/>
              </a:ext>
            </a:extLst>
          </p:cNvPr>
          <p:cNvSpPr txBox="1">
            <a:spLocks/>
          </p:cNvSpPr>
          <p:nvPr/>
        </p:nvSpPr>
        <p:spPr>
          <a:xfrm>
            <a:off x="723665" y="484720"/>
            <a:ext cx="6594189" cy="16252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3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MEDICAMENTOS QUE AFECTAN MATERIAL GENÉTICO</a:t>
            </a:r>
            <a:br>
              <a:rPr kumimoji="0" lang="es-ES" sz="3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ES" sz="37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imidazoles</a:t>
            </a:r>
          </a:p>
        </p:txBody>
      </p:sp>
      <p:sp>
        <p:nvSpPr>
          <p:cNvPr id="3" name="3 Marcador de contenido">
            <a:extLst>
              <a:ext uri="{FF2B5EF4-FFF2-40B4-BE49-F238E27FC236}">
                <a16:creationId xmlns:a16="http://schemas.microsoft.com/office/drawing/2014/main" id="{9B9F2004-FBF1-4A44-8264-C2F4A321389F}"/>
              </a:ext>
            </a:extLst>
          </p:cNvPr>
          <p:cNvSpPr txBox="1">
            <a:spLocks/>
          </p:cNvSpPr>
          <p:nvPr/>
        </p:nvSpPr>
        <p:spPr>
          <a:xfrm>
            <a:off x="8029319" y="917725"/>
            <a:ext cx="3424739" cy="4852362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s-MX" sz="2000" i="1" dirty="0">
                <a:latin typeface="Century" pitchFamily="18" charset="0"/>
              </a:rPr>
              <a:t>El metronidazol es un quimioterápico sintético, con actividad primariamente bactericida, de espectro restringido a bacterias anaerobias (y ciertos protozoos).  </a:t>
            </a:r>
          </a:p>
          <a:p>
            <a:pPr>
              <a:buClrTx/>
            </a:pPr>
            <a:r>
              <a:rPr lang="es-MX" sz="2000" i="1" dirty="0">
                <a:latin typeface="Century" pitchFamily="18" charset="0"/>
              </a:rPr>
              <a:t>El MTZ es inactivo hasta que se reduce en organismo y daña a las células al formar aductos con las proteínas y los ácidos nucleicos</a:t>
            </a:r>
            <a:endParaRPr lang="es-ES" sz="2000" i="1" dirty="0">
              <a:latin typeface="Century" pitchFamily="18" charset="0"/>
            </a:endParaRPr>
          </a:p>
        </p:txBody>
      </p:sp>
      <p:graphicFrame>
        <p:nvGraphicFramePr>
          <p:cNvPr id="4" name="10 Tabla">
            <a:extLst>
              <a:ext uri="{FF2B5EF4-FFF2-40B4-BE49-F238E27FC236}">
                <a16:creationId xmlns:a16="http://schemas.microsoft.com/office/drawing/2014/main" id="{928BE29E-BDA2-4EB1-9442-66DCD798E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211774"/>
              </p:ext>
            </p:extLst>
          </p:nvPr>
        </p:nvGraphicFramePr>
        <p:xfrm>
          <a:off x="737942" y="3343906"/>
          <a:ext cx="6579912" cy="2357444"/>
        </p:xfrm>
        <a:graphic>
          <a:graphicData uri="http://schemas.openxmlformats.org/drawingml/2006/table">
            <a:tbl>
              <a:tblPr/>
              <a:tblGrid>
                <a:gridCol w="1737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9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57444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1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Metronidazol</a:t>
                      </a:r>
                      <a:endParaRPr lang="es-MX" sz="21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Rockwell Extra Bold" pitchFamily="18" charset="0"/>
                        <a:ea typeface="Calibri"/>
                        <a:cs typeface="Times New Roman"/>
                      </a:endParaRPr>
                    </a:p>
                  </a:txBody>
                  <a:tcPr marL="24005" marR="24005" marT="24005" marB="24005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100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Flagyl</a:t>
                      </a:r>
                      <a:r>
                        <a:rPr lang="es-MX" sz="21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</a:t>
                      </a:r>
                      <a:endParaRPr lang="es-MX" sz="2100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Rockwell Extra Bold" pitchFamily="18" charset="0"/>
                        <a:ea typeface="Calibri"/>
                        <a:cs typeface="Times New Roman"/>
                      </a:endParaRPr>
                    </a:p>
                  </a:txBody>
                  <a:tcPr marL="24005" marR="24005" marT="24005" marB="24005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600" b="1" u="none" strike="noStrike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Giardia lamblia, Amiba y Anaerobios</a:t>
                      </a:r>
                      <a:endParaRPr lang="es-MX" sz="2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olonna MT" pitchFamily="82" charset="0"/>
                        <a:ea typeface="Calibri"/>
                        <a:cs typeface="Times New Roman"/>
                      </a:endParaRPr>
                    </a:p>
                  </a:txBody>
                  <a:tcPr marL="24005" marR="24005" marT="24005" marB="24005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 panose="020F0502020204030204"/>
                          <a:sym typeface="Arial"/>
                        </a:defRPr>
                      </a:lvl9pPr>
                    </a:lstStyle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MX" sz="2600" b="1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Orina rojiza, malestar bucal</a:t>
                      </a:r>
                      <a:r>
                        <a:rPr lang="es-MX" sz="2600" b="1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 y efecto antabús</a:t>
                      </a:r>
                      <a:endParaRPr lang="es-MX" sz="2600" b="1" dirty="0">
                        <a:solidFill>
                          <a:schemeClr val="accent2">
                            <a:lumMod val="50000"/>
                          </a:schemeClr>
                        </a:solidFill>
                        <a:latin typeface="Colonna MT" pitchFamily="82" charset="0"/>
                        <a:ea typeface="Calibri"/>
                        <a:cs typeface="Times New Roman"/>
                      </a:endParaRPr>
                    </a:p>
                  </a:txBody>
                  <a:tcPr marL="24005" marR="24005" marT="24005" marB="24005" anchor="ctr">
                    <a:lnL>
                      <a:noFill/>
                    </a:lnL>
                    <a:lnR>
                      <a:noFill/>
                    </a:lnR>
                    <a:lnT w="25400" cmpd="sng">
                      <a:solidFill>
                        <a:sysClr val="windowText" lastClr="000000"/>
                      </a:solidFill>
                    </a:lnT>
                    <a:lnB w="254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3207209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703d1ca-5c65-4f5c-bbf7-3439dada1878">
      <Terms xmlns="http://schemas.microsoft.com/office/infopath/2007/PartnerControls"/>
    </lcf76f155ced4ddcb4097134ff3c332f>
    <TaxCatchAll xmlns="be7ab913-f55e-41a3-93fb-464997bfd80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096FC79AEBDB2419593BD9410D2189E" ma:contentTypeVersion="11" ma:contentTypeDescription="Crear nuevo documento." ma:contentTypeScope="" ma:versionID="c4ab87cf445456b9c561d5f30ada67c6">
  <xsd:schema xmlns:xsd="http://www.w3.org/2001/XMLSchema" xmlns:xs="http://www.w3.org/2001/XMLSchema" xmlns:p="http://schemas.microsoft.com/office/2006/metadata/properties" xmlns:ns2="8703d1ca-5c65-4f5c-bbf7-3439dada1878" xmlns:ns3="be7ab913-f55e-41a3-93fb-464997bfd804" targetNamespace="http://schemas.microsoft.com/office/2006/metadata/properties" ma:root="true" ma:fieldsID="03e886533ed7bdfc224f72de676a5956" ns2:_="" ns3:_="">
    <xsd:import namespace="8703d1ca-5c65-4f5c-bbf7-3439dada1878"/>
    <xsd:import namespace="be7ab913-f55e-41a3-93fb-464997bfd8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3d1ca-5c65-4f5c-bbf7-3439dada18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99375edc-ecdf-4f5c-9a1f-fe3446fc79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7ab913-f55e-41a3-93fb-464997bfd80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7c425e2d-dba2-450f-a143-a909ab725420}" ma:internalName="TaxCatchAll" ma:showField="CatchAllData" ma:web="be7ab913-f55e-41a3-93fb-464997bfd8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751EE72-5693-483E-8334-5A35FDA4D39E}">
  <ds:schemaRefs>
    <ds:schemaRef ds:uri="http://schemas.microsoft.com/office/2006/metadata/properties"/>
    <ds:schemaRef ds:uri="http://schemas.microsoft.com/office/infopath/2007/PartnerControls"/>
    <ds:schemaRef ds:uri="8703d1ca-5c65-4f5c-bbf7-3439dada1878"/>
    <ds:schemaRef ds:uri="be7ab913-f55e-41a3-93fb-464997bfd804"/>
  </ds:schemaRefs>
</ds:datastoreItem>
</file>

<file path=customXml/itemProps2.xml><?xml version="1.0" encoding="utf-8"?>
<ds:datastoreItem xmlns:ds="http://schemas.openxmlformats.org/officeDocument/2006/customXml" ds:itemID="{C4BC472E-31CB-4FB4-A30B-A0283CA467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03d1ca-5c65-4f5c-bbf7-3439dada1878"/>
    <ds:schemaRef ds:uri="be7ab913-f55e-41a3-93fb-464997bfd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423FFAE-73CA-44D8-84D0-E7D08B7CFA0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1435</Words>
  <Application>Microsoft Office PowerPoint</Application>
  <PresentationFormat>Panorámica</PresentationFormat>
  <Paragraphs>197</Paragraphs>
  <Slides>35</Slides>
  <Notes>3</Notes>
  <HiddenSlides>0</HiddenSlides>
  <MMClips>4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36" baseType="lpstr">
      <vt:lpstr>Tema de Office</vt:lpstr>
      <vt:lpstr>Presentación de PowerPoint</vt:lpstr>
      <vt:lpstr>DAÑO Y REPARACIÓN DEL ADN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Microsoft Office</dc:creator>
  <cp:lastModifiedBy>DED</cp:lastModifiedBy>
  <cp:revision>32</cp:revision>
  <dcterms:created xsi:type="dcterms:W3CDTF">2016-04-05T22:22:15Z</dcterms:created>
  <dcterms:modified xsi:type="dcterms:W3CDTF">2022-08-02T15:53:07Z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0x010100C096FC79AEBDB2419593BD9410D2189E</vt:lpwstr>
  </property>
  <property fmtid="{D5CDD505-2E9C-101B-9397-08002B2CF9AE}" pid="3" name="MediaServiceImageTags">
    <vt:lpwstr/>
  </property>
</Properties>
</file>