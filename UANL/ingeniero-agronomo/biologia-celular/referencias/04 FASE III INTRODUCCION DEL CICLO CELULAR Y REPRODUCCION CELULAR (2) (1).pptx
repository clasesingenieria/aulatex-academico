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1" ContentType="image/png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7" r:id="rId4"/>
  </p:sldMasterIdLst>
  <p:notesMasterIdLst>
    <p:notesMasterId r:id="rId40"/>
  </p:notesMasterIdLst>
  <p:sldIdLst>
    <p:sldId id="257" r:id="rId5"/>
    <p:sldId id="305" r:id="rId6"/>
    <p:sldId id="306" r:id="rId7"/>
    <p:sldId id="258" r:id="rId8"/>
    <p:sldId id="265" r:id="rId9"/>
    <p:sldId id="307" r:id="rId10"/>
    <p:sldId id="259" r:id="rId11"/>
    <p:sldId id="300" r:id="rId12"/>
    <p:sldId id="308" r:id="rId13"/>
    <p:sldId id="267" r:id="rId14"/>
    <p:sldId id="268" r:id="rId15"/>
    <p:sldId id="302" r:id="rId16"/>
    <p:sldId id="301" r:id="rId17"/>
    <p:sldId id="271" r:id="rId18"/>
    <p:sldId id="272" r:id="rId19"/>
    <p:sldId id="273" r:id="rId20"/>
    <p:sldId id="326" r:id="rId21"/>
    <p:sldId id="309" r:id="rId22"/>
    <p:sldId id="269" r:id="rId23"/>
    <p:sldId id="304" r:id="rId24"/>
    <p:sldId id="270" r:id="rId25"/>
    <p:sldId id="310" r:id="rId26"/>
    <p:sldId id="274" r:id="rId27"/>
    <p:sldId id="312" r:id="rId28"/>
    <p:sldId id="313" r:id="rId29"/>
    <p:sldId id="275" r:id="rId30"/>
    <p:sldId id="321" r:id="rId31"/>
    <p:sldId id="286" r:id="rId32"/>
    <p:sldId id="277" r:id="rId33"/>
    <p:sldId id="314" r:id="rId34"/>
    <p:sldId id="278" r:id="rId35"/>
    <p:sldId id="315" r:id="rId36"/>
    <p:sldId id="279" r:id="rId37"/>
    <p:sldId id="280" r:id="rId38"/>
    <p:sldId id="281" r:id="rId39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AFFB6E-CF85-45EF-922B-E3DFD71EAD4F}" v="2" dt="2022-06-26T00:46:26.554"/>
    <p1510:client id="{41B0207E-14F7-4637-8776-8E92510EC9D9}" v="8" dt="2022-06-26T00:45:19.1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32"/>
    <p:restoredTop sz="96327"/>
  </p:normalViewPr>
  <p:slideViewPr>
    <p:cSldViewPr snapToGrid="0" snapToObjects="1">
      <p:cViewPr varScale="1">
        <p:scale>
          <a:sx n="114" d="100"/>
          <a:sy n="114" d="100"/>
        </p:scale>
        <p:origin x="22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BILINA CEDILLO ROSALES" userId="S::sibilina.cedillors@uanl.edu.mx::9e59ad33-eabb-4e50-a90f-9a88506eb433" providerId="AD" clId="Web-{DC1A1785-C370-458A-8492-0EA84AD0F73F}"/>
    <pc:docChg chg="addSld modSld">
      <pc:chgData name="SIBILINA CEDILLO ROSALES" userId="S::sibilina.cedillors@uanl.edu.mx::9e59ad33-eabb-4e50-a90f-9a88506eb433" providerId="AD" clId="Web-{DC1A1785-C370-458A-8492-0EA84AD0F73F}" dt="2021-09-23T17:51:23.855" v="84" actId="20577"/>
      <pc:docMkLst>
        <pc:docMk/>
      </pc:docMkLst>
      <pc:sldChg chg="modSp">
        <pc:chgData name="SIBILINA CEDILLO ROSALES" userId="S::sibilina.cedillors@uanl.edu.mx::9e59ad33-eabb-4e50-a90f-9a88506eb433" providerId="AD" clId="Web-{DC1A1785-C370-458A-8492-0EA84AD0F73F}" dt="2021-09-23T17:43:16.591" v="19" actId="20577"/>
        <pc:sldMkLst>
          <pc:docMk/>
          <pc:sldMk cId="0" sldId="259"/>
        </pc:sldMkLst>
        <pc:spChg chg="mod">
          <ac:chgData name="SIBILINA CEDILLO ROSALES" userId="S::sibilina.cedillors@uanl.edu.mx::9e59ad33-eabb-4e50-a90f-9a88506eb433" providerId="AD" clId="Web-{DC1A1785-C370-458A-8492-0EA84AD0F73F}" dt="2021-09-23T17:43:16.591" v="19" actId="20577"/>
          <ac:spMkLst>
            <pc:docMk/>
            <pc:sldMk cId="0" sldId="259"/>
            <ac:spMk id="5" creationId="{00000000-0000-0000-0000-000000000000}"/>
          </ac:spMkLst>
        </pc:spChg>
      </pc:sldChg>
      <pc:sldChg chg="modSp">
        <pc:chgData name="SIBILINA CEDILLO ROSALES" userId="S::sibilina.cedillors@uanl.edu.mx::9e59ad33-eabb-4e50-a90f-9a88506eb433" providerId="AD" clId="Web-{DC1A1785-C370-458A-8492-0EA84AD0F73F}" dt="2021-09-23T17:46:54.613" v="54" actId="20577"/>
        <pc:sldMkLst>
          <pc:docMk/>
          <pc:sldMk cId="0" sldId="269"/>
        </pc:sldMkLst>
        <pc:spChg chg="mod">
          <ac:chgData name="SIBILINA CEDILLO ROSALES" userId="S::sibilina.cedillors@uanl.edu.mx::9e59ad33-eabb-4e50-a90f-9a88506eb433" providerId="AD" clId="Web-{DC1A1785-C370-458A-8492-0EA84AD0F73F}" dt="2021-09-23T17:46:54.613" v="54" actId="20577"/>
          <ac:spMkLst>
            <pc:docMk/>
            <pc:sldMk cId="0" sldId="269"/>
            <ac:spMk id="10" creationId="{00000000-0000-0000-0000-000000000000}"/>
          </ac:spMkLst>
        </pc:spChg>
      </pc:sldChg>
      <pc:sldChg chg="modSp">
        <pc:chgData name="SIBILINA CEDILLO ROSALES" userId="S::sibilina.cedillors@uanl.edu.mx::9e59ad33-eabb-4e50-a90f-9a88506eb433" providerId="AD" clId="Web-{DC1A1785-C370-458A-8492-0EA84AD0F73F}" dt="2021-09-23T17:44:23.655" v="30" actId="20577"/>
        <pc:sldMkLst>
          <pc:docMk/>
          <pc:sldMk cId="0" sldId="271"/>
        </pc:sldMkLst>
        <pc:spChg chg="mod">
          <ac:chgData name="SIBILINA CEDILLO ROSALES" userId="S::sibilina.cedillors@uanl.edu.mx::9e59ad33-eabb-4e50-a90f-9a88506eb433" providerId="AD" clId="Web-{DC1A1785-C370-458A-8492-0EA84AD0F73F}" dt="2021-09-23T17:44:23.655" v="30" actId="20577"/>
          <ac:spMkLst>
            <pc:docMk/>
            <pc:sldMk cId="0" sldId="271"/>
            <ac:spMk id="5" creationId="{00000000-0000-0000-0000-000000000000}"/>
          </ac:spMkLst>
        </pc:spChg>
      </pc:sldChg>
      <pc:sldChg chg="modSp">
        <pc:chgData name="SIBILINA CEDILLO ROSALES" userId="S::sibilina.cedillors@uanl.edu.mx::9e59ad33-eabb-4e50-a90f-9a88506eb433" providerId="AD" clId="Web-{DC1A1785-C370-458A-8492-0EA84AD0F73F}" dt="2021-09-23T17:44:55.969" v="36" actId="20577"/>
        <pc:sldMkLst>
          <pc:docMk/>
          <pc:sldMk cId="0" sldId="272"/>
        </pc:sldMkLst>
        <pc:spChg chg="mod">
          <ac:chgData name="SIBILINA CEDILLO ROSALES" userId="S::sibilina.cedillors@uanl.edu.mx::9e59ad33-eabb-4e50-a90f-9a88506eb433" providerId="AD" clId="Web-{DC1A1785-C370-458A-8492-0EA84AD0F73F}" dt="2021-09-23T17:44:55.969" v="36" actId="20577"/>
          <ac:spMkLst>
            <pc:docMk/>
            <pc:sldMk cId="0" sldId="272"/>
            <ac:spMk id="5" creationId="{00000000-0000-0000-0000-000000000000}"/>
          </ac:spMkLst>
        </pc:spChg>
      </pc:sldChg>
      <pc:sldChg chg="modSp">
        <pc:chgData name="SIBILINA CEDILLO ROSALES" userId="S::sibilina.cedillors@uanl.edu.mx::9e59ad33-eabb-4e50-a90f-9a88506eb433" providerId="AD" clId="Web-{DC1A1785-C370-458A-8492-0EA84AD0F73F}" dt="2021-09-23T17:45:48.001" v="43"/>
        <pc:sldMkLst>
          <pc:docMk/>
          <pc:sldMk cId="0" sldId="273"/>
        </pc:sldMkLst>
        <pc:spChg chg="mod">
          <ac:chgData name="SIBILINA CEDILLO ROSALES" userId="S::sibilina.cedillors@uanl.edu.mx::9e59ad33-eabb-4e50-a90f-9a88506eb433" providerId="AD" clId="Web-{DC1A1785-C370-458A-8492-0EA84AD0F73F}" dt="2021-09-23T17:45:48.001" v="43"/>
          <ac:spMkLst>
            <pc:docMk/>
            <pc:sldMk cId="0" sldId="273"/>
            <ac:spMk id="5" creationId="{00000000-0000-0000-0000-000000000000}"/>
          </ac:spMkLst>
        </pc:spChg>
      </pc:sldChg>
      <pc:sldChg chg="modSp">
        <pc:chgData name="SIBILINA CEDILLO ROSALES" userId="S::sibilina.cedillors@uanl.edu.mx::9e59ad33-eabb-4e50-a90f-9a88506eb433" providerId="AD" clId="Web-{DC1A1785-C370-458A-8492-0EA84AD0F73F}" dt="2021-09-23T17:48:06.177" v="58" actId="20577"/>
        <pc:sldMkLst>
          <pc:docMk/>
          <pc:sldMk cId="0" sldId="279"/>
        </pc:sldMkLst>
        <pc:spChg chg="mod">
          <ac:chgData name="SIBILINA CEDILLO ROSALES" userId="S::sibilina.cedillors@uanl.edu.mx::9e59ad33-eabb-4e50-a90f-9a88506eb433" providerId="AD" clId="Web-{DC1A1785-C370-458A-8492-0EA84AD0F73F}" dt="2021-09-23T17:48:06.177" v="58" actId="20577"/>
          <ac:spMkLst>
            <pc:docMk/>
            <pc:sldMk cId="0" sldId="279"/>
            <ac:spMk id="5" creationId="{00000000-0000-0000-0000-000000000000}"/>
          </ac:spMkLst>
        </pc:spChg>
      </pc:sldChg>
      <pc:sldChg chg="modSp">
        <pc:chgData name="SIBILINA CEDILLO ROSALES" userId="S::sibilina.cedillors@uanl.edu.mx::9e59ad33-eabb-4e50-a90f-9a88506eb433" providerId="AD" clId="Web-{DC1A1785-C370-458A-8492-0EA84AD0F73F}" dt="2021-09-23T17:48:26.115" v="61" actId="20577"/>
        <pc:sldMkLst>
          <pc:docMk/>
          <pc:sldMk cId="0" sldId="280"/>
        </pc:sldMkLst>
        <pc:spChg chg="mod">
          <ac:chgData name="SIBILINA CEDILLO ROSALES" userId="S::sibilina.cedillors@uanl.edu.mx::9e59ad33-eabb-4e50-a90f-9a88506eb433" providerId="AD" clId="Web-{DC1A1785-C370-458A-8492-0EA84AD0F73F}" dt="2021-09-23T17:48:26.115" v="61" actId="20577"/>
          <ac:spMkLst>
            <pc:docMk/>
            <pc:sldMk cId="0" sldId="280"/>
            <ac:spMk id="5" creationId="{00000000-0000-0000-0000-000000000000}"/>
          </ac:spMkLst>
        </pc:spChg>
      </pc:sldChg>
      <pc:sldChg chg="modSp">
        <pc:chgData name="SIBILINA CEDILLO ROSALES" userId="S::sibilina.cedillors@uanl.edu.mx::9e59ad33-eabb-4e50-a90f-9a88506eb433" providerId="AD" clId="Web-{DC1A1785-C370-458A-8492-0EA84AD0F73F}" dt="2021-09-23T17:49:26.226" v="73" actId="20577"/>
        <pc:sldMkLst>
          <pc:docMk/>
          <pc:sldMk cId="0" sldId="281"/>
        </pc:sldMkLst>
        <pc:spChg chg="mod">
          <ac:chgData name="SIBILINA CEDILLO ROSALES" userId="S::sibilina.cedillors@uanl.edu.mx::9e59ad33-eabb-4e50-a90f-9a88506eb433" providerId="AD" clId="Web-{DC1A1785-C370-458A-8492-0EA84AD0F73F}" dt="2021-09-23T17:49:26.226" v="73" actId="20577"/>
          <ac:spMkLst>
            <pc:docMk/>
            <pc:sldMk cId="0" sldId="281"/>
            <ac:spMk id="5" creationId="{00000000-0000-0000-0000-000000000000}"/>
          </ac:spMkLst>
        </pc:spChg>
      </pc:sldChg>
      <pc:sldChg chg="modSp">
        <pc:chgData name="SIBILINA CEDILLO ROSALES" userId="S::sibilina.cedillors@uanl.edu.mx::9e59ad33-eabb-4e50-a90f-9a88506eb433" providerId="AD" clId="Web-{DC1A1785-C370-458A-8492-0EA84AD0F73F}" dt="2021-09-23T17:49:45.664" v="77" actId="20577"/>
        <pc:sldMkLst>
          <pc:docMk/>
          <pc:sldMk cId="0" sldId="282"/>
        </pc:sldMkLst>
        <pc:spChg chg="mod">
          <ac:chgData name="SIBILINA CEDILLO ROSALES" userId="S::sibilina.cedillors@uanl.edu.mx::9e59ad33-eabb-4e50-a90f-9a88506eb433" providerId="AD" clId="Web-{DC1A1785-C370-458A-8492-0EA84AD0F73F}" dt="2021-09-23T17:49:45.664" v="77" actId="20577"/>
          <ac:spMkLst>
            <pc:docMk/>
            <pc:sldMk cId="0" sldId="282"/>
            <ac:spMk id="5" creationId="{00000000-0000-0000-0000-000000000000}"/>
          </ac:spMkLst>
        </pc:spChg>
      </pc:sldChg>
      <pc:sldChg chg="modSp">
        <pc:chgData name="SIBILINA CEDILLO ROSALES" userId="S::sibilina.cedillors@uanl.edu.mx::9e59ad33-eabb-4e50-a90f-9a88506eb433" providerId="AD" clId="Web-{DC1A1785-C370-458A-8492-0EA84AD0F73F}" dt="2021-09-23T17:50:18.603" v="81" actId="20577"/>
        <pc:sldMkLst>
          <pc:docMk/>
          <pc:sldMk cId="0" sldId="285"/>
        </pc:sldMkLst>
        <pc:spChg chg="mod">
          <ac:chgData name="SIBILINA CEDILLO ROSALES" userId="S::sibilina.cedillors@uanl.edu.mx::9e59ad33-eabb-4e50-a90f-9a88506eb433" providerId="AD" clId="Web-{DC1A1785-C370-458A-8492-0EA84AD0F73F}" dt="2021-09-23T17:50:18.603" v="81" actId="20577"/>
          <ac:spMkLst>
            <pc:docMk/>
            <pc:sldMk cId="0" sldId="285"/>
            <ac:spMk id="5" creationId="{00000000-0000-0000-0000-000000000000}"/>
          </ac:spMkLst>
        </pc:spChg>
      </pc:sldChg>
      <pc:sldChg chg="modSp">
        <pc:chgData name="SIBILINA CEDILLO ROSALES" userId="S::sibilina.cedillors@uanl.edu.mx::9e59ad33-eabb-4e50-a90f-9a88506eb433" providerId="AD" clId="Web-{DC1A1785-C370-458A-8492-0EA84AD0F73F}" dt="2021-09-23T17:51:23.855" v="84" actId="20577"/>
        <pc:sldMkLst>
          <pc:docMk/>
          <pc:sldMk cId="0" sldId="292"/>
        </pc:sldMkLst>
        <pc:spChg chg="mod">
          <ac:chgData name="SIBILINA CEDILLO ROSALES" userId="S::sibilina.cedillors@uanl.edu.mx::9e59ad33-eabb-4e50-a90f-9a88506eb433" providerId="AD" clId="Web-{DC1A1785-C370-458A-8492-0EA84AD0F73F}" dt="2021-09-23T17:51:23.855" v="84" actId="20577"/>
          <ac:spMkLst>
            <pc:docMk/>
            <pc:sldMk cId="0" sldId="292"/>
            <ac:spMk id="6" creationId="{00000000-0000-0000-0000-000000000000}"/>
          </ac:spMkLst>
        </pc:spChg>
      </pc:sldChg>
      <pc:sldChg chg="modSp">
        <pc:chgData name="SIBILINA CEDILLO ROSALES" userId="S::sibilina.cedillors@uanl.edu.mx::9e59ad33-eabb-4e50-a90f-9a88506eb433" providerId="AD" clId="Web-{DC1A1785-C370-458A-8492-0EA84AD0F73F}" dt="2021-09-23T17:42:53.184" v="15" actId="20577"/>
        <pc:sldMkLst>
          <pc:docMk/>
          <pc:sldMk cId="0" sldId="300"/>
        </pc:sldMkLst>
        <pc:spChg chg="mod">
          <ac:chgData name="SIBILINA CEDILLO ROSALES" userId="S::sibilina.cedillors@uanl.edu.mx::9e59ad33-eabb-4e50-a90f-9a88506eb433" providerId="AD" clId="Web-{DC1A1785-C370-458A-8492-0EA84AD0F73F}" dt="2021-09-23T17:42:53.184" v="15" actId="20577"/>
          <ac:spMkLst>
            <pc:docMk/>
            <pc:sldMk cId="0" sldId="300"/>
            <ac:spMk id="10" creationId="{CDE6DC4D-8076-6B4A-B561-95915E1FFA66}"/>
          </ac:spMkLst>
        </pc:spChg>
      </pc:sldChg>
      <pc:sldChg chg="modSp">
        <pc:chgData name="SIBILINA CEDILLO ROSALES" userId="S::sibilina.cedillors@uanl.edu.mx::9e59ad33-eabb-4e50-a90f-9a88506eb433" providerId="AD" clId="Web-{DC1A1785-C370-458A-8492-0EA84AD0F73F}" dt="2021-09-23T17:44:00.514" v="25" actId="20577"/>
        <pc:sldMkLst>
          <pc:docMk/>
          <pc:sldMk cId="0" sldId="302"/>
        </pc:sldMkLst>
        <pc:spChg chg="mod">
          <ac:chgData name="SIBILINA CEDILLO ROSALES" userId="S::sibilina.cedillors@uanl.edu.mx::9e59ad33-eabb-4e50-a90f-9a88506eb433" providerId="AD" clId="Web-{DC1A1785-C370-458A-8492-0EA84AD0F73F}" dt="2021-09-23T17:44:00.514" v="25" actId="20577"/>
          <ac:spMkLst>
            <pc:docMk/>
            <pc:sldMk cId="0" sldId="302"/>
            <ac:spMk id="3" creationId="{00000000-0000-0000-0000-000000000000}"/>
          </ac:spMkLst>
        </pc:spChg>
      </pc:sldChg>
      <pc:sldChg chg="modSp">
        <pc:chgData name="SIBILINA CEDILLO ROSALES" userId="S::sibilina.cedillors@uanl.edu.mx::9e59ad33-eabb-4e50-a90f-9a88506eb433" providerId="AD" clId="Web-{DC1A1785-C370-458A-8492-0EA84AD0F73F}" dt="2021-09-23T17:41:18.869" v="1" actId="1076"/>
        <pc:sldMkLst>
          <pc:docMk/>
          <pc:sldMk cId="0" sldId="306"/>
        </pc:sldMkLst>
        <pc:spChg chg="mod">
          <ac:chgData name="SIBILINA CEDILLO ROSALES" userId="S::sibilina.cedillors@uanl.edu.mx::9e59ad33-eabb-4e50-a90f-9a88506eb433" providerId="AD" clId="Web-{DC1A1785-C370-458A-8492-0EA84AD0F73F}" dt="2021-09-23T17:41:18.869" v="1" actId="1076"/>
          <ac:spMkLst>
            <pc:docMk/>
            <pc:sldMk cId="0" sldId="306"/>
            <ac:spMk id="3" creationId="{00000000-0000-0000-0000-000000000000}"/>
          </ac:spMkLst>
        </pc:spChg>
      </pc:sldChg>
      <pc:sldChg chg="modSp">
        <pc:chgData name="SIBILINA CEDILLO ROSALES" userId="S::sibilina.cedillors@uanl.edu.mx::9e59ad33-eabb-4e50-a90f-9a88506eb433" providerId="AD" clId="Web-{DC1A1785-C370-458A-8492-0EA84AD0F73F}" dt="2021-09-23T17:47:21.645" v="55" actId="20577"/>
        <pc:sldMkLst>
          <pc:docMk/>
          <pc:sldMk cId="0" sldId="313"/>
        </pc:sldMkLst>
        <pc:spChg chg="mod">
          <ac:chgData name="SIBILINA CEDILLO ROSALES" userId="S::sibilina.cedillors@uanl.edu.mx::9e59ad33-eabb-4e50-a90f-9a88506eb433" providerId="AD" clId="Web-{DC1A1785-C370-458A-8492-0EA84AD0F73F}" dt="2021-09-23T17:47:21.645" v="55" actId="20577"/>
          <ac:spMkLst>
            <pc:docMk/>
            <pc:sldMk cId="0" sldId="313"/>
            <ac:spMk id="5" creationId="{00000000-0000-0000-0000-000000000000}"/>
          </ac:spMkLst>
        </pc:spChg>
      </pc:sldChg>
      <pc:sldChg chg="modSp add replId">
        <pc:chgData name="SIBILINA CEDILLO ROSALES" userId="S::sibilina.cedillors@uanl.edu.mx::9e59ad33-eabb-4e50-a90f-9a88506eb433" providerId="AD" clId="Web-{DC1A1785-C370-458A-8492-0EA84AD0F73F}" dt="2021-09-23T17:46:35.550" v="53" actId="20577"/>
        <pc:sldMkLst>
          <pc:docMk/>
          <pc:sldMk cId="1274038630" sldId="326"/>
        </pc:sldMkLst>
        <pc:spChg chg="mod">
          <ac:chgData name="SIBILINA CEDILLO ROSALES" userId="S::sibilina.cedillors@uanl.edu.mx::9e59ad33-eabb-4e50-a90f-9a88506eb433" providerId="AD" clId="Web-{DC1A1785-C370-458A-8492-0EA84AD0F73F}" dt="2021-09-23T17:46:35.550" v="53" actId="20577"/>
          <ac:spMkLst>
            <pc:docMk/>
            <pc:sldMk cId="1274038630" sldId="326"/>
            <ac:spMk id="5" creationId="{00000000-0000-0000-0000-000000000000}"/>
          </ac:spMkLst>
        </pc:spChg>
      </pc:sldChg>
    </pc:docChg>
  </pc:docChgLst>
  <pc:docChgLst>
    <pc:chgData name="SIBILINA CEDILLO ROSALES" userId="9e59ad33-eabb-4e50-a90f-9a88506eb433" providerId="ADAL" clId="{2EAFFB6E-CF85-45EF-922B-E3DFD71EAD4F}"/>
    <pc:docChg chg="custSel modSld">
      <pc:chgData name="SIBILINA CEDILLO ROSALES" userId="9e59ad33-eabb-4e50-a90f-9a88506eb433" providerId="ADAL" clId="{2EAFFB6E-CF85-45EF-922B-E3DFD71EAD4F}" dt="2022-06-26T01:08:37.713" v="56" actId="20577"/>
      <pc:docMkLst>
        <pc:docMk/>
      </pc:docMkLst>
      <pc:sldChg chg="modSp mod">
        <pc:chgData name="SIBILINA CEDILLO ROSALES" userId="9e59ad33-eabb-4e50-a90f-9a88506eb433" providerId="ADAL" clId="{2EAFFB6E-CF85-45EF-922B-E3DFD71EAD4F}" dt="2022-06-26T00:50:42.076" v="2" actId="20577"/>
        <pc:sldMkLst>
          <pc:docMk/>
          <pc:sldMk cId="0" sldId="277"/>
        </pc:sldMkLst>
        <pc:spChg chg="mod">
          <ac:chgData name="SIBILINA CEDILLO ROSALES" userId="9e59ad33-eabb-4e50-a90f-9a88506eb433" providerId="ADAL" clId="{2EAFFB6E-CF85-45EF-922B-E3DFD71EAD4F}" dt="2022-06-26T00:50:42.076" v="2" actId="20577"/>
          <ac:spMkLst>
            <pc:docMk/>
            <pc:sldMk cId="0" sldId="277"/>
            <ac:spMk id="5" creationId="{00000000-0000-0000-0000-000000000000}"/>
          </ac:spMkLst>
        </pc:spChg>
      </pc:sldChg>
      <pc:sldChg chg="modSp mod">
        <pc:chgData name="SIBILINA CEDILLO ROSALES" userId="9e59ad33-eabb-4e50-a90f-9a88506eb433" providerId="ADAL" clId="{2EAFFB6E-CF85-45EF-922B-E3DFD71EAD4F}" dt="2022-06-26T00:54:34.907" v="15" actId="14100"/>
        <pc:sldMkLst>
          <pc:docMk/>
          <pc:sldMk cId="0" sldId="280"/>
        </pc:sldMkLst>
        <pc:spChg chg="mod">
          <ac:chgData name="SIBILINA CEDILLO ROSALES" userId="9e59ad33-eabb-4e50-a90f-9a88506eb433" providerId="ADAL" clId="{2EAFFB6E-CF85-45EF-922B-E3DFD71EAD4F}" dt="2022-06-26T00:54:23.661" v="12" actId="27636"/>
          <ac:spMkLst>
            <pc:docMk/>
            <pc:sldMk cId="0" sldId="280"/>
            <ac:spMk id="2" creationId="{00000000-0000-0000-0000-000000000000}"/>
          </ac:spMkLst>
        </pc:spChg>
        <pc:spChg chg="mod">
          <ac:chgData name="SIBILINA CEDILLO ROSALES" userId="9e59ad33-eabb-4e50-a90f-9a88506eb433" providerId="ADAL" clId="{2EAFFB6E-CF85-45EF-922B-E3DFD71EAD4F}" dt="2022-06-26T00:54:20.588" v="10" actId="14100"/>
          <ac:spMkLst>
            <pc:docMk/>
            <pc:sldMk cId="0" sldId="280"/>
            <ac:spMk id="5" creationId="{00000000-0000-0000-0000-000000000000}"/>
          </ac:spMkLst>
        </pc:spChg>
        <pc:picChg chg="mod">
          <ac:chgData name="SIBILINA CEDILLO ROSALES" userId="9e59ad33-eabb-4e50-a90f-9a88506eb433" providerId="ADAL" clId="{2EAFFB6E-CF85-45EF-922B-E3DFD71EAD4F}" dt="2022-06-26T00:54:30.929" v="14" actId="1076"/>
          <ac:picMkLst>
            <pc:docMk/>
            <pc:sldMk cId="0" sldId="280"/>
            <ac:picMk id="2050" creationId="{00000000-0000-0000-0000-000000000000}"/>
          </ac:picMkLst>
        </pc:picChg>
        <pc:picChg chg="mod">
          <ac:chgData name="SIBILINA CEDILLO ROSALES" userId="9e59ad33-eabb-4e50-a90f-9a88506eb433" providerId="ADAL" clId="{2EAFFB6E-CF85-45EF-922B-E3DFD71EAD4F}" dt="2022-06-26T00:54:34.907" v="15" actId="14100"/>
          <ac:picMkLst>
            <pc:docMk/>
            <pc:sldMk cId="0" sldId="280"/>
            <ac:picMk id="4098" creationId="{00000000-0000-0000-0000-000000000000}"/>
          </ac:picMkLst>
        </pc:picChg>
      </pc:sldChg>
      <pc:sldChg chg="modSp mod">
        <pc:chgData name="SIBILINA CEDILLO ROSALES" userId="9e59ad33-eabb-4e50-a90f-9a88506eb433" providerId="ADAL" clId="{2EAFFB6E-CF85-45EF-922B-E3DFD71EAD4F}" dt="2022-06-26T00:57:51.914" v="18" actId="20577"/>
        <pc:sldMkLst>
          <pc:docMk/>
          <pc:sldMk cId="0" sldId="283"/>
        </pc:sldMkLst>
        <pc:spChg chg="mod">
          <ac:chgData name="SIBILINA CEDILLO ROSALES" userId="9e59ad33-eabb-4e50-a90f-9a88506eb433" providerId="ADAL" clId="{2EAFFB6E-CF85-45EF-922B-E3DFD71EAD4F}" dt="2022-06-26T00:57:51.914" v="18" actId="20577"/>
          <ac:spMkLst>
            <pc:docMk/>
            <pc:sldMk cId="0" sldId="283"/>
            <ac:spMk id="5" creationId="{00000000-0000-0000-0000-000000000000}"/>
          </ac:spMkLst>
        </pc:spChg>
      </pc:sldChg>
      <pc:sldChg chg="modSp mod">
        <pc:chgData name="SIBILINA CEDILLO ROSALES" userId="9e59ad33-eabb-4e50-a90f-9a88506eb433" providerId="ADAL" clId="{2EAFFB6E-CF85-45EF-922B-E3DFD71EAD4F}" dt="2022-06-26T00:59:21.577" v="19" actId="20577"/>
        <pc:sldMkLst>
          <pc:docMk/>
          <pc:sldMk cId="0" sldId="288"/>
        </pc:sldMkLst>
        <pc:spChg chg="mod">
          <ac:chgData name="SIBILINA CEDILLO ROSALES" userId="9e59ad33-eabb-4e50-a90f-9a88506eb433" providerId="ADAL" clId="{2EAFFB6E-CF85-45EF-922B-E3DFD71EAD4F}" dt="2022-06-26T00:59:21.577" v="19" actId="20577"/>
          <ac:spMkLst>
            <pc:docMk/>
            <pc:sldMk cId="0" sldId="288"/>
            <ac:spMk id="6" creationId="{00000000-0000-0000-0000-000000000000}"/>
          </ac:spMkLst>
        </pc:spChg>
      </pc:sldChg>
      <pc:sldChg chg="modSp mod">
        <pc:chgData name="SIBILINA CEDILLO ROSALES" userId="9e59ad33-eabb-4e50-a90f-9a88506eb433" providerId="ADAL" clId="{2EAFFB6E-CF85-45EF-922B-E3DFD71EAD4F}" dt="2022-06-26T01:00:39.078" v="22" actId="20577"/>
        <pc:sldMkLst>
          <pc:docMk/>
          <pc:sldMk cId="0" sldId="289"/>
        </pc:sldMkLst>
        <pc:spChg chg="mod">
          <ac:chgData name="SIBILINA CEDILLO ROSALES" userId="9e59ad33-eabb-4e50-a90f-9a88506eb433" providerId="ADAL" clId="{2EAFFB6E-CF85-45EF-922B-E3DFD71EAD4F}" dt="2022-06-26T01:00:39.078" v="22" actId="20577"/>
          <ac:spMkLst>
            <pc:docMk/>
            <pc:sldMk cId="0" sldId="289"/>
            <ac:spMk id="5" creationId="{00000000-0000-0000-0000-000000000000}"/>
          </ac:spMkLst>
        </pc:spChg>
      </pc:sldChg>
      <pc:sldChg chg="modSp mod">
        <pc:chgData name="SIBILINA CEDILLO ROSALES" userId="9e59ad33-eabb-4e50-a90f-9a88506eb433" providerId="ADAL" clId="{2EAFFB6E-CF85-45EF-922B-E3DFD71EAD4F}" dt="2022-06-26T01:01:32.677" v="26" actId="20577"/>
        <pc:sldMkLst>
          <pc:docMk/>
          <pc:sldMk cId="0" sldId="290"/>
        </pc:sldMkLst>
        <pc:spChg chg="mod">
          <ac:chgData name="SIBILINA CEDILLO ROSALES" userId="9e59ad33-eabb-4e50-a90f-9a88506eb433" providerId="ADAL" clId="{2EAFFB6E-CF85-45EF-922B-E3DFD71EAD4F}" dt="2022-06-26T01:01:32.677" v="26" actId="20577"/>
          <ac:spMkLst>
            <pc:docMk/>
            <pc:sldMk cId="0" sldId="290"/>
            <ac:spMk id="5" creationId="{00000000-0000-0000-0000-000000000000}"/>
          </ac:spMkLst>
        </pc:spChg>
      </pc:sldChg>
      <pc:sldChg chg="modSp mod">
        <pc:chgData name="SIBILINA CEDILLO ROSALES" userId="9e59ad33-eabb-4e50-a90f-9a88506eb433" providerId="ADAL" clId="{2EAFFB6E-CF85-45EF-922B-E3DFD71EAD4F}" dt="2022-06-26T01:03:38.394" v="31" actId="20577"/>
        <pc:sldMkLst>
          <pc:docMk/>
          <pc:sldMk cId="0" sldId="291"/>
        </pc:sldMkLst>
        <pc:spChg chg="mod">
          <ac:chgData name="SIBILINA CEDILLO ROSALES" userId="9e59ad33-eabb-4e50-a90f-9a88506eb433" providerId="ADAL" clId="{2EAFFB6E-CF85-45EF-922B-E3DFD71EAD4F}" dt="2022-06-26T01:03:38.394" v="31" actId="20577"/>
          <ac:spMkLst>
            <pc:docMk/>
            <pc:sldMk cId="0" sldId="291"/>
            <ac:spMk id="6" creationId="{00000000-0000-0000-0000-000000000000}"/>
          </ac:spMkLst>
        </pc:spChg>
      </pc:sldChg>
      <pc:sldChg chg="modSp mod">
        <pc:chgData name="SIBILINA CEDILLO ROSALES" userId="9e59ad33-eabb-4e50-a90f-9a88506eb433" providerId="ADAL" clId="{2EAFFB6E-CF85-45EF-922B-E3DFD71EAD4F}" dt="2022-06-26T01:05:09.229" v="38" actId="20577"/>
        <pc:sldMkLst>
          <pc:docMk/>
          <pc:sldMk cId="0" sldId="292"/>
        </pc:sldMkLst>
        <pc:spChg chg="mod">
          <ac:chgData name="SIBILINA CEDILLO ROSALES" userId="9e59ad33-eabb-4e50-a90f-9a88506eb433" providerId="ADAL" clId="{2EAFFB6E-CF85-45EF-922B-E3DFD71EAD4F}" dt="2022-06-26T01:05:09.229" v="38" actId="20577"/>
          <ac:spMkLst>
            <pc:docMk/>
            <pc:sldMk cId="0" sldId="292"/>
            <ac:spMk id="6" creationId="{00000000-0000-0000-0000-000000000000}"/>
          </ac:spMkLst>
        </pc:spChg>
      </pc:sldChg>
      <pc:sldChg chg="modSp mod">
        <pc:chgData name="SIBILINA CEDILLO ROSALES" userId="9e59ad33-eabb-4e50-a90f-9a88506eb433" providerId="ADAL" clId="{2EAFFB6E-CF85-45EF-922B-E3DFD71EAD4F}" dt="2022-06-26T01:08:37.713" v="56" actId="20577"/>
        <pc:sldMkLst>
          <pc:docMk/>
          <pc:sldMk cId="0" sldId="293"/>
        </pc:sldMkLst>
        <pc:spChg chg="mod">
          <ac:chgData name="SIBILINA CEDILLO ROSALES" userId="9e59ad33-eabb-4e50-a90f-9a88506eb433" providerId="ADAL" clId="{2EAFFB6E-CF85-45EF-922B-E3DFD71EAD4F}" dt="2022-06-26T01:08:37.713" v="56" actId="20577"/>
          <ac:spMkLst>
            <pc:docMk/>
            <pc:sldMk cId="0" sldId="293"/>
            <ac:spMk id="6" creationId="{00000000-0000-0000-0000-000000000000}"/>
          </ac:spMkLst>
        </pc:spChg>
      </pc:sldChg>
      <pc:sldChg chg="modSp mod">
        <pc:chgData name="SIBILINA CEDILLO ROSALES" userId="9e59ad33-eabb-4e50-a90f-9a88506eb433" providerId="ADAL" clId="{2EAFFB6E-CF85-45EF-922B-E3DFD71EAD4F}" dt="2022-06-26T00:48:17.293" v="1" actId="20577"/>
        <pc:sldMkLst>
          <pc:docMk/>
          <pc:sldMk cId="0" sldId="313"/>
        </pc:sldMkLst>
        <pc:spChg chg="mod">
          <ac:chgData name="SIBILINA CEDILLO ROSALES" userId="9e59ad33-eabb-4e50-a90f-9a88506eb433" providerId="ADAL" clId="{2EAFFB6E-CF85-45EF-922B-E3DFD71EAD4F}" dt="2022-06-26T00:48:17.293" v="1" actId="20577"/>
          <ac:spMkLst>
            <pc:docMk/>
            <pc:sldMk cId="0" sldId="313"/>
            <ac:spMk id="5" creationId="{00000000-0000-0000-0000-000000000000}"/>
          </ac:spMkLst>
        </pc:spChg>
      </pc:sldChg>
      <pc:sldChg chg="modSp mod">
        <pc:chgData name="SIBILINA CEDILLO ROSALES" userId="9e59ad33-eabb-4e50-a90f-9a88506eb433" providerId="ADAL" clId="{2EAFFB6E-CF85-45EF-922B-E3DFD71EAD4F}" dt="2022-06-26T00:52:13.157" v="9" actId="20577"/>
        <pc:sldMkLst>
          <pc:docMk/>
          <pc:sldMk cId="0" sldId="315"/>
        </pc:sldMkLst>
        <pc:spChg chg="mod">
          <ac:chgData name="SIBILINA CEDILLO ROSALES" userId="9e59ad33-eabb-4e50-a90f-9a88506eb433" providerId="ADAL" clId="{2EAFFB6E-CF85-45EF-922B-E3DFD71EAD4F}" dt="2022-06-26T00:52:13.157" v="9" actId="20577"/>
          <ac:spMkLst>
            <pc:docMk/>
            <pc:sldMk cId="0" sldId="315"/>
            <ac:spMk id="5" creationId="{00000000-0000-0000-0000-000000000000}"/>
          </ac:spMkLst>
        </pc:spChg>
      </pc:sldChg>
    </pc:docChg>
  </pc:docChgLst>
  <pc:docChgLst>
    <pc:chgData name="SIBILINA CEDILLO ROSALES" userId="S::sibilina.cedillors@uanl.edu.mx::9e59ad33-eabb-4e50-a90f-9a88506eb433" providerId="AD" clId="Web-{41B0207E-14F7-4637-8776-8E92510EC9D9}"/>
    <pc:docChg chg="modSld">
      <pc:chgData name="SIBILINA CEDILLO ROSALES" userId="S::sibilina.cedillors@uanl.edu.mx::9e59ad33-eabb-4e50-a90f-9a88506eb433" providerId="AD" clId="Web-{41B0207E-14F7-4637-8776-8E92510EC9D9}" dt="2022-06-26T00:45:19.125" v="7" actId="20577"/>
      <pc:docMkLst>
        <pc:docMk/>
      </pc:docMkLst>
      <pc:sldChg chg="modSp">
        <pc:chgData name="SIBILINA CEDILLO ROSALES" userId="S::sibilina.cedillors@uanl.edu.mx::9e59ad33-eabb-4e50-a90f-9a88506eb433" providerId="AD" clId="Web-{41B0207E-14F7-4637-8776-8E92510EC9D9}" dt="2022-06-26T00:45:19.125" v="7" actId="20577"/>
        <pc:sldMkLst>
          <pc:docMk/>
          <pc:sldMk cId="1274038630" sldId="326"/>
        </pc:sldMkLst>
        <pc:spChg chg="mod">
          <ac:chgData name="SIBILINA CEDILLO ROSALES" userId="S::sibilina.cedillors@uanl.edu.mx::9e59ad33-eabb-4e50-a90f-9a88506eb433" providerId="AD" clId="Web-{41B0207E-14F7-4637-8776-8E92510EC9D9}" dt="2022-06-26T00:45:19.125" v="7" actId="20577"/>
          <ac:spMkLst>
            <pc:docMk/>
            <pc:sldMk cId="1274038630" sldId="326"/>
            <ac:spMk id="2" creationId="{00000000-0000-0000-0000-000000000000}"/>
          </ac:spMkLst>
        </pc:spChg>
      </pc:sldChg>
    </pc:docChg>
  </pc:docChgLst>
  <pc:docChgLst>
    <pc:chgData name="SIBILINA CEDILLO ROSALES" userId="9e59ad33-eabb-4e50-a90f-9a88506eb433" providerId="ADAL" clId="{CFA4B7BE-0BA0-E64B-ACDF-DF4C5165CABD}"/>
    <pc:docChg chg="custSel modSld">
      <pc:chgData name="SIBILINA CEDILLO ROSALES" userId="9e59ad33-eabb-4e50-a90f-9a88506eb433" providerId="ADAL" clId="{CFA4B7BE-0BA0-E64B-ACDF-DF4C5165CABD}" dt="2022-06-24T20:36:42.216" v="347" actId="20577"/>
      <pc:docMkLst>
        <pc:docMk/>
      </pc:docMkLst>
      <pc:sldChg chg="modSp mod">
        <pc:chgData name="SIBILINA CEDILLO ROSALES" userId="9e59ad33-eabb-4e50-a90f-9a88506eb433" providerId="ADAL" clId="{CFA4B7BE-0BA0-E64B-ACDF-DF4C5165CABD}" dt="2022-06-24T20:15:11.613" v="275" actId="20577"/>
        <pc:sldMkLst>
          <pc:docMk/>
          <pc:sldMk cId="0" sldId="258"/>
        </pc:sldMkLst>
        <pc:spChg chg="mod">
          <ac:chgData name="SIBILINA CEDILLO ROSALES" userId="9e59ad33-eabb-4e50-a90f-9a88506eb433" providerId="ADAL" clId="{CFA4B7BE-0BA0-E64B-ACDF-DF4C5165CABD}" dt="2022-06-24T20:15:11.613" v="275" actId="20577"/>
          <ac:spMkLst>
            <pc:docMk/>
            <pc:sldMk cId="0" sldId="258"/>
            <ac:spMk id="10" creationId="{B6E294EF-E51B-C649-814F-45EB8FE2E662}"/>
          </ac:spMkLst>
        </pc:spChg>
      </pc:sldChg>
      <pc:sldChg chg="modSp mod">
        <pc:chgData name="SIBILINA CEDILLO ROSALES" userId="9e59ad33-eabb-4e50-a90f-9a88506eb433" providerId="ADAL" clId="{CFA4B7BE-0BA0-E64B-ACDF-DF4C5165CABD}" dt="2022-06-24T20:18:54.583" v="313" actId="20577"/>
        <pc:sldMkLst>
          <pc:docMk/>
          <pc:sldMk cId="0" sldId="259"/>
        </pc:sldMkLst>
        <pc:spChg chg="mod">
          <ac:chgData name="SIBILINA CEDILLO ROSALES" userId="9e59ad33-eabb-4e50-a90f-9a88506eb433" providerId="ADAL" clId="{CFA4B7BE-0BA0-E64B-ACDF-DF4C5165CABD}" dt="2022-06-24T20:18:54.583" v="313" actId="20577"/>
          <ac:spMkLst>
            <pc:docMk/>
            <pc:sldMk cId="0" sldId="259"/>
            <ac:spMk id="5" creationId="{00000000-0000-0000-0000-000000000000}"/>
          </ac:spMkLst>
        </pc:spChg>
      </pc:sldChg>
      <pc:sldChg chg="modSp mod">
        <pc:chgData name="SIBILINA CEDILLO ROSALES" userId="9e59ad33-eabb-4e50-a90f-9a88506eb433" providerId="ADAL" clId="{CFA4B7BE-0BA0-E64B-ACDF-DF4C5165CABD}" dt="2022-06-24T20:16:33.097" v="296" actId="20577"/>
        <pc:sldMkLst>
          <pc:docMk/>
          <pc:sldMk cId="0" sldId="265"/>
        </pc:sldMkLst>
        <pc:spChg chg="mod">
          <ac:chgData name="SIBILINA CEDILLO ROSALES" userId="9e59ad33-eabb-4e50-a90f-9a88506eb433" providerId="ADAL" clId="{CFA4B7BE-0BA0-E64B-ACDF-DF4C5165CABD}" dt="2022-06-24T20:16:33.097" v="296" actId="20577"/>
          <ac:spMkLst>
            <pc:docMk/>
            <pc:sldMk cId="0" sldId="265"/>
            <ac:spMk id="6" creationId="{00000000-0000-0000-0000-000000000000}"/>
          </ac:spMkLst>
        </pc:spChg>
      </pc:sldChg>
      <pc:sldChg chg="modSp mod">
        <pc:chgData name="SIBILINA CEDILLO ROSALES" userId="9e59ad33-eabb-4e50-a90f-9a88506eb433" providerId="ADAL" clId="{CFA4B7BE-0BA0-E64B-ACDF-DF4C5165CABD}" dt="2022-06-24T20:21:43.623" v="327" actId="20577"/>
        <pc:sldMkLst>
          <pc:docMk/>
          <pc:sldMk cId="0" sldId="267"/>
        </pc:sldMkLst>
        <pc:spChg chg="mod">
          <ac:chgData name="SIBILINA CEDILLO ROSALES" userId="9e59ad33-eabb-4e50-a90f-9a88506eb433" providerId="ADAL" clId="{CFA4B7BE-0BA0-E64B-ACDF-DF4C5165CABD}" dt="2022-06-24T20:21:43.623" v="327" actId="20577"/>
          <ac:spMkLst>
            <pc:docMk/>
            <pc:sldMk cId="0" sldId="267"/>
            <ac:spMk id="3" creationId="{00000000-0000-0000-0000-000000000000}"/>
          </ac:spMkLst>
        </pc:spChg>
      </pc:sldChg>
      <pc:sldChg chg="modSp mod">
        <pc:chgData name="SIBILINA CEDILLO ROSALES" userId="9e59ad33-eabb-4e50-a90f-9a88506eb433" providerId="ADAL" clId="{CFA4B7BE-0BA0-E64B-ACDF-DF4C5165CABD}" dt="2022-06-24T20:34:43.411" v="341"/>
        <pc:sldMkLst>
          <pc:docMk/>
          <pc:sldMk cId="0" sldId="271"/>
        </pc:sldMkLst>
        <pc:spChg chg="mod">
          <ac:chgData name="SIBILINA CEDILLO ROSALES" userId="9e59ad33-eabb-4e50-a90f-9a88506eb433" providerId="ADAL" clId="{CFA4B7BE-0BA0-E64B-ACDF-DF4C5165CABD}" dt="2022-06-24T20:34:43.411" v="341"/>
          <ac:spMkLst>
            <pc:docMk/>
            <pc:sldMk cId="0" sldId="271"/>
            <ac:spMk id="5" creationId="{00000000-0000-0000-0000-000000000000}"/>
          </ac:spMkLst>
        </pc:spChg>
      </pc:sldChg>
      <pc:sldChg chg="modSp">
        <pc:chgData name="SIBILINA CEDILLO ROSALES" userId="9e59ad33-eabb-4e50-a90f-9a88506eb433" providerId="ADAL" clId="{CFA4B7BE-0BA0-E64B-ACDF-DF4C5165CABD}" dt="2022-06-24T20:34:43.411" v="341"/>
        <pc:sldMkLst>
          <pc:docMk/>
          <pc:sldMk cId="0" sldId="274"/>
        </pc:sldMkLst>
        <pc:spChg chg="mod">
          <ac:chgData name="SIBILINA CEDILLO ROSALES" userId="9e59ad33-eabb-4e50-a90f-9a88506eb433" providerId="ADAL" clId="{CFA4B7BE-0BA0-E64B-ACDF-DF4C5165CABD}" dt="2022-06-24T20:34:43.411" v="341"/>
          <ac:spMkLst>
            <pc:docMk/>
            <pc:sldMk cId="0" sldId="274"/>
            <ac:spMk id="8" creationId="{00000000-0000-0000-0000-000000000000}"/>
          </ac:spMkLst>
        </pc:spChg>
      </pc:sldChg>
      <pc:sldChg chg="addSp delSp modSp mod">
        <pc:chgData name="SIBILINA CEDILLO ROSALES" userId="9e59ad33-eabb-4e50-a90f-9a88506eb433" providerId="ADAL" clId="{CFA4B7BE-0BA0-E64B-ACDF-DF4C5165CABD}" dt="2022-06-24T20:33:19.986" v="334" actId="478"/>
        <pc:sldMkLst>
          <pc:docMk/>
          <pc:sldMk cId="0" sldId="300"/>
        </pc:sldMkLst>
        <pc:spChg chg="del mod">
          <ac:chgData name="SIBILINA CEDILLO ROSALES" userId="9e59ad33-eabb-4e50-a90f-9a88506eb433" providerId="ADAL" clId="{CFA4B7BE-0BA0-E64B-ACDF-DF4C5165CABD}" dt="2022-06-24T20:33:16.246" v="333" actId="478"/>
          <ac:spMkLst>
            <pc:docMk/>
            <pc:sldMk cId="0" sldId="300"/>
            <ac:spMk id="4" creationId="{00000000-0000-0000-0000-000000000000}"/>
          </ac:spMkLst>
        </pc:spChg>
        <pc:spChg chg="add del mod">
          <ac:chgData name="SIBILINA CEDILLO ROSALES" userId="9e59ad33-eabb-4e50-a90f-9a88506eb433" providerId="ADAL" clId="{CFA4B7BE-0BA0-E64B-ACDF-DF4C5165CABD}" dt="2022-06-24T20:33:19.986" v="334" actId="478"/>
          <ac:spMkLst>
            <pc:docMk/>
            <pc:sldMk cId="0" sldId="300"/>
            <ac:spMk id="5" creationId="{3148876E-05F5-DAA3-11BC-B5C37DF6EBF7}"/>
          </ac:spMkLst>
        </pc:spChg>
        <pc:spChg chg="mod">
          <ac:chgData name="SIBILINA CEDILLO ROSALES" userId="9e59ad33-eabb-4e50-a90f-9a88506eb433" providerId="ADAL" clId="{CFA4B7BE-0BA0-E64B-ACDF-DF4C5165CABD}" dt="2022-06-24T20:19:28.690" v="315" actId="20577"/>
          <ac:spMkLst>
            <pc:docMk/>
            <pc:sldMk cId="0" sldId="300"/>
            <ac:spMk id="9" creationId="{A3CA0A58-41E8-1E46-A104-4583EEE2EFE8}"/>
          </ac:spMkLst>
        </pc:spChg>
        <pc:spChg chg="mod">
          <ac:chgData name="SIBILINA CEDILLO ROSALES" userId="9e59ad33-eabb-4e50-a90f-9a88506eb433" providerId="ADAL" clId="{CFA4B7BE-0BA0-E64B-ACDF-DF4C5165CABD}" dt="2022-06-24T20:21:03.792" v="326" actId="20577"/>
          <ac:spMkLst>
            <pc:docMk/>
            <pc:sldMk cId="0" sldId="300"/>
            <ac:spMk id="10" creationId="{CDE6DC4D-8076-6B4A-B561-95915E1FFA66}"/>
          </ac:spMkLst>
        </pc:spChg>
      </pc:sldChg>
      <pc:sldChg chg="modSp mod">
        <pc:chgData name="SIBILINA CEDILLO ROSALES" userId="9e59ad33-eabb-4e50-a90f-9a88506eb433" providerId="ADAL" clId="{CFA4B7BE-0BA0-E64B-ACDF-DF4C5165CABD}" dt="2022-06-24T20:34:12.140" v="337"/>
        <pc:sldMkLst>
          <pc:docMk/>
          <pc:sldMk cId="0" sldId="301"/>
        </pc:sldMkLst>
        <pc:spChg chg="mod">
          <ac:chgData name="SIBILINA CEDILLO ROSALES" userId="9e59ad33-eabb-4e50-a90f-9a88506eb433" providerId="ADAL" clId="{CFA4B7BE-0BA0-E64B-ACDF-DF4C5165CABD}" dt="2022-06-24T20:34:12.140" v="337"/>
          <ac:spMkLst>
            <pc:docMk/>
            <pc:sldMk cId="0" sldId="301"/>
            <ac:spMk id="3" creationId="{00000000-0000-0000-0000-000000000000}"/>
          </ac:spMkLst>
        </pc:spChg>
      </pc:sldChg>
      <pc:sldChg chg="modSp mod">
        <pc:chgData name="SIBILINA CEDILLO ROSALES" userId="9e59ad33-eabb-4e50-a90f-9a88506eb433" providerId="ADAL" clId="{CFA4B7BE-0BA0-E64B-ACDF-DF4C5165CABD}" dt="2022-06-24T20:33:56.362" v="336" actId="20577"/>
        <pc:sldMkLst>
          <pc:docMk/>
          <pc:sldMk cId="0" sldId="302"/>
        </pc:sldMkLst>
        <pc:spChg chg="mod">
          <ac:chgData name="SIBILINA CEDILLO ROSALES" userId="9e59ad33-eabb-4e50-a90f-9a88506eb433" providerId="ADAL" clId="{CFA4B7BE-0BA0-E64B-ACDF-DF4C5165CABD}" dt="2022-06-24T20:33:56.362" v="336" actId="20577"/>
          <ac:spMkLst>
            <pc:docMk/>
            <pc:sldMk cId="0" sldId="302"/>
            <ac:spMk id="3" creationId="{00000000-0000-0000-0000-000000000000}"/>
          </ac:spMkLst>
        </pc:spChg>
      </pc:sldChg>
      <pc:sldChg chg="modSp mod">
        <pc:chgData name="SIBILINA CEDILLO ROSALES" userId="9e59ad33-eabb-4e50-a90f-9a88506eb433" providerId="ADAL" clId="{CFA4B7BE-0BA0-E64B-ACDF-DF4C5165CABD}" dt="2022-06-24T20:32:50.957" v="331"/>
        <pc:sldMkLst>
          <pc:docMk/>
          <pc:sldMk cId="0" sldId="306"/>
        </pc:sldMkLst>
        <pc:spChg chg="mod">
          <ac:chgData name="SIBILINA CEDILLO ROSALES" userId="9e59ad33-eabb-4e50-a90f-9a88506eb433" providerId="ADAL" clId="{CFA4B7BE-0BA0-E64B-ACDF-DF4C5165CABD}" dt="2022-06-24T20:32:50.957" v="331"/>
          <ac:spMkLst>
            <pc:docMk/>
            <pc:sldMk cId="0" sldId="306"/>
            <ac:spMk id="3" creationId="{00000000-0000-0000-0000-000000000000}"/>
          </ac:spMkLst>
        </pc:spChg>
      </pc:sldChg>
      <pc:sldChg chg="modSp mod">
        <pc:chgData name="SIBILINA CEDILLO ROSALES" userId="9e59ad33-eabb-4e50-a90f-9a88506eb433" providerId="ADAL" clId="{CFA4B7BE-0BA0-E64B-ACDF-DF4C5165CABD}" dt="2022-06-24T20:16:52.651" v="306" actId="20577"/>
        <pc:sldMkLst>
          <pc:docMk/>
          <pc:sldMk cId="0" sldId="307"/>
        </pc:sldMkLst>
        <pc:spChg chg="mod">
          <ac:chgData name="SIBILINA CEDILLO ROSALES" userId="9e59ad33-eabb-4e50-a90f-9a88506eb433" providerId="ADAL" clId="{CFA4B7BE-0BA0-E64B-ACDF-DF4C5165CABD}" dt="2022-06-24T20:16:52.651" v="306" actId="20577"/>
          <ac:spMkLst>
            <pc:docMk/>
            <pc:sldMk cId="0" sldId="307"/>
            <ac:spMk id="6" creationId="{00000000-0000-0000-0000-000000000000}"/>
          </ac:spMkLst>
        </pc:spChg>
      </pc:sldChg>
      <pc:sldChg chg="modSp mod">
        <pc:chgData name="SIBILINA CEDILLO ROSALES" userId="9e59ad33-eabb-4e50-a90f-9a88506eb433" providerId="ADAL" clId="{CFA4B7BE-0BA0-E64B-ACDF-DF4C5165CABD}" dt="2022-06-24T20:36:42.216" v="347" actId="20577"/>
        <pc:sldMkLst>
          <pc:docMk/>
          <pc:sldMk cId="0" sldId="318"/>
        </pc:sldMkLst>
        <pc:spChg chg="mod">
          <ac:chgData name="SIBILINA CEDILLO ROSALES" userId="9e59ad33-eabb-4e50-a90f-9a88506eb433" providerId="ADAL" clId="{CFA4B7BE-0BA0-E64B-ACDF-DF4C5165CABD}" dt="2022-06-24T20:36:42.216" v="347" actId="20577"/>
          <ac:spMkLst>
            <pc:docMk/>
            <pc:sldMk cId="0" sldId="318"/>
            <ac:spMk id="5" creationId="{00000000-0000-0000-0000-000000000000}"/>
          </ac:spMkLst>
        </pc:spChg>
      </pc:sldChg>
      <pc:sldChg chg="modSp mod">
        <pc:chgData name="SIBILINA CEDILLO ROSALES" userId="9e59ad33-eabb-4e50-a90f-9a88506eb433" providerId="ADAL" clId="{CFA4B7BE-0BA0-E64B-ACDF-DF4C5165CABD}" dt="2022-06-24T20:35:37.648" v="342" actId="20577"/>
        <pc:sldMkLst>
          <pc:docMk/>
          <pc:sldMk cId="1274038630" sldId="326"/>
        </pc:sldMkLst>
        <pc:spChg chg="mod">
          <ac:chgData name="SIBILINA CEDILLO ROSALES" userId="9e59ad33-eabb-4e50-a90f-9a88506eb433" providerId="ADAL" clId="{CFA4B7BE-0BA0-E64B-ACDF-DF4C5165CABD}" dt="2022-06-24T20:35:37.648" v="342" actId="20577"/>
          <ac:spMkLst>
            <pc:docMk/>
            <pc:sldMk cId="1274038630" sldId="326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CAE52A-F4C6-9749-989C-3D0FC1F9EC40}" type="datetimeFigureOut">
              <a:rPr lang="es-ES_tradnl" smtClean="0"/>
              <a:t>03/08/2022</a:t>
            </a:fld>
            <a:endParaRPr lang="es-ES_tradnl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A53646-8C73-4145-AB84-673BF5359B67}" type="slidenum">
              <a:rPr lang="es-ES_tradnl" smtClean="0"/>
              <a:t>‹Nº›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877725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A9B5FF-F317-422A-A9BC-E7F041AA29D8}" type="slidenum">
              <a:rPr lang="es-MX" smtClean="0"/>
              <a:pPr/>
              <a:t>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678800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A9B5FF-F317-422A-A9BC-E7F041AA29D8}" type="slidenum">
              <a:rPr lang="es-MX" smtClean="0"/>
              <a:pPr/>
              <a:t>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817085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A9B5FF-F317-422A-A9BC-E7F041AA29D8}" type="slidenum">
              <a:rPr lang="es-MX" smtClean="0"/>
              <a:pPr/>
              <a:t>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736089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A9B5FF-F317-422A-A9BC-E7F041AA29D8}" type="slidenum">
              <a:rPr lang="es-MX" smtClean="0"/>
              <a:pPr/>
              <a:t>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200729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A9B5FF-F317-422A-A9BC-E7F041AA29D8}" type="slidenum">
              <a:rPr lang="es-MX" smtClean="0"/>
              <a:pPr/>
              <a:t>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323721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A9B5FF-F317-422A-A9BC-E7F041AA29D8}" type="slidenum">
              <a:rPr lang="es-MX" smtClean="0"/>
              <a:pPr/>
              <a:t>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712163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A9B5FF-F317-422A-A9BC-E7F041AA29D8}" type="slidenum">
              <a:rPr lang="es-MX" smtClean="0"/>
              <a:pPr/>
              <a:t>10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387425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A9B5FF-F317-422A-A9BC-E7F041AA29D8}" type="slidenum">
              <a:rPr lang="es-MX" smtClean="0"/>
              <a:pPr/>
              <a:t>11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1627006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A9B5FF-F317-422A-A9BC-E7F041AA29D8}" type="slidenum">
              <a:rPr lang="es-MX" smtClean="0"/>
              <a:pPr/>
              <a:t>12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861137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A9B5FF-F317-422A-A9BC-E7F041AA29D8}" type="slidenum">
              <a:rPr lang="es-MX" smtClean="0"/>
              <a:pPr/>
              <a:t>13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133987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A9B5FF-F317-422A-A9BC-E7F041AA29D8}" type="slidenum">
              <a:rPr lang="es-MX" smtClean="0"/>
              <a:pPr/>
              <a:t>14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707708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A9B5FF-F317-422A-A9BC-E7F041AA29D8}" type="slidenum">
              <a:rPr lang="es-MX" smtClean="0"/>
              <a:pPr/>
              <a:t>15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131401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A9B5FF-F317-422A-A9BC-E7F041AA29D8}" type="slidenum">
              <a:rPr lang="es-MX" smtClean="0"/>
              <a:pPr/>
              <a:t>16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41578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A9B5FF-F317-422A-A9BC-E7F041AA29D8}" type="slidenum">
              <a:rPr lang="es-MX" smtClean="0"/>
              <a:pPr/>
              <a:t>17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475022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A9B5FF-F317-422A-A9BC-E7F041AA29D8}" type="slidenum">
              <a:rPr lang="es-MX" smtClean="0"/>
              <a:pPr/>
              <a:t>19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559804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A9B5FF-F317-422A-A9BC-E7F041AA29D8}" type="slidenum">
              <a:rPr lang="es-MX" smtClean="0"/>
              <a:pPr/>
              <a:t>21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401077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A9B5FF-F317-422A-A9BC-E7F041AA29D8}" type="slidenum">
              <a:rPr lang="es-MX" smtClean="0"/>
              <a:pPr/>
              <a:t>23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875412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A9B5FF-F317-422A-A9BC-E7F041AA29D8}" type="slidenum">
              <a:rPr lang="es-MX" smtClean="0"/>
              <a:pPr/>
              <a:t>26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108883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A9B5FF-F317-422A-A9BC-E7F041AA29D8}" type="slidenum">
              <a:rPr lang="es-MX" smtClean="0"/>
              <a:pPr/>
              <a:t>28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568440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A9B5FF-F317-422A-A9BC-E7F041AA29D8}" type="slidenum">
              <a:rPr lang="es-MX" smtClean="0"/>
              <a:pPr/>
              <a:t>29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26124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A9B5FF-F317-422A-A9BC-E7F041AA29D8}" type="slidenum">
              <a:rPr lang="es-MX" smtClean="0"/>
              <a:pPr/>
              <a:t>31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324116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A9B5FF-F317-422A-A9BC-E7F041AA29D8}" type="slidenum">
              <a:rPr lang="es-MX" smtClean="0"/>
              <a:pPr/>
              <a:t>32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542134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A9B5FF-F317-422A-A9BC-E7F041AA29D8}" type="slidenum">
              <a:rPr lang="es-MX" smtClean="0"/>
              <a:pPr/>
              <a:t>33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824128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A9B5FF-F317-422A-A9BC-E7F041AA29D8}" type="slidenum">
              <a:rPr lang="es-MX" smtClean="0"/>
              <a:pPr/>
              <a:t>34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149305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A9B5FF-F317-422A-A9BC-E7F041AA29D8}" type="slidenum">
              <a:rPr lang="es-MX" smtClean="0"/>
              <a:pPr/>
              <a:t>35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30454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148A03-D752-D945-84DD-8B186F4BFF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15D10E3-5913-BA40-962B-63C1510EB8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8DBA274-9A8B-F14F-9EDE-DE342857F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pPr/>
              <a:t>8/3/2022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254530-BF00-604A-8AC1-ED21274D3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AEB07F-699F-F848-B7B2-BBDC07FF9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996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766960-EC9F-EE49-80A5-6CF3ED1B4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7E97BD-B60A-E841-8094-58444294E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BFBFE0-00D6-8F42-8676-6B7BB1907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pPr/>
              <a:t>8/3/2022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57240C8-B705-B849-8ECE-9B6784515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F6D68C-783B-8E47-8954-1D42BD654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845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6C554B-432F-8843-8B6E-BF54FAEB0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EA4EAFC-FAB8-D24B-81FE-9278CB5496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BC90100-8FD4-F54F-8F52-EBAE8C859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pPr/>
              <a:t>8/3/2022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4DB7C2-570E-0446-A781-FA2FC917D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D404572-92A9-DC4B-A8CC-62B34EB5C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2500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692674-1C88-E74D-A0BB-FA1A13C38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09956E-87C8-0447-A7A0-BDF0129CD0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6554B4-4BF0-AB43-9BE0-320B64A35A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590D725-F2F0-3548-A8D9-9C9858DBC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pPr/>
              <a:t>8/3/2022</a:t>
            </a:fld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5DADCD9-A93B-1541-A172-CE1553FBD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505CDDF-2DE3-D748-AD06-E9A702F07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469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E73C32-04E2-1840-A694-98AF0CFF3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69EFF0F-D35A-224A-BC08-C7064DC33C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CAC9917-542B-3541-B757-E42D335156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4CC1ED6-01AA-1241-9E45-FC3180462F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1F9C3A2-64BE-204F-97AE-B37F23D8F5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07E8481-CA9A-DB4E-A4AF-53F5B2213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pPr/>
              <a:t>8/3/2022</a:t>
            </a:fld>
            <a:endParaRPr lang="en-U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6A76C00-E1C0-4D4E-8D24-5D326644A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92FE646-C54C-3246-93A7-FA99CA54A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001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B25735-D70C-7A41-8EEB-5F587759B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69B1758-D5D2-314C-992E-B2436FD00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pPr/>
              <a:t>8/3/2022</a:t>
            </a:fld>
            <a:endParaRPr lang="en-U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F32A62F-C383-614B-A2D9-BFF5B0FDD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00D4B3D-B0B0-3041-BA06-C08617F3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1013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0B6A772-04AF-654E-8283-5D2933B7A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pPr/>
              <a:t>8/3/2022</a:t>
            </a:fld>
            <a:endParaRPr lang="en-U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A1C60D2-1F17-B14B-890D-EDE68E38B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87A9DD9-E4A8-8E40-B80E-92B954006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067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26B176-B115-C346-91E0-AF642C8E6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7A2D7A-AFD5-5947-8E4F-852D95DAF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DB15EF-97BA-E544-B471-83FE88E828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37BEC71-5CAF-5841-BC1C-3F6F13215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pPr/>
              <a:t>8/3/2022</a:t>
            </a:fld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CC10E2B-4FDB-4D42-8EDA-0D8294507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9287841-1AEC-5B4A-B09E-0E31DE358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390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8DCD1D-B471-A74D-AD0C-DF337BC89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8AC2A07-FFB8-3548-83AA-813B970BA4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653EF8C-83FF-6244-BDF9-31C65838C5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4E4706C-6CCC-EB4E-8771-0AF60DB7C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pPr/>
              <a:t>8/3/2022</a:t>
            </a:fld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8671AA0-8909-1247-9A7C-6D985C877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AFE7F62-8A4A-E340-9639-910F5686D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607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B124B-2D4B-0D48-A86D-36B857C93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70B2F1B-7129-EF47-8B7A-04FF931DB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B0DFFF1-12F1-0041-AAB8-695051E92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pPr/>
              <a:t>8/3/2022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980FC9-621E-D64F-8D25-6617E79A3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CB62E51-DF73-054B-9C00-5715CE233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581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7B6D4ED-0765-2F45-A17F-F96C12EDCB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06EF30-E540-D34A-A56B-6CFFFA7936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DF8FCB-8C35-124E-B890-92EEE2AF1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pPr/>
              <a:t>8/3/2022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A34D5F-F392-AF41-A2F2-B3F3AAA9A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46FCE0C-445C-744F-B12A-3D3C98FD6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32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A18B293-491E-014A-A0F4-9791CD51F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27FDA7-FF9D-2543-8933-EDE244B5AB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6A4D850-CB31-1841-832F-3985DC32E6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49AA12-8195-4182-A7AC-2E7E59DFBDAF}" type="datetimeFigureOut">
              <a:rPr lang="en-US" smtClean="0"/>
              <a:pPr/>
              <a:t>8/3/2022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892C94-7090-8249-8646-A0580F204E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96772B-8A2A-1442-B731-A40FF5921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DFC975-2FD7-44A5-9E78-ECBA4615607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900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1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creativecommons.org/licenses/by-nc-sa/3.0/" TargetMode="External"/><Relationship Id="rId4" Type="http://schemas.openxmlformats.org/officeDocument/2006/relationships/hyperlink" Target="http://bio.libretexts.org/TextMaps/Map:_Introductory_Biology_(CK-12)/2:_Cell_Biology/2._33:_Cell_Cycle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creativecommons.org/licenses/by-nc-sa/3.0/" TargetMode="External"/><Relationship Id="rId4" Type="http://schemas.openxmlformats.org/officeDocument/2006/relationships/hyperlink" Target="https://mmegias.webs.uvigo.es/5-celulas/8-g1.php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creativecommons.org/licenses/by/3.0/" TargetMode="External"/><Relationship Id="rId4" Type="http://schemas.openxmlformats.org/officeDocument/2006/relationships/hyperlink" Target="https://elifesciences.org/articles/03475/figures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simple.wikipedia.org/wiki/P53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creativecommons.org/licenses/by/3.0/" TargetMode="External"/><Relationship Id="rId4" Type="http://schemas.openxmlformats.org/officeDocument/2006/relationships/hyperlink" Target="https://www.frontiersin.org/articles/10.3389/fncel.2018.00388/full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gqD58khSAu8?feature=oembed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7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9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61F5DED-2C7D-2943-978C-AFC95F3008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5"/>
          <a:stretch/>
        </p:blipFill>
        <p:spPr>
          <a:xfrm>
            <a:off x="3068" y="0"/>
            <a:ext cx="12188932" cy="6857990"/>
          </a:xfrm>
          <a:prstGeom prst="rect">
            <a:avLst/>
          </a:prstGeom>
        </p:spPr>
      </p:pic>
      <p:sp>
        <p:nvSpPr>
          <p:cNvPr id="18" name="Freeform: Shape 13">
            <a:extLst>
              <a:ext uri="{FF2B5EF4-FFF2-40B4-BE49-F238E27FC236}">
                <a16:creationId xmlns:a16="http://schemas.microsoft.com/office/drawing/2014/main" id="{5E8D2E83-FB3A-40E7-A9E5-7AB389D612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23809"/>
            <a:ext cx="11016943" cy="2262375"/>
          </a:xfrm>
          <a:custGeom>
            <a:avLst/>
            <a:gdLst>
              <a:gd name="connsiteX0" fmla="*/ 0 w 11016943"/>
              <a:gd name="connsiteY0" fmla="*/ 0 h 2262375"/>
              <a:gd name="connsiteX1" fmla="*/ 9969166 w 11016943"/>
              <a:gd name="connsiteY1" fmla="*/ 0 h 2262375"/>
              <a:gd name="connsiteX2" fmla="*/ 11016943 w 11016943"/>
              <a:gd name="connsiteY2" fmla="*/ 2262375 h 2262375"/>
              <a:gd name="connsiteX3" fmla="*/ 4942050 w 11016943"/>
              <a:gd name="connsiteY3" fmla="*/ 2262375 h 2262375"/>
              <a:gd name="connsiteX4" fmla="*/ 4582160 w 11016943"/>
              <a:gd name="connsiteY4" fmla="*/ 2262375 h 2262375"/>
              <a:gd name="connsiteX5" fmla="*/ 0 w 11016943"/>
              <a:gd name="connsiteY5" fmla="*/ 2262375 h 2262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016943" h="2262375">
                <a:moveTo>
                  <a:pt x="0" y="0"/>
                </a:moveTo>
                <a:lnTo>
                  <a:pt x="9969166" y="0"/>
                </a:lnTo>
                <a:lnTo>
                  <a:pt x="11016943" y="2262375"/>
                </a:lnTo>
                <a:lnTo>
                  <a:pt x="4942050" y="2262375"/>
                </a:lnTo>
                <a:lnTo>
                  <a:pt x="4582160" y="2262375"/>
                </a:lnTo>
                <a:lnTo>
                  <a:pt x="0" y="2262375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18062" y="4185749"/>
            <a:ext cx="9329127" cy="200498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nard MT Condensed" panose="02050806060905020404" pitchFamily="18" charset="77"/>
              </a:rPr>
              <a:t>INTRODUCCIÓN DEL CICLO CELULAR Y REPRODUCCIÓN CELULAR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BD969A-9475-4CF6-9479-C82A323C1B3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1" t="9091" r="8690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bg1">
                  <a:alpha val="46000"/>
                </a:schemeClr>
              </a:gs>
              <a:gs pos="21000">
                <a:schemeClr val="bg1">
                  <a:alpha val="3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404553" y="3091928"/>
            <a:ext cx="9078562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CICLO CELULAR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6 Marcador de texto"/>
          <p:cNvSpPr>
            <a:spLocks noGrp="1"/>
          </p:cNvSpPr>
          <p:nvPr>
            <p:ph type="body" idx="1"/>
          </p:nvPr>
        </p:nvSpPr>
        <p:spPr>
          <a:xfrm>
            <a:off x="404553" y="5624945"/>
            <a:ext cx="9078562" cy="59297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2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FASE G1            FASE 0                FASE S            FASE G2         FASE M (MITOSIS)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CICLO CELULAR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48931" y="2447925"/>
            <a:ext cx="3505494" cy="378541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_tradnl" sz="1600" dirty="0"/>
              <a:t>El proceso de ciclo celular involucra un crecimiento celular, duplicación de cromosomas, segregación de cromosomas y finalmente la división de la célula</a:t>
            </a:r>
            <a:endParaRPr lang="es-ES_tradnl" sz="1600" dirty="0">
              <a:cs typeface="Calibri"/>
            </a:endParaRPr>
          </a:p>
          <a:p>
            <a:endParaRPr lang="es-ES_tradnl" sz="1600" dirty="0">
              <a:cs typeface="Calibri"/>
            </a:endParaRPr>
          </a:p>
          <a:p>
            <a:r>
              <a:rPr lang="es-ES_tradnl" sz="1600" dirty="0"/>
              <a:t>Este ciclo celular posee un sistema de control (sistema enzimático en cascada que regula el proceso)</a:t>
            </a:r>
            <a:endParaRPr lang="es-ES_tradnl" sz="1600" dirty="0">
              <a:cs typeface="Calibri"/>
            </a:endParaRPr>
          </a:p>
          <a:p>
            <a:endParaRPr lang="es-ES_tradnl" sz="1600" dirty="0">
              <a:cs typeface="Calibri"/>
            </a:endParaRPr>
          </a:p>
          <a:p>
            <a:r>
              <a:rPr lang="es-ES_tradnl" sz="1600" dirty="0"/>
              <a:t>Dependiendo del tipo de células puede variar desde minutos (30 min cel. embrión rana) hasta un año (cel.. hepática humana)</a:t>
            </a:r>
            <a:endParaRPr lang="es-ES_tradnl" sz="1600" dirty="0">
              <a:cs typeface="Calibri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8" name="Imagen 17" descr="Gráfico&#10;&#10;Descripción generada automáticamente">
            <a:extLst>
              <a:ext uri="{FF2B5EF4-FFF2-40B4-BE49-F238E27FC236}">
                <a16:creationId xmlns:a16="http://schemas.microsoft.com/office/drawing/2014/main" id="{39624856-859C-5D49-9EAD-014907AFA0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815921" y="454102"/>
            <a:ext cx="7199214" cy="5946550"/>
          </a:xfrm>
          <a:prstGeom prst="rect">
            <a:avLst/>
          </a:prstGeom>
          <a:effectLst/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B1478E84-669A-2C49-9724-2165AA5F69B4}"/>
              </a:ext>
            </a:extLst>
          </p:cNvPr>
          <p:cNvSpPr txBox="1"/>
          <p:nvPr/>
        </p:nvSpPr>
        <p:spPr>
          <a:xfrm>
            <a:off x="9547793" y="6223819"/>
            <a:ext cx="2467342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s-ES_tradnl" sz="700" dirty="0">
                <a:solidFill>
                  <a:srgbClr val="FFFFFF"/>
                </a:solidFill>
                <a:hlinkClick r:id="rId4" tooltip="http://bio.libretexts.org/TextMaps/Map:_Introductory_Biology_(CK-12)/2:_Cell_Biology/2._33:_Cell_Cyc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Esta foto</a:t>
            </a:r>
            <a:r>
              <a:rPr lang="es-ES_tradnl" sz="700" dirty="0">
                <a:solidFill>
                  <a:srgbClr val="FFFFFF"/>
                </a:solidFill>
              </a:rPr>
              <a:t> de Autor desconocido está bajo licencia </a:t>
            </a:r>
            <a:r>
              <a:rPr lang="es-ES_tradnl" sz="700" dirty="0">
                <a:solidFill>
                  <a:srgbClr val="FFFFFF"/>
                </a:solidFill>
                <a:hlinkClick r:id="rId5" tooltip="https://creativecommons.org/licenses/by-nc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BY-SA-NC</a:t>
            </a:r>
            <a:endParaRPr lang="es-ES_tradnl" sz="7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95CB0BAC-F01E-DA49-B690-716480AC5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729" y="128528"/>
            <a:ext cx="4164734" cy="162232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DESCUBRIMIENTOS EN LAS ESTRATEGIAS DEL CICLO CELULAR</a:t>
            </a:r>
          </a:p>
        </p:txBody>
      </p:sp>
      <p:sp>
        <p:nvSpPr>
          <p:cNvPr id="10" name="4 Marcador de texto">
            <a:extLst>
              <a:ext uri="{FF2B5EF4-FFF2-40B4-BE49-F238E27FC236}">
                <a16:creationId xmlns:a16="http://schemas.microsoft.com/office/drawing/2014/main" id="{B6E294EF-E51B-C649-814F-45EB8FE2E6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91728" y="1618736"/>
            <a:ext cx="4330575" cy="5110736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0" indent="0">
              <a:buNone/>
            </a:pPr>
            <a:r>
              <a:rPr lang="es-ES_tradnl" sz="1400" dirty="0"/>
              <a:t>En experimentos con auto-radiografías se caracterizó el proceso de replicación del ADN de células en crecimiento y se describieron 4 fases:</a:t>
            </a:r>
          </a:p>
          <a:p>
            <a:r>
              <a:rPr lang="es-ES_tradnl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FASE G</a:t>
            </a:r>
            <a:r>
              <a:rPr lang="es-ES_tradnl" sz="140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s-ES_tradnl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es-ES_tradnl" sz="1400" dirty="0"/>
              <a:t>descrito originalmente como un  espacio entre la mitosis y la replicación del ADN, se descubrió posteriormente.</a:t>
            </a:r>
          </a:p>
          <a:p>
            <a:pPr lvl="1"/>
            <a:r>
              <a:rPr lang="es-ES_tradnl" sz="1400" dirty="0"/>
              <a:t>Fase de crecimiento celular.</a:t>
            </a:r>
          </a:p>
          <a:p>
            <a:pPr lvl="1"/>
            <a:r>
              <a:rPr lang="es-ES_tradnl" sz="1400" dirty="0"/>
              <a:t>Punto de control de daño de ADN.</a:t>
            </a:r>
          </a:p>
          <a:p>
            <a:pPr lvl="1"/>
            <a:r>
              <a:rPr lang="es-ES_tradnl" sz="1400" dirty="0"/>
              <a:t>Tiempo en que se checa el medioambiente para decidir si se continua con la replicación del ADN.</a:t>
            </a:r>
          </a:p>
          <a:p>
            <a:r>
              <a:rPr lang="es-ES_tradnl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FASE  S: </a:t>
            </a:r>
            <a:r>
              <a:rPr lang="es-ES_tradnl" sz="1400" dirty="0"/>
              <a:t>fase de la síntesis o replicación del ADN.</a:t>
            </a:r>
          </a:p>
          <a:p>
            <a:r>
              <a:rPr lang="es-ES_tradnl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FASE G</a:t>
            </a:r>
            <a:r>
              <a:rPr lang="es-ES_tradnl" sz="140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s-ES_tradnl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es-ES_tradnl" sz="1400" dirty="0"/>
              <a:t>descrita originalmente como un espacio entre la replicación del ADN y la mitosis.  </a:t>
            </a:r>
          </a:p>
          <a:p>
            <a:pPr lvl="1"/>
            <a:r>
              <a:rPr lang="es-ES_tradnl" sz="1400" dirty="0"/>
              <a:t>Punto en que se checa si se ha replicado correctamente y completamente el ADN antes de entrar a la mitosis.</a:t>
            </a:r>
          </a:p>
          <a:p>
            <a:r>
              <a:rPr lang="es-ES_tradnl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FASE M:  </a:t>
            </a:r>
            <a:r>
              <a:rPr lang="es-ES_tradnl" sz="1400" dirty="0"/>
              <a:t>mitosis separa el  genoma replicado en dos células hijas </a:t>
            </a:r>
          </a:p>
          <a:p>
            <a:pPr lvl="1"/>
            <a:r>
              <a:rPr lang="es-ES_tradnl" sz="1200" dirty="0"/>
              <a:t>citocinesis separación del citoplasma.</a:t>
            </a:r>
          </a:p>
          <a:p>
            <a:r>
              <a:rPr lang="es-ES_tradnl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FASE G</a:t>
            </a:r>
            <a:r>
              <a:rPr lang="es-ES_tradnl" sz="140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r>
              <a:rPr lang="es-ES_tradnl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 </a:t>
            </a:r>
            <a:r>
              <a:rPr lang="es-ES_tradnl" sz="1400" dirty="0"/>
              <a:t>células progenitoras o algunas diferenciadas  en eucariotas superiores pueden entrar en el ciclo celular en este estadio, donde detienen su fase de desarrollo, división.</a:t>
            </a:r>
          </a:p>
        </p:txBody>
      </p:sp>
      <p:sp>
        <p:nvSpPr>
          <p:cNvPr id="40" name="Rectangle 35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9DDE5A45-62E4-F64F-917F-013D6DD021EC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 rotWithShape="1">
          <a:blip r:embed="rId3" cstate="print"/>
          <a:srcRect l="1368" t="2043" r="1317" b="9956"/>
          <a:stretch/>
        </p:blipFill>
        <p:spPr bwMode="auto">
          <a:xfrm>
            <a:off x="4833566" y="128528"/>
            <a:ext cx="7166705" cy="6282211"/>
          </a:xfrm>
          <a:prstGeom prst="rect">
            <a:avLst/>
          </a:prstGeom>
          <a:noFill/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484214" y="270921"/>
            <a:ext cx="4356407" cy="162232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just"/>
            <a:r>
              <a:rPr lang="en-US" sz="2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PUNTOS DE CONTROL (CHECK-POINTS) ENTRE LA TRANSICIÓN DE LAS FASES DEL CICLO CELULAR.</a:t>
            </a:r>
          </a:p>
        </p:txBody>
      </p:sp>
      <p:sp>
        <p:nvSpPr>
          <p:cNvPr id="6" name="5 Marcador de texto"/>
          <p:cNvSpPr>
            <a:spLocks noGrp="1"/>
          </p:cNvSpPr>
          <p:nvPr>
            <p:ph sz="half" idx="2"/>
          </p:nvPr>
        </p:nvSpPr>
        <p:spPr>
          <a:xfrm>
            <a:off x="484214" y="1742304"/>
            <a:ext cx="4056867" cy="448151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s-ES_tradnl" sz="1700" b="1" dirty="0"/>
              <a:t>Punto de control G</a:t>
            </a:r>
            <a:r>
              <a:rPr lang="es-ES_tradnl" sz="1700" b="1" baseline="-25000" dirty="0"/>
              <a:t>1</a:t>
            </a:r>
            <a:r>
              <a:rPr lang="es-ES_tradnl" sz="1700" dirty="0"/>
              <a:t>: Monitorea el tamaño celular, condiciones demedio ambiente e interacciones con células vecinas y matriz celular.</a:t>
            </a:r>
          </a:p>
          <a:p>
            <a:r>
              <a:rPr lang="es-ES_tradnl" sz="1700" b="1" dirty="0"/>
              <a:t>Punto de control de Daño ADN G</a:t>
            </a:r>
            <a:r>
              <a:rPr lang="es-ES_tradnl" sz="1700" b="1" baseline="-25000" dirty="0"/>
              <a:t>1</a:t>
            </a:r>
            <a:r>
              <a:rPr lang="es-ES_tradnl" sz="1700" b="1" dirty="0"/>
              <a:t>/S</a:t>
            </a:r>
            <a:r>
              <a:rPr lang="es-ES_tradnl" sz="1700" dirty="0"/>
              <a:t>: Aquí se checa el ADN, si esta dañado se detienen el ciclo celular.</a:t>
            </a:r>
          </a:p>
          <a:p>
            <a:r>
              <a:rPr lang="es-ES_tradnl" sz="1700" b="1" dirty="0"/>
              <a:t>Punto de control de Daño ADN G</a:t>
            </a:r>
            <a:r>
              <a:rPr lang="es-ES_tradnl" sz="1700" b="1" baseline="-25000" dirty="0"/>
              <a:t>2</a:t>
            </a:r>
            <a:r>
              <a:rPr lang="es-ES_tradnl" sz="1700" b="1" dirty="0"/>
              <a:t>/M</a:t>
            </a:r>
            <a:r>
              <a:rPr lang="es-ES_tradnl" sz="1700" dirty="0"/>
              <a:t>: Una cascada de proteínquinasas (PK) detiene el ciclo celular hasta que el daño es reparado.</a:t>
            </a:r>
          </a:p>
          <a:p>
            <a:r>
              <a:rPr lang="es-ES_tradnl" sz="1700" b="1" dirty="0"/>
              <a:t>Punto de control del ensamblaje de uso mitótico en Metafase</a:t>
            </a:r>
            <a:r>
              <a:rPr lang="es-ES_tradnl" sz="1700" dirty="0"/>
              <a:t>:  Detienen o retrasa la separación de las cromátides hermanas hasta que todas estén unidas al uso mitótico.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F7435D-E3DB-47B1-BA61-B00ACC83A9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2950" y="0"/>
            <a:ext cx="6099050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ounded Rectangle 9">
            <a:extLst>
              <a:ext uri="{FF2B5EF4-FFF2-40B4-BE49-F238E27FC236}">
                <a16:creationId xmlns:a16="http://schemas.microsoft.com/office/drawing/2014/main" id="{F263A0B5-F8C4-4116-809F-78A768EA79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77582" y="557784"/>
            <a:ext cx="5130204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3">
            <a:extLst>
              <a:ext uri="{FF2B5EF4-FFF2-40B4-BE49-F238E27FC236}">
                <a16:creationId xmlns:a16="http://schemas.microsoft.com/office/drawing/2014/main" id="{CDF1228C-B0FC-864A-A3EA-7072399FA8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/>
          <a:srcRect l="1368" t="2043" r="1317" b="9956"/>
          <a:stretch/>
        </p:blipFill>
        <p:spPr bwMode="auto">
          <a:xfrm>
            <a:off x="4932958" y="270921"/>
            <a:ext cx="7166705" cy="6282211"/>
          </a:xfrm>
          <a:prstGeom prst="rect">
            <a:avLst/>
          </a:prstGeom>
          <a:noFill/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2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318500-955E-43F2-87ED-197363EC72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7" t="9091" r="2311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REGULACIÓN BIOQUÍMICA DE CICLO CELULAR</a:t>
            </a:r>
          </a:p>
        </p:txBody>
      </p:sp>
      <p:sp>
        <p:nvSpPr>
          <p:cNvPr id="6" name="5 Marcador de texto"/>
          <p:cNvSpPr>
            <a:spLocks noGrp="1"/>
          </p:cNvSpPr>
          <p:nvPr>
            <p:ph type="body" idx="1"/>
          </p:nvPr>
        </p:nvSpPr>
        <p:spPr>
          <a:xfrm>
            <a:off x="477980" y="4872922"/>
            <a:ext cx="4023359" cy="120814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b="1" dirty="0">
                <a:solidFill>
                  <a:schemeClr val="tx1"/>
                </a:solidFill>
              </a:rPr>
              <a:t>CICLINAS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QUINASAS DEPENDIENTES DE CICLINAS (Cdk´s)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xfrm>
            <a:off x="181541" y="341031"/>
            <a:ext cx="4440273" cy="772151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just"/>
            <a:r>
              <a:rPr lang="en-US" sz="1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REGULACIÓN BIOQUÍMICA DEL CICLO CELULAR MEDIANTE CINASAS DEPENDIENTES DE CICLINAS 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half" idx="2"/>
          </p:nvPr>
        </p:nvSpPr>
        <p:spPr>
          <a:xfrm>
            <a:off x="181541" y="1113182"/>
            <a:ext cx="3972884" cy="511063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_tradnl" sz="1200" dirty="0"/>
              <a:t> Descubrimiento de ciclinas y quinasas dependientes de ciclinas.</a:t>
            </a:r>
            <a:endParaRPr lang="es-ES_tradnl" sz="1200" dirty="0">
              <a:cs typeface="Calibri"/>
            </a:endParaRPr>
          </a:p>
          <a:p>
            <a:r>
              <a:rPr lang="es-ES_tradnl" sz="1200" dirty="0"/>
              <a:t>Estudios genéticos en levaduras revelaron la existencia de  docenas de genes Cdc que son requeridos para la progresión del ciclo celular.</a:t>
            </a:r>
            <a:endParaRPr lang="es-ES_tradnl" sz="1200" dirty="0">
              <a:cs typeface="Calibri"/>
            </a:endParaRPr>
          </a:p>
          <a:p>
            <a:r>
              <a:rPr lang="es-ES_tradnl" sz="1200" dirty="0"/>
              <a:t>Experimentos bioquímicos en síntesis de proteína en embriones tempranos detectaron proteínas (ciclinas) que son sintetizadas y destruidas en sincronía con las fases ciclo celular</a:t>
            </a:r>
            <a:endParaRPr lang="es-ES_tradnl" sz="1200" dirty="0">
              <a:cs typeface="Calibri"/>
            </a:endParaRPr>
          </a:p>
          <a:p>
            <a:r>
              <a:rPr lang="es-ES_tradnl" sz="1200" dirty="0"/>
              <a:t>Experimentos de fusión celular e inyecciones citoplasmáticas detectaron factores que impulsan las células en interfase a la mitosis (MPF: maturation promoting factor o M-phase promoting factor).</a:t>
            </a:r>
            <a:endParaRPr lang="es-ES_tradnl" sz="1200" dirty="0">
              <a:cs typeface="Calibri"/>
            </a:endParaRPr>
          </a:p>
          <a:p>
            <a:r>
              <a:rPr lang="es-ES_tradnl" sz="1200" dirty="0"/>
              <a:t>La purificación de los MPF reveló un complejo proteico que consiste en ciclinas y proteínquinasas, el producto de los genes Cdc2 estudiados en la levadura (llamados ahora Cdk1).</a:t>
            </a:r>
            <a:endParaRPr lang="es-ES_tradnl" sz="1200" dirty="0">
              <a:cs typeface="Calibri"/>
            </a:endParaRPr>
          </a:p>
          <a:p>
            <a:r>
              <a:rPr lang="es-ES_tradnl" sz="1200" dirty="0"/>
              <a:t>Se realizaron después estudios de ciclo celular in vitro en ovocitos de rana libres de extractos celulares.</a:t>
            </a:r>
            <a:endParaRPr lang="es-ES_tradnl" sz="1200" dirty="0">
              <a:cs typeface="Calibri"/>
            </a:endParaRPr>
          </a:p>
          <a:p>
            <a:r>
              <a:rPr lang="es-ES_tradnl" sz="1200" dirty="0"/>
              <a:t>Se han detectado en humanos más de 10 genes de Cdk y 16 genes de ciclinas.</a:t>
            </a:r>
            <a:endParaRPr lang="es-ES_tradnl" sz="1200" dirty="0">
              <a:cs typeface="Calibri"/>
            </a:endParaRPr>
          </a:p>
          <a:p>
            <a:r>
              <a:rPr lang="es-ES_tradnl" sz="1200" dirty="0"/>
              <a:t>Se descubrieron la transición de las fases del ciclo celular y que es regulado por Cdk: G</a:t>
            </a:r>
            <a:r>
              <a:rPr lang="es-ES_tradnl" sz="1200" baseline="-25000" dirty="0"/>
              <a:t>1</a:t>
            </a:r>
            <a:r>
              <a:rPr lang="es-ES_tradnl" sz="1200" dirty="0"/>
              <a:t>/S, S/G</a:t>
            </a:r>
            <a:r>
              <a:rPr lang="es-ES_tradnl" sz="1200" baseline="-25000" dirty="0"/>
              <a:t>2</a:t>
            </a:r>
            <a:r>
              <a:rPr lang="es-ES_tradnl" sz="1200" dirty="0"/>
              <a:t>, G</a:t>
            </a:r>
            <a:r>
              <a:rPr lang="es-ES_tradnl" sz="1200" baseline="-25000" dirty="0"/>
              <a:t>2</a:t>
            </a:r>
            <a:r>
              <a:rPr lang="es-ES_tradnl" sz="1200" dirty="0"/>
              <a:t>/M.</a:t>
            </a:r>
            <a:endParaRPr lang="es-ES_tradnl" sz="1200" dirty="0">
              <a:cs typeface="Calibri"/>
            </a:endParaRPr>
          </a:p>
          <a:p>
            <a:endParaRPr lang="es-ES_tradnl" sz="1200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half" idx="1"/>
          </p:nvPr>
        </p:nvPicPr>
        <p:blipFill rotWithShape="1">
          <a:blip r:embed="rId3" cstate="print"/>
          <a:srcRect l="1312" r="9755" b="4"/>
          <a:stretch/>
        </p:blipFill>
        <p:spPr bwMode="auto">
          <a:xfrm>
            <a:off x="5405862" y="939446"/>
            <a:ext cx="6019331" cy="4975862"/>
          </a:xfrm>
          <a:prstGeom prst="rect">
            <a:avLst/>
          </a:prstGeom>
          <a:noFill/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774698" y="3648548"/>
            <a:ext cx="6108727" cy="2481864"/>
          </a:xfrm>
        </p:spPr>
        <p:txBody>
          <a:bodyPr vert="horz" lIns="121920" tIns="60960" rIns="121920" bIns="60960" rtlCol="0" anchor="ctr">
            <a:normAutofit/>
          </a:bodyPr>
          <a:lstStyle/>
          <a:p>
            <a:pPr indent="-304792" defTabSz="1219170"/>
            <a:endParaRPr lang="en-US" sz="1467" dirty="0"/>
          </a:p>
          <a:p>
            <a:pPr indent="-304792" defTabSz="1219170"/>
            <a:endParaRPr lang="en-US" sz="1467" dirty="0"/>
          </a:p>
        </p:txBody>
      </p:sp>
      <p:pic>
        <p:nvPicPr>
          <p:cNvPr id="1026" name="Picture 2" descr="43_007"/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3" cstate="print"/>
          <a:srcRect r="1" b="261"/>
          <a:stretch/>
        </p:blipFill>
        <p:spPr bwMode="auto">
          <a:xfrm>
            <a:off x="7339089" y="450221"/>
            <a:ext cx="4371503" cy="5952415"/>
          </a:xfrm>
          <a:prstGeom prst="rect">
            <a:avLst/>
          </a:prstGeom>
          <a:noFill/>
        </p:spPr>
      </p:pic>
      <p:sp>
        <p:nvSpPr>
          <p:cNvPr id="9" name="3 Título">
            <a:extLst>
              <a:ext uri="{FF2B5EF4-FFF2-40B4-BE49-F238E27FC236}">
                <a16:creationId xmlns:a16="http://schemas.microsoft.com/office/drawing/2014/main" id="{A3CA0A58-41E8-1E46-A104-4583EEE2EFE8}"/>
              </a:ext>
            </a:extLst>
          </p:cNvPr>
          <p:cNvSpPr txBox="1">
            <a:spLocks/>
          </p:cNvSpPr>
          <p:nvPr/>
        </p:nvSpPr>
        <p:spPr>
          <a:xfrm>
            <a:off x="224690" y="111212"/>
            <a:ext cx="6500366" cy="1622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700" b="1" dirty="0"/>
              <a:t>REGULACIÓN POSITIVA DE CDKs</a:t>
            </a:r>
          </a:p>
        </p:txBody>
      </p:sp>
      <p:sp>
        <p:nvSpPr>
          <p:cNvPr id="10" name="2 Marcador de contenido">
            <a:extLst>
              <a:ext uri="{FF2B5EF4-FFF2-40B4-BE49-F238E27FC236}">
                <a16:creationId xmlns:a16="http://schemas.microsoft.com/office/drawing/2014/main" id="{CDE6DC4D-8076-6B4A-B561-95915E1FFA66}"/>
              </a:ext>
            </a:extLst>
          </p:cNvPr>
          <p:cNvSpPr txBox="1">
            <a:spLocks/>
          </p:cNvSpPr>
          <p:nvPr/>
        </p:nvSpPr>
        <p:spPr>
          <a:xfrm>
            <a:off x="383059" y="1458097"/>
            <a:ext cx="6500366" cy="4765723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_tradnl" sz="1600" dirty="0"/>
              <a:t>La fosforilación de un sitio de activación ("T-loop")</a:t>
            </a:r>
          </a:p>
          <a:p>
            <a:r>
              <a:rPr lang="es-ES_tradnl" sz="1600" dirty="0"/>
              <a:t> Aquí una treonina estimula la actividad y fosforilación de otros promotores de treonina ligados a ciclinas; </a:t>
            </a:r>
          </a:p>
          <a:p>
            <a:pPr lvl="1"/>
            <a:r>
              <a:rPr lang="es-ES_tradnl" sz="1600" dirty="0"/>
              <a:t>las Cdk se auto-fosforilan los sitios de activación y esto es parte de un control de retroalimentación positivo resultando  en un tipo de switch para la transición entre las fases del ciclo celular.</a:t>
            </a:r>
          </a:p>
          <a:p>
            <a:r>
              <a:rPr lang="es-ES_tradnl" sz="1600" dirty="0"/>
              <a:t>Ciclinas se unen a Cdk activas (cambio de conformación en el sito activo y fluctúa a través del ciclo celular dependiendo del nivel de ciclinas en célula). Algunas ciclinas son sintetizadas y degradadas en la transición de cada ciclo celular.</a:t>
            </a:r>
          </a:p>
          <a:p>
            <a:pPr indent="-304165" defTabSz="1219170"/>
            <a:r>
              <a:rPr lang="es-ES_tradnl" sz="1600" dirty="0"/>
              <a:t>La fosforilación de una tirosina y una treonina inhiben la actividad; la eliminación de un fosfato a la tirosina por Cdc25 promueven la actividad </a:t>
            </a:r>
            <a:endParaRPr lang="es-ES_tradnl" sz="1600" dirty="0">
              <a:cs typeface="Calibri"/>
            </a:endParaRPr>
          </a:p>
          <a:p>
            <a:pPr indent="-304165" defTabSz="1219170"/>
            <a:r>
              <a:rPr lang="es-ES_tradnl" sz="1600" dirty="0"/>
              <a:t>Existen dos clases de inhibidores proteicos que se unen a Cdk:</a:t>
            </a:r>
            <a:endParaRPr lang="es-ES_tradnl" sz="1600" dirty="0">
              <a:cs typeface="Calibri" panose="020F0502020204030204"/>
            </a:endParaRPr>
          </a:p>
          <a:p>
            <a:pPr lvl="1" indent="-304165" defTabSz="1219170"/>
            <a:r>
              <a:rPr lang="es-ES_tradnl" sz="1600" dirty="0"/>
              <a:t>CKIs (cyclin-dependent kinase inhibitors) inhibidores de quinasas dependientes de ciclinas</a:t>
            </a:r>
            <a:endParaRPr lang="es-ES_tradnl" sz="1600" dirty="0">
              <a:cs typeface="Calibri"/>
            </a:endParaRPr>
          </a:p>
          <a:p>
            <a:pPr lvl="1" indent="-304165" defTabSz="1219170"/>
            <a:r>
              <a:rPr lang="es-ES_tradnl" sz="1600" dirty="0"/>
              <a:t>INKs (inhibidores de quinasas)</a:t>
            </a:r>
            <a:endParaRPr lang="es-ES_tradnl" sz="1600" dirty="0">
              <a:cs typeface="Calibri" panose="020F0502020204030204"/>
            </a:endParaRPr>
          </a:p>
          <a:p>
            <a:pPr lvl="1" indent="-304165" defTabSz="1219170"/>
            <a:r>
              <a:rPr lang="es-ES_tradnl" sz="1600" dirty="0"/>
              <a:t>Ayudan al control de la actividad de los CDK en las fases de G</a:t>
            </a:r>
            <a:r>
              <a:rPr lang="es-ES_tradnl" sz="1600" baseline="-25000" dirty="0"/>
              <a:t>1</a:t>
            </a:r>
            <a:r>
              <a:rPr lang="es-ES_tradnl" sz="1600" dirty="0"/>
              <a:t> y G</a:t>
            </a:r>
            <a:r>
              <a:rPr lang="es-ES_tradnl" sz="1600" baseline="-25000" dirty="0"/>
              <a:t>0</a:t>
            </a:r>
            <a:r>
              <a:rPr lang="es-ES_tradnl" sz="1600" dirty="0"/>
              <a:t> del ciclo celular.</a:t>
            </a:r>
            <a:endParaRPr lang="es-ES_tradnl" sz="1600" dirty="0">
              <a:cs typeface="Calibri" panose="020F0502020204030204"/>
            </a:endParaRPr>
          </a:p>
          <a:p>
            <a:endParaRPr lang="es-ES_tradnl" sz="1600" dirty="0"/>
          </a:p>
          <a:p>
            <a:endParaRPr lang="es-ES_tradnl" sz="1600" dirty="0"/>
          </a:p>
          <a:p>
            <a:endParaRPr lang="es-ES_tradnl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4D4677D2-D5AC-4CF9-9EED-2B89D0A1C2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6D54F7E-825A-4BBA-815F-35CCA8B97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80681"/>
            <a:ext cx="12192000" cy="2777318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9" name="Picture 7">
            <a:extLst>
              <a:ext uri="{FF2B5EF4-FFF2-40B4-BE49-F238E27FC236}">
                <a16:creationId xmlns:a16="http://schemas.microsoft.com/office/drawing/2014/main" id="{535A82CA-7D7F-4521-BE1E-0BD1E46D106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730"/>
          <a:stretch/>
        </p:blipFill>
        <p:spPr>
          <a:xfrm>
            <a:off x="27" y="13"/>
            <a:ext cx="12191973" cy="6857987"/>
          </a:xfrm>
          <a:custGeom>
            <a:avLst/>
            <a:gdLst/>
            <a:ahLst/>
            <a:cxnLst/>
            <a:rect l="l" t="t" r="r" b="b"/>
            <a:pathLst>
              <a:path w="12191999" h="6842601">
                <a:moveTo>
                  <a:pt x="0" y="0"/>
                </a:moveTo>
                <a:lnTo>
                  <a:pt x="12191999" y="0"/>
                </a:lnTo>
                <a:lnTo>
                  <a:pt x="12191999" y="6842601"/>
                </a:lnTo>
                <a:lnTo>
                  <a:pt x="10316981" y="6842601"/>
                </a:lnTo>
                <a:cubicBezTo>
                  <a:pt x="10312796" y="6835189"/>
                  <a:pt x="10163183" y="6730124"/>
                  <a:pt x="10158998" y="6722712"/>
                </a:cubicBezTo>
                <a:cubicBezTo>
                  <a:pt x="10120278" y="6678190"/>
                  <a:pt x="10156462" y="6716223"/>
                  <a:pt x="10090349" y="6671420"/>
                </a:cubicBezTo>
                <a:cubicBezTo>
                  <a:pt x="10043032" y="6655694"/>
                  <a:pt x="9995855" y="6551879"/>
                  <a:pt x="9955425" y="6498018"/>
                </a:cubicBezTo>
                <a:cubicBezTo>
                  <a:pt x="9939618" y="6480021"/>
                  <a:pt x="9915110" y="6461677"/>
                  <a:pt x="9891265" y="6454528"/>
                </a:cubicBezTo>
                <a:cubicBezTo>
                  <a:pt x="9868239" y="6464957"/>
                  <a:pt x="9865423" y="6431640"/>
                  <a:pt x="9848227" y="6426063"/>
                </a:cubicBezTo>
                <a:cubicBezTo>
                  <a:pt x="9838059" y="6433162"/>
                  <a:pt x="9815047" y="6410348"/>
                  <a:pt x="9812354" y="6399604"/>
                </a:cubicBezTo>
                <a:cubicBezTo>
                  <a:pt x="9825285" y="6377997"/>
                  <a:pt x="9725923" y="6372757"/>
                  <a:pt x="9725915" y="6356381"/>
                </a:cubicBezTo>
                <a:cubicBezTo>
                  <a:pt x="9696279" y="6348066"/>
                  <a:pt x="9591199" y="6354143"/>
                  <a:pt x="9575033" y="6325258"/>
                </a:cubicBezTo>
                <a:cubicBezTo>
                  <a:pt x="9516434" y="6303128"/>
                  <a:pt x="9441613" y="6276805"/>
                  <a:pt x="9415626" y="6271777"/>
                </a:cubicBezTo>
                <a:cubicBezTo>
                  <a:pt x="9378293" y="6313495"/>
                  <a:pt x="9281935" y="6171365"/>
                  <a:pt x="9171493" y="6150430"/>
                </a:cubicBezTo>
                <a:cubicBezTo>
                  <a:pt x="9155426" y="6152396"/>
                  <a:pt x="9147439" y="6151015"/>
                  <a:pt x="9146018" y="6139864"/>
                </a:cubicBezTo>
                <a:cubicBezTo>
                  <a:pt x="9112029" y="6132441"/>
                  <a:pt x="9087339" y="6101138"/>
                  <a:pt x="9059635" y="6109957"/>
                </a:cubicBezTo>
                <a:cubicBezTo>
                  <a:pt x="9024424" y="6092144"/>
                  <a:pt x="9043048" y="6078417"/>
                  <a:pt x="9010911" y="6064789"/>
                </a:cubicBezTo>
                <a:lnTo>
                  <a:pt x="8866811" y="6028191"/>
                </a:lnTo>
                <a:cubicBezTo>
                  <a:pt x="8846465" y="6021172"/>
                  <a:pt x="8825221" y="6000527"/>
                  <a:pt x="8804584" y="5994237"/>
                </a:cubicBezTo>
                <a:lnTo>
                  <a:pt x="8783071" y="5990448"/>
                </a:lnTo>
                <a:lnTo>
                  <a:pt x="8770456" y="5978060"/>
                </a:lnTo>
                <a:cubicBezTo>
                  <a:pt x="8764772" y="5975259"/>
                  <a:pt x="8757695" y="5974720"/>
                  <a:pt x="8748297" y="5978070"/>
                </a:cubicBezTo>
                <a:cubicBezTo>
                  <a:pt x="8730344" y="5973495"/>
                  <a:pt x="8679808" y="5955894"/>
                  <a:pt x="8662742" y="5950603"/>
                </a:cubicBezTo>
                <a:lnTo>
                  <a:pt x="8645902" y="5946326"/>
                </a:lnTo>
                <a:lnTo>
                  <a:pt x="8638176" y="5938358"/>
                </a:lnTo>
                <a:cubicBezTo>
                  <a:pt x="8625897" y="5932642"/>
                  <a:pt x="8594811" y="5922073"/>
                  <a:pt x="8572224" y="5912032"/>
                </a:cubicBezTo>
                <a:cubicBezTo>
                  <a:pt x="8553809" y="5897782"/>
                  <a:pt x="8529845" y="5886100"/>
                  <a:pt x="8502655" y="5878114"/>
                </a:cubicBezTo>
                <a:cubicBezTo>
                  <a:pt x="8496990" y="5883034"/>
                  <a:pt x="8489611" y="5872566"/>
                  <a:pt x="8485159" y="5869819"/>
                </a:cubicBezTo>
                <a:cubicBezTo>
                  <a:pt x="8483457" y="5873482"/>
                  <a:pt x="8471232" y="5872664"/>
                  <a:pt x="8468539" y="5868711"/>
                </a:cubicBezTo>
                <a:cubicBezTo>
                  <a:pt x="8389167" y="5836352"/>
                  <a:pt x="8421742" y="5881497"/>
                  <a:pt x="8379810" y="5849376"/>
                </a:cubicBezTo>
                <a:cubicBezTo>
                  <a:pt x="8371729" y="5846373"/>
                  <a:pt x="8364483" y="5846766"/>
                  <a:pt x="8357758" y="5848601"/>
                </a:cubicBezTo>
                <a:lnTo>
                  <a:pt x="8315264" y="5836192"/>
                </a:lnTo>
                <a:cubicBezTo>
                  <a:pt x="8299077" y="5829531"/>
                  <a:pt x="8281671" y="5824011"/>
                  <a:pt x="8263455" y="5819793"/>
                </a:cubicBezTo>
                <a:cubicBezTo>
                  <a:pt x="8257386" y="5826849"/>
                  <a:pt x="8245582" y="5813448"/>
                  <a:pt x="8239287" y="5810141"/>
                </a:cubicBezTo>
                <a:cubicBezTo>
                  <a:pt x="8237965" y="5815186"/>
                  <a:pt x="8222226" y="5815108"/>
                  <a:pt x="8217888" y="5810039"/>
                </a:cubicBezTo>
                <a:cubicBezTo>
                  <a:pt x="8109447" y="5773303"/>
                  <a:pt x="8161302" y="5831037"/>
                  <a:pt x="8100547" y="5791517"/>
                </a:cubicBezTo>
                <a:cubicBezTo>
                  <a:pt x="8089574" y="5788167"/>
                  <a:pt x="8080448" y="5789295"/>
                  <a:pt x="8072316" y="5792309"/>
                </a:cubicBezTo>
                <a:lnTo>
                  <a:pt x="8056967" y="5800648"/>
                </a:lnTo>
                <a:lnTo>
                  <a:pt x="8047885" y="5795270"/>
                </a:lnTo>
                <a:cubicBezTo>
                  <a:pt x="8010204" y="5788738"/>
                  <a:pt x="7996426" y="5797608"/>
                  <a:pt x="7977128" y="5783189"/>
                </a:cubicBezTo>
                <a:cubicBezTo>
                  <a:pt x="7943466" y="5775577"/>
                  <a:pt x="7904823" y="5770953"/>
                  <a:pt x="7874392" y="5763715"/>
                </a:cubicBezTo>
                <a:cubicBezTo>
                  <a:pt x="7860337" y="5743777"/>
                  <a:pt x="7817541" y="5748989"/>
                  <a:pt x="7794543" y="5739759"/>
                </a:cubicBezTo>
                <a:cubicBezTo>
                  <a:pt x="7784688" y="5731467"/>
                  <a:pt x="7776709" y="5729004"/>
                  <a:pt x="7763762" y="5734031"/>
                </a:cubicBezTo>
                <a:cubicBezTo>
                  <a:pt x="7718781" y="5694154"/>
                  <a:pt x="7732231" y="5727368"/>
                  <a:pt x="7685889" y="5707234"/>
                </a:cubicBezTo>
                <a:cubicBezTo>
                  <a:pt x="7646521" y="5687607"/>
                  <a:pt x="7600389" y="5671470"/>
                  <a:pt x="7566744" y="5634586"/>
                </a:cubicBezTo>
                <a:cubicBezTo>
                  <a:pt x="7561306" y="5624813"/>
                  <a:pt x="7543589" y="5618525"/>
                  <a:pt x="7527170" y="5620542"/>
                </a:cubicBezTo>
                <a:cubicBezTo>
                  <a:pt x="7524343" y="5620889"/>
                  <a:pt x="7521664" y="5621475"/>
                  <a:pt x="7519214" y="5622280"/>
                </a:cubicBezTo>
                <a:cubicBezTo>
                  <a:pt x="7500062" y="5596964"/>
                  <a:pt x="7480476" y="5604337"/>
                  <a:pt x="7473157" y="5588143"/>
                </a:cubicBezTo>
                <a:cubicBezTo>
                  <a:pt x="7433415" y="5574859"/>
                  <a:pt x="7395118" y="5582388"/>
                  <a:pt x="7388000" y="5568063"/>
                </a:cubicBezTo>
                <a:cubicBezTo>
                  <a:pt x="7366403" y="5564920"/>
                  <a:pt x="7332262" y="5573848"/>
                  <a:pt x="7320876" y="5557698"/>
                </a:cubicBezTo>
                <a:cubicBezTo>
                  <a:pt x="7314891" y="5568111"/>
                  <a:pt x="7299319" y="5544964"/>
                  <a:pt x="7284480" y="5549820"/>
                </a:cubicBezTo>
                <a:cubicBezTo>
                  <a:pt x="7273570" y="5554430"/>
                  <a:pt x="7266301" y="5548483"/>
                  <a:pt x="7256619" y="5546379"/>
                </a:cubicBezTo>
                <a:cubicBezTo>
                  <a:pt x="7242503" y="5549088"/>
                  <a:pt x="7202543" y="5533379"/>
                  <a:pt x="7193112" y="5525289"/>
                </a:cubicBezTo>
                <a:cubicBezTo>
                  <a:pt x="7172259" y="5499151"/>
                  <a:pt x="7108617" y="5505485"/>
                  <a:pt x="7090943" y="5485177"/>
                </a:cubicBezTo>
                <a:cubicBezTo>
                  <a:pt x="7083637" y="5481419"/>
                  <a:pt x="7076140" y="5479148"/>
                  <a:pt x="7068566" y="5477809"/>
                </a:cubicBezTo>
                <a:lnTo>
                  <a:pt x="7023035" y="5476595"/>
                </a:lnTo>
                <a:lnTo>
                  <a:pt x="7001197" y="5476163"/>
                </a:lnTo>
                <a:cubicBezTo>
                  <a:pt x="7016126" y="5454256"/>
                  <a:pt x="6943549" y="5466815"/>
                  <a:pt x="6967472" y="5451057"/>
                </a:cubicBezTo>
                <a:cubicBezTo>
                  <a:pt x="6931240" y="5443544"/>
                  <a:pt x="6920843" y="5429649"/>
                  <a:pt x="6883334" y="5418880"/>
                </a:cubicBezTo>
                <a:lnTo>
                  <a:pt x="6742417" y="5386446"/>
                </a:lnTo>
                <a:cubicBezTo>
                  <a:pt x="6690532" y="5366095"/>
                  <a:pt x="6665174" y="5364632"/>
                  <a:pt x="6618315" y="5353085"/>
                </a:cubicBezTo>
                <a:cubicBezTo>
                  <a:pt x="6581698" y="5304210"/>
                  <a:pt x="6547395" y="5315779"/>
                  <a:pt x="6521050" y="5283194"/>
                </a:cubicBezTo>
                <a:cubicBezTo>
                  <a:pt x="6469114" y="5268862"/>
                  <a:pt x="6472597" y="5253957"/>
                  <a:pt x="6414460" y="5253832"/>
                </a:cubicBezTo>
                <a:lnTo>
                  <a:pt x="6362535" y="5220502"/>
                </a:lnTo>
                <a:cubicBezTo>
                  <a:pt x="6350866" y="5213881"/>
                  <a:pt x="6347641" y="5215777"/>
                  <a:pt x="6344443" y="5214103"/>
                </a:cubicBezTo>
                <a:lnTo>
                  <a:pt x="6343344" y="5210454"/>
                </a:lnTo>
                <a:lnTo>
                  <a:pt x="6333344" y="5205307"/>
                </a:lnTo>
                <a:lnTo>
                  <a:pt x="6315602" y="5193288"/>
                </a:lnTo>
                <a:lnTo>
                  <a:pt x="6310442" y="5192802"/>
                </a:lnTo>
                <a:lnTo>
                  <a:pt x="6280815" y="5177420"/>
                </a:lnTo>
                <a:lnTo>
                  <a:pt x="6279533" y="5178045"/>
                </a:lnTo>
                <a:cubicBezTo>
                  <a:pt x="6275980" y="5179097"/>
                  <a:pt x="6272084" y="5179212"/>
                  <a:pt x="6267362" y="5177370"/>
                </a:cubicBezTo>
                <a:cubicBezTo>
                  <a:pt x="6261796" y="5192470"/>
                  <a:pt x="6259530" y="5180933"/>
                  <a:pt x="6246095" y="5174167"/>
                </a:cubicBezTo>
                <a:lnTo>
                  <a:pt x="6155252" y="5161201"/>
                </a:lnTo>
                <a:lnTo>
                  <a:pt x="6148525" y="5158442"/>
                </a:lnTo>
                <a:lnTo>
                  <a:pt x="6148187" y="5158573"/>
                </a:lnTo>
                <a:cubicBezTo>
                  <a:pt x="6146292" y="5158370"/>
                  <a:pt x="6143916" y="5157611"/>
                  <a:pt x="6140686" y="5156032"/>
                </a:cubicBezTo>
                <a:lnTo>
                  <a:pt x="6136260" y="5153413"/>
                </a:lnTo>
                <a:lnTo>
                  <a:pt x="6123208" y="5148061"/>
                </a:lnTo>
                <a:lnTo>
                  <a:pt x="6117367" y="5147451"/>
                </a:lnTo>
                <a:lnTo>
                  <a:pt x="5957305" y="5146062"/>
                </a:lnTo>
                <a:cubicBezTo>
                  <a:pt x="5920540" y="5140405"/>
                  <a:pt x="5887096" y="5142015"/>
                  <a:pt x="5857259" y="5132052"/>
                </a:cubicBezTo>
                <a:cubicBezTo>
                  <a:pt x="5843335" y="5135303"/>
                  <a:pt x="5830921" y="5135493"/>
                  <a:pt x="5821375" y="5125606"/>
                </a:cubicBezTo>
                <a:cubicBezTo>
                  <a:pt x="5786501" y="5122615"/>
                  <a:pt x="5775399" y="5132648"/>
                  <a:pt x="5755916" y="5120171"/>
                </a:cubicBezTo>
                <a:cubicBezTo>
                  <a:pt x="5732132" y="5135438"/>
                  <a:pt x="5732735" y="5128211"/>
                  <a:pt x="5725007" y="5121437"/>
                </a:cubicBezTo>
                <a:lnTo>
                  <a:pt x="5723810" y="5120848"/>
                </a:lnTo>
                <a:lnTo>
                  <a:pt x="5720531" y="5123048"/>
                </a:lnTo>
                <a:lnTo>
                  <a:pt x="5714794" y="5123371"/>
                </a:lnTo>
                <a:lnTo>
                  <a:pt x="5700141" y="5120131"/>
                </a:lnTo>
                <a:lnTo>
                  <a:pt x="5694799" y="5118234"/>
                </a:lnTo>
                <a:cubicBezTo>
                  <a:pt x="5691058" y="5117179"/>
                  <a:pt x="5688491" y="5116804"/>
                  <a:pt x="5686627" y="5116903"/>
                </a:cubicBezTo>
                <a:lnTo>
                  <a:pt x="5686371" y="5117086"/>
                </a:lnTo>
                <a:lnTo>
                  <a:pt x="5678818" y="5115416"/>
                </a:lnTo>
                <a:cubicBezTo>
                  <a:pt x="5666199" y="5112102"/>
                  <a:pt x="5654035" y="5108410"/>
                  <a:pt x="5642547" y="5104511"/>
                </a:cubicBezTo>
                <a:cubicBezTo>
                  <a:pt x="5629444" y="5114945"/>
                  <a:pt x="5588783" y="5093343"/>
                  <a:pt x="5587979" y="5116963"/>
                </a:cubicBezTo>
                <a:cubicBezTo>
                  <a:pt x="5572317" y="5112380"/>
                  <a:pt x="5564904" y="5101292"/>
                  <a:pt x="5566635" y="5117158"/>
                </a:cubicBezTo>
                <a:cubicBezTo>
                  <a:pt x="5561375" y="5116079"/>
                  <a:pt x="5557787" y="5116811"/>
                  <a:pt x="5554952" y="5118417"/>
                </a:cubicBezTo>
                <a:lnTo>
                  <a:pt x="5554039" y="5119241"/>
                </a:lnTo>
                <a:lnTo>
                  <a:pt x="5514253" y="5109018"/>
                </a:lnTo>
                <a:lnTo>
                  <a:pt x="5492156" y="5099904"/>
                </a:lnTo>
                <a:lnTo>
                  <a:pt x="5480446" y="5096385"/>
                </a:lnTo>
                <a:lnTo>
                  <a:pt x="5477744" y="5092939"/>
                </a:lnTo>
                <a:cubicBezTo>
                  <a:pt x="5474490" y="5090581"/>
                  <a:pt x="5469391" y="5088951"/>
                  <a:pt x="5460150" y="5088988"/>
                </a:cubicBezTo>
                <a:lnTo>
                  <a:pt x="5457901" y="5089459"/>
                </a:lnTo>
                <a:lnTo>
                  <a:pt x="5444243" y="5082761"/>
                </a:lnTo>
                <a:cubicBezTo>
                  <a:pt x="5439993" y="5080007"/>
                  <a:pt x="5436418" y="5076805"/>
                  <a:pt x="5433825" y="5072992"/>
                </a:cubicBezTo>
                <a:cubicBezTo>
                  <a:pt x="5379442" y="5082090"/>
                  <a:pt x="5336110" y="5058382"/>
                  <a:pt x="5280996" y="5052402"/>
                </a:cubicBezTo>
                <a:cubicBezTo>
                  <a:pt x="5250806" y="5043777"/>
                  <a:pt x="5168599" y="5048109"/>
                  <a:pt x="5161582" y="5019668"/>
                </a:cubicBezTo>
                <a:cubicBezTo>
                  <a:pt x="5121870" y="5011383"/>
                  <a:pt x="5095637" y="5009222"/>
                  <a:pt x="5042717" y="5002692"/>
                </a:cubicBezTo>
                <a:cubicBezTo>
                  <a:pt x="4991136" y="4972487"/>
                  <a:pt x="4902282" y="4979360"/>
                  <a:pt x="4840514" y="4959306"/>
                </a:cubicBezTo>
                <a:cubicBezTo>
                  <a:pt x="4799904" y="4976415"/>
                  <a:pt x="4824087" y="4958371"/>
                  <a:pt x="4786778" y="4956661"/>
                </a:cubicBezTo>
                <a:cubicBezTo>
                  <a:pt x="4801901" y="4937231"/>
                  <a:pt x="4739845" y="4961208"/>
                  <a:pt x="4743741" y="4937104"/>
                </a:cubicBezTo>
                <a:cubicBezTo>
                  <a:pt x="4736829" y="4937557"/>
                  <a:pt x="4730010" y="4938753"/>
                  <a:pt x="4723136" y="4940138"/>
                </a:cubicBezTo>
                <a:lnTo>
                  <a:pt x="4719535" y="4940850"/>
                </a:lnTo>
                <a:lnTo>
                  <a:pt x="4706143" y="4939586"/>
                </a:lnTo>
                <a:lnTo>
                  <a:pt x="4701098" y="4944372"/>
                </a:lnTo>
                <a:lnTo>
                  <a:pt x="4680034" y="4946157"/>
                </a:lnTo>
                <a:cubicBezTo>
                  <a:pt x="4672339" y="4946029"/>
                  <a:pt x="4664292" y="4944964"/>
                  <a:pt x="4655740" y="4942396"/>
                </a:cubicBezTo>
                <a:cubicBezTo>
                  <a:pt x="4636359" y="4929384"/>
                  <a:pt x="4599700" y="4935346"/>
                  <a:pt x="4569298" y="4929596"/>
                </a:cubicBezTo>
                <a:lnTo>
                  <a:pt x="4555977" y="4924356"/>
                </a:lnTo>
                <a:lnTo>
                  <a:pt x="4508949" y="4921648"/>
                </a:lnTo>
                <a:cubicBezTo>
                  <a:pt x="4495668" y="4920437"/>
                  <a:pt x="4482007" y="4918694"/>
                  <a:pt x="4467838" y="4915993"/>
                </a:cubicBezTo>
                <a:lnTo>
                  <a:pt x="4441948" y="4909300"/>
                </a:lnTo>
                <a:lnTo>
                  <a:pt x="4394719" y="4901820"/>
                </a:lnTo>
                <a:lnTo>
                  <a:pt x="4356810" y="4905146"/>
                </a:lnTo>
                <a:lnTo>
                  <a:pt x="4222144" y="4909117"/>
                </a:lnTo>
                <a:cubicBezTo>
                  <a:pt x="4202488" y="4913903"/>
                  <a:pt x="4184742" y="4933491"/>
                  <a:pt x="4160481" y="4923474"/>
                </a:cubicBezTo>
                <a:cubicBezTo>
                  <a:pt x="4165854" y="4934564"/>
                  <a:pt x="4131661" y="4919946"/>
                  <a:pt x="4124879" y="4929303"/>
                </a:cubicBezTo>
                <a:cubicBezTo>
                  <a:pt x="4120895" y="4937086"/>
                  <a:pt x="4109593" y="4934464"/>
                  <a:pt x="4100114" y="4936007"/>
                </a:cubicBezTo>
                <a:cubicBezTo>
                  <a:pt x="4091835" y="4943256"/>
                  <a:pt x="4045978" y="4943549"/>
                  <a:pt x="4030957" y="4939826"/>
                </a:cubicBezTo>
                <a:cubicBezTo>
                  <a:pt x="3989825" y="4924453"/>
                  <a:pt x="3946860" y="4952050"/>
                  <a:pt x="3913764" y="4940618"/>
                </a:cubicBezTo>
                <a:cubicBezTo>
                  <a:pt x="3904534" y="4939906"/>
                  <a:pt x="3896577" y="4940543"/>
                  <a:pt x="3889457" y="4942017"/>
                </a:cubicBezTo>
                <a:lnTo>
                  <a:pt x="3871115" y="4948115"/>
                </a:lnTo>
                <a:lnTo>
                  <a:pt x="3869086" y="4953796"/>
                </a:lnTo>
                <a:lnTo>
                  <a:pt x="3856124" y="4955351"/>
                </a:lnTo>
                <a:lnTo>
                  <a:pt x="3835967" y="4964002"/>
                </a:lnTo>
                <a:cubicBezTo>
                  <a:pt x="3826465" y="4939857"/>
                  <a:pt x="3782586" y="4975947"/>
                  <a:pt x="3785910" y="4953998"/>
                </a:cubicBezTo>
                <a:cubicBezTo>
                  <a:pt x="3750785" y="4960085"/>
                  <a:pt x="3699033" y="4941571"/>
                  <a:pt x="3671085" y="4966563"/>
                </a:cubicBezTo>
                <a:cubicBezTo>
                  <a:pt x="3621255" y="4971431"/>
                  <a:pt x="3562637" y="4982991"/>
                  <a:pt x="3486928" y="4983204"/>
                </a:cubicBezTo>
                <a:cubicBezTo>
                  <a:pt x="3446030" y="4983424"/>
                  <a:pt x="3343460" y="4965124"/>
                  <a:pt x="3280956" y="4963864"/>
                </a:cubicBezTo>
                <a:cubicBezTo>
                  <a:pt x="3227193" y="4969510"/>
                  <a:pt x="3256481" y="4962609"/>
                  <a:pt x="3211563" y="4982704"/>
                </a:cubicBezTo>
                <a:cubicBezTo>
                  <a:pt x="3207119" y="4979549"/>
                  <a:pt x="3170070" y="4977192"/>
                  <a:pt x="3164681" y="4975408"/>
                </a:cubicBezTo>
                <a:lnTo>
                  <a:pt x="3127171" y="4968229"/>
                </a:lnTo>
                <a:lnTo>
                  <a:pt x="3096889" y="4965619"/>
                </a:lnTo>
                <a:cubicBezTo>
                  <a:pt x="3088441" y="4967572"/>
                  <a:pt x="3082883" y="4967054"/>
                  <a:pt x="3078620" y="4965444"/>
                </a:cubicBezTo>
                <a:lnTo>
                  <a:pt x="3074275" y="4962670"/>
                </a:lnTo>
                <a:lnTo>
                  <a:pt x="3036436" y="4957455"/>
                </a:lnTo>
                <a:lnTo>
                  <a:pt x="3031995" y="4958829"/>
                </a:lnTo>
                <a:lnTo>
                  <a:pt x="2994028" y="4956800"/>
                </a:lnTo>
                <a:cubicBezTo>
                  <a:pt x="2992299" y="4958944"/>
                  <a:pt x="2989407" y="4960397"/>
                  <a:pt x="2984001" y="4960444"/>
                </a:cubicBezTo>
                <a:cubicBezTo>
                  <a:pt x="2994191" y="4975446"/>
                  <a:pt x="2981386" y="4966249"/>
                  <a:pt x="2964542" y="4965062"/>
                </a:cubicBezTo>
                <a:cubicBezTo>
                  <a:pt x="2976613" y="4988096"/>
                  <a:pt x="2927627" y="4975618"/>
                  <a:pt x="2921274" y="4988440"/>
                </a:cubicBezTo>
                <a:cubicBezTo>
                  <a:pt x="2908629" y="4987050"/>
                  <a:pt x="2895476" y="4985998"/>
                  <a:pt x="2882111" y="4985411"/>
                </a:cubicBezTo>
                <a:lnTo>
                  <a:pt x="2874282" y="4985361"/>
                </a:lnTo>
                <a:cubicBezTo>
                  <a:pt x="2874237" y="4985437"/>
                  <a:pt x="2874193" y="4985514"/>
                  <a:pt x="2874147" y="4985591"/>
                </a:cubicBezTo>
                <a:cubicBezTo>
                  <a:pt x="2872492" y="4986074"/>
                  <a:pt x="2869935" y="4986243"/>
                  <a:pt x="2865932" y="4985999"/>
                </a:cubicBezTo>
                <a:lnTo>
                  <a:pt x="2860008" y="4985269"/>
                </a:lnTo>
                <a:lnTo>
                  <a:pt x="2844819" y="4985172"/>
                </a:lnTo>
                <a:lnTo>
                  <a:pt x="2839735" y="4986676"/>
                </a:lnTo>
                <a:lnTo>
                  <a:pt x="2837922" y="4989488"/>
                </a:lnTo>
                <a:lnTo>
                  <a:pt x="2836507" y="4989165"/>
                </a:lnTo>
                <a:cubicBezTo>
                  <a:pt x="2825749" y="4984209"/>
                  <a:pt x="2822382" y="4977089"/>
                  <a:pt x="2808859" y="4996804"/>
                </a:cubicBezTo>
                <a:cubicBezTo>
                  <a:pt x="2784233" y="4988767"/>
                  <a:pt x="2779499" y="5000786"/>
                  <a:pt x="2745907" y="5005126"/>
                </a:cubicBezTo>
                <a:cubicBezTo>
                  <a:pt x="2731796" y="4997536"/>
                  <a:pt x="2720518" y="5000295"/>
                  <a:pt x="2709519" y="5006333"/>
                </a:cubicBezTo>
                <a:cubicBezTo>
                  <a:pt x="2676766" y="5002878"/>
                  <a:pt x="2646981" y="5011377"/>
                  <a:pt x="2610212" y="5013529"/>
                </a:cubicBezTo>
                <a:cubicBezTo>
                  <a:pt x="2570359" y="5003730"/>
                  <a:pt x="2550109" y="5021491"/>
                  <a:pt x="2510814" y="5023713"/>
                </a:cubicBezTo>
                <a:cubicBezTo>
                  <a:pt x="2476639" y="5006722"/>
                  <a:pt x="2482834" y="5038639"/>
                  <a:pt x="2462736" y="5045398"/>
                </a:cubicBezTo>
                <a:lnTo>
                  <a:pt x="2457050" y="5046022"/>
                </a:lnTo>
                <a:lnTo>
                  <a:pt x="2442184" y="5043549"/>
                </a:lnTo>
                <a:lnTo>
                  <a:pt x="2436703" y="5041929"/>
                </a:lnTo>
                <a:cubicBezTo>
                  <a:pt x="2432888" y="5041072"/>
                  <a:pt x="2430299" y="5040830"/>
                  <a:pt x="2428451" y="5041027"/>
                </a:cubicBezTo>
                <a:lnTo>
                  <a:pt x="2420551" y="5039949"/>
                </a:lnTo>
                <a:cubicBezTo>
                  <a:pt x="2407700" y="5037296"/>
                  <a:pt x="2395274" y="5034239"/>
                  <a:pt x="2383501" y="5030941"/>
                </a:cubicBezTo>
                <a:cubicBezTo>
                  <a:pt x="2362992" y="5032521"/>
                  <a:pt x="2317884" y="5047662"/>
                  <a:pt x="2297493" y="5049431"/>
                </a:cubicBezTo>
                <a:lnTo>
                  <a:pt x="2261156" y="5041558"/>
                </a:lnTo>
                <a:lnTo>
                  <a:pt x="2200581" y="5024964"/>
                </a:lnTo>
                <a:lnTo>
                  <a:pt x="2198380" y="5025550"/>
                </a:lnTo>
                <a:lnTo>
                  <a:pt x="2116066" y="5019568"/>
                </a:lnTo>
                <a:cubicBezTo>
                  <a:pt x="2111600" y="5017036"/>
                  <a:pt x="2059664" y="5006071"/>
                  <a:pt x="2056754" y="5002394"/>
                </a:cubicBezTo>
                <a:cubicBezTo>
                  <a:pt x="2003393" y="5014336"/>
                  <a:pt x="1998298" y="5008800"/>
                  <a:pt x="1942916" y="5005703"/>
                </a:cubicBezTo>
                <a:cubicBezTo>
                  <a:pt x="1882138" y="4994708"/>
                  <a:pt x="1836966" y="4976630"/>
                  <a:pt x="1796717" y="4970423"/>
                </a:cubicBezTo>
                <a:cubicBezTo>
                  <a:pt x="1724075" y="4959337"/>
                  <a:pt x="1636218" y="4936339"/>
                  <a:pt x="1583222" y="4931235"/>
                </a:cubicBezTo>
                <a:cubicBezTo>
                  <a:pt x="1544265" y="4950469"/>
                  <a:pt x="1556109" y="4927628"/>
                  <a:pt x="1518821" y="4927872"/>
                </a:cubicBezTo>
                <a:cubicBezTo>
                  <a:pt x="1497291" y="4925112"/>
                  <a:pt x="1483221" y="4916728"/>
                  <a:pt x="1471837" y="4914678"/>
                </a:cubicBezTo>
                <a:lnTo>
                  <a:pt x="1450515" y="4915578"/>
                </a:lnTo>
                <a:lnTo>
                  <a:pt x="1437078" y="4915016"/>
                </a:lnTo>
                <a:lnTo>
                  <a:pt x="1432462" y="4920065"/>
                </a:lnTo>
                <a:lnTo>
                  <a:pt x="1411645" y="4922952"/>
                </a:lnTo>
                <a:cubicBezTo>
                  <a:pt x="1384856" y="4920079"/>
                  <a:pt x="1306656" y="4907389"/>
                  <a:pt x="1271729" y="4902828"/>
                </a:cubicBezTo>
                <a:cubicBezTo>
                  <a:pt x="1258697" y="4896954"/>
                  <a:pt x="1213546" y="4890036"/>
                  <a:pt x="1202076" y="4895589"/>
                </a:cubicBezTo>
                <a:cubicBezTo>
                  <a:pt x="1192059" y="4895561"/>
                  <a:pt x="1182171" y="4891311"/>
                  <a:pt x="1174670" y="4898040"/>
                </a:cubicBezTo>
                <a:cubicBezTo>
                  <a:pt x="1163701" y="4905820"/>
                  <a:pt x="1136874" y="4886643"/>
                  <a:pt x="1137035" y="4897965"/>
                </a:cubicBezTo>
                <a:cubicBezTo>
                  <a:pt x="1117838" y="4884693"/>
                  <a:pt x="1091386" y="4900421"/>
                  <a:pt x="1069882" y="4901859"/>
                </a:cubicBezTo>
                <a:cubicBezTo>
                  <a:pt x="1055589" y="4889467"/>
                  <a:pt x="1024570" y="4904705"/>
                  <a:pt x="980935" y="4900090"/>
                </a:cubicBezTo>
                <a:cubicBezTo>
                  <a:pt x="947614" y="4895538"/>
                  <a:pt x="913224" y="4886405"/>
                  <a:pt x="869960" y="4874547"/>
                </a:cubicBezTo>
                <a:cubicBezTo>
                  <a:pt x="819114" y="4845820"/>
                  <a:pt x="768074" y="4839770"/>
                  <a:pt x="721345" y="4828937"/>
                </a:cubicBezTo>
                <a:cubicBezTo>
                  <a:pt x="667944" y="4819060"/>
                  <a:pt x="698286" y="4848426"/>
                  <a:pt x="635428" y="4819153"/>
                </a:cubicBezTo>
                <a:cubicBezTo>
                  <a:pt x="626286" y="4826707"/>
                  <a:pt x="617638" y="4825980"/>
                  <a:pt x="604106" y="4819994"/>
                </a:cubicBezTo>
                <a:cubicBezTo>
                  <a:pt x="583276" y="4822237"/>
                  <a:pt x="539859" y="4835097"/>
                  <a:pt x="510451" y="4832608"/>
                </a:cubicBezTo>
                <a:cubicBezTo>
                  <a:pt x="489781" y="4829929"/>
                  <a:pt x="443867" y="4807857"/>
                  <a:pt x="427656" y="4805062"/>
                </a:cubicBezTo>
                <a:cubicBezTo>
                  <a:pt x="424088" y="4806479"/>
                  <a:pt x="419580" y="4809736"/>
                  <a:pt x="413184" y="4815837"/>
                </a:cubicBezTo>
                <a:cubicBezTo>
                  <a:pt x="387673" y="4805882"/>
                  <a:pt x="379855" y="4817328"/>
                  <a:pt x="341772" y="4818825"/>
                </a:cubicBezTo>
                <a:cubicBezTo>
                  <a:pt x="327795" y="4810179"/>
                  <a:pt x="314729" y="4811964"/>
                  <a:pt x="301266" y="4817000"/>
                </a:cubicBezTo>
                <a:cubicBezTo>
                  <a:pt x="265781" y="4810886"/>
                  <a:pt x="231017" y="4816794"/>
                  <a:pt x="189886" y="4815871"/>
                </a:cubicBezTo>
                <a:cubicBezTo>
                  <a:pt x="147910" y="4802917"/>
                  <a:pt x="121702" y="4818738"/>
                  <a:pt x="77762" y="4817675"/>
                </a:cubicBezTo>
                <a:cubicBezTo>
                  <a:pt x="38733" y="4795315"/>
                  <a:pt x="44308" y="4840244"/>
                  <a:pt x="8164" y="4835320"/>
                </a:cubicBezTo>
                <a:lnTo>
                  <a:pt x="0" y="4832771"/>
                </a:lnTo>
                <a:close/>
              </a:path>
            </a:pathLst>
          </a:custGeom>
        </p:spPr>
      </p:pic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599818" y="5234320"/>
            <a:ext cx="6931319" cy="75221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FASES DE CICLO CELULAR</a:t>
            </a:r>
          </a:p>
        </p:txBody>
      </p:sp>
      <p:sp>
        <p:nvSpPr>
          <p:cNvPr id="6" name="5 Marcador de texto"/>
          <p:cNvSpPr>
            <a:spLocks noGrp="1"/>
          </p:cNvSpPr>
          <p:nvPr>
            <p:ph type="body" idx="1"/>
          </p:nvPr>
        </p:nvSpPr>
        <p:spPr>
          <a:xfrm>
            <a:off x="599819" y="6059086"/>
            <a:ext cx="7926343" cy="75221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FASE G1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285709" y="147629"/>
            <a:ext cx="11525331" cy="3638561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s-MX" b="1" dirty="0"/>
              <a:t> Fase G</a:t>
            </a:r>
            <a:r>
              <a:rPr lang="es-MX" b="1" baseline="-25000" dirty="0"/>
              <a:t>1</a:t>
            </a:r>
            <a:r>
              <a:rPr lang="es-MX" b="1" dirty="0"/>
              <a:t> </a:t>
            </a:r>
            <a:endParaRPr lang="es-MX" dirty="0"/>
          </a:p>
          <a:p>
            <a:pPr>
              <a:buNone/>
            </a:pPr>
            <a:r>
              <a:rPr lang="es-MX" dirty="0"/>
              <a:t>• </a:t>
            </a:r>
            <a:r>
              <a:rPr lang="es-MX" sz="2667" dirty="0"/>
              <a:t>La célula sale de mitosis cuando la proteína APC/C(Cdc20) degrada las ciclinas requeridas para la actividad mitótica de las Cdk.</a:t>
            </a:r>
          </a:p>
          <a:p>
            <a:pPr>
              <a:buNone/>
            </a:pPr>
            <a:r>
              <a:rPr lang="es-MX" sz="2667" dirty="0"/>
              <a:t>•  Las células inician crecimiento celular o entran en la fase G</a:t>
            </a:r>
            <a:r>
              <a:rPr lang="es-MX" sz="2667" baseline="-25000" dirty="0"/>
              <a:t>0</a:t>
            </a:r>
            <a:r>
              <a:rPr lang="es-MX" sz="2667" dirty="0"/>
              <a:t>.</a:t>
            </a:r>
          </a:p>
          <a:p>
            <a:pPr>
              <a:buNone/>
            </a:pPr>
            <a:r>
              <a:rPr lang="es-MX" b="1" dirty="0"/>
              <a:t> Puntos de restricción o control de la fase G</a:t>
            </a:r>
            <a:r>
              <a:rPr lang="es-MX" b="1" baseline="-25000" dirty="0"/>
              <a:t>1</a:t>
            </a:r>
            <a:r>
              <a:rPr lang="es-MX" b="1" dirty="0"/>
              <a:t> </a:t>
            </a:r>
          </a:p>
          <a:p>
            <a:pPr>
              <a:buNone/>
            </a:pPr>
            <a:r>
              <a:rPr lang="es-MX" sz="4267" dirty="0"/>
              <a:t>• </a:t>
            </a:r>
            <a:r>
              <a:rPr lang="es-MX" sz="2933" dirty="0"/>
              <a:t>Prerrequisito para la replicación celular y continuación del ciclo celular :</a:t>
            </a:r>
          </a:p>
          <a:p>
            <a:pPr lvl="1"/>
            <a:r>
              <a:rPr lang="es-MX" sz="2667" dirty="0"/>
              <a:t>Tamaño celular adecuado,</a:t>
            </a:r>
          </a:p>
          <a:p>
            <a:pPr lvl="1"/>
            <a:r>
              <a:rPr lang="es-MX" sz="2667" dirty="0"/>
              <a:t>Ausencia de daño al ADN.</a:t>
            </a:r>
          </a:p>
          <a:p>
            <a:pPr lvl="1"/>
            <a:r>
              <a:rPr lang="es-MX" sz="2667" dirty="0"/>
              <a:t>Estimulación de medio ambiente para crecimiento (nutrientes y factores de crecimiento) </a:t>
            </a:r>
          </a:p>
        </p:txBody>
      </p:sp>
      <p:pic>
        <p:nvPicPr>
          <p:cNvPr id="2050" name="Picture 2" descr="43_013"/>
          <p:cNvPicPr>
            <a:picLocks noChangeAspect="1" noChangeArrowheads="1"/>
          </p:cNvPicPr>
          <p:nvPr/>
        </p:nvPicPr>
        <p:blipFill>
          <a:blip r:embed="rId3" cstate="print"/>
          <a:srcRect b="7770"/>
          <a:stretch>
            <a:fillRect/>
          </a:stretch>
        </p:blipFill>
        <p:spPr bwMode="auto">
          <a:xfrm>
            <a:off x="380962" y="3714752"/>
            <a:ext cx="11563393" cy="29956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329336" y="246320"/>
            <a:ext cx="5082191" cy="1128068"/>
          </a:xfrm>
        </p:spPr>
        <p:txBody>
          <a:bodyPr vert="horz" lIns="121920" tIns="60960" rIns="121920" bIns="60960" rtlCol="0" anchor="ctr">
            <a:normAutofit/>
          </a:bodyPr>
          <a:lstStyle/>
          <a:p>
            <a:pPr defTabSz="1219170"/>
            <a:r>
              <a:rPr lang="en-US" sz="3067" b="1" dirty="0"/>
              <a:t>MAQUINARIA DE REGULACIÓN DE LA FASE G1: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260389"/>
            <a:ext cx="4692945" cy="5049701"/>
          </a:xfrm>
        </p:spPr>
        <p:txBody>
          <a:bodyPr vert="horz" lIns="121920" tIns="60960" rIns="121920" bIns="60960" rtlCol="0" anchor="ctr">
            <a:normAutofit/>
          </a:bodyPr>
          <a:lstStyle/>
          <a:p>
            <a:pPr marL="0" indent="0" defTabSz="1219170">
              <a:buNone/>
            </a:pPr>
            <a:endParaRPr lang="es-ES_tradnl" sz="2133" dirty="0"/>
          </a:p>
          <a:p>
            <a:pPr indent="-304792" defTabSz="1219170"/>
            <a:r>
              <a:rPr lang="es-ES_tradnl" sz="2133" dirty="0"/>
              <a:t>Factor de transcripción E2F/DP1:  Se une a elementos de regulación en la expresión de algunas proteínas del ciclo celular</a:t>
            </a:r>
          </a:p>
          <a:p>
            <a:pPr indent="-304792" defTabSz="1219170"/>
            <a:r>
              <a:rPr lang="es-ES_tradnl" sz="2133" dirty="0"/>
              <a:t>Supresor de tumor pRb:  la pérdida de su función por mutaciones predispone a la formación de tumores como  retinoblastomas. </a:t>
            </a:r>
          </a:p>
          <a:p>
            <a:pPr indent="-304792" defTabSz="1219170"/>
            <a:r>
              <a:rPr lang="es-ES_tradnl" sz="2133" dirty="0"/>
              <a:t>Desacetilasa de histonas:  desacetila la cromatina</a:t>
            </a:r>
          </a:p>
          <a:p>
            <a:pPr indent="-304792" defTabSz="1219170"/>
            <a:endParaRPr lang="es-ES_tradnl" sz="2133" dirty="0"/>
          </a:p>
          <a:p>
            <a:pPr indent="-304792" defTabSz="1219170"/>
            <a:endParaRPr lang="es-ES_tradnl" sz="2133" dirty="0"/>
          </a:p>
        </p:txBody>
      </p:sp>
      <p:pic>
        <p:nvPicPr>
          <p:cNvPr id="20" name="Imagen 19" descr="Diagrama&#10;&#10;Descripción generada automáticamente">
            <a:extLst>
              <a:ext uri="{FF2B5EF4-FFF2-40B4-BE49-F238E27FC236}">
                <a16:creationId xmlns:a16="http://schemas.microsoft.com/office/drawing/2014/main" id="{62B13A01-BF49-B74F-BF89-7B0D5D5F00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406883" y="814927"/>
            <a:ext cx="6509561" cy="5141030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EDB62A3D-F8D3-F048-AA3D-253FDB3E899F}"/>
              </a:ext>
            </a:extLst>
          </p:cNvPr>
          <p:cNvSpPr txBox="1"/>
          <p:nvPr/>
        </p:nvSpPr>
        <p:spPr>
          <a:xfrm>
            <a:off x="8792244" y="6304692"/>
            <a:ext cx="6248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900" dirty="0">
                <a:hlinkClick r:id="rId4" tooltip="https://mmegias.webs.uvigo.es/5-celulas/8-g1.php"/>
              </a:rPr>
              <a:t>Esta foto</a:t>
            </a:r>
            <a:r>
              <a:rPr lang="es-ES_tradnl" sz="900" dirty="0"/>
              <a:t> de Autor desconocido está bajo licencia </a:t>
            </a:r>
            <a:r>
              <a:rPr lang="es-ES_tradnl" sz="900" dirty="0">
                <a:hlinkClick r:id="rId5" tooltip="https://creativecommons.org/licenses/by-nc-sa/3.0/"/>
              </a:rPr>
              <a:t>CC BY-SA-NC</a:t>
            </a:r>
            <a:endParaRPr lang="es-ES_tradnl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275556" y="270860"/>
            <a:ext cx="5235558" cy="1088136"/>
          </a:xfrm>
        </p:spPr>
        <p:txBody>
          <a:bodyPr vert="horz" lIns="121920" tIns="60960" rIns="121920" bIns="60960" rtlCol="0" anchor="b">
            <a:normAutofit/>
          </a:bodyPr>
          <a:lstStyle/>
          <a:p>
            <a:pPr defTabSz="1219170"/>
            <a:r>
              <a:rPr lang="en-US" sz="3200" b="1" dirty="0"/>
              <a:t>MAQUINARIA DE REGULACIÓN DE LA FASE G1: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11478" y="1629843"/>
            <a:ext cx="4724415" cy="5228157"/>
          </a:xfrm>
        </p:spPr>
        <p:txBody>
          <a:bodyPr vert="horz" lIns="121920" tIns="60960" rIns="121920" bIns="60960" rtlCol="0" anchor="t">
            <a:normAutofit/>
          </a:bodyPr>
          <a:lstStyle/>
          <a:p>
            <a:pPr marL="0" indent="0" defTabSz="1219170">
              <a:buNone/>
            </a:pPr>
            <a:r>
              <a:rPr lang="es-ES_tradnl" sz="1800" dirty="0"/>
              <a:t> </a:t>
            </a:r>
            <a:r>
              <a:rPr lang="es-ES_tradnl" sz="1800" b="1" dirty="0"/>
              <a:t>Mecanismos en los puntos de control</a:t>
            </a:r>
          </a:p>
          <a:p>
            <a:pPr indent="-304165" defTabSz="1219170"/>
            <a:r>
              <a:rPr lang="es-ES_tradnl" sz="1800" dirty="0"/>
              <a:t>En ausencia de estimulación de crecimiento, el complejo E2F/DP1, pRb, y desacetilación de histonas reprimen la expresión de genes de las proteínas requeridas de ciclo celular para la progresión de este por compactación de cromatina.</a:t>
            </a:r>
            <a:endParaRPr lang="es-ES_tradnl" sz="1800" dirty="0">
              <a:cs typeface="Calibri"/>
            </a:endParaRPr>
          </a:p>
          <a:p>
            <a:pPr indent="-304165" defTabSz="1219170"/>
            <a:r>
              <a:rPr lang="es-ES_tradnl" sz="1800" dirty="0"/>
              <a:t>Los factores de crecimiento estimulan receptores tirosinquinasas, integrinas, receptor de siete segmentos activando la vía de las proteínquinasas asociadas a microtúbulos (MAP) que estimula la síntesis de ciclina D. </a:t>
            </a:r>
            <a:endParaRPr lang="es-ES_tradnl" sz="1800" dirty="0">
              <a:cs typeface="Calibri"/>
            </a:endParaRPr>
          </a:p>
          <a:p>
            <a:pPr indent="-304165" defTabSz="1219170"/>
            <a:r>
              <a:rPr lang="es-ES_tradnl" sz="1800" dirty="0"/>
              <a:t>Cdk4/ciclina D fosforilan pRb, separando el complejo represivo lo que contribuye a la acetilación de la cromatina local y la expresión de genes requeridos para la progresión del ciclo celular. </a:t>
            </a:r>
            <a:r>
              <a:rPr lang="es-ES_tradnl" sz="1800" b="1" dirty="0"/>
              <a:t> </a:t>
            </a:r>
            <a:endParaRPr lang="es-ES_tradnl" sz="1800" dirty="0">
              <a:cs typeface="Calibri" panose="020F0502020204030204"/>
            </a:endParaRPr>
          </a:p>
          <a:p>
            <a:pPr indent="-304165" defTabSz="1219170"/>
            <a:endParaRPr lang="es-ES_tradnl" sz="1800" dirty="0">
              <a:cs typeface="Calibri" panose="020F0502020204030204"/>
            </a:endParaRPr>
          </a:p>
          <a:p>
            <a:pPr indent="-304165" defTabSz="1219170"/>
            <a:endParaRPr lang="es-ES_tradnl" sz="1800" dirty="0">
              <a:cs typeface="Calibri" panose="020F0502020204030204"/>
            </a:endParaRPr>
          </a:p>
        </p:txBody>
      </p:sp>
      <p:pic>
        <p:nvPicPr>
          <p:cNvPr id="18" name="Imagen 17" descr="Diagrama&#10;&#10;Descripción generada automáticamente">
            <a:extLst>
              <a:ext uri="{FF2B5EF4-FFF2-40B4-BE49-F238E27FC236}">
                <a16:creationId xmlns:a16="http://schemas.microsoft.com/office/drawing/2014/main" id="{7B7BB941-A722-DE49-8F8B-141094C514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226908" y="518984"/>
            <a:ext cx="6965092" cy="5993027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3DBE538D-B172-5241-897F-65EDA9FAFB0E}"/>
              </a:ext>
            </a:extLst>
          </p:cNvPr>
          <p:cNvSpPr txBox="1"/>
          <p:nvPr/>
        </p:nvSpPr>
        <p:spPr>
          <a:xfrm>
            <a:off x="-4644138" y="7055708"/>
            <a:ext cx="11743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900" dirty="0">
                <a:hlinkClick r:id="rId4" tooltip="https://elifesciences.org/articles/03475/figures"/>
              </a:rPr>
              <a:t>Esta foto</a:t>
            </a:r>
            <a:r>
              <a:rPr lang="es-ES_tradnl" sz="900" dirty="0"/>
              <a:t> de Autor desconocido está bajo licencia </a:t>
            </a:r>
            <a:r>
              <a:rPr lang="es-ES_tradnl" sz="900" dirty="0">
                <a:hlinkClick r:id="rId5" tooltip="https://creativecommons.org/licenses/by/3.0/"/>
              </a:rPr>
              <a:t>CC BY</a:t>
            </a:r>
            <a:endParaRPr lang="es-ES_tradnl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5 Título"/>
          <p:cNvSpPr>
            <a:spLocks noGrp="1"/>
          </p:cNvSpPr>
          <p:nvPr>
            <p:ph type="title"/>
          </p:nvPr>
        </p:nvSpPr>
        <p:spPr>
          <a:xfrm>
            <a:off x="294918" y="406784"/>
            <a:ext cx="5013135" cy="1088136"/>
          </a:xfrm>
        </p:spPr>
        <p:txBody>
          <a:bodyPr vert="horz" lIns="121920" tIns="60960" rIns="121920" bIns="60960" rtlCol="0" anchor="b">
            <a:normAutofit/>
          </a:bodyPr>
          <a:lstStyle/>
          <a:p>
            <a:pPr defTabSz="1219170"/>
            <a:r>
              <a:rPr lang="en-US" sz="3200" b="1" dirty="0"/>
              <a:t>MAQUINARIA DE REGULACIÓN DE LA FASE G1: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11479" y="1692876"/>
            <a:ext cx="4498848" cy="5000487"/>
          </a:xfrm>
        </p:spPr>
        <p:txBody>
          <a:bodyPr vert="horz" lIns="121920" tIns="60960" rIns="121920" bIns="60960" rtlCol="0" anchor="t">
            <a:normAutofit/>
          </a:bodyPr>
          <a:lstStyle/>
          <a:p>
            <a:pPr marL="0" indent="0" defTabSz="1219170">
              <a:buNone/>
            </a:pPr>
            <a:r>
              <a:rPr lang="es-ES_tradnl" sz="1867" b="1" dirty="0"/>
              <a:t>Daño en el punto de control G</a:t>
            </a:r>
            <a:r>
              <a:rPr lang="es-ES_tradnl" sz="1867" b="1" baseline="-25000" dirty="0"/>
              <a:t>1</a:t>
            </a:r>
            <a:endParaRPr lang="es-ES_tradnl" sz="1867" dirty="0"/>
          </a:p>
          <a:p>
            <a:pPr indent="-304792" defTabSz="1219170"/>
            <a:r>
              <a:rPr lang="es-ES_tradnl" sz="1867" dirty="0"/>
              <a:t>Daño en el DNA activa las proteínquinasas que fosforilan p53 una proteína supresora de tumores y de factores de transcripción.</a:t>
            </a:r>
          </a:p>
          <a:p>
            <a:pPr indent="-304792" defTabSz="1219170"/>
            <a:r>
              <a:rPr lang="es-ES_tradnl" sz="1867" dirty="0"/>
              <a:t>p53 activada arresta el ciclo celular en G</a:t>
            </a:r>
            <a:r>
              <a:rPr lang="es-ES_tradnl" sz="1867" baseline="-25000" dirty="0"/>
              <a:t>1 </a:t>
            </a:r>
            <a:r>
              <a:rPr lang="es-ES_tradnl" sz="1867" dirty="0"/>
              <a:t> por estimulación de la expresión de inhibidores de Cdk o puede inducir muerte celular.</a:t>
            </a:r>
          </a:p>
          <a:p>
            <a:pPr indent="-304792" defTabSz="1219170"/>
            <a:r>
              <a:rPr lang="es-ES_tradnl" sz="1867" dirty="0"/>
              <a:t>Las funciones de p53 en este punto de control se pierden en la mitad de los tipos de cáncer en humanos, seguido de una acumulación de daño de ADN.</a:t>
            </a:r>
          </a:p>
          <a:p>
            <a:pPr indent="-304792" defTabSz="1219170"/>
            <a:endParaRPr lang="es-ES_tradnl" sz="1867" dirty="0"/>
          </a:p>
          <a:p>
            <a:pPr indent="-304792" defTabSz="1219170"/>
            <a:endParaRPr lang="es-ES_tradnl" sz="1867" dirty="0"/>
          </a:p>
        </p:txBody>
      </p:sp>
      <p:pic>
        <p:nvPicPr>
          <p:cNvPr id="11" name="Marcador de contenido 10" descr="Diagrama&#10;&#10;Descripción generada automáticamente">
            <a:extLst>
              <a:ext uri="{FF2B5EF4-FFF2-40B4-BE49-F238E27FC236}">
                <a16:creationId xmlns:a16="http://schemas.microsoft.com/office/drawing/2014/main" id="{8CB6C8C4-FF4B-DF43-B2EA-1CCB9B32F79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523470" y="406784"/>
            <a:ext cx="6373612" cy="5824314"/>
          </a:xfr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7D7C1356-139B-3E4A-A199-C199F60F3336}"/>
              </a:ext>
            </a:extLst>
          </p:cNvPr>
          <p:cNvSpPr txBox="1"/>
          <p:nvPr/>
        </p:nvSpPr>
        <p:spPr>
          <a:xfrm>
            <a:off x="9100628" y="6335800"/>
            <a:ext cx="47617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900" dirty="0">
                <a:hlinkClick r:id="rId4" tooltip="https://simple.wikipedia.org/wiki/P53"/>
              </a:rPr>
              <a:t>Esta foto</a:t>
            </a:r>
            <a:r>
              <a:rPr lang="es-ES_tradnl" sz="900" dirty="0"/>
              <a:t> de Autor desconocido está bajo licencia </a:t>
            </a:r>
            <a:r>
              <a:rPr lang="es-ES_tradnl" sz="900" dirty="0">
                <a:hlinkClick r:id="rId5" tooltip="https://creativecommons.org/licenses/by-sa/3.0/"/>
              </a:rPr>
              <a:t>CC BY-SA</a:t>
            </a:r>
            <a:endParaRPr lang="es-ES_tradnl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54781" y="235318"/>
            <a:ext cx="5316970" cy="1128068"/>
          </a:xfrm>
        </p:spPr>
        <p:txBody>
          <a:bodyPr vert="horz" lIns="121920" tIns="60960" rIns="121920" bIns="60960" rtlCol="0" anchor="ctr">
            <a:normAutofit/>
          </a:bodyPr>
          <a:lstStyle/>
          <a:p>
            <a:pPr defTabSz="1219170"/>
            <a:r>
              <a:rPr lang="en-US" sz="2533" b="1" dirty="0"/>
              <a:t>PUNTOS DE RESTRICCIÓN G</a:t>
            </a:r>
            <a:r>
              <a:rPr lang="en-US" sz="2533" b="1" baseline="-25000" dirty="0"/>
              <a:t>1</a:t>
            </a:r>
            <a:r>
              <a:rPr lang="en-US" sz="2533" b="1" dirty="0"/>
              <a:t> Y DAÑO DEL ADN EN RELACIÓN CON CÁNCER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half" idx="2"/>
          </p:nvPr>
        </p:nvSpPr>
        <p:spPr>
          <a:xfrm>
            <a:off x="590720" y="1363386"/>
            <a:ext cx="6699766" cy="5302546"/>
          </a:xfrm>
        </p:spPr>
        <p:txBody>
          <a:bodyPr vert="horz" lIns="121920" tIns="60960" rIns="121920" bIns="60960" rtlCol="0" anchor="ctr">
            <a:normAutofit/>
          </a:bodyPr>
          <a:lstStyle/>
          <a:p>
            <a:pPr indent="-304165" algn="just" defTabSz="1219170"/>
            <a:r>
              <a:rPr lang="es-ES_tradnl" sz="1600" b="1" dirty="0"/>
              <a:t>Punto de restricción</a:t>
            </a:r>
            <a:r>
              <a:rPr lang="es-ES_tradnl" sz="1600" dirty="0"/>
              <a:t>. La célula usa la condensación de la cromatina mediada por  pRb, E2F, y la desacetilación de histonas para reprimir la expresión de los genes requeridos para la progresión del ciclo celular (ciclinas, Cdk's, y proteínas de replicación del ADN).</a:t>
            </a:r>
            <a:endParaRPr lang="es-MX" dirty="0"/>
          </a:p>
          <a:p>
            <a:pPr indent="-304165" algn="just" defTabSz="1219170"/>
            <a:r>
              <a:rPr lang="es-ES_tradnl" sz="1600" b="1" dirty="0"/>
              <a:t>Puntos de control G</a:t>
            </a:r>
            <a:r>
              <a:rPr lang="es-ES_tradnl" sz="1600" b="1" baseline="-25000" dirty="0"/>
              <a:t>1</a:t>
            </a:r>
            <a:r>
              <a:rPr lang="es-ES_tradnl" sz="1600" b="1" dirty="0"/>
              <a:t> y G</a:t>
            </a:r>
            <a:r>
              <a:rPr lang="es-ES_tradnl" sz="1600" b="1" baseline="-25000" dirty="0"/>
              <a:t>2</a:t>
            </a:r>
            <a:r>
              <a:rPr lang="es-ES_tradnl" sz="1600" dirty="0"/>
              <a:t>:  El Daño del ADN activa las proteínquinasas incluyendo ATM (ataxia-telangiectasia mutated) que fosforila y activa al supresor de tumores p53 (factor de transcripción que arresta el ciclo celular a través de la expresión de inhibidores de Cdk's. </a:t>
            </a:r>
            <a:endParaRPr lang="es-ES_tradnl" sz="1600" dirty="0">
              <a:cs typeface="Calibri"/>
            </a:endParaRPr>
          </a:p>
          <a:p>
            <a:pPr marL="0" indent="0" algn="just" defTabSz="1219170">
              <a:buNone/>
            </a:pPr>
            <a:r>
              <a:rPr lang="es-ES_tradnl" sz="1600" dirty="0"/>
              <a:t>Oncogenes codifican proteínas las cuales con una inapropiada activación predisponen a cáncer.  Ejemplos: Receptores de factores de crecimiento, proteínas de las vías de quinasas Ras y otras MAP, receptores diferentes a tirosinquinasas como  Src, Cdk's and ciclinas. </a:t>
            </a:r>
          </a:p>
          <a:p>
            <a:pPr marL="0" indent="0" algn="just" defTabSz="1219170">
              <a:buNone/>
            </a:pPr>
            <a:r>
              <a:rPr lang="es-ES_tradnl" sz="1600" dirty="0"/>
              <a:t>La activación de una sola copia de un oncogén puede causar.</a:t>
            </a:r>
          </a:p>
          <a:p>
            <a:pPr lvl="1" indent="-304165" algn="just" defTabSz="1219170"/>
            <a:r>
              <a:rPr lang="es-ES_tradnl" sz="1200" dirty="0"/>
              <a:t> </a:t>
            </a:r>
            <a:r>
              <a:rPr lang="es-ES_tradnl" sz="1400" dirty="0"/>
              <a:t>Los genes supresores de tumores codifican para proteínas que son requeridas  para una retroalimentación negativa en el ciclo celular; la inactivación de estos genes cancela los mecanismos de retroalimentación negativa y predispone a cáncer.</a:t>
            </a:r>
            <a:endParaRPr lang="es-ES_tradnl" sz="1400" dirty="0">
              <a:cs typeface="Calibri" panose="020F0502020204030204"/>
            </a:endParaRPr>
          </a:p>
          <a:p>
            <a:pPr lvl="1" indent="-304165" algn="just" defTabSz="1219170"/>
            <a:r>
              <a:rPr lang="es-ES_tradnl" sz="1400" dirty="0"/>
              <a:t>Ejemplos los genes para Rb, p53, cadherinas, inhibidores de Cdk, y proteínas de reparación del ADN.</a:t>
            </a:r>
            <a:endParaRPr lang="es-ES_tradnl" sz="1400" dirty="0">
              <a:cs typeface="Calibri"/>
            </a:endParaRPr>
          </a:p>
          <a:p>
            <a:pPr lvl="1" indent="-304165" algn="just" defTabSz="1219170"/>
            <a:r>
              <a:rPr lang="es-ES_tradnl" sz="1400" dirty="0"/>
              <a:t>Se deben inactivar ambas copias de los genes supresores de tumor para causar cáncer.</a:t>
            </a:r>
            <a:endParaRPr lang="es-ES_tradnl" sz="1400" dirty="0">
              <a:cs typeface="Calibri"/>
            </a:endParaRPr>
          </a:p>
          <a:p>
            <a:pPr indent="-304165" algn="just" defTabSz="1219170"/>
            <a:endParaRPr lang="es-ES_tradnl" sz="1600" dirty="0">
              <a:cs typeface="Calibri" panose="020F0502020204030204"/>
            </a:endParaRPr>
          </a:p>
        </p:txBody>
      </p:sp>
      <p:pic>
        <p:nvPicPr>
          <p:cNvPr id="41986" name="Picture 2"/>
          <p:cNvPicPr>
            <a:picLocks noGrp="1" noChangeAspect="1" noChangeArrowheads="1"/>
          </p:cNvPicPr>
          <p:nvPr>
            <p:ph sz="quarter" idx="4"/>
          </p:nvPr>
        </p:nvPicPr>
        <p:blipFill rotWithShape="1">
          <a:blip r:embed="rId3" cstate="print"/>
          <a:srcRect l="2" t="18" r="2" b="-356"/>
          <a:stretch/>
        </p:blipFill>
        <p:spPr bwMode="auto">
          <a:xfrm>
            <a:off x="7497671" y="356882"/>
            <a:ext cx="4426600" cy="598213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84214" y="202111"/>
            <a:ext cx="3505495" cy="162232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Orígenes  de Replicación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half" idx="2"/>
          </p:nvPr>
        </p:nvSpPr>
        <p:spPr>
          <a:xfrm>
            <a:off x="147200" y="1824432"/>
            <a:ext cx="4344656" cy="483145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_tradnl" sz="1800" dirty="0"/>
              <a:t>La replicación se da a una velocidad de 1000 pb/seg.  en bacterias y menos de 100 pb/seg. en humanos.</a:t>
            </a:r>
            <a:endParaRPr lang="es-ES_tradnl" sz="1800" dirty="0">
              <a:cs typeface="Calibri"/>
            </a:endParaRPr>
          </a:p>
          <a:p>
            <a:r>
              <a:rPr lang="es-ES_tradnl" sz="1800" dirty="0"/>
              <a:t>En </a:t>
            </a:r>
            <a:r>
              <a:rPr lang="es-ES_tradnl" sz="1800" b="1" dirty="0"/>
              <a:t>bacterias</a:t>
            </a:r>
            <a:r>
              <a:rPr lang="es-ES_tradnl" sz="1800" dirty="0"/>
              <a:t> existe un solo </a:t>
            </a:r>
            <a:r>
              <a:rPr lang="es-ES_tradnl" sz="1800" b="1" dirty="0"/>
              <a:t>origen de replicación</a:t>
            </a:r>
            <a:r>
              <a:rPr lang="es-ES_tradnl" sz="1800" dirty="0"/>
              <a:t>. </a:t>
            </a:r>
          </a:p>
          <a:p>
            <a:r>
              <a:rPr lang="es-ES_tradnl" sz="1800" dirty="0"/>
              <a:t>Sin embargo, en </a:t>
            </a:r>
            <a:r>
              <a:rPr lang="es-ES_tradnl" sz="1800" b="1" dirty="0"/>
              <a:t>células eucariotas </a:t>
            </a:r>
            <a:r>
              <a:rPr lang="es-ES_tradnl" sz="1800" dirty="0"/>
              <a:t>(levaduras) se han descubierto </a:t>
            </a:r>
            <a:r>
              <a:rPr lang="es-ES_tradnl" sz="1800" b="1" dirty="0"/>
              <a:t>secuencias de replicación autónomas (ARS)</a:t>
            </a:r>
            <a:r>
              <a:rPr lang="es-ES_tradnl" sz="1800" dirty="0"/>
              <a:t>. Estas son secuencias en levaduras de menos de 15 pb similares en diferentes sitios (</a:t>
            </a:r>
            <a:r>
              <a:rPr lang="es-ES_tradnl" sz="1800" b="1" dirty="0"/>
              <a:t>múltiples orígenes de replicación</a:t>
            </a:r>
            <a:r>
              <a:rPr lang="es-ES_tradnl" sz="1800" dirty="0"/>
              <a:t>)</a:t>
            </a:r>
          </a:p>
          <a:p>
            <a:r>
              <a:rPr lang="es-ES_tradnl" sz="1800" dirty="0"/>
              <a:t>En  células de </a:t>
            </a:r>
            <a:r>
              <a:rPr lang="es-ES_tradnl" sz="1800" b="1" dirty="0"/>
              <a:t>mamíferos</a:t>
            </a:r>
            <a:r>
              <a:rPr lang="es-ES_tradnl" sz="1800" dirty="0"/>
              <a:t> existen muchos orígenes de replicación que han sido difíciles de identificar y son más complicados  que las secuencias de los ARS en levaduras.</a:t>
            </a:r>
          </a:p>
          <a:p>
            <a:endParaRPr lang="es-ES_tradnl" sz="1800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 descr="F:\Documents\CLASES\Material apoyo Biol cel\LIbro Biol cel Pollard\figuras\S9781416022558-042-f003.jpg"/>
          <p:cNvPicPr>
            <a:picLocks noGrp="1" noChangeAspect="1" noChangeArrowheads="1"/>
          </p:cNvPicPr>
          <p:nvPr>
            <p:ph sz="quarter" idx="4"/>
          </p:nvPr>
        </p:nvPicPr>
        <p:blipFill rotWithShape="1">
          <a:blip r:embed="rId3" cstate="print"/>
          <a:srcRect r="4" b="834"/>
          <a:stretch/>
        </p:blipFill>
        <p:spPr bwMode="auto">
          <a:xfrm>
            <a:off x="4979773" y="202111"/>
            <a:ext cx="7065027" cy="6382537"/>
          </a:xfrm>
          <a:prstGeom prst="rect">
            <a:avLst/>
          </a:prstGeom>
          <a:noFill/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78226" y="233851"/>
            <a:ext cx="4207277" cy="9771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just"/>
            <a:r>
              <a:rPr lang="en-US" sz="1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INICIACIÓN DE LA REPLICACIÓN DEL ADN MEDIANTE EL ENSAMBLAJE Y ACTIVACIÓN DE EL COMPLEJO DE PRE-REPLICACIÓN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half" idx="2"/>
          </p:nvPr>
        </p:nvSpPr>
        <p:spPr>
          <a:xfrm>
            <a:off x="278226" y="1087395"/>
            <a:ext cx="4078237" cy="553675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_tradnl" sz="1600" dirty="0"/>
              <a:t>El mecanismo se asegura que en cada ORI se inicie una sola vez la replicación del ADN por cada ciclo celular.</a:t>
            </a:r>
          </a:p>
          <a:p>
            <a:r>
              <a:rPr lang="es-ES_tradnl" sz="1600" dirty="0"/>
              <a:t> Un ensamblaje de proteínas llamadas  Complejo de Reconocimiento del  Origen (ORC) se une en levaduras a los ORI´s  en el ciclo celular  y ayuda a organizar  este complejo que es requerido en el ORI para iniciar la síntesis de ADN.</a:t>
            </a:r>
            <a:endParaRPr lang="es-ES_tradnl" sz="1600" dirty="0">
              <a:cs typeface="Calibri"/>
            </a:endParaRPr>
          </a:p>
          <a:p>
            <a:r>
              <a:rPr lang="es-ES_tradnl" sz="1600" b="1" dirty="0"/>
              <a:t>Regulación de los Complejos de Pre-replicación:</a:t>
            </a:r>
            <a:endParaRPr lang="es-ES_tradnl" sz="1600" b="1" dirty="0">
              <a:cs typeface="Calibri"/>
            </a:endParaRPr>
          </a:p>
          <a:p>
            <a:r>
              <a:rPr lang="es-ES_tradnl" sz="1600" dirty="0"/>
              <a:t>CDK´s inhiben el ensamblaje de los complejos de pre-replicación y por lo tato su ensamblaje una sola vez después  de la mitosis cuando la actividad de los Cdk es baja antes de pasar el punto de restricción. </a:t>
            </a:r>
            <a:endParaRPr lang="es-ES_tradnl" sz="1600" dirty="0">
              <a:cs typeface="Calibri"/>
            </a:endParaRPr>
          </a:p>
          <a:p>
            <a:r>
              <a:rPr lang="es-ES_tradnl" sz="1600" dirty="0"/>
              <a:t>Una  proteína  (Geminina) inhibe el ensamblaje de los complejos de pre-replicación. APC/C destruye la  geminina durante la mitosis, seguido del ensamblaje de los complejos de pre-replicación en la fase G</a:t>
            </a:r>
            <a:r>
              <a:rPr lang="es-ES_tradnl" sz="1600" baseline="-25000" dirty="0"/>
              <a:t>1</a:t>
            </a:r>
            <a:r>
              <a:rPr lang="es-ES_tradnl" sz="1600" dirty="0"/>
              <a:t>.</a:t>
            </a:r>
            <a:endParaRPr lang="es-ES_tradnl" sz="1600" dirty="0">
              <a:cs typeface="Calibri"/>
            </a:endParaRPr>
          </a:p>
          <a:p>
            <a:endParaRPr lang="es-ES_tradnl" sz="1600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4034" name="Picture 2" descr="45_007"/>
          <p:cNvPicPr>
            <a:picLocks noGrp="1" noChangeAspect="1" noChangeArrowheads="1"/>
          </p:cNvPicPr>
          <p:nvPr>
            <p:ph sz="quarter" idx="4"/>
          </p:nvPr>
        </p:nvPicPr>
        <p:blipFill rotWithShape="1">
          <a:blip r:embed="rId3" cstate="print"/>
          <a:srcRect t="2959" r="4" b="6953"/>
          <a:stretch/>
        </p:blipFill>
        <p:spPr bwMode="auto">
          <a:xfrm>
            <a:off x="5405862" y="1427678"/>
            <a:ext cx="6019331" cy="3999398"/>
          </a:xfrm>
          <a:prstGeom prst="rect">
            <a:avLst/>
          </a:prstGeom>
          <a:noFill/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78226" y="233851"/>
            <a:ext cx="4207277" cy="9771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just"/>
            <a:r>
              <a:rPr lang="en-US" sz="1800" b="1" dirty="0"/>
              <a:t>INICIO</a:t>
            </a:r>
            <a:r>
              <a:rPr lang="en-US" sz="1800" b="1" kern="1200" dirty="0">
                <a:latin typeface="+mj-lt"/>
                <a:ea typeface="+mj-ea"/>
                <a:cs typeface="+mj-cs"/>
              </a:rPr>
              <a:t> DE LA REPLICACIÓN DEL ADN MEDIANTE EL ENSAMBLAJE Y ACTIVACIÓN DE EL COMPLEJO DE PRE-REPLICACIÓN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half" idx="2"/>
          </p:nvPr>
        </p:nvSpPr>
        <p:spPr>
          <a:xfrm>
            <a:off x="278226" y="1087395"/>
            <a:ext cx="4078237" cy="5536753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endParaRPr lang="es-ES_tradnl" sz="1600" dirty="0">
              <a:cs typeface="Calibri"/>
            </a:endParaRPr>
          </a:p>
          <a:p>
            <a:pPr marL="0" indent="0">
              <a:buNone/>
            </a:pPr>
            <a:r>
              <a:rPr lang="es-ES_tradnl" sz="1600" b="1" dirty="0"/>
              <a:t>Regulación de los Complejos de Pre-replicación:</a:t>
            </a:r>
            <a:endParaRPr lang="es-ES_tradnl" sz="1600" b="1" dirty="0">
              <a:cs typeface="Calibri"/>
            </a:endParaRPr>
          </a:p>
          <a:p>
            <a:endParaRPr lang="es-ES_tradnl" sz="1600" dirty="0">
              <a:cs typeface="Calibri"/>
            </a:endParaRPr>
          </a:p>
          <a:p>
            <a:r>
              <a:rPr lang="es-ES_tradnl" sz="1600" dirty="0"/>
              <a:t>Algunos  de los factores necesarios para el ensamblaje del complejo de pre-replicación pueden interactuar con los cromosomas solo durante la mitosis, debido a que son excluidos  del núcleo en interface a través de los poros nucleares. Estos (factores de licencia) pueden actuar solo una vez por ciclo. </a:t>
            </a:r>
            <a:endParaRPr lang="es-ES_tradnl" sz="1600" dirty="0">
              <a:cs typeface="Calibri"/>
            </a:endParaRPr>
          </a:p>
          <a:p>
            <a:r>
              <a:rPr lang="es-ES_tradnl" sz="1600" dirty="0"/>
              <a:t>Una combinación de quinasas mitóticas  inicia la replicación del ADN de la siguiente manera:</a:t>
            </a:r>
            <a:endParaRPr lang="es-ES_tradnl" sz="1600" dirty="0">
              <a:cs typeface="Calibri"/>
            </a:endParaRPr>
          </a:p>
          <a:p>
            <a:r>
              <a:rPr lang="es-ES_tradnl" sz="1600" dirty="0"/>
              <a:t>Síntesis de Cdk's, proteínas que reconocen y reclutan las proteínas de replicación (ADN polimerasas) al momento de que la célula pasa el punto de restricción.</a:t>
            </a:r>
            <a:endParaRPr lang="es-ES_tradnl" sz="1600" dirty="0">
              <a:cs typeface="Calibri"/>
            </a:endParaRPr>
          </a:p>
          <a:p>
            <a:r>
              <a:rPr lang="es-ES_tradnl" sz="1600" dirty="0"/>
              <a:t>Las Cdk's se activa por fosforilación y desfosforilación.</a:t>
            </a:r>
            <a:endParaRPr lang="es-ES_tradnl" sz="1600" dirty="0">
              <a:cs typeface="Calibri"/>
            </a:endParaRPr>
          </a:p>
          <a:p>
            <a:r>
              <a:rPr lang="es-ES_tradnl" sz="1600" dirty="0"/>
              <a:t>La inactivación de los inhibidores de Cdk p27 y SCF.</a:t>
            </a:r>
            <a:endParaRPr lang="es-ES_tradnl" sz="1600" dirty="0">
              <a:cs typeface="Calibri"/>
            </a:endParaRPr>
          </a:p>
          <a:p>
            <a:endParaRPr lang="es-ES_tradnl" sz="1600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4034" name="Picture 2" descr="45_007"/>
          <p:cNvPicPr>
            <a:picLocks noGrp="1" noChangeAspect="1" noChangeArrowheads="1"/>
          </p:cNvPicPr>
          <p:nvPr>
            <p:ph sz="quarter" idx="4"/>
          </p:nvPr>
        </p:nvPicPr>
        <p:blipFill rotWithShape="1">
          <a:blip r:embed="rId3" cstate="print"/>
          <a:srcRect t="2959" r="4" b="6953"/>
          <a:stretch/>
        </p:blipFill>
        <p:spPr bwMode="auto">
          <a:xfrm>
            <a:off x="5405862" y="1427678"/>
            <a:ext cx="6019331" cy="3999398"/>
          </a:xfrm>
          <a:prstGeom prst="rect">
            <a:avLst/>
          </a:prstGeom>
          <a:noFill/>
          <a:effectLst/>
        </p:spPr>
      </p:pic>
    </p:spTree>
    <p:extLst>
      <p:ext uri="{BB962C8B-B14F-4D97-AF65-F5344CB8AC3E}">
        <p14:creationId xmlns:p14="http://schemas.microsoft.com/office/powerpoint/2010/main" val="12740386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Una manzana roja&#10;&#10;Descripción generada automáticamente con confianza baja">
            <a:extLst>
              <a:ext uri="{FF2B5EF4-FFF2-40B4-BE49-F238E27FC236}">
                <a16:creationId xmlns:a16="http://schemas.microsoft.com/office/drawing/2014/main" id="{8F110ACB-5454-432D-9BF5-7253F271D5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1" t="9091" r="8690"/>
          <a:stretch/>
        </p:blipFill>
        <p:spPr>
          <a:xfrm>
            <a:off x="27" y="13"/>
            <a:ext cx="12191973" cy="685798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bg1">
                  <a:alpha val="46000"/>
                </a:schemeClr>
              </a:gs>
              <a:gs pos="21000">
                <a:schemeClr val="bg1">
                  <a:alpha val="3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404553" y="3091928"/>
            <a:ext cx="9078562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FASES DE CICLO CELULAR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5 Marcador de texto"/>
          <p:cNvSpPr>
            <a:spLocks noGrp="1"/>
          </p:cNvSpPr>
          <p:nvPr>
            <p:ph type="body" idx="1"/>
          </p:nvPr>
        </p:nvSpPr>
        <p:spPr>
          <a:xfrm>
            <a:off x="404553" y="5624945"/>
            <a:ext cx="9078562" cy="592975"/>
          </a:xfr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r>
              <a:rPr lang="en-US" sz="4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FASE G0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Título"/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FASE DEL CICLO CELULAR G</a:t>
            </a:r>
            <a:r>
              <a:rPr lang="en-US" b="1" kern="1200" baseline="-250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0</a:t>
            </a:r>
            <a:endParaRPr lang="en-US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9 Marcador de contenido"/>
          <p:cNvSpPr>
            <a:spLocks noGrp="1"/>
          </p:cNvSpPr>
          <p:nvPr>
            <p:ph sz="quarter" idx="4"/>
          </p:nvPr>
        </p:nvSpPr>
        <p:spPr>
          <a:xfrm>
            <a:off x="648931" y="2438400"/>
            <a:ext cx="3505494" cy="378541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_tradnl" sz="1600" dirty="0"/>
              <a:t>Diferentes señales  como,   el factor de crecimiento  transformador ß (TGFß) puede arrestar el ciclo celular por estimulación de la expresión de inhibidores de ciclinas.</a:t>
            </a:r>
            <a:endParaRPr lang="es-ES_tradnl" sz="1600" dirty="0">
              <a:cs typeface="Calibri"/>
            </a:endParaRPr>
          </a:p>
          <a:p>
            <a:r>
              <a:rPr lang="es-ES_tradnl" sz="1600" dirty="0"/>
              <a:t>La vía de la adhesión celular a células vecinas por medio de las cadherinas media la inhibición de crecimiento por contacto, probablemente a través de la vía de catenina ß que regula la expresión génica.</a:t>
            </a:r>
            <a:endParaRPr lang="es-ES_tradnl" sz="1600" dirty="0">
              <a:cs typeface="Calibri"/>
            </a:endParaRPr>
          </a:p>
          <a:p>
            <a:r>
              <a:rPr lang="es-ES_tradnl" sz="1600" dirty="0"/>
              <a:t>Células en fase G</a:t>
            </a:r>
            <a:r>
              <a:rPr lang="es-ES_tradnl" sz="1600" baseline="-25000" dirty="0"/>
              <a:t>0</a:t>
            </a:r>
            <a:r>
              <a:rPr lang="es-ES_tradnl" sz="1600" dirty="0"/>
              <a:t> pueden entrar nuevamente al ciclo celular cuando son estimuladas por factores de crecimiento.</a:t>
            </a:r>
            <a:endParaRPr lang="es-ES_tradnl" sz="1600" dirty="0">
              <a:cs typeface="Calibri"/>
            </a:endParaRPr>
          </a:p>
          <a:p>
            <a:endParaRPr lang="es-ES_tradnl" sz="1600" dirty="0">
              <a:cs typeface="Calibri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D2478CEE-BEEF-5E4F-865D-C2F90588C7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229157" y="795889"/>
            <a:ext cx="6478629" cy="5427929"/>
          </a:xfrm>
          <a:prstGeom prst="rect">
            <a:avLst/>
          </a:prstGeom>
          <a:effectLst/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4FBDBA87-036F-D74C-8E05-6C3E47BBAC9E}"/>
              </a:ext>
            </a:extLst>
          </p:cNvPr>
          <p:cNvSpPr txBox="1"/>
          <p:nvPr/>
        </p:nvSpPr>
        <p:spPr>
          <a:xfrm>
            <a:off x="9329001" y="6023764"/>
            <a:ext cx="2214068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s-ES_tradnl" sz="700" dirty="0">
                <a:solidFill>
                  <a:srgbClr val="FFFFFF"/>
                </a:solidFill>
                <a:hlinkClick r:id="rId4" tooltip="https://www.frontiersin.org/articles/10.3389/fncel.2018.00388/ful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Esta foto</a:t>
            </a:r>
            <a:r>
              <a:rPr lang="es-ES_tradnl" sz="700" dirty="0">
                <a:solidFill>
                  <a:srgbClr val="FFFFFF"/>
                </a:solidFill>
              </a:rPr>
              <a:t> de Autor desconocido está bajo licencia </a:t>
            </a:r>
            <a:r>
              <a:rPr lang="es-ES_tradnl" sz="700" dirty="0">
                <a:solidFill>
                  <a:srgbClr val="FFFFFF"/>
                </a:solidFill>
                <a:hlinkClick r:id="rId5" tooltip="https://creativecommons.org/licenses/by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</a:t>
            </a:r>
            <a:endParaRPr lang="es-ES_tradnl" sz="7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03064" y="112056"/>
            <a:ext cx="10515600" cy="1325563"/>
          </a:xfrm>
        </p:spPr>
        <p:txBody>
          <a:bodyPr/>
          <a:lstStyle/>
          <a:p>
            <a:r>
              <a:rPr lang="es-MX" b="1" dirty="0"/>
              <a:t>FASE DEL CICLO CELULAR G</a:t>
            </a:r>
            <a:r>
              <a:rPr lang="es-MX" b="1" baseline="-25000" dirty="0"/>
              <a:t>0</a:t>
            </a:r>
            <a:endParaRPr lang="es-ES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21825" y="1265909"/>
            <a:ext cx="5513535" cy="762000"/>
          </a:xfrm>
        </p:spPr>
        <p:txBody>
          <a:bodyPr>
            <a:normAutofit/>
          </a:bodyPr>
          <a:lstStyle/>
          <a:p>
            <a:r>
              <a:rPr lang="es-ES" dirty="0"/>
              <a:t>Ejemplo. Proliferación de fibroblastos en heridas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half" idx="2"/>
          </p:nvPr>
        </p:nvSpPr>
        <p:spPr>
          <a:xfrm>
            <a:off x="421825" y="2137719"/>
            <a:ext cx="5674174" cy="4460789"/>
          </a:xfrm>
        </p:spPr>
        <p:txBody>
          <a:bodyPr>
            <a:normAutofit/>
          </a:bodyPr>
          <a:lstStyle/>
          <a:p>
            <a:pPr algn="just"/>
            <a:r>
              <a:rPr lang="es-MX" sz="2000" dirty="0"/>
              <a:t>Factores de crecimiento del suero activan ciertos genes en un orden particular que inicia la proliferación.</a:t>
            </a:r>
          </a:p>
          <a:p>
            <a:pPr algn="just"/>
            <a:r>
              <a:rPr lang="es-MX" sz="2000" dirty="0"/>
              <a:t>Primero el factor de crecimiento derivado de plaquetas activa los genes requeridos para la síntesis de RNA mensajero y proteínas. </a:t>
            </a:r>
          </a:p>
          <a:p>
            <a:pPr algn="just"/>
            <a:r>
              <a:rPr lang="es-MX" sz="2000" dirty="0"/>
              <a:t>Segundo el factor de crecimiento epidermal y la insulina activan los genes para factores de transcripción requeridos en la expresión de proteínas usadas para avanzar al  punto de restricción G</a:t>
            </a:r>
            <a:r>
              <a:rPr lang="es-MX" sz="2000" baseline="-25000" dirty="0"/>
              <a:t>1</a:t>
            </a:r>
            <a:r>
              <a:rPr lang="es-MX" sz="2000" dirty="0"/>
              <a:t> así como los genes requeridos para el crecimiento celular.</a:t>
            </a:r>
          </a:p>
          <a:p>
            <a:pPr algn="just"/>
            <a:r>
              <a:rPr lang="es-MX" sz="2000" dirty="0"/>
              <a:t>Posteriormente la célula avanza a la fase S del ciclo celular</a:t>
            </a:r>
          </a:p>
          <a:p>
            <a:pPr algn="just"/>
            <a:endParaRPr lang="es-ES" sz="2000" dirty="0"/>
          </a:p>
        </p:txBody>
      </p:sp>
      <p:pic>
        <p:nvPicPr>
          <p:cNvPr id="1026" name="Picture 2" descr="F:\Documents\CLASES\Material apoyo Biol cel\LIbro Biol cel Pollard\figuras\S9781416022558-032-f011.jpg"/>
          <p:cNvPicPr>
            <a:picLocks noGrp="1" noChangeAspect="1" noChangeArrowheads="1"/>
          </p:cNvPicPr>
          <p:nvPr>
            <p:ph sz="quarter" idx="4"/>
          </p:nvPr>
        </p:nvPicPr>
        <p:blipFill rotWithShape="1">
          <a:blip r:embed="rId2" cstate="print"/>
          <a:srcRect b="1410"/>
          <a:stretch/>
        </p:blipFill>
        <p:spPr bwMode="auto">
          <a:xfrm>
            <a:off x="6480043" y="1646909"/>
            <a:ext cx="5532387" cy="495159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15549" y="721437"/>
            <a:ext cx="10363200" cy="844571"/>
          </a:xfrm>
        </p:spPr>
        <p:txBody>
          <a:bodyPr>
            <a:normAutofit/>
          </a:bodyPr>
          <a:lstStyle/>
          <a:p>
            <a:r>
              <a:rPr lang="es-ES" b="1" dirty="0"/>
              <a:t>Células madre</a:t>
            </a:r>
            <a:endParaRPr lang="es-ES" dirty="0"/>
          </a:p>
        </p:txBody>
      </p:sp>
      <p:sp>
        <p:nvSpPr>
          <p:cNvPr id="5" name="4 Marcador de contenido"/>
          <p:cNvSpPr>
            <a:spLocks noGrp="1"/>
          </p:cNvSpPr>
          <p:nvPr>
            <p:ph sz="half" idx="2"/>
          </p:nvPr>
        </p:nvSpPr>
        <p:spPr>
          <a:xfrm>
            <a:off x="609600" y="1500175"/>
            <a:ext cx="5386917" cy="4918215"/>
          </a:xfrm>
        </p:spPr>
        <p:txBody>
          <a:bodyPr>
            <a:normAutofit fontScale="77500" lnSpcReduction="20000"/>
          </a:bodyPr>
          <a:lstStyle/>
          <a:p>
            <a:r>
              <a:rPr lang="es-ES" dirty="0"/>
              <a:t>Células embrionarias tempranas pueden diferenciarse en todos los tejidos del organismo </a:t>
            </a:r>
            <a:r>
              <a:rPr lang="es-ES" b="1" dirty="0"/>
              <a:t>(Células Madre Pluripotenciales) </a:t>
            </a:r>
            <a:endParaRPr lang="es-ES" dirty="0"/>
          </a:p>
          <a:p>
            <a:r>
              <a:rPr lang="es-ES" b="1" dirty="0"/>
              <a:t>Células madre de tejidos</a:t>
            </a:r>
          </a:p>
          <a:p>
            <a:pPr>
              <a:buNone/>
            </a:pPr>
            <a:r>
              <a:rPr lang="es-ES" dirty="0"/>
              <a:t>	En algunos tejidos existen  células que pueden reproducirse por si mismas y además diferenciarse. </a:t>
            </a:r>
          </a:p>
          <a:p>
            <a:pPr lvl="1">
              <a:buNone/>
            </a:pPr>
            <a:r>
              <a:rPr lang="es-ES" dirty="0"/>
              <a:t>Células sanguíneas, de la piel, de músculo esquelético y de plantas  (células madre meristémicas ).</a:t>
            </a:r>
          </a:p>
          <a:p>
            <a:r>
              <a:rPr lang="es-ES" dirty="0"/>
              <a:t>Existen dos ciclos celulares alternativos para las células madre.</a:t>
            </a:r>
          </a:p>
          <a:p>
            <a:pPr lvl="1"/>
            <a:r>
              <a:rPr lang="es-ES" dirty="0"/>
              <a:t>División asimétrica produce una célula madre que permanece asociada a un nicho celular y una célula que se diferenciará.</a:t>
            </a:r>
          </a:p>
          <a:p>
            <a:pPr lvl="1"/>
            <a:r>
              <a:rPr lang="es-ES" dirty="0"/>
              <a:t>División simétrica produce dos células madre.</a:t>
            </a:r>
          </a:p>
        </p:txBody>
      </p:sp>
      <p:pic>
        <p:nvPicPr>
          <p:cNvPr id="40962" name="Picture 2" descr="Fig41-15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 cstate="print"/>
          <a:stretch>
            <a:fillRect/>
          </a:stretch>
        </p:blipFill>
        <p:spPr bwMode="auto">
          <a:xfrm>
            <a:off x="5903979" y="692696"/>
            <a:ext cx="6048672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1 Título">
            <a:extLst>
              <a:ext uri="{FF2B5EF4-FFF2-40B4-BE49-F238E27FC236}">
                <a16:creationId xmlns:a16="http://schemas.microsoft.com/office/drawing/2014/main" id="{BF8F510B-8456-6248-9A94-4E4C5D26F2C4}"/>
              </a:ext>
            </a:extLst>
          </p:cNvPr>
          <p:cNvSpPr txBox="1">
            <a:spLocks/>
          </p:cNvSpPr>
          <p:nvPr/>
        </p:nvSpPr>
        <p:spPr>
          <a:xfrm>
            <a:off x="239349" y="-27238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/>
              <a:t>FASE DEL CICLO CELULAR G</a:t>
            </a:r>
            <a:r>
              <a:rPr lang="es-MX" b="1" baseline="-25000" dirty="0"/>
              <a:t>0</a:t>
            </a:r>
            <a:endParaRPr lang="es-E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1" name="Picture 9">
            <a:extLst>
              <a:ext uri="{FF2B5EF4-FFF2-40B4-BE49-F238E27FC236}">
                <a16:creationId xmlns:a16="http://schemas.microsoft.com/office/drawing/2014/main" id="{8CEAD355-D540-41C3-B87E-D320976D8F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1" t="9091" r="8690"/>
          <a:stretch/>
        </p:blipFill>
        <p:spPr>
          <a:xfrm>
            <a:off x="27" y="13"/>
            <a:ext cx="12191973" cy="6857987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bg1">
                  <a:alpha val="46000"/>
                </a:schemeClr>
              </a:gs>
              <a:gs pos="21000">
                <a:schemeClr val="bg1">
                  <a:alpha val="3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6 Título"/>
          <p:cNvSpPr>
            <a:spLocks noGrp="1"/>
          </p:cNvSpPr>
          <p:nvPr>
            <p:ph type="title"/>
          </p:nvPr>
        </p:nvSpPr>
        <p:spPr>
          <a:xfrm>
            <a:off x="404553" y="3091928"/>
            <a:ext cx="9078562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REPLICACIÓN DEL CENTROSOMA</a:t>
            </a:r>
            <a:br>
              <a:rPr lang="en-US" sz="5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510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7 Marcador de texto"/>
          <p:cNvSpPr>
            <a:spLocks noGrp="1"/>
          </p:cNvSpPr>
          <p:nvPr>
            <p:ph type="body" idx="1"/>
          </p:nvPr>
        </p:nvSpPr>
        <p:spPr>
          <a:xfrm>
            <a:off x="404553" y="5624945"/>
            <a:ext cx="9078562" cy="592975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81012" y="3752848"/>
            <a:ext cx="3290888" cy="2452688"/>
          </a:xfrm>
        </p:spPr>
        <p:txBody>
          <a:bodyPr vert="horz" lIns="121920" tIns="60960" rIns="121920" bIns="60960" rtlCol="0" anchor="ctr">
            <a:normAutofit/>
          </a:bodyPr>
          <a:lstStyle/>
          <a:p>
            <a:pPr defTabSz="1219170"/>
            <a:r>
              <a:rPr lang="en-US" sz="3600" dirty="0"/>
              <a:t>Ciclo del Centrosoma</a:t>
            </a:r>
          </a:p>
        </p:txBody>
      </p:sp>
      <p:pic>
        <p:nvPicPr>
          <p:cNvPr id="45058" name="Picture 2" descr="50"/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3" cstate="print"/>
          <a:srcRect l="5536" r="2" b="2"/>
          <a:stretch/>
        </p:blipFill>
        <p:spPr bwMode="auto">
          <a:xfrm>
            <a:off x="27" y="14"/>
            <a:ext cx="12191973" cy="3710599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  <a:noFill/>
        </p:spPr>
      </p:pic>
      <p:sp>
        <p:nvSpPr>
          <p:cNvPr id="8" name="7 Marcador de contenido"/>
          <p:cNvSpPr>
            <a:spLocks noGrp="1"/>
          </p:cNvSpPr>
          <p:nvPr>
            <p:ph sz="quarter" idx="4"/>
          </p:nvPr>
        </p:nvSpPr>
        <p:spPr>
          <a:xfrm>
            <a:off x="3215680" y="3752850"/>
            <a:ext cx="8640960" cy="3036524"/>
          </a:xfrm>
        </p:spPr>
        <p:txBody>
          <a:bodyPr vert="horz" lIns="121920" tIns="60960" rIns="121920" bIns="60960" rtlCol="0" anchor="ctr">
            <a:normAutofit/>
          </a:bodyPr>
          <a:lstStyle/>
          <a:p>
            <a:pPr indent="-304792" defTabSz="1219170"/>
            <a:r>
              <a:rPr lang="es-ES_tradnl" sz="1600" dirty="0"/>
              <a:t>La duplicación de los centrosomas  se realiza por un mecanismo semiconservativo ligado estrechamente al ciclo celular. </a:t>
            </a:r>
          </a:p>
          <a:p>
            <a:pPr indent="-304792" defTabSz="1219170"/>
            <a:r>
              <a:rPr lang="es-ES_tradnl" sz="1600" dirty="0"/>
              <a:t>Los Cdk's (Cdk2/ciclina E o A) regulan la replicación del centrosoma, pero los sitios de fosforilación no se conocen todavía.</a:t>
            </a:r>
          </a:p>
          <a:p>
            <a:pPr indent="-304792" defTabSz="1219170"/>
            <a:r>
              <a:rPr lang="es-ES_tradnl" sz="1600" dirty="0"/>
              <a:t>Los centriolos madre e hijas están ligados a la mitosis y en las fases del ciclo celular G</a:t>
            </a:r>
            <a:r>
              <a:rPr lang="es-ES_tradnl" sz="1600" baseline="-25000" dirty="0"/>
              <a:t>1</a:t>
            </a:r>
            <a:r>
              <a:rPr lang="es-ES_tradnl" sz="1600" dirty="0"/>
              <a:t>, S, and G</a:t>
            </a:r>
            <a:r>
              <a:rPr lang="es-ES_tradnl" sz="1600" baseline="-25000" dirty="0"/>
              <a:t>2</a:t>
            </a:r>
            <a:r>
              <a:rPr lang="es-ES_tradnl" sz="1600" dirty="0"/>
              <a:t>.</a:t>
            </a:r>
          </a:p>
          <a:p>
            <a:pPr indent="-304792" defTabSz="1219170"/>
            <a:r>
              <a:rPr lang="es-ES_tradnl" sz="1600" dirty="0"/>
              <a:t>Durante la fase S la forma de los centriolos hijas es octagonal a diferencia de los centriolos existentes, los cuales son llamados centriolos madres viejos y centriolos madres nuevos</a:t>
            </a:r>
          </a:p>
          <a:p>
            <a:pPr indent="-304792" defTabSz="1219170"/>
            <a:r>
              <a:rPr lang="es-ES_tradnl" sz="1600" dirty="0"/>
              <a:t>Los nuevos centriolos hijas crecen  hasta su tamaño normal en la fase temprana de la mitosis, cuando los centrosomas maduros son separados para formar los polos y el huso mitótico. </a:t>
            </a:r>
          </a:p>
          <a:p>
            <a:pPr indent="-304792" defTabSz="1219170"/>
            <a:endParaRPr lang="es-ES_tradnl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Una manzana roja&#10;&#10;Descripción generada automáticamente con confianza baja">
            <a:extLst>
              <a:ext uri="{FF2B5EF4-FFF2-40B4-BE49-F238E27FC236}">
                <a16:creationId xmlns:a16="http://schemas.microsoft.com/office/drawing/2014/main" id="{5E7C4EBA-866E-49BA-8862-C29EFC4477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1" t="9091" r="8690"/>
          <a:stretch/>
        </p:blipFill>
        <p:spPr>
          <a:xfrm>
            <a:off x="27" y="13"/>
            <a:ext cx="12191973" cy="685798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bg1">
                  <a:alpha val="46000"/>
                </a:schemeClr>
              </a:gs>
              <a:gs pos="21000">
                <a:schemeClr val="bg1">
                  <a:alpha val="3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404553" y="3091928"/>
            <a:ext cx="9078562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FASES DE CICLO CELULAR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5 Marcador de texto"/>
          <p:cNvSpPr>
            <a:spLocks noGrp="1"/>
          </p:cNvSpPr>
          <p:nvPr>
            <p:ph type="body" idx="1"/>
          </p:nvPr>
        </p:nvSpPr>
        <p:spPr>
          <a:xfrm>
            <a:off x="404553" y="5624945"/>
            <a:ext cx="9078562" cy="592975"/>
          </a:xfr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r>
              <a:rPr lang="en-US" sz="4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FASE G2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FASE G2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half" idx="1"/>
          </p:nvPr>
        </p:nvSpPr>
        <p:spPr>
          <a:xfrm>
            <a:off x="648931" y="2438400"/>
            <a:ext cx="3505494" cy="378541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_tradnl" sz="2000" dirty="0"/>
              <a:t>Es el intervalo entre la terminación de la replicación del ADN y el inicio de la mitosis, es una transición gradual de la célula al final de la interfase.</a:t>
            </a:r>
            <a:endParaRPr lang="es-ES_tradnl" sz="2000" dirty="0">
              <a:cs typeface="Calibri"/>
            </a:endParaRPr>
          </a:p>
          <a:p>
            <a:r>
              <a:rPr lang="es-ES_tradnl" sz="2000" dirty="0"/>
              <a:t>Es una fase de preparación de la mitosis en la cual sintetiza ciclina B que se asociará con  Cdk1 (Cdc2 en levadura) presente en el ciclo celular pero no activa en la transición de la fase M.</a:t>
            </a:r>
            <a:endParaRPr lang="es-ES_tradnl" sz="2000" dirty="0">
              <a:cs typeface="Calibri"/>
            </a:endParaRPr>
          </a:p>
          <a:p>
            <a:endParaRPr lang="es-ES_tradnl" sz="2000" dirty="0">
              <a:cs typeface="Calibr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2"/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 cstate="print"/>
          <a:srcRect t="4467" r="3" b="5938"/>
          <a:stretch/>
        </p:blipFill>
        <p:spPr bwMode="auto">
          <a:xfrm>
            <a:off x="5222896" y="817425"/>
            <a:ext cx="6320174" cy="5274456"/>
          </a:xfrm>
          <a:prstGeom prst="rect">
            <a:avLst/>
          </a:prstGeom>
          <a:noFill/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48928" y="338328"/>
            <a:ext cx="3685032" cy="16083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Fase G</a:t>
            </a:r>
            <a:r>
              <a:rPr lang="en-US" sz="25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br>
              <a:rPr lang="en-US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REGULACIÓN BIOQUÍMCIA DE LA FASE G2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half" idx="2"/>
          </p:nvPr>
        </p:nvSpPr>
        <p:spPr>
          <a:xfrm>
            <a:off x="4077730" y="164414"/>
            <a:ext cx="8114270" cy="2084832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0" indent="0">
              <a:buNone/>
            </a:pPr>
            <a:r>
              <a:rPr lang="es-ES_tradnl" sz="1200" dirty="0"/>
              <a:t>Quinasas y fosfatasas activan y regulan Cdk1/ciclina B.</a:t>
            </a:r>
          </a:p>
          <a:p>
            <a:pPr lvl="1"/>
            <a:r>
              <a:rPr lang="es-ES_tradnl" sz="1200" dirty="0"/>
              <a:t>Quinasa CAK (Ckd7/ciclina H) fosforilan Thr161, abriendo el sitio activo para la unión del sustrato, pero esto no activa Cdk1/ciclina B, </a:t>
            </a:r>
          </a:p>
          <a:p>
            <a:pPr lvl="1"/>
            <a:r>
              <a:rPr lang="es-ES_tradnl" sz="1200" dirty="0"/>
              <a:t>Entonces Wee1 (y la quinasa relacionada myt1) fosforilan los sitios de inhibición Thr14 y Tyr15 que prepara a la quinasa Cdk1/ciclina B,</a:t>
            </a:r>
          </a:p>
          <a:p>
            <a:pPr lvl="1"/>
            <a:r>
              <a:rPr lang="es-ES_tradnl" sz="1200" dirty="0"/>
              <a:t>Polo quinasa (PlX1) activa la fosfatasa Cdc25,</a:t>
            </a:r>
          </a:p>
          <a:p>
            <a:pPr lvl="1"/>
            <a:r>
              <a:rPr lang="es-ES_tradnl" sz="1200" dirty="0"/>
              <a:t>Fosfatasa Cdc25 remueve los fosfatos inhibidores de Cdk1 Thr14, and Tyr15</a:t>
            </a:r>
          </a:p>
          <a:p>
            <a:pPr lvl="1"/>
            <a:r>
              <a:rPr lang="es-ES_tradnl" sz="1200" dirty="0"/>
              <a:t>Cdk1/cyclin B  es activada por la fosfatasa Cdc25, crenado una retroalimentación positiva del loop para activar Cdk1/ciclina B,</a:t>
            </a:r>
          </a:p>
          <a:p>
            <a:pPr lvl="1"/>
            <a:r>
              <a:rPr lang="es-ES_tradnl" sz="1200" dirty="0"/>
              <a:t>La acumulación del complejo Cdk1/ciclina B en el núcleo permite la entrada de la célula a la mitosis</a:t>
            </a:r>
          </a:p>
          <a:p>
            <a:endParaRPr lang="es-ES_tradnl" sz="1200" dirty="0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5AAE9118-0436-4488-AC4A-C14DF6A7B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2211010"/>
            <a:ext cx="12192002" cy="464699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3" name="Rounded Rectangle 26">
            <a:extLst>
              <a:ext uri="{FF2B5EF4-FFF2-40B4-BE49-F238E27FC236}">
                <a16:creationId xmlns:a16="http://schemas.microsoft.com/office/drawing/2014/main" id="{1B10F861-B8F1-49C7-BD58-EAB20CEE7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564" y="2423160"/>
            <a:ext cx="5613569" cy="393031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6082" name="Picture 2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 cstate="print"/>
          <a:stretch>
            <a:fillRect/>
          </a:stretch>
        </p:blipFill>
        <p:spPr bwMode="auto">
          <a:xfrm>
            <a:off x="304174" y="2423160"/>
            <a:ext cx="5613569" cy="3918222"/>
          </a:xfrm>
          <a:prstGeom prst="rect">
            <a:avLst/>
          </a:prstGeom>
          <a:noFill/>
        </p:spPr>
      </p:pic>
      <p:sp>
        <p:nvSpPr>
          <p:cNvPr id="194" name="Rounded Rectangle 16">
            <a:extLst>
              <a:ext uri="{FF2B5EF4-FFF2-40B4-BE49-F238E27FC236}">
                <a16:creationId xmlns:a16="http://schemas.microsoft.com/office/drawing/2014/main" id="{61F6E425-22AB-4DA2-8FAC-58ADB58EF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4749" y="2423160"/>
            <a:ext cx="5613569" cy="393031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2" descr="43_013"/>
          <p:cNvPicPr>
            <a:picLocks noChangeAspect="1" noChangeArrowheads="1"/>
          </p:cNvPicPr>
          <p:nvPr/>
        </p:nvPicPr>
        <p:blipFill rotWithShape="1">
          <a:blip r:embed="rId4" cstate="print"/>
          <a:srcRect b="8260"/>
          <a:stretch/>
        </p:blipFill>
        <p:spPr bwMode="auto">
          <a:xfrm>
            <a:off x="6274257" y="2584980"/>
            <a:ext cx="5613569" cy="359458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lementos multimedia en línea 6" descr="El CICLO CELULAR (Paso a Paso)">
            <a:hlinkClick r:id="" action="ppaction://media"/>
            <a:extLst>
              <a:ext uri="{FF2B5EF4-FFF2-40B4-BE49-F238E27FC236}">
                <a16:creationId xmlns:a16="http://schemas.microsoft.com/office/drawing/2014/main" id="{001E9E68-5D17-0B4F-962E-FFFF2CADE460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711200" y="365815"/>
            <a:ext cx="10877826" cy="6145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33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C5E6CFF1-2F42-4E10-9A97-F116F46F5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2226" name="Picture 2"/>
          <p:cNvPicPr>
            <a:picLocks noChangeAspect="1" noChangeArrowheads="1"/>
          </p:cNvPicPr>
          <p:nvPr/>
        </p:nvPicPr>
        <p:blipFill rotWithShape="1">
          <a:blip r:embed="rId3" cstate="print">
            <a:alphaModFix amt="35000"/>
          </a:blip>
          <a:srcRect t="10880" b="9049"/>
          <a:stretch/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</p:spPr>
      </p:pic>
      <p:sp>
        <p:nvSpPr>
          <p:cNvPr id="7" name="6 Título"/>
          <p:cNvSpPr>
            <a:spLocks noGrp="1"/>
          </p:cNvSpPr>
          <p:nvPr>
            <p:ph type="title"/>
          </p:nvPr>
        </p:nvSpPr>
        <p:spPr>
          <a:xfrm>
            <a:off x="838200" y="1065862"/>
            <a:ext cx="3815159" cy="47262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8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MITOSIS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67182200-4859-4C8D-BCBB-55B245C28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3372" y="2286000"/>
            <a:ext cx="0" cy="22860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8 Marcador de texto"/>
          <p:cNvSpPr>
            <a:spLocks noGrp="1"/>
          </p:cNvSpPr>
          <p:nvPr>
            <p:ph type="body" sz="half" idx="2"/>
          </p:nvPr>
        </p:nvSpPr>
        <p:spPr>
          <a:xfrm>
            <a:off x="5155379" y="1065862"/>
            <a:ext cx="6105653" cy="47262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4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FASES DE LA MITOSIS 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4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CITOQUINESIS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8761DDFE-071F-4200-B0AA-394476C2D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38199" y="547815"/>
            <a:ext cx="2646406" cy="1680519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b="1" dirty="0"/>
              <a:t>PROGRESIÓN EN LA FASE DE MITOSIS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half" idx="2"/>
          </p:nvPr>
        </p:nvSpPr>
        <p:spPr>
          <a:xfrm>
            <a:off x="3484606" y="204420"/>
            <a:ext cx="8399710" cy="28106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96230"/>
            <a:r>
              <a:rPr lang="es-ES_tradnl" sz="1400" dirty="0"/>
              <a:t>Si la fase de replicación ha terminado y se determinado que no hay daño en el ADN en el check point de la fase G</a:t>
            </a:r>
            <a:r>
              <a:rPr lang="es-ES_tradnl" sz="1400" baseline="-25000" dirty="0"/>
              <a:t>2 </a:t>
            </a:r>
            <a:r>
              <a:rPr lang="es-ES_tradnl" sz="1400" dirty="0"/>
              <a:t>entonces una reacción en cascada lleva a la célula de la G</a:t>
            </a:r>
            <a:r>
              <a:rPr lang="es-ES_tradnl" sz="1400" baseline="-25000" dirty="0"/>
              <a:t>2</a:t>
            </a:r>
            <a:r>
              <a:rPr lang="es-ES_tradnl" sz="1400" dirty="0"/>
              <a:t> a la mitosis:</a:t>
            </a:r>
            <a:br>
              <a:rPr lang="es-ES_tradnl" sz="1400" dirty="0"/>
            </a:br>
            <a:r>
              <a:rPr lang="es-ES_tradnl" sz="1400" dirty="0"/>
              <a:t> activación de complejo Cdk1/ciclina B</a:t>
            </a:r>
          </a:p>
          <a:p>
            <a:pPr marL="396230"/>
            <a:r>
              <a:rPr lang="es-ES_tradnl" sz="1400" b="1" dirty="0"/>
              <a:t>Tipos de Mitosis</a:t>
            </a:r>
          </a:p>
          <a:p>
            <a:pPr marL="380990" lvl="1"/>
            <a:r>
              <a:rPr lang="es-ES_tradnl" sz="1400" b="1" dirty="0"/>
              <a:t>M. Abierta</a:t>
            </a:r>
            <a:endParaRPr lang="es-ES_tradnl" sz="1400" dirty="0"/>
          </a:p>
          <a:p>
            <a:pPr lvl="1"/>
            <a:r>
              <a:rPr lang="es-ES_tradnl" sz="1400" dirty="0"/>
              <a:t>Sucede en animales en las cuales la envoltura nuclear desaparece en la mitosis lo que permite la mezcla del contenido nuclear y citoplasmático.</a:t>
            </a:r>
          </a:p>
          <a:p>
            <a:pPr marL="380990" lvl="1"/>
            <a:r>
              <a:rPr lang="es-ES_tradnl" sz="1400" b="1" dirty="0"/>
              <a:t>M. cerrada</a:t>
            </a:r>
          </a:p>
          <a:p>
            <a:pPr lvl="1"/>
            <a:r>
              <a:rPr lang="es-ES_tradnl" sz="1400" dirty="0"/>
              <a:t>Muchos hongos, los mohos y algunos protozoarios como llevan acabo una mitosis cerrada, semicerrada, es decir, en ellos la envoltura nuclear no desaparece durante la mitosis..</a:t>
            </a:r>
          </a:p>
          <a:p>
            <a:pPr marL="701022"/>
            <a:endParaRPr lang="es-ES_tradnl" sz="1400" dirty="0"/>
          </a:p>
        </p:txBody>
      </p:sp>
      <p:pic>
        <p:nvPicPr>
          <p:cNvPr id="10" name="Picture 2" descr="Fig44-24"/>
          <p:cNvPicPr>
            <a:picLocks noGrp="1" noChangeAspect="1" noChangeArrowheads="1"/>
          </p:cNvPicPr>
          <p:nvPr>
            <p:ph sz="quarter" idx="4"/>
          </p:nvPr>
        </p:nvPicPr>
        <p:blipFill rotWithShape="1">
          <a:blip r:embed="rId3" cstate="print"/>
          <a:srcRect l="-1788" r="1285"/>
          <a:stretch/>
        </p:blipFill>
        <p:spPr bwMode="auto">
          <a:xfrm>
            <a:off x="307685" y="2891481"/>
            <a:ext cx="4226415" cy="3711146"/>
          </a:xfrm>
          <a:prstGeom prst="rect">
            <a:avLst/>
          </a:prstGeom>
          <a:noFill/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 rotWithShape="1">
          <a:blip r:embed="rId4" cstate="print"/>
          <a:srcRect l="4383" r="124" b="-2"/>
          <a:stretch/>
        </p:blipFill>
        <p:spPr bwMode="auto">
          <a:xfrm>
            <a:off x="4841786" y="2891481"/>
            <a:ext cx="7042529" cy="376209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CE90743-578F-4247-A6A4-8402AB4155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71" r="27629"/>
          <a:stretch/>
        </p:blipFill>
        <p:spPr>
          <a:xfrm>
            <a:off x="3523488" y="13"/>
            <a:ext cx="8668512" cy="6857987"/>
          </a:xfrm>
          <a:prstGeom prst="rect">
            <a:avLst/>
          </a:prstGeom>
        </p:spPr>
      </p:pic>
      <p:sp>
        <p:nvSpPr>
          <p:cNvPr id="7" name="6 Título"/>
          <p:cNvSpPr>
            <a:spLocks noGrp="1"/>
          </p:cNvSpPr>
          <p:nvPr>
            <p:ph type="title"/>
          </p:nvPr>
        </p:nvSpPr>
        <p:spPr>
          <a:xfrm>
            <a:off x="477980" y="1122363"/>
            <a:ext cx="4023360" cy="3204133"/>
          </a:xfrm>
        </p:spPr>
        <p:txBody>
          <a:bodyPr vert="horz" lIns="121920" tIns="60960" rIns="121920" bIns="60960" rtlCol="0" anchor="b">
            <a:normAutofit/>
          </a:bodyPr>
          <a:lstStyle/>
          <a:p>
            <a:pPr defTabSz="1219170"/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FASES DE LA MITOSIS</a:t>
            </a:r>
          </a:p>
        </p:txBody>
      </p:sp>
      <p:sp>
        <p:nvSpPr>
          <p:cNvPr id="8" name="7 Marcador de texto"/>
          <p:cNvSpPr>
            <a:spLocks noGrp="1"/>
          </p:cNvSpPr>
          <p:nvPr>
            <p:ph type="body" idx="1"/>
          </p:nvPr>
        </p:nvSpPr>
        <p:spPr>
          <a:xfrm>
            <a:off x="477981" y="4872922"/>
            <a:ext cx="4023359" cy="1208141"/>
          </a:xfrm>
        </p:spPr>
        <p:txBody>
          <a:bodyPr vert="horz" lIns="121920" tIns="60960" rIns="121920" bIns="60960" rtlCol="0" anchor="b">
            <a:normAutofit/>
          </a:bodyPr>
          <a:lstStyle/>
          <a:p>
            <a:pPr defTabSz="1219170">
              <a:spcBef>
                <a:spcPts val="1333"/>
              </a:spcBef>
            </a:pPr>
            <a:r>
              <a:rPr 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PROFASE</a:t>
            </a:r>
          </a:p>
          <a:p>
            <a:pPr defTabSz="1219170">
              <a:spcBef>
                <a:spcPts val="1333"/>
              </a:spcBef>
            </a:pPr>
            <a:r>
              <a:rPr 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PROMETAFASE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81012" y="3752848"/>
            <a:ext cx="3290888" cy="2452688"/>
          </a:xfrm>
        </p:spPr>
        <p:txBody>
          <a:bodyPr vert="horz" lIns="121920" tIns="60960" rIns="121920" bIns="60960" rtlCol="0" anchor="ctr">
            <a:normAutofit/>
          </a:bodyPr>
          <a:lstStyle/>
          <a:p>
            <a:pPr defTabSz="1219170"/>
            <a:r>
              <a:rPr lang="en-US" sz="3600" dirty="0"/>
              <a:t>Profase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half" idx="1"/>
          </p:nvPr>
        </p:nvSpPr>
        <p:spPr>
          <a:xfrm>
            <a:off x="2222330" y="4499253"/>
            <a:ext cx="9874935" cy="2358745"/>
          </a:xfrm>
        </p:spPr>
        <p:txBody>
          <a:bodyPr vert="horz" lIns="121920" tIns="60960" rIns="121920" bIns="60960" rtlCol="0" anchor="ctr">
            <a:normAutofit/>
          </a:bodyPr>
          <a:lstStyle/>
          <a:p>
            <a:pPr indent="-304792" defTabSz="1219170"/>
            <a:r>
              <a:rPr lang="es-ES_tradnl" sz="1867" dirty="0"/>
              <a:t>Primera fase de la mitosis  en la que se dan los siguientes procesos dentro de la célula:</a:t>
            </a:r>
          </a:p>
          <a:p>
            <a:pPr lvl="1" indent="-304792" defTabSz="1219170"/>
            <a:r>
              <a:rPr lang="es-ES_tradnl" sz="1867" dirty="0"/>
              <a:t>Los cromosomas se condensan en el núcleo (condensina en núcleo y fosforilación de histonas), el nucléolo se desensambla</a:t>
            </a:r>
          </a:p>
          <a:p>
            <a:pPr lvl="1" indent="-304792" defTabSz="1219170"/>
            <a:r>
              <a:rPr lang="es-ES_tradnl" sz="1867" dirty="0"/>
              <a:t>Internalización de marcadores de membrana plasmática y desensamblaje de organelos membranosos  </a:t>
            </a:r>
          </a:p>
          <a:p>
            <a:pPr lvl="1" indent="-304792" defTabSz="1219170"/>
            <a:r>
              <a:rPr lang="es-ES_tradnl" sz="1867" dirty="0"/>
              <a:t>Se duplican los centrosomas  y se separan a los sitios opuestos del núcleo y se organizan los dos polos de los husos mitóticos</a:t>
            </a:r>
          </a:p>
          <a:p>
            <a:pPr indent="-304792" defTabSz="1219170"/>
            <a:endParaRPr lang="es-ES_tradnl" sz="1867" b="1" dirty="0"/>
          </a:p>
          <a:p>
            <a:pPr indent="-304792" defTabSz="1219170"/>
            <a:endParaRPr lang="es-ES_tradnl" sz="1867" dirty="0"/>
          </a:p>
        </p:txBody>
      </p:sp>
      <p:pic>
        <p:nvPicPr>
          <p:cNvPr id="2050" name="Picture 2" descr="F:\Documents\CLASES\Material apoyo Biol cel\LIbro Biol cel Pollard\figuras\S9781416022558-044-f003.jpg"/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3" cstate="print"/>
          <a:srcRect t="-806"/>
          <a:stretch/>
        </p:blipFill>
        <p:spPr bwMode="auto">
          <a:xfrm>
            <a:off x="27" y="1"/>
            <a:ext cx="12191973" cy="436306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2587ECF-85E9-4393-9D87-8EB6F3F6C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7496" y="166065"/>
            <a:ext cx="11308493" cy="127967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PROFASE</a:t>
            </a:r>
            <a:br>
              <a:rPr lang="en-US" sz="2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CAMBIOS EN EL NÚCLEO QUE DAN COMO RESULTADO LA CONDENSACIÓN DE CROMOSOMAS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half" idx="1"/>
          </p:nvPr>
        </p:nvSpPr>
        <p:spPr>
          <a:xfrm>
            <a:off x="556054" y="1117536"/>
            <a:ext cx="11219935" cy="297588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es-ES_tradnl" sz="2000" dirty="0"/>
          </a:p>
          <a:p>
            <a:r>
              <a:rPr lang="es-ES_tradnl" sz="2000" dirty="0"/>
              <a:t>Cdk1/ciclina B fosforilan la condensina y promueven  acumulación en el núcleo.</a:t>
            </a:r>
          </a:p>
          <a:p>
            <a:r>
              <a:rPr lang="es-ES_tradnl" sz="2000" dirty="0"/>
              <a:t>Cdk1/ciclina B y la quinasa aurora B fosforilan histonas.</a:t>
            </a:r>
          </a:p>
          <a:p>
            <a:r>
              <a:rPr lang="es-ES_tradnl" sz="2000" dirty="0"/>
              <a:t>Esto promueve la condensación de cada cromosoma en forma de hilo y visible al microscopio óptico.  </a:t>
            </a:r>
          </a:p>
          <a:p>
            <a:r>
              <a:rPr lang="es-ES_tradnl" sz="2000" dirty="0"/>
              <a:t>Cromátides hermanas son apareadas en los extremos o puntas por la cohesina.</a:t>
            </a:r>
          </a:p>
          <a:p>
            <a:r>
              <a:rPr lang="es-ES_tradnl" sz="2000" dirty="0"/>
              <a:t>Desaparece el nucleolo.</a:t>
            </a:r>
          </a:p>
          <a:p>
            <a:endParaRPr lang="es-ES_tradnl" sz="2000" dirty="0"/>
          </a:p>
        </p:txBody>
      </p:sp>
      <p:pic>
        <p:nvPicPr>
          <p:cNvPr id="6" name="Picture 2"/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3" cstate="print"/>
          <a:srcRect r="2" b="68669"/>
          <a:stretch/>
        </p:blipFill>
        <p:spPr bwMode="auto">
          <a:xfrm>
            <a:off x="4201297" y="3495253"/>
            <a:ext cx="7574692" cy="297588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84DF55BE-B4AB-4BA1-BDE1-E9F7FB3F1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1 Título"/>
          <p:cNvSpPr>
            <a:spLocks noGrp="1"/>
          </p:cNvSpPr>
          <p:nvPr>
            <p:ph type="title"/>
          </p:nvPr>
        </p:nvSpPr>
        <p:spPr>
          <a:xfrm>
            <a:off x="470546" y="249194"/>
            <a:ext cx="5981278" cy="1017373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3700" b="1" dirty="0"/>
              <a:t>PROFASE</a:t>
            </a:r>
            <a:br>
              <a:rPr lang="en-US" sz="3700" b="1" dirty="0"/>
            </a:br>
            <a:r>
              <a:rPr lang="en-US" sz="3700" b="1" dirty="0"/>
              <a:t>CAMBIOS EN EL CITOPLASMA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half" idx="2"/>
          </p:nvPr>
        </p:nvSpPr>
        <p:spPr>
          <a:xfrm>
            <a:off x="593124" y="1421028"/>
            <a:ext cx="6635579" cy="46790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s-ES_tradnl" sz="1800" b="1" dirty="0"/>
              <a:t>Maduración del centrosoma</a:t>
            </a:r>
          </a:p>
          <a:p>
            <a:r>
              <a:rPr lang="es-ES_tradnl" sz="1800" b="1" dirty="0"/>
              <a:t>Quinasas Polo y aurora A</a:t>
            </a:r>
            <a:r>
              <a:rPr lang="es-ES_tradnl" sz="1800" dirty="0"/>
              <a:t> </a:t>
            </a:r>
            <a:r>
              <a:rPr lang="es-ES_tradnl" sz="1800" b="1" dirty="0"/>
              <a:t>promueven</a:t>
            </a:r>
            <a:r>
              <a:rPr lang="es-ES_tradnl" sz="1800" dirty="0"/>
              <a:t> la asociación de tubulina-gama para formar los </a:t>
            </a:r>
            <a:r>
              <a:rPr lang="es-ES_tradnl" sz="1800" b="1" dirty="0"/>
              <a:t>anillos de nucleación de los microtúbulos</a:t>
            </a:r>
            <a:r>
              <a:rPr lang="es-ES_tradnl" sz="1800" dirty="0"/>
              <a:t>.</a:t>
            </a:r>
          </a:p>
          <a:p>
            <a:r>
              <a:rPr lang="es-ES_tradnl" sz="1800" dirty="0"/>
              <a:t>Los </a:t>
            </a:r>
            <a:r>
              <a:rPr lang="es-ES_tradnl" sz="1800" b="1" dirty="0"/>
              <a:t>microtúbulos</a:t>
            </a:r>
            <a:r>
              <a:rPr lang="es-ES_tradnl" sz="1800" dirty="0"/>
              <a:t> son más dinámicos  y cortos que en la interfase, este estado dinámico permite que </a:t>
            </a:r>
            <a:r>
              <a:rPr lang="es-ES_tradnl" sz="1800" b="1" dirty="0"/>
              <a:t>busquen</a:t>
            </a:r>
            <a:r>
              <a:rPr lang="es-ES_tradnl" sz="1800" dirty="0"/>
              <a:t> los </a:t>
            </a:r>
            <a:r>
              <a:rPr lang="es-ES_tradnl" sz="1800" b="1" dirty="0"/>
              <a:t>cinetocoros</a:t>
            </a:r>
            <a:r>
              <a:rPr lang="es-ES_tradnl" sz="1800" dirty="0"/>
              <a:t>.</a:t>
            </a:r>
          </a:p>
          <a:p>
            <a:r>
              <a:rPr lang="es-ES_tradnl" sz="1800" dirty="0"/>
              <a:t>El </a:t>
            </a:r>
            <a:r>
              <a:rPr lang="es-ES_tradnl" sz="1800" b="1" dirty="0"/>
              <a:t>complejo Cdk1/ciclina B </a:t>
            </a:r>
            <a:r>
              <a:rPr lang="es-ES_tradnl" sz="1800" dirty="0"/>
              <a:t>(y probablemente otras quinasas) f</a:t>
            </a:r>
            <a:r>
              <a:rPr lang="es-ES_tradnl" sz="1800" b="1" dirty="0"/>
              <a:t>osforilan</a:t>
            </a:r>
            <a:r>
              <a:rPr lang="es-ES_tradnl" sz="1800" dirty="0"/>
              <a:t> las láminas nucleares causando un desensamblaje de estas junto con otros filamentos intermedios.</a:t>
            </a:r>
          </a:p>
          <a:p>
            <a:r>
              <a:rPr lang="es-ES_tradnl" sz="1800" dirty="0"/>
              <a:t>El </a:t>
            </a:r>
            <a:r>
              <a:rPr lang="es-ES_tradnl" sz="1800" b="1" dirty="0"/>
              <a:t>AG se dispersa en vesículas</a:t>
            </a:r>
            <a:r>
              <a:rPr lang="es-ES_tradnl" sz="1800" dirty="0"/>
              <a:t> y se mantiene así   mientras  el complejo Cdk1/ciclina B  fosforile e inhiba una proteína requerida para la fusión de las vesículas  que forma parte del aparato de golgi.</a:t>
            </a:r>
          </a:p>
          <a:p>
            <a:r>
              <a:rPr lang="es-ES_tradnl" sz="1800" dirty="0"/>
              <a:t>El </a:t>
            </a:r>
            <a:r>
              <a:rPr lang="es-ES_tradnl" sz="1800" b="1" dirty="0"/>
              <a:t>RE se rompe en vesículas</a:t>
            </a:r>
            <a:r>
              <a:rPr lang="es-ES_tradnl" sz="1800" dirty="0"/>
              <a:t>.</a:t>
            </a:r>
          </a:p>
          <a:p>
            <a:r>
              <a:rPr lang="es-ES_tradnl" sz="1800" dirty="0"/>
              <a:t>Cdk1/ciclina B </a:t>
            </a:r>
            <a:r>
              <a:rPr lang="es-ES_tradnl" sz="1800" b="1" dirty="0"/>
              <a:t>fosforila</a:t>
            </a:r>
            <a:r>
              <a:rPr lang="es-ES_tradnl" sz="1800" dirty="0"/>
              <a:t> el factor de elongación </a:t>
            </a:r>
            <a:r>
              <a:rPr lang="es-ES_tradnl" sz="1800" b="1" dirty="0"/>
              <a:t>EF2a</a:t>
            </a:r>
            <a:r>
              <a:rPr lang="es-ES_tradnl" sz="1800" dirty="0"/>
              <a:t>,  con lo que </a:t>
            </a:r>
            <a:r>
              <a:rPr lang="es-ES_tradnl" sz="1800" b="1" dirty="0"/>
              <a:t>detiene la síntesis de proteínas</a:t>
            </a:r>
            <a:r>
              <a:rPr lang="es-ES_tradnl" sz="1800" dirty="0"/>
              <a:t>.</a:t>
            </a:r>
          </a:p>
        </p:txBody>
      </p:sp>
      <p:pic>
        <p:nvPicPr>
          <p:cNvPr id="48130" name="Picture 2" descr="50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 cstate="print"/>
          <a:stretch>
            <a:fillRect/>
          </a:stretch>
        </p:blipFill>
        <p:spPr bwMode="auto">
          <a:xfrm>
            <a:off x="7706231" y="168876"/>
            <a:ext cx="3773460" cy="2631989"/>
          </a:xfrm>
          <a:prstGeom prst="rect">
            <a:avLst/>
          </a:prstGeom>
          <a:noFill/>
        </p:spPr>
      </p:pic>
      <p:pic>
        <p:nvPicPr>
          <p:cNvPr id="3074" name="Picture 2" descr="F:\Documents\CLASES\Material apoyo Biol cel\LIbro Biol cel Pollard\figuras\S9781416022558-044-f004.jpg"/>
          <p:cNvPicPr>
            <a:picLocks noChangeAspect="1" noChangeArrowheads="1"/>
          </p:cNvPicPr>
          <p:nvPr/>
        </p:nvPicPr>
        <p:blipFill>
          <a:blip r:embed="rId4" cstate="print"/>
          <a:stretch>
            <a:fillRect/>
          </a:stretch>
        </p:blipFill>
        <p:spPr bwMode="auto">
          <a:xfrm>
            <a:off x="7428393" y="2961503"/>
            <a:ext cx="4329125" cy="313861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84DF55BE-B4AB-4BA1-BDE1-E9F7FB3F1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41249" y="539578"/>
            <a:ext cx="4595143" cy="1684638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PROMETAFASE</a:t>
            </a:r>
            <a:br>
              <a:rPr lang="en-US" sz="4000" dirty="0"/>
            </a:br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CAMBIOS EN EL NÚCLEO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half" idx="2"/>
          </p:nvPr>
        </p:nvSpPr>
        <p:spPr>
          <a:xfrm>
            <a:off x="838201" y="2409568"/>
            <a:ext cx="4254909" cy="369055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_tradnl" sz="2000" dirty="0"/>
              <a:t>Después del desensamblaje de la lamina nuclear, la envoltura nuclear con lamina B asociada se rompe en vesículas o es incluida en fragmentos del RE</a:t>
            </a:r>
            <a:endParaRPr lang="es-ES_tradnl" sz="2000" dirty="0">
              <a:cs typeface="Calibri"/>
            </a:endParaRPr>
          </a:p>
          <a:p>
            <a:r>
              <a:rPr lang="es-ES_tradnl" sz="2000" dirty="0"/>
              <a:t>La Lamina A  y las proteínas del complejo del poro se dispersan en el citoplasma.</a:t>
            </a:r>
            <a:endParaRPr lang="es-ES_tradnl" sz="2000" dirty="0">
              <a:cs typeface="Calibri"/>
            </a:endParaRPr>
          </a:p>
          <a:p>
            <a:r>
              <a:rPr lang="es-ES_tradnl" sz="2000" dirty="0"/>
              <a:t>Los cinetocoros forma estructuras discretas que son capaces de unirse al extremo mas (positivo) de los microtúbulos.</a:t>
            </a:r>
            <a:endParaRPr lang="es-ES_tradnl" sz="2000" dirty="0">
              <a:cs typeface="Calibri"/>
            </a:endParaRPr>
          </a:p>
          <a:p>
            <a:endParaRPr lang="es-ES_tradnl" sz="2000" dirty="0">
              <a:cs typeface="Calibri"/>
            </a:endParaRPr>
          </a:p>
        </p:txBody>
      </p:sp>
      <p:pic>
        <p:nvPicPr>
          <p:cNvPr id="4098" name="Picture 2" descr="F:\Documents\CLASES\Material apoyo Biol cel\LIbro Biol cel Pollard\figuras\S9781416022558-014-f008.jpg"/>
          <p:cNvPicPr>
            <a:picLocks noChangeAspect="1" noChangeArrowheads="1"/>
          </p:cNvPicPr>
          <p:nvPr/>
        </p:nvPicPr>
        <p:blipFill rotWithShape="1">
          <a:blip r:embed="rId3" cstate="print"/>
          <a:srcRect t="818" r="-2" b="-2"/>
          <a:stretch/>
        </p:blipFill>
        <p:spPr bwMode="auto">
          <a:xfrm>
            <a:off x="5319253" y="168876"/>
            <a:ext cx="6571280" cy="2631989"/>
          </a:xfrm>
          <a:prstGeom prst="rect">
            <a:avLst/>
          </a:prstGeom>
          <a:noFill/>
        </p:spPr>
      </p:pic>
      <p:pic>
        <p:nvPicPr>
          <p:cNvPr id="2050" name="Picture 2" descr="C:\Documents and Settings\Posgrado1\Escritorio\BIOLOGIA CELULAR 2010 material de clase\Material apoyo Biol cel\LIbro Biol cel Pollard\figuras\S9781416022558-044-f006.jpg"/>
          <p:cNvPicPr>
            <a:picLocks noGrp="1" noChangeAspect="1" noChangeArrowheads="1"/>
          </p:cNvPicPr>
          <p:nvPr>
            <p:ph sz="quarter" idx="4"/>
          </p:nvPr>
        </p:nvPicPr>
        <p:blipFill rotWithShape="1">
          <a:blip r:embed="rId4" cstate="print"/>
          <a:stretch/>
        </p:blipFill>
        <p:spPr bwMode="auto">
          <a:xfrm>
            <a:off x="5319252" y="2753801"/>
            <a:ext cx="6443167" cy="404308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59263" y="321732"/>
            <a:ext cx="3508402" cy="1135737"/>
          </a:xfrm>
        </p:spPr>
        <p:txBody>
          <a:bodyPr vert="horz" lIns="121920" tIns="60960" rIns="121920" bIns="60960" rtlCol="0" anchor="ctr">
            <a:normAutofit fontScale="90000"/>
          </a:bodyPr>
          <a:lstStyle/>
          <a:p>
            <a:pPr defTabSz="1219170"/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PROMETAFASE </a:t>
            </a:r>
            <a:b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 HUSO MITÓTICO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half" idx="2"/>
          </p:nvPr>
        </p:nvSpPr>
        <p:spPr>
          <a:xfrm>
            <a:off x="7248129" y="238925"/>
            <a:ext cx="4300403" cy="6297343"/>
          </a:xfrm>
        </p:spPr>
        <p:txBody>
          <a:bodyPr vert="horz" lIns="121920" tIns="60960" rIns="121920" bIns="60960" rtlCol="0" anchor="t">
            <a:normAutofit/>
          </a:bodyPr>
          <a:lstStyle/>
          <a:p>
            <a:pPr indent="-304165" defTabSz="1219170"/>
            <a:r>
              <a:rPr lang="es-ES_tradnl" sz="1450" b="1" dirty="0"/>
              <a:t>Simetría bilateral</a:t>
            </a:r>
            <a:endParaRPr lang="es-MX" sz="1450" dirty="0"/>
          </a:p>
          <a:p>
            <a:pPr marL="0" indent="0" defTabSz="1219170">
              <a:buNone/>
            </a:pPr>
            <a:r>
              <a:rPr lang="es-ES_tradnl" sz="1450" dirty="0"/>
              <a:t>Estructuras radiales de microtúbulos emergen de ambos polos e interactúan con los cromosomas. La terminación menos de los microtúbulos se asocia con los polos y la terminación más en las áreas adyacentes.</a:t>
            </a:r>
            <a:endParaRPr lang="es-ES_tradnl" sz="1450" dirty="0">
              <a:cs typeface="Calibri"/>
            </a:endParaRPr>
          </a:p>
          <a:p>
            <a:pPr indent="-304165" defTabSz="1219170"/>
            <a:r>
              <a:rPr lang="es-ES_tradnl" sz="1450" b="1" dirty="0"/>
              <a:t>Microtúbulos astrales</a:t>
            </a:r>
            <a:endParaRPr lang="es-ES_tradnl" sz="1450" dirty="0">
              <a:cs typeface="Calibri" panose="020F0502020204030204"/>
            </a:endParaRPr>
          </a:p>
          <a:p>
            <a:pPr marL="0" indent="0" defTabSz="1219170">
              <a:buNone/>
            </a:pPr>
            <a:r>
              <a:rPr lang="es-ES_tradnl" sz="1450" dirty="0"/>
              <a:t>La terminación más de los microtúbulos sales de cada polo.</a:t>
            </a:r>
            <a:endParaRPr lang="es-ES_tradnl" sz="1450" dirty="0">
              <a:cs typeface="Calibri"/>
            </a:endParaRPr>
          </a:p>
          <a:p>
            <a:pPr indent="-304165" defTabSz="1219170"/>
            <a:r>
              <a:rPr lang="es-ES_tradnl" sz="1450" b="1" dirty="0"/>
              <a:t>Microtúbulos del cinetocoro</a:t>
            </a:r>
            <a:endParaRPr lang="es-ES_tradnl" sz="1450" dirty="0">
              <a:cs typeface="Calibri" panose="020F0502020204030204"/>
            </a:endParaRPr>
          </a:p>
          <a:p>
            <a:pPr marL="0" indent="0" defTabSz="1219170">
              <a:buNone/>
            </a:pPr>
            <a:r>
              <a:rPr lang="es-ES_tradnl" sz="1450" dirty="0"/>
              <a:t>El cinetocoro captura la parte más del microtúbulo , los cinetocoros  de las cromátides hermanas apareadas se unen a un microtúbulo de los husos opuestos. </a:t>
            </a:r>
            <a:endParaRPr lang="es-ES_tradnl" sz="1450" dirty="0">
              <a:cs typeface="Calibri"/>
            </a:endParaRPr>
          </a:p>
          <a:p>
            <a:pPr marL="0" indent="0" defTabSz="1219170">
              <a:buNone/>
            </a:pPr>
            <a:r>
              <a:rPr lang="es-ES_tradnl" sz="1450" dirty="0"/>
              <a:t>El crecimiento  y movimiento de los microtúbulos del cinetocoro y la acción  motora mueven los cromosomas al plano medio del huso mitótico.</a:t>
            </a:r>
            <a:endParaRPr lang="es-ES_tradnl" sz="1450" dirty="0">
              <a:cs typeface="Calibri"/>
            </a:endParaRPr>
          </a:p>
          <a:p>
            <a:pPr indent="-304165" defTabSz="1219170"/>
            <a:r>
              <a:rPr lang="es-ES_tradnl" sz="1450" b="1" dirty="0"/>
              <a:t>Microtúbulos interpolares (polares)</a:t>
            </a:r>
            <a:endParaRPr lang="es-ES_tradnl" sz="1450" b="1" dirty="0">
              <a:cs typeface="Calibri"/>
            </a:endParaRPr>
          </a:p>
          <a:p>
            <a:pPr marL="0" indent="0" defTabSz="1219170">
              <a:buNone/>
            </a:pPr>
            <a:r>
              <a:rPr lang="es-ES_tradnl" sz="1450" dirty="0"/>
              <a:t>El extremo más de los microtúbulos se traslapa con los con el del polo opuesto y son acoplados entre sí mediante quinesinas</a:t>
            </a:r>
            <a:endParaRPr lang="es-ES_tradnl" sz="1450" dirty="0">
              <a:cs typeface="Calibri"/>
            </a:endParaRPr>
          </a:p>
          <a:p>
            <a:pPr marL="0" indent="0" defTabSz="1219170">
              <a:buNone/>
            </a:pPr>
            <a:r>
              <a:rPr lang="es-ES_tradnl" sz="1450" dirty="0"/>
              <a:t>La estructura del huso mitótico está determinada por la dinámica de los microtúbulos  y las acciones de al menos 7 quinesinas y dineínas que producen fuerza en los microtúbulos y los cinetocoros.</a:t>
            </a:r>
            <a:endParaRPr lang="es-ES_tradnl" sz="1450" dirty="0">
              <a:cs typeface="Calibri"/>
            </a:endParaRPr>
          </a:p>
          <a:p>
            <a:pPr indent="-304165" defTabSz="1219170"/>
            <a:endParaRPr lang="es-ES_tradnl" sz="1467" dirty="0">
              <a:cs typeface="Calibri" panose="020F0502020204030204"/>
            </a:endParaRPr>
          </a:p>
        </p:txBody>
      </p:sp>
      <p:pic>
        <p:nvPicPr>
          <p:cNvPr id="8" name="Picture 3" descr="F:\Documents\CLASES\Material apoyo Biol cel\LIbro Biol cel Pollard\figuras\S9781416022558-044-f005.jpg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 cstate="print"/>
          <a:stretch>
            <a:fillRect/>
          </a:stretch>
        </p:blipFill>
        <p:spPr bwMode="auto">
          <a:xfrm>
            <a:off x="486366" y="3025370"/>
            <a:ext cx="6569741" cy="3446567"/>
          </a:xfrm>
          <a:prstGeom prst="rect">
            <a:avLst/>
          </a:prstGeom>
          <a:noFill/>
        </p:spPr>
      </p:pic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4" cstate="print"/>
          <a:srcRect b="9280"/>
          <a:stretch>
            <a:fillRect/>
          </a:stretch>
        </p:blipFill>
        <p:spPr bwMode="auto">
          <a:xfrm>
            <a:off x="3695734" y="85294"/>
            <a:ext cx="3360373" cy="286365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703d1ca-5c65-4f5c-bbf7-3439dada1878">
      <Terms xmlns="http://schemas.microsoft.com/office/infopath/2007/PartnerControls"/>
    </lcf76f155ced4ddcb4097134ff3c332f>
    <TaxCatchAll xmlns="be7ab913-f55e-41a3-93fb-464997bfd80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096FC79AEBDB2419593BD9410D2189E" ma:contentTypeVersion="11" ma:contentTypeDescription="Crear nuevo documento." ma:contentTypeScope="" ma:versionID="c4ab87cf445456b9c561d5f30ada67c6">
  <xsd:schema xmlns:xsd="http://www.w3.org/2001/XMLSchema" xmlns:xs="http://www.w3.org/2001/XMLSchema" xmlns:p="http://schemas.microsoft.com/office/2006/metadata/properties" xmlns:ns2="8703d1ca-5c65-4f5c-bbf7-3439dada1878" xmlns:ns3="be7ab913-f55e-41a3-93fb-464997bfd804" targetNamespace="http://schemas.microsoft.com/office/2006/metadata/properties" ma:root="true" ma:fieldsID="03e886533ed7bdfc224f72de676a5956" ns2:_="" ns3:_="">
    <xsd:import namespace="8703d1ca-5c65-4f5c-bbf7-3439dada1878"/>
    <xsd:import namespace="be7ab913-f55e-41a3-93fb-464997bfd80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03d1ca-5c65-4f5c-bbf7-3439dada187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Etiquetas de imagen" ma:readOnly="false" ma:fieldId="{5cf76f15-5ced-4ddc-b409-7134ff3c332f}" ma:taxonomyMulti="true" ma:sspId="99375edc-ecdf-4f5c-9a1f-fe3446fc79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7ab913-f55e-41a3-93fb-464997bfd804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7c425e2d-dba2-450f-a143-a909ab725420}" ma:internalName="TaxCatchAll" ma:showField="CatchAllData" ma:web="be7ab913-f55e-41a3-93fb-464997bfd80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2F92B1B-D30C-4054-B413-01FE649BDC59}">
  <ds:schemaRefs>
    <ds:schemaRef ds:uri="be7ab913-f55e-41a3-93fb-464997bfd804"/>
    <ds:schemaRef ds:uri="http://schemas.microsoft.com/office/infopath/2007/PartnerControls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8703d1ca-5c65-4f5c-bbf7-3439dada1878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EA0DB6D4-1C58-438A-9D0F-30BF1D69913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F48ED0C-F5F2-464E-B148-0443C27E61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703d1ca-5c65-4f5c-bbf7-3439dada1878"/>
    <ds:schemaRef ds:uri="be7ab913-f55e-41a3-93fb-464997bfd80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163</TotalTime>
  <Words>3260</Words>
  <Application>Microsoft Office PowerPoint</Application>
  <PresentationFormat>Panorámica</PresentationFormat>
  <Paragraphs>221</Paragraphs>
  <Slides>35</Slides>
  <Notes>25</Notes>
  <HiddenSlides>0</HiddenSlides>
  <MMClips>1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35</vt:i4>
      </vt:variant>
    </vt:vector>
  </HeadingPairs>
  <TitlesOfParts>
    <vt:vector size="40" baseType="lpstr">
      <vt:lpstr>Arial</vt:lpstr>
      <vt:lpstr>Bernard MT Condensed</vt:lpstr>
      <vt:lpstr>Calibri</vt:lpstr>
      <vt:lpstr>Calibri Light</vt:lpstr>
      <vt:lpstr>Tema de Office</vt:lpstr>
      <vt:lpstr>INTRODUCCIÓN DEL CICLO CELULAR Y REPRODUCCIÓN CELULAR</vt:lpstr>
      <vt:lpstr>CICLO CELULAR</vt:lpstr>
      <vt:lpstr>CICLO CELULAR</vt:lpstr>
      <vt:lpstr>DESCUBRIMIENTOS EN LAS ESTRATEGIAS DEL CICLO CELULAR</vt:lpstr>
      <vt:lpstr>PUNTOS DE CONTROL (CHECK-POINTS) ENTRE LA TRANSICIÓN DE LAS FASES DEL CICLO CELULAR.</vt:lpstr>
      <vt:lpstr>REGULACIÓN BIOQUÍMICA DE CICLO CELULAR</vt:lpstr>
      <vt:lpstr>REGULACIÓN BIOQUÍMICA DEL CICLO CELULAR MEDIANTE CINASAS DEPENDIENTES DE CICLINAS </vt:lpstr>
      <vt:lpstr>Presentación de PowerPoint</vt:lpstr>
      <vt:lpstr>FASES DE CICLO CELULAR</vt:lpstr>
      <vt:lpstr>Presentación de PowerPoint</vt:lpstr>
      <vt:lpstr>MAQUINARIA DE REGULACIÓN DE LA FASE G1:</vt:lpstr>
      <vt:lpstr>MAQUINARIA DE REGULACIÓN DE LA FASE G1:</vt:lpstr>
      <vt:lpstr>MAQUINARIA DE REGULACIÓN DE LA FASE G1:</vt:lpstr>
      <vt:lpstr>PUNTOS DE RESTRICCIÓN G1 Y DAÑO DEL ADN EN RELACIÓN CON CÁNCER</vt:lpstr>
      <vt:lpstr>Orígenes  de Replicación</vt:lpstr>
      <vt:lpstr>INICIACIÓN DE LA REPLICACIÓN DEL ADN MEDIANTE EL ENSAMBLAJE Y ACTIVACIÓN DE EL COMPLEJO DE PRE-REPLICACIÓN</vt:lpstr>
      <vt:lpstr>INICIO DE LA REPLICACIÓN DEL ADN MEDIANTE EL ENSAMBLAJE Y ACTIVACIÓN DE EL COMPLEJO DE PRE-REPLICACIÓN</vt:lpstr>
      <vt:lpstr>FASES DE CICLO CELULAR</vt:lpstr>
      <vt:lpstr>FASE DEL CICLO CELULAR G0</vt:lpstr>
      <vt:lpstr>FASE DEL CICLO CELULAR G0</vt:lpstr>
      <vt:lpstr>Células madre</vt:lpstr>
      <vt:lpstr>REPLICACIÓN DEL CENTROSOMA </vt:lpstr>
      <vt:lpstr>Ciclo del Centrosoma</vt:lpstr>
      <vt:lpstr>FASES DE CICLO CELULAR</vt:lpstr>
      <vt:lpstr>FASE G2</vt:lpstr>
      <vt:lpstr>Fase G2  REGULACIÓN BIOQUÍMCIA DE LA FASE G2</vt:lpstr>
      <vt:lpstr>Presentación de PowerPoint</vt:lpstr>
      <vt:lpstr>MITOSIS</vt:lpstr>
      <vt:lpstr>PROGRESIÓN EN LA FASE DE MITOSIS</vt:lpstr>
      <vt:lpstr>FASES DE LA MITOSIS</vt:lpstr>
      <vt:lpstr>Profase</vt:lpstr>
      <vt:lpstr>PROFASE CAMBIOS EN EL NÚCLEO QUE DAN COMO RESULTADO LA CONDENSACIÓN DE CROMOSOMAS</vt:lpstr>
      <vt:lpstr>PROFASE CAMBIOS EN EL CITOPLASMA</vt:lpstr>
      <vt:lpstr>PROMETAFASE CAMBIOS EN EL NÚCLEO</vt:lpstr>
      <vt:lpstr>PROMETAFASE  Y HUSO MITÓTICO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DEL CICLO CELULAR Y REPRODUCCIÓN CELULAR</dc:title>
  <dc:creator>SIBILINA CEDILLO ROSALES</dc:creator>
  <cp:lastModifiedBy>YESENIA GUADALUPE FLORES MARTINEZ</cp:lastModifiedBy>
  <cp:revision>57</cp:revision>
  <dcterms:created xsi:type="dcterms:W3CDTF">2021-09-10T00:13:46Z</dcterms:created>
  <dcterms:modified xsi:type="dcterms:W3CDTF">2022-08-03T18:14:39Z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0x010100C096FC79AEBDB2419593BD9410D2189E</vt:lpwstr>
  </property>
  <property fmtid="{D5CDD505-2E9C-101B-9397-08002B2CF9AE}" pid="3" name="MediaServiceImageTags">
    <vt:lpwstr/>
  </property>
</Properties>
</file>