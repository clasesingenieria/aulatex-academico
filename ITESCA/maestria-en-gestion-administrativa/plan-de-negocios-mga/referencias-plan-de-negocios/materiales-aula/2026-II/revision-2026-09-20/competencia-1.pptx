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1"/>
  </p:sldMasterIdLst>
  <p:sldIdLst>
    <p:sldId id="256" r:id="rId2"/>
    <p:sldId id="265" r:id="rId3"/>
    <p:sldId id="257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0"/>
    <p:restoredTop sz="94659"/>
  </p:normalViewPr>
  <p:slideViewPr>
    <p:cSldViewPr snapToGrid="0" snapToObjects="1">
      <p:cViewPr varScale="1">
        <p:scale>
          <a:sx n="90" d="100"/>
          <a:sy n="90" d="100"/>
        </p:scale>
        <p:origin x="64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 t="-9000" r="-3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489EEFFD-9432-9544-A103-6D42EDCDA209}"/>
              </a:ext>
            </a:extLst>
          </p:cNvPr>
          <p:cNvSpPr>
            <a:spLocks noChangeAspect="1"/>
          </p:cNvSpPr>
          <p:nvPr userDrawn="1"/>
        </p:nvSpPr>
        <p:spPr>
          <a:xfrm>
            <a:off x="9441853" y="5352619"/>
            <a:ext cx="2750147" cy="1099724"/>
          </a:xfrm>
          <a:prstGeom prst="roundRect">
            <a:avLst>
              <a:gd name="adj" fmla="val 0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482" y="2658935"/>
            <a:ext cx="7370182" cy="209822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82" y="48706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47E2B3C-FFEC-E64B-9190-2DC5EB2CE8BF}"/>
              </a:ext>
            </a:extLst>
          </p:cNvPr>
          <p:cNvSpPr/>
          <p:nvPr userDrawn="1"/>
        </p:nvSpPr>
        <p:spPr>
          <a:xfrm>
            <a:off x="-258" y="0"/>
            <a:ext cx="12192000" cy="124301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CACB5CB-5855-934F-8D57-C9344E5B10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9982" y="84203"/>
            <a:ext cx="2299680" cy="107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6FED89-C4C7-C243-9CAC-28E89F0D60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04620" y="51277"/>
            <a:ext cx="3307398" cy="107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Cuerda 14">
            <a:extLst>
              <a:ext uri="{FF2B5EF4-FFF2-40B4-BE49-F238E27FC236}">
                <a16:creationId xmlns:a16="http://schemas.microsoft.com/office/drawing/2014/main" id="{DBEEDDA2-3457-2345-8260-9B8B844AC09C}"/>
              </a:ext>
            </a:extLst>
          </p:cNvPr>
          <p:cNvSpPr/>
          <p:nvPr userDrawn="1"/>
        </p:nvSpPr>
        <p:spPr>
          <a:xfrm>
            <a:off x="8768543" y="5353662"/>
            <a:ext cx="1342355" cy="1099724"/>
          </a:xfrm>
          <a:prstGeom prst="chord">
            <a:avLst>
              <a:gd name="adj1" fmla="val 5372617"/>
              <a:gd name="adj2" fmla="val 16232354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8289C694-F277-EA45-88E1-E9AFFD8B4039}"/>
              </a:ext>
            </a:extLst>
          </p:cNvPr>
          <p:cNvSpPr>
            <a:spLocks noChangeAspect="1"/>
          </p:cNvSpPr>
          <p:nvPr userDrawn="1"/>
        </p:nvSpPr>
        <p:spPr>
          <a:xfrm>
            <a:off x="4864" y="4646323"/>
            <a:ext cx="7370182" cy="280303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8" name="Cuerda 17">
            <a:extLst>
              <a:ext uri="{FF2B5EF4-FFF2-40B4-BE49-F238E27FC236}">
                <a16:creationId xmlns:a16="http://schemas.microsoft.com/office/drawing/2014/main" id="{46D55A4D-18DD-AD47-AD58-029E292AD709}"/>
              </a:ext>
            </a:extLst>
          </p:cNvPr>
          <p:cNvSpPr/>
          <p:nvPr userDrawn="1"/>
        </p:nvSpPr>
        <p:spPr>
          <a:xfrm rot="10800000">
            <a:off x="7204756" y="4644356"/>
            <a:ext cx="342146" cy="280303"/>
          </a:xfrm>
          <a:prstGeom prst="chord">
            <a:avLst>
              <a:gd name="adj1" fmla="val 5372617"/>
              <a:gd name="adj2" fmla="val 16232354"/>
            </a:avLst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DD7EEC4-738F-E243-AEF5-1BF9E8268F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4227" t="8420" r="15201" b="18069"/>
          <a:stretch/>
        </p:blipFill>
        <p:spPr>
          <a:xfrm>
            <a:off x="9046644" y="5374417"/>
            <a:ext cx="3264575" cy="11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3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71512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376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Encabezado de secció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9754C1F5-7F6B-EA46-BAF7-57D2A87101EB}"/>
              </a:ext>
            </a:extLst>
          </p:cNvPr>
          <p:cNvSpPr>
            <a:spLocks noChangeAspect="1"/>
          </p:cNvSpPr>
          <p:nvPr userDrawn="1"/>
        </p:nvSpPr>
        <p:spPr>
          <a:xfrm>
            <a:off x="9441853" y="153978"/>
            <a:ext cx="2750147" cy="1099724"/>
          </a:xfrm>
          <a:prstGeom prst="roundRect">
            <a:avLst>
              <a:gd name="adj" fmla="val 0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Cuerda 13">
            <a:extLst>
              <a:ext uri="{FF2B5EF4-FFF2-40B4-BE49-F238E27FC236}">
                <a16:creationId xmlns:a16="http://schemas.microsoft.com/office/drawing/2014/main" id="{E47B58D2-F8C3-DC41-A140-FB534C55FC3C}"/>
              </a:ext>
            </a:extLst>
          </p:cNvPr>
          <p:cNvSpPr/>
          <p:nvPr userDrawn="1"/>
        </p:nvSpPr>
        <p:spPr>
          <a:xfrm>
            <a:off x="8768543" y="155021"/>
            <a:ext cx="1342355" cy="1099724"/>
          </a:xfrm>
          <a:prstGeom prst="chord">
            <a:avLst>
              <a:gd name="adj1" fmla="val 5372617"/>
              <a:gd name="adj2" fmla="val 16232354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DA8D54-8EDA-624E-8FAC-AEA4593EF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227" t="8420" r="15201" b="18069"/>
          <a:stretch/>
        </p:blipFill>
        <p:spPr>
          <a:xfrm>
            <a:off x="9119570" y="251168"/>
            <a:ext cx="2970826" cy="103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10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989" y="657225"/>
            <a:ext cx="9601200" cy="1485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7921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602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828" y="671512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520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759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2989C82-3E04-1C47-8CD9-8AB4FCCBCC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l="1" r="48456"/>
          <a:stretch/>
        </p:blipFill>
        <p:spPr>
          <a:xfrm>
            <a:off x="0" y="0"/>
            <a:ext cx="530352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pPr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431D493-8641-1F4B-AF8A-2BCE3B5321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394" t="13292" r="17677" b="17804"/>
          <a:stretch/>
        </p:blipFill>
        <p:spPr>
          <a:xfrm>
            <a:off x="3981372" y="140620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54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4901A7E-E5B8-9740-A4E6-F06526501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l="1" r="48456"/>
          <a:stretch/>
        </p:blipFill>
        <p:spPr>
          <a:xfrm>
            <a:off x="0" y="0"/>
            <a:ext cx="530352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pPr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F8612CC-04CE-B543-81B0-0B50C3EC9B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394" t="13292" r="17677" b="17804"/>
          <a:stretch/>
        </p:blipFill>
        <p:spPr>
          <a:xfrm>
            <a:off x="3981372" y="140620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8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0650" y="642938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617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332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4455771-8EB5-7745-B49C-A71AB87A13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50000"/>
          </a:blip>
          <a:srcRect r="87284"/>
          <a:stretch/>
        </p:blipFill>
        <p:spPr>
          <a:xfrm>
            <a:off x="0" y="0"/>
            <a:ext cx="1308410" cy="6858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BB0CF9B-70C4-174C-B897-F6B5753796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4394" t="13292" r="17677" b="17804"/>
          <a:stretch/>
        </p:blipFill>
        <p:spPr>
          <a:xfrm>
            <a:off x="63786" y="6433783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8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9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27585CD-2C79-3E4A-9B9A-AE03A8639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COMPETENCIA 1 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5095D616-4D44-714A-AC4D-33D938630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s-MX" dirty="0"/>
              <a:t>Identifica la idea para desarrollar un plan, así como los elementos generales de la empresa u organización. </a:t>
            </a:r>
          </a:p>
        </p:txBody>
      </p:sp>
    </p:spTree>
    <p:extLst>
      <p:ext uri="{BB962C8B-B14F-4D97-AF65-F5344CB8AC3E}">
        <p14:creationId xmlns:p14="http://schemas.microsoft.com/office/powerpoint/2010/main" val="315095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E1897F-212A-4A7D-9324-70A387E00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573" y="1878420"/>
            <a:ext cx="10490822" cy="238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35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BF166-2FF6-AD4A-BF19-44DE8F59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485" y="247650"/>
            <a:ext cx="9601200" cy="1485900"/>
          </a:xfrm>
        </p:spPr>
        <p:txBody>
          <a:bodyPr/>
          <a:lstStyle/>
          <a:p>
            <a:pPr algn="ctr"/>
            <a:r>
              <a:rPr lang="es-MX" dirty="0"/>
              <a:t>CONTENIDO</a:t>
            </a:r>
            <a:br>
              <a:rPr lang="es-MX" dirty="0"/>
            </a:br>
            <a:r>
              <a:rPr lang="es-MX" sz="3200" dirty="0"/>
              <a:t>Avance 1. Aspectos generales 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A187BD-88F2-8A45-AAF4-965640787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7967"/>
            <a:ext cx="9601200" cy="4439433"/>
          </a:xfrm>
        </p:spPr>
        <p:txBody>
          <a:bodyPr>
            <a:normAutofit fontScale="92500" lnSpcReduction="20000"/>
          </a:bodyPr>
          <a:lstStyle/>
          <a:p>
            <a:r>
              <a:rPr lang="es-MX" sz="3600" dirty="0"/>
              <a:t>1.Economía Social y Sustentable</a:t>
            </a:r>
          </a:p>
          <a:p>
            <a:r>
              <a:rPr lang="es-MX" sz="3600" dirty="0"/>
              <a:t>2. ¿Qué tipo de emprendimiento se va a realizar? </a:t>
            </a:r>
          </a:p>
          <a:p>
            <a:r>
              <a:rPr lang="es-MX" sz="3600" dirty="0"/>
              <a:t>Datos de identificación de la empresa u organización</a:t>
            </a:r>
          </a:p>
          <a:p>
            <a:pPr lvl="1"/>
            <a:r>
              <a:rPr lang="es-MX" sz="3600" dirty="0"/>
              <a:t>Nombre</a:t>
            </a:r>
          </a:p>
          <a:p>
            <a:pPr lvl="1"/>
            <a:r>
              <a:rPr lang="es-MX" sz="3600" dirty="0"/>
              <a:t>Misión</a:t>
            </a:r>
          </a:p>
          <a:p>
            <a:pPr lvl="1"/>
            <a:r>
              <a:rPr lang="es-MX" sz="3600" dirty="0"/>
              <a:t>Visión</a:t>
            </a:r>
          </a:p>
          <a:p>
            <a:pPr lvl="1"/>
            <a:r>
              <a:rPr lang="es-MX" sz="3600" dirty="0"/>
              <a:t>Objetivo General y Específicos</a:t>
            </a:r>
          </a:p>
          <a:p>
            <a:pPr lvl="1"/>
            <a:r>
              <a:rPr lang="es-MX" sz="3600" dirty="0"/>
              <a:t>FODA 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438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20F6CE-4B64-470B-9D73-B6E610B90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Dra. Celia Velázquez Reyna</a:t>
            </a:r>
          </a:p>
          <a:p>
            <a:r>
              <a:rPr lang="es-MX" b="1" i="1" dirty="0"/>
              <a:t>cvelazquez@itesca.edu.mx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B5E8ADB-FA0C-4D53-AC79-8E34F94C9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133" y="2782670"/>
            <a:ext cx="97620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i="1" dirty="0">
                <a:solidFill>
                  <a:schemeClr val="bg1"/>
                </a:solidFill>
                <a:latin typeface="Arial" panose="020B0604020202020204" pitchFamily="34" charset="0"/>
              </a:rPr>
              <a:t>“Darle </a:t>
            </a:r>
            <a:r>
              <a:rPr lang="es-MX" altLang="es-MX" b="1" i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rPr>
              <a:t>identidad, rumbo y estrategia a su idea </a:t>
            </a:r>
            <a:r>
              <a:rPr lang="es-MX" altLang="es-MX" i="1" dirty="0">
                <a:solidFill>
                  <a:schemeClr val="bg1"/>
                </a:solidFill>
                <a:latin typeface="Arial" panose="020B0604020202020204" pitchFamily="34" charset="0"/>
              </a:rPr>
              <a:t>es el primer paso para transformar </a:t>
            </a:r>
          </a:p>
          <a:p>
            <a:pPr lvl="8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MX" i="1" dirty="0">
                <a:solidFill>
                  <a:schemeClr val="bg1"/>
                </a:solidFill>
                <a:latin typeface="Arial" panose="020B0604020202020204" pitchFamily="34" charset="0"/>
              </a:rPr>
              <a:t>una </a:t>
            </a:r>
            <a:r>
              <a:rPr lang="es-MX" altLang="es-MX" b="1" i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rPr>
              <a:t>visión con sentido</a:t>
            </a:r>
            <a:r>
              <a:rPr lang="es-MX" altLang="es-MX" i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s-MX" altLang="es-MX" i="1" dirty="0">
                <a:solidFill>
                  <a:schemeClr val="bg1"/>
                </a:solidFill>
                <a:latin typeface="Arial" panose="020B0604020202020204" pitchFamily="34" charset="0"/>
              </a:rPr>
              <a:t>en una solución del futuro."</a:t>
            </a:r>
            <a:endParaRPr lang="es-MX" altLang="es-MX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118049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{E007C9C8-6295-A843-8705-F77D3311D4DC}tf10001072_mac</Template>
  <TotalTime>508</TotalTime>
  <Words>100</Words>
  <Application>Microsoft Office PowerPoint</Application>
  <PresentationFormat>Panorámica</PresentationFormat>
  <Paragraphs>15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Franklin Gothic Book</vt:lpstr>
      <vt:lpstr>Recorte</vt:lpstr>
      <vt:lpstr>COMPETENCIA 1 </vt:lpstr>
      <vt:lpstr>Presentación de PowerPoint</vt:lpstr>
      <vt:lpstr>CONTENIDO Avance 1. Aspectos generales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 Cecilia  Ruiz  Calvil</dc:creator>
  <cp:lastModifiedBy>Celia Velazquez Reyna</cp:lastModifiedBy>
  <cp:revision>28</cp:revision>
  <dcterms:created xsi:type="dcterms:W3CDTF">2022-06-07T18:05:37Z</dcterms:created>
  <dcterms:modified xsi:type="dcterms:W3CDTF">2026-09-15T01:28:16Z</dcterms:modified>
</cp:coreProperties>
</file>