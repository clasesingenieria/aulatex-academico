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87" r:id="rId1"/>
  </p:sldMasterIdLst>
  <p:sldIdLst>
    <p:sldId id="256" r:id="rId2"/>
    <p:sldId id="261" r:id="rId3"/>
    <p:sldId id="257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30"/>
    <p:restoredTop sz="94659"/>
  </p:normalViewPr>
  <p:slideViewPr>
    <p:cSldViewPr snapToGrid="0" snapToObjects="1">
      <p:cViewPr varScale="1">
        <p:scale>
          <a:sx n="90" d="100"/>
          <a:sy n="90" d="100"/>
        </p:scale>
        <p:origin x="64" y="1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blipFill dpi="0" rotWithShape="1">
          <a:blip r:embed="rId2">
            <a:lum/>
          </a:blip>
          <a:srcRect/>
          <a:stretch>
            <a:fillRect t="-9000" r="-3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ángulo redondeado 12">
            <a:extLst>
              <a:ext uri="{FF2B5EF4-FFF2-40B4-BE49-F238E27FC236}">
                <a16:creationId xmlns:a16="http://schemas.microsoft.com/office/drawing/2014/main" id="{489EEFFD-9432-9544-A103-6D42EDCDA209}"/>
              </a:ext>
            </a:extLst>
          </p:cNvPr>
          <p:cNvSpPr>
            <a:spLocks noChangeAspect="1"/>
          </p:cNvSpPr>
          <p:nvPr userDrawn="1"/>
        </p:nvSpPr>
        <p:spPr>
          <a:xfrm>
            <a:off x="9441853" y="5352619"/>
            <a:ext cx="2750147" cy="1099724"/>
          </a:xfrm>
          <a:prstGeom prst="roundRect">
            <a:avLst>
              <a:gd name="adj" fmla="val 0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6482" y="2658935"/>
            <a:ext cx="7370182" cy="2098226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defRPr sz="5400" cap="all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9982" y="48706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 dirty="0"/>
              <a:t>Haz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A47E2B3C-FFEC-E64B-9190-2DC5EB2CE8BF}"/>
              </a:ext>
            </a:extLst>
          </p:cNvPr>
          <p:cNvSpPr/>
          <p:nvPr userDrawn="1"/>
        </p:nvSpPr>
        <p:spPr>
          <a:xfrm>
            <a:off x="-258" y="0"/>
            <a:ext cx="12192000" cy="1243013"/>
          </a:xfrm>
          <a:prstGeom prst="rect">
            <a:avLst/>
          </a:prstGeom>
          <a:solidFill>
            <a:schemeClr val="bg1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CACB5CB-5855-934F-8D57-C9344E5B108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79982" y="84203"/>
            <a:ext cx="2299680" cy="107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D6FED89-C4C7-C243-9CAC-28E89F0D603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8704620" y="51277"/>
            <a:ext cx="3307398" cy="107460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Cuerda 14">
            <a:extLst>
              <a:ext uri="{FF2B5EF4-FFF2-40B4-BE49-F238E27FC236}">
                <a16:creationId xmlns:a16="http://schemas.microsoft.com/office/drawing/2014/main" id="{DBEEDDA2-3457-2345-8260-9B8B844AC09C}"/>
              </a:ext>
            </a:extLst>
          </p:cNvPr>
          <p:cNvSpPr/>
          <p:nvPr userDrawn="1"/>
        </p:nvSpPr>
        <p:spPr>
          <a:xfrm>
            <a:off x="8768543" y="5353662"/>
            <a:ext cx="1342355" cy="1099724"/>
          </a:xfrm>
          <a:prstGeom prst="chord">
            <a:avLst>
              <a:gd name="adj1" fmla="val 5372617"/>
              <a:gd name="adj2" fmla="val 16232354"/>
            </a:avLst>
          </a:prstGeom>
          <a:solidFill>
            <a:schemeClr val="bg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7" name="Rectángulo redondeado 16">
            <a:extLst>
              <a:ext uri="{FF2B5EF4-FFF2-40B4-BE49-F238E27FC236}">
                <a16:creationId xmlns:a16="http://schemas.microsoft.com/office/drawing/2014/main" id="{8289C694-F277-EA45-88E1-E9AFFD8B4039}"/>
              </a:ext>
            </a:extLst>
          </p:cNvPr>
          <p:cNvSpPr>
            <a:spLocks noChangeAspect="1"/>
          </p:cNvSpPr>
          <p:nvPr userDrawn="1"/>
        </p:nvSpPr>
        <p:spPr>
          <a:xfrm>
            <a:off x="4864" y="4646323"/>
            <a:ext cx="7370182" cy="280303"/>
          </a:xfrm>
          <a:prstGeom prst="roundRect">
            <a:avLst>
              <a:gd name="adj" fmla="val 0"/>
            </a:avLst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8" name="Cuerda 17">
            <a:extLst>
              <a:ext uri="{FF2B5EF4-FFF2-40B4-BE49-F238E27FC236}">
                <a16:creationId xmlns:a16="http://schemas.microsoft.com/office/drawing/2014/main" id="{46D55A4D-18DD-AD47-AD58-029E292AD709}"/>
              </a:ext>
            </a:extLst>
          </p:cNvPr>
          <p:cNvSpPr/>
          <p:nvPr userDrawn="1"/>
        </p:nvSpPr>
        <p:spPr>
          <a:xfrm rot="10800000">
            <a:off x="7204756" y="4644356"/>
            <a:ext cx="342146" cy="280303"/>
          </a:xfrm>
          <a:prstGeom prst="chord">
            <a:avLst>
              <a:gd name="adj1" fmla="val 5372617"/>
              <a:gd name="adj2" fmla="val 16232354"/>
            </a:avLst>
          </a:prstGeom>
          <a:solidFill>
            <a:srgbClr val="002060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BDD7EEC4-738F-E243-AEF5-1BF9E8268F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/>
          <a:srcRect l="14227" t="8420" r="15201" b="18069"/>
          <a:stretch/>
        </p:blipFill>
        <p:spPr>
          <a:xfrm>
            <a:off x="9046644" y="5374417"/>
            <a:ext cx="3264575" cy="1133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58362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71512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337600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1_Encabezado de sección">
    <p:bg>
      <p:bgPr>
        <a:blipFill dpi="0" rotWithShape="1">
          <a:blip r:embed="rId2"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10" name="Rectángulo redondeado 9">
            <a:extLst>
              <a:ext uri="{FF2B5EF4-FFF2-40B4-BE49-F238E27FC236}">
                <a16:creationId xmlns:a16="http://schemas.microsoft.com/office/drawing/2014/main" id="{9754C1F5-7F6B-EA46-BAF7-57D2A87101EB}"/>
              </a:ext>
            </a:extLst>
          </p:cNvPr>
          <p:cNvSpPr>
            <a:spLocks noChangeAspect="1"/>
          </p:cNvSpPr>
          <p:nvPr userDrawn="1"/>
        </p:nvSpPr>
        <p:spPr>
          <a:xfrm>
            <a:off x="9441853" y="153978"/>
            <a:ext cx="2750147" cy="1099724"/>
          </a:xfrm>
          <a:prstGeom prst="roundRect">
            <a:avLst>
              <a:gd name="adj" fmla="val 0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 dirty="0"/>
          </a:p>
        </p:txBody>
      </p:sp>
      <p:sp>
        <p:nvSpPr>
          <p:cNvPr id="14" name="Cuerda 13">
            <a:extLst>
              <a:ext uri="{FF2B5EF4-FFF2-40B4-BE49-F238E27FC236}">
                <a16:creationId xmlns:a16="http://schemas.microsoft.com/office/drawing/2014/main" id="{E47B58D2-F8C3-DC41-A140-FB534C55FC3C}"/>
              </a:ext>
            </a:extLst>
          </p:cNvPr>
          <p:cNvSpPr/>
          <p:nvPr userDrawn="1"/>
        </p:nvSpPr>
        <p:spPr>
          <a:xfrm>
            <a:off x="8768543" y="155021"/>
            <a:ext cx="1342355" cy="1099724"/>
          </a:xfrm>
          <a:prstGeom prst="chord">
            <a:avLst>
              <a:gd name="adj1" fmla="val 5372617"/>
              <a:gd name="adj2" fmla="val 16232354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1DA8D54-8EDA-624E-8FAC-AEA4593EF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227" t="8420" r="15201" b="18069"/>
          <a:stretch/>
        </p:blipFill>
        <p:spPr>
          <a:xfrm>
            <a:off x="9119570" y="251168"/>
            <a:ext cx="2970826" cy="1031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54108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989" y="657225"/>
            <a:ext cx="9601200" cy="1485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792183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0986028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7828" y="671512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85201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387592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A2989C82-3E04-1C47-8CD9-8AB4FCCBCCB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l="1" r="48456"/>
          <a:stretch/>
        </p:blipFill>
        <p:spPr>
          <a:xfrm>
            <a:off x="0" y="0"/>
            <a:ext cx="530352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pPr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0431D493-8641-1F4B-AF8A-2BCE3B5321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394" t="13292" r="17677" b="17804"/>
          <a:stretch/>
        </p:blipFill>
        <p:spPr>
          <a:xfrm>
            <a:off x="3981372" y="140620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75469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64901A7E-E5B8-9740-A4E6-F06526501A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50000"/>
          </a:blip>
          <a:srcRect l="1" r="48456"/>
          <a:stretch/>
        </p:blipFill>
        <p:spPr>
          <a:xfrm>
            <a:off x="0" y="0"/>
            <a:ext cx="530352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  <a:prstGeom prst="rect">
            <a:avLst/>
          </a:prstGeo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MX"/>
              <a:t>Haz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>
                <a:solidFill>
                  <a:schemeClr val="tx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 dirty="0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pPr/>
              <a:t>14/09/2026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3F8612CC-04CE-B543-81B0-0B50C3EC9B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4394" t="13292" r="17677" b="17804"/>
          <a:stretch/>
        </p:blipFill>
        <p:spPr>
          <a:xfrm>
            <a:off x="3981372" y="140620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78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90650" y="642938"/>
            <a:ext cx="9601200" cy="1485900"/>
          </a:xfrm>
          <a:prstGeom prst="rect">
            <a:avLst/>
          </a:prstGeo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461707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  <a:prstGeom prst="rect">
            <a:avLst/>
          </a:prstGeo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33245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MX" dirty="0"/>
              <a:t>Haz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C24452AC-D00F-284D-9E20-B7AAD86928BE}" type="datetimeFigureOut">
              <a:rPr lang="es-MX" smtClean="0"/>
              <a:t>14/09/2026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17730BC-DCDF-B24F-9086-3C4B95E9D245}" type="slidenum">
              <a:rPr lang="es-MX" smtClean="0"/>
              <a:t>‹Nº›</a:t>
            </a:fld>
            <a:endParaRPr lang="es-MX"/>
          </a:p>
        </p:txBody>
      </p:sp>
      <p:pic>
        <p:nvPicPr>
          <p:cNvPr id="15" name="Imagen 14">
            <a:extLst>
              <a:ext uri="{FF2B5EF4-FFF2-40B4-BE49-F238E27FC236}">
                <a16:creationId xmlns:a16="http://schemas.microsoft.com/office/drawing/2014/main" id="{B4455771-8EB5-7745-B49C-A71AB87A136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3">
            <a:alphaModFix amt="50000"/>
          </a:blip>
          <a:srcRect r="87284"/>
          <a:stretch/>
        </p:blipFill>
        <p:spPr>
          <a:xfrm>
            <a:off x="0" y="0"/>
            <a:ext cx="1308410" cy="6858000"/>
          </a:xfrm>
          <a:prstGeom prst="rect">
            <a:avLst/>
          </a:prstGeom>
        </p:spPr>
      </p:pic>
      <p:pic>
        <p:nvPicPr>
          <p:cNvPr id="22" name="Imagen 21">
            <a:extLst>
              <a:ext uri="{FF2B5EF4-FFF2-40B4-BE49-F238E27FC236}">
                <a16:creationId xmlns:a16="http://schemas.microsoft.com/office/drawing/2014/main" id="{9BB0CF9B-70C4-174C-B897-F6B5753796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4394" t="13292" r="17677" b="17804"/>
          <a:stretch/>
        </p:blipFill>
        <p:spPr>
          <a:xfrm>
            <a:off x="63786" y="6433783"/>
            <a:ext cx="1196496" cy="404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2685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88" r:id="rId1"/>
    <p:sldLayoutId id="2147484089" r:id="rId2"/>
    <p:sldLayoutId id="2147484099" r:id="rId3"/>
    <p:sldLayoutId id="2147484091" r:id="rId4"/>
    <p:sldLayoutId id="2147484092" r:id="rId5"/>
    <p:sldLayoutId id="2147484093" r:id="rId6"/>
    <p:sldLayoutId id="2147484094" r:id="rId7"/>
    <p:sldLayoutId id="2147484095" r:id="rId8"/>
    <p:sldLayoutId id="2147484096" r:id="rId9"/>
    <p:sldLayoutId id="2147484097" r:id="rId10"/>
    <p:sldLayoutId id="2147484098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227585CD-2C79-3E4A-9B9A-AE03A86392F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COMPETENCIA 2 </a:t>
            </a: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5095D616-4D44-714A-AC4D-33D938630D3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s-MX" dirty="0"/>
              <a:t>. </a:t>
            </a:r>
          </a:p>
        </p:txBody>
      </p:sp>
      <p:graphicFrame>
        <p:nvGraphicFramePr>
          <p:cNvPr id="2" name="Tabla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880485"/>
              </p:ext>
            </p:extLst>
          </p:nvPr>
        </p:nvGraphicFramePr>
        <p:xfrm>
          <a:off x="216482" y="5029114"/>
          <a:ext cx="8138848" cy="156489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138848">
                  <a:extLst>
                    <a:ext uri="{9D8B030D-6E8A-4147-A177-3AD203B41FA5}">
                      <a16:colId xmlns:a16="http://schemas.microsoft.com/office/drawing/2014/main" val="79891567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s-MX" sz="2400" dirty="0">
                          <a:effectLst/>
                        </a:rPr>
                        <a:t>Desarrollar los fundamentos que permitan identificar la viabilidad de mercado,</a:t>
                      </a:r>
                      <a:r>
                        <a:rPr lang="es-MX" sz="2400" baseline="0" dirty="0">
                          <a:effectLst/>
                        </a:rPr>
                        <a:t> </a:t>
                      </a:r>
                      <a:r>
                        <a:rPr lang="es-MX" sz="2400" dirty="0">
                          <a:effectLst/>
                        </a:rPr>
                        <a:t>para el plan en un ecosistema de innovación para </a:t>
                      </a:r>
                      <a:r>
                        <a:rPr lang="es-MX" sz="2400" dirty="0" err="1">
                          <a:effectLst/>
                        </a:rPr>
                        <a:t>intra</a:t>
                      </a:r>
                      <a:r>
                        <a:rPr lang="es-MX" sz="2400" dirty="0">
                          <a:effectLst/>
                        </a:rPr>
                        <a:t> emprendedores, emprendedores o emprendimientos sociales. </a:t>
                      </a:r>
                      <a:endParaRPr lang="es-MX" sz="2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8099583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0950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3C05D294-F5C5-46D6-A69F-0C2D8635CC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6009" y="1032213"/>
            <a:ext cx="9252681" cy="3396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52063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9BF166-2FF6-AD4A-BF19-44DE8F599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CONTENIDO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A187BD-88F2-8A45-AAF4-965640787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1668780"/>
            <a:ext cx="9601200" cy="3581400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s-MX" sz="2800" dirty="0"/>
              <a:t>1. Imagen de la empresa</a:t>
            </a:r>
          </a:p>
          <a:p>
            <a:pPr lvl="1"/>
            <a:r>
              <a:rPr lang="es-MX" sz="2800" dirty="0"/>
              <a:t>Nombre de la empresa</a:t>
            </a:r>
          </a:p>
          <a:p>
            <a:pPr lvl="1"/>
            <a:r>
              <a:rPr lang="es-MX" sz="2800" dirty="0"/>
              <a:t>Logotipo de la Empresa</a:t>
            </a:r>
          </a:p>
          <a:p>
            <a:pPr lvl="1"/>
            <a:r>
              <a:rPr lang="es-MX" sz="2800" dirty="0"/>
              <a:t>Lema de la Empresa</a:t>
            </a:r>
          </a:p>
          <a:p>
            <a:pPr marL="530352" lvl="1" indent="0">
              <a:buNone/>
            </a:pPr>
            <a:r>
              <a:rPr lang="es-MX" sz="2800" dirty="0"/>
              <a:t>		</a:t>
            </a:r>
          </a:p>
        </p:txBody>
      </p:sp>
    </p:spTree>
    <p:extLst>
      <p:ext uri="{BB962C8B-B14F-4D97-AF65-F5344CB8AC3E}">
        <p14:creationId xmlns:p14="http://schemas.microsoft.com/office/powerpoint/2010/main" val="31438855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371600" y="925830"/>
            <a:ext cx="9601200" cy="3581400"/>
          </a:xfrm>
        </p:spPr>
        <p:txBody>
          <a:bodyPr>
            <a:noAutofit/>
          </a:bodyPr>
          <a:lstStyle/>
          <a:p>
            <a:r>
              <a:rPr lang="es-MX" sz="2800" dirty="0"/>
              <a:t>2. Investigación de mercados</a:t>
            </a:r>
          </a:p>
          <a:p>
            <a:pPr lvl="1"/>
            <a:r>
              <a:rPr lang="es-MX" sz="2800" dirty="0"/>
              <a:t>Identificación del área geográfica</a:t>
            </a:r>
          </a:p>
          <a:p>
            <a:pPr lvl="2"/>
            <a:r>
              <a:rPr lang="es-MX" sz="2800" dirty="0"/>
              <a:t>Mercado potencial</a:t>
            </a:r>
          </a:p>
          <a:p>
            <a:pPr lvl="2"/>
            <a:r>
              <a:rPr lang="es-MX" sz="2800" dirty="0"/>
              <a:t>Mercado meta</a:t>
            </a:r>
          </a:p>
          <a:p>
            <a:pPr lvl="1"/>
            <a:r>
              <a:rPr lang="es-MX" sz="2800" dirty="0"/>
              <a:t>Demanda potencial</a:t>
            </a:r>
          </a:p>
          <a:p>
            <a:pPr lvl="1"/>
            <a:r>
              <a:rPr lang="es-MX" sz="2800" dirty="0"/>
              <a:t>Competencia</a:t>
            </a:r>
          </a:p>
          <a:p>
            <a:pPr lvl="1"/>
            <a:r>
              <a:rPr lang="es-MX" sz="2800" dirty="0"/>
              <a:t>Aspectos innovadores del producto o servicio</a:t>
            </a:r>
          </a:p>
          <a:p>
            <a:pPr marL="530352" lvl="1" indent="0">
              <a:buNone/>
            </a:pPr>
            <a:endParaRPr lang="es-MX" sz="2800" dirty="0"/>
          </a:p>
          <a:p>
            <a:pPr lvl="1"/>
            <a:endParaRPr lang="es-MX" sz="2800" dirty="0"/>
          </a:p>
          <a:p>
            <a:pPr lvl="1"/>
            <a:endParaRPr lang="es-MX" sz="2800" dirty="0"/>
          </a:p>
        </p:txBody>
      </p:sp>
    </p:spTree>
    <p:extLst>
      <p:ext uri="{BB962C8B-B14F-4D97-AF65-F5344CB8AC3E}">
        <p14:creationId xmlns:p14="http://schemas.microsoft.com/office/powerpoint/2010/main" val="2087247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s-MX" sz="2800" dirty="0"/>
              <a:t>3. Mercadotecnia y publicidad</a:t>
            </a:r>
          </a:p>
          <a:p>
            <a:pPr lvl="1"/>
            <a:r>
              <a:rPr lang="es-MX" sz="2800" dirty="0"/>
              <a:t>Estrategia para dar a conocer al mercado el producto o servicio.</a:t>
            </a:r>
          </a:p>
          <a:p>
            <a:pPr lvl="1"/>
            <a:r>
              <a:rPr lang="es-MX" sz="2800" dirty="0"/>
              <a:t>Diseño de publicidad en redes sociales</a:t>
            </a:r>
          </a:p>
          <a:p>
            <a:pPr lvl="1"/>
            <a:r>
              <a:rPr lang="es-MX" sz="2800" dirty="0"/>
              <a:t>Descripción de Promociones </a:t>
            </a:r>
          </a:p>
          <a:p>
            <a:pPr marL="530352" lvl="1" indent="0">
              <a:buNone/>
            </a:pPr>
            <a:endParaRPr lang="es-MX" sz="2800" dirty="0"/>
          </a:p>
          <a:p>
            <a:pPr marL="530352" lvl="1" indent="0">
              <a:buNone/>
            </a:pPr>
            <a:r>
              <a:rPr lang="es-MX" sz="28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0729780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Azul cáli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{E007C9C8-6295-A843-8705-F77D3311D4DC}tf10001072_mac</Template>
  <TotalTime>342</TotalTime>
  <Words>101</Words>
  <Application>Microsoft Office PowerPoint</Application>
  <PresentationFormat>Panorámica</PresentationFormat>
  <Paragraphs>23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8" baseType="lpstr">
      <vt:lpstr>Calibri</vt:lpstr>
      <vt:lpstr>Franklin Gothic Book</vt:lpstr>
      <vt:lpstr>Recorte</vt:lpstr>
      <vt:lpstr>COMPETENCIA 2 </vt:lpstr>
      <vt:lpstr>Presentación de PowerPoint</vt:lpstr>
      <vt:lpstr>CONTENIDO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Ana Cecilia  Ruiz  Calvil</dc:creator>
  <cp:lastModifiedBy>Celia Velazquez Reyna</cp:lastModifiedBy>
  <cp:revision>28</cp:revision>
  <dcterms:created xsi:type="dcterms:W3CDTF">2022-06-07T18:05:37Z</dcterms:created>
  <dcterms:modified xsi:type="dcterms:W3CDTF">2026-09-15T01:30:05Z</dcterms:modified>
</cp:coreProperties>
</file>