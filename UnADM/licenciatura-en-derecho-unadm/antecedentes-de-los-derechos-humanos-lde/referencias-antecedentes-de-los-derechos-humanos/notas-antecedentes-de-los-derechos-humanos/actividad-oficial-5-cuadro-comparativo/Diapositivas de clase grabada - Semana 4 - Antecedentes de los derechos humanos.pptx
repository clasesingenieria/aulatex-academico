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2" r:id="rId3"/>
    <p:sldId id="257" r:id="rId4"/>
    <p:sldId id="264" r:id="rId5"/>
    <p:sldId id="258" r:id="rId6"/>
    <p:sldId id="290" r:id="rId7"/>
    <p:sldId id="288" r:id="rId8"/>
    <p:sldId id="291" r:id="rId9"/>
    <p:sldId id="273" r:id="rId10"/>
    <p:sldId id="292" r:id="rId11"/>
    <p:sldId id="275" r:id="rId12"/>
    <p:sldId id="293" r:id="rId13"/>
    <p:sldId id="276" r:id="rId14"/>
    <p:sldId id="294" r:id="rId15"/>
    <p:sldId id="277" r:id="rId16"/>
    <p:sldId id="295" r:id="rId17"/>
    <p:sldId id="289" r:id="rId18"/>
    <p:sldId id="296" r:id="rId19"/>
    <p:sldId id="272" r:id="rId20"/>
    <p:sldId id="285" r:id="rId21"/>
    <p:sldId id="261" r:id="rId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5C4F"/>
    <a:srgbClr val="BC94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45" autoAdjust="0"/>
    <p:restoredTop sz="94694"/>
  </p:normalViewPr>
  <p:slideViewPr>
    <p:cSldViewPr snapToGrid="0">
      <p:cViewPr varScale="1">
        <p:scale>
          <a:sx n="106" d="100"/>
          <a:sy n="106"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EB305B-7678-43AD-BDC3-20C842B6CE70}" type="datetimeFigureOut">
              <a:rPr lang="es-MX" smtClean="0"/>
              <a:t>24/07/2026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1F488-B8F8-4D33-8D91-CCBFD956B2B7}" type="slidenum">
              <a:rPr lang="es-MX" smtClean="0"/>
              <a:t>‹Nº›</a:t>
            </a:fld>
            <a:endParaRPr lang="es-MX"/>
          </a:p>
        </p:txBody>
      </p:sp>
    </p:spTree>
    <p:extLst>
      <p:ext uri="{BB962C8B-B14F-4D97-AF65-F5344CB8AC3E}">
        <p14:creationId xmlns:p14="http://schemas.microsoft.com/office/powerpoint/2010/main" val="306958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4</a:t>
            </a:fld>
            <a:endParaRPr lang="es-MX"/>
          </a:p>
        </p:txBody>
      </p:sp>
    </p:spTree>
    <p:extLst>
      <p:ext uri="{BB962C8B-B14F-4D97-AF65-F5344CB8AC3E}">
        <p14:creationId xmlns:p14="http://schemas.microsoft.com/office/powerpoint/2010/main" val="3226746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5</a:t>
            </a:fld>
            <a:endParaRPr lang="es-MX"/>
          </a:p>
        </p:txBody>
      </p:sp>
    </p:spTree>
    <p:extLst>
      <p:ext uri="{BB962C8B-B14F-4D97-AF65-F5344CB8AC3E}">
        <p14:creationId xmlns:p14="http://schemas.microsoft.com/office/powerpoint/2010/main" val="311417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002E7-00CC-399A-627D-2DF2276E1A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6DD3BB-D54F-FD04-E852-68A946058D0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B4B58E-3D23-19E3-31DD-EC581970BAC0}"/>
              </a:ext>
            </a:extLst>
          </p:cNvPr>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a:extLst>
              <a:ext uri="{FF2B5EF4-FFF2-40B4-BE49-F238E27FC236}">
                <a16:creationId xmlns:a16="http://schemas.microsoft.com/office/drawing/2014/main" id="{B745D6D2-98FF-6F65-7A20-F435E928551F}"/>
              </a:ext>
            </a:extLst>
          </p:cNvPr>
          <p:cNvSpPr>
            <a:spLocks noGrp="1"/>
          </p:cNvSpPr>
          <p:nvPr>
            <p:ph type="sldNum" sz="quarter" idx="5"/>
          </p:nvPr>
        </p:nvSpPr>
        <p:spPr/>
        <p:txBody>
          <a:bodyPr/>
          <a:lstStyle/>
          <a:p>
            <a:fld id="{DC71F488-B8F8-4D33-8D91-CCBFD956B2B7}" type="slidenum">
              <a:rPr lang="es-MX" smtClean="0"/>
              <a:t>6</a:t>
            </a:fld>
            <a:endParaRPr lang="es-MX"/>
          </a:p>
        </p:txBody>
      </p:sp>
    </p:spTree>
    <p:extLst>
      <p:ext uri="{BB962C8B-B14F-4D97-AF65-F5344CB8AC3E}">
        <p14:creationId xmlns:p14="http://schemas.microsoft.com/office/powerpoint/2010/main" val="3653765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A11DC-C617-7F6B-9D06-A39800DF1A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C82CAD-F1AD-4928-46C4-811BEF683ED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E80E7EF-6111-7BE4-9E35-1B1DF8312C39}"/>
              </a:ext>
            </a:extLst>
          </p:cNvPr>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a:extLst>
              <a:ext uri="{FF2B5EF4-FFF2-40B4-BE49-F238E27FC236}">
                <a16:creationId xmlns:a16="http://schemas.microsoft.com/office/drawing/2014/main" id="{613EE4A4-9951-1C0F-B604-38DF5E0899BD}"/>
              </a:ext>
            </a:extLst>
          </p:cNvPr>
          <p:cNvSpPr>
            <a:spLocks noGrp="1"/>
          </p:cNvSpPr>
          <p:nvPr>
            <p:ph type="sldNum" sz="quarter" idx="5"/>
          </p:nvPr>
        </p:nvSpPr>
        <p:spPr/>
        <p:txBody>
          <a:bodyPr/>
          <a:lstStyle/>
          <a:p>
            <a:fld id="{DC71F488-B8F8-4D33-8D91-CCBFD956B2B7}" type="slidenum">
              <a:rPr lang="es-MX" smtClean="0"/>
              <a:t>7</a:t>
            </a:fld>
            <a:endParaRPr lang="es-MX"/>
          </a:p>
        </p:txBody>
      </p:sp>
    </p:spTree>
    <p:extLst>
      <p:ext uri="{BB962C8B-B14F-4D97-AF65-F5344CB8AC3E}">
        <p14:creationId xmlns:p14="http://schemas.microsoft.com/office/powerpoint/2010/main" val="632457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B680-B787-0817-8B88-A0474990A6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C2096B-5396-A3BD-9B5E-05146142B5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AE9061-09EE-D002-3DCC-517D51AB117E}"/>
              </a:ext>
            </a:extLst>
          </p:cNvPr>
          <p:cNvSpPr>
            <a:spLocks noGrp="1"/>
          </p:cNvSpPr>
          <p:nvPr>
            <p:ph type="body" idx="1"/>
          </p:nvPr>
        </p:nvSpPr>
        <p:spPr/>
        <p:txBody>
          <a:bodyPr/>
          <a:lstStyle/>
          <a:p>
            <a:r>
              <a:rPr lang="es-MX" dirty="0"/>
              <a:t>Antes de la llegada de los españoles, el territorio que hoy conocemos como México estaba habitado por diversas culturas como los mexicas, mayas, zapotecas, mixtecas y purépechas. Cada una contaba con sistemas jurídicos propios, basados principalmente en la costumbre y la tradición.</a:t>
            </a:r>
          </a:p>
          <a:p>
            <a:r>
              <a:rPr lang="es-MX" dirty="0"/>
              <a:t>En estas sociedades existían normas muy estrictas que regulaban la convivencia, el comercio, el matrimonio, la propiedad y las sanciones por incumplimiento de las leyes. Sin embargo, el concepto moderno de derechos humanos aún no existía. Lo que predominaba era el cumplimiento de obligaciones hacia la comunidad y la obediencia a la autoridad.</a:t>
            </a:r>
          </a:p>
          <a:p>
            <a:r>
              <a:rPr lang="es-MX" dirty="0"/>
              <a:t>La organización social era profundamente jerarquizada; existían nobles, sacerdotes, guerreros, comerciantes y campesinos, cada uno con derechos y obligaciones diferentes según su posición dentro de la estructura social.</a:t>
            </a:r>
          </a:p>
          <a:p>
            <a:r>
              <a:rPr lang="es-MX" dirty="0"/>
              <a:t>Aunque no existía una protección universal de la dignidad humana, estas culturas desarrollaron mecanismos para preservar el orden social y resolver conflictos, constituyendo uno de los primeros antecedentes del derecho en México.</a:t>
            </a:r>
          </a:p>
          <a:p>
            <a:endParaRPr lang="es-MX" dirty="0"/>
          </a:p>
        </p:txBody>
      </p:sp>
      <p:sp>
        <p:nvSpPr>
          <p:cNvPr id="4" name="Marcador de número de diapositiva 3">
            <a:extLst>
              <a:ext uri="{FF2B5EF4-FFF2-40B4-BE49-F238E27FC236}">
                <a16:creationId xmlns:a16="http://schemas.microsoft.com/office/drawing/2014/main" id="{0E4BF42B-3F95-5E0C-BCEB-14A7EBE5146D}"/>
              </a:ext>
            </a:extLst>
          </p:cNvPr>
          <p:cNvSpPr>
            <a:spLocks noGrp="1"/>
          </p:cNvSpPr>
          <p:nvPr>
            <p:ph type="sldNum" sz="quarter" idx="5"/>
          </p:nvPr>
        </p:nvSpPr>
        <p:spPr/>
        <p:txBody>
          <a:bodyPr/>
          <a:lstStyle/>
          <a:p>
            <a:fld id="{DC71F488-B8F8-4D33-8D91-CCBFD956B2B7}" type="slidenum">
              <a:rPr lang="es-MX" smtClean="0"/>
              <a:t>8</a:t>
            </a:fld>
            <a:endParaRPr lang="es-MX"/>
          </a:p>
        </p:txBody>
      </p:sp>
    </p:spTree>
    <p:extLst>
      <p:ext uri="{BB962C8B-B14F-4D97-AF65-F5344CB8AC3E}">
        <p14:creationId xmlns:p14="http://schemas.microsoft.com/office/powerpoint/2010/main" val="2621661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Durante el siglo XIX México atravesó una constante inestabilidad política caracterizada por conflictos entre liberales y conservadores.</a:t>
            </a:r>
          </a:p>
          <a:p>
            <a:r>
              <a:rPr lang="es-MX" dirty="0"/>
              <a:t>Los liberales impulsaron importantes reformas orientadas a limitar los privilegios de la Iglesia y del ejército, fortalecer el Estado y reconocer derechos como la libertad de expresión, la libertad de imprenta y la igualdad ante la ley.</a:t>
            </a:r>
          </a:p>
          <a:p>
            <a:r>
              <a:rPr lang="es-MX" dirty="0"/>
              <a:t>La Constitución de 1857 constituyó un avance significativo porque amplió las garantías individuales y estableció principios democráticos que posteriormente influirían en el desarrollo de los derechos humanos en México.</a:t>
            </a:r>
          </a:p>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11</a:t>
            </a:fld>
            <a:endParaRPr lang="es-MX"/>
          </a:p>
        </p:txBody>
      </p:sp>
    </p:spTree>
    <p:extLst>
      <p:ext uri="{BB962C8B-B14F-4D97-AF65-F5344CB8AC3E}">
        <p14:creationId xmlns:p14="http://schemas.microsoft.com/office/powerpoint/2010/main" val="3336573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A633-0CA9-97A2-65C2-36C2A9CC8F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7D145E-F216-69A8-1521-4AFE3353657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3F930B-1338-D6F3-5269-12E37DEAB3DE}"/>
              </a:ext>
            </a:extLst>
          </p:cNvPr>
          <p:cNvSpPr>
            <a:spLocks noGrp="1"/>
          </p:cNvSpPr>
          <p:nvPr>
            <p:ph type="body" idx="1"/>
          </p:nvPr>
        </p:nvSpPr>
        <p:spPr/>
        <p:txBody>
          <a:bodyPr/>
          <a:lstStyle/>
          <a:p>
            <a:r>
              <a:rPr lang="es-MX" dirty="0"/>
              <a:t>Durante el siglo XIX México atravesó una constante inestabilidad política caracterizada por conflictos entre liberales y conservadores.</a:t>
            </a:r>
          </a:p>
          <a:p>
            <a:r>
              <a:rPr lang="es-MX" dirty="0"/>
              <a:t>Los liberales impulsaron importantes reformas orientadas a limitar los privilegios de la Iglesia y del ejército, fortalecer el Estado y reconocer derechos como la libertad de expresión, la libertad de imprenta y la igualdad ante la ley.</a:t>
            </a:r>
          </a:p>
          <a:p>
            <a:r>
              <a:rPr lang="es-MX" dirty="0"/>
              <a:t>La Constitución de 1857 constituyó un avance significativo porque amplió las garantías individuales y estableció principios democráticos que posteriormente influirían en el desarrollo de los derechos humanos en México.</a:t>
            </a:r>
          </a:p>
          <a:p>
            <a:endParaRPr lang="es-MX" dirty="0"/>
          </a:p>
        </p:txBody>
      </p:sp>
      <p:sp>
        <p:nvSpPr>
          <p:cNvPr id="4" name="Marcador de número de diapositiva 3">
            <a:extLst>
              <a:ext uri="{FF2B5EF4-FFF2-40B4-BE49-F238E27FC236}">
                <a16:creationId xmlns:a16="http://schemas.microsoft.com/office/drawing/2014/main" id="{8FF3CE08-8681-B1C1-DA8E-C0D60449CB7C}"/>
              </a:ext>
            </a:extLst>
          </p:cNvPr>
          <p:cNvSpPr>
            <a:spLocks noGrp="1"/>
          </p:cNvSpPr>
          <p:nvPr>
            <p:ph type="sldNum" sz="quarter" idx="5"/>
          </p:nvPr>
        </p:nvSpPr>
        <p:spPr/>
        <p:txBody>
          <a:bodyPr/>
          <a:lstStyle/>
          <a:p>
            <a:fld id="{DC71F488-B8F8-4D33-8D91-CCBFD956B2B7}" type="slidenum">
              <a:rPr lang="es-MX" smtClean="0"/>
              <a:t>12</a:t>
            </a:fld>
            <a:endParaRPr lang="es-MX"/>
          </a:p>
        </p:txBody>
      </p:sp>
    </p:spTree>
    <p:extLst>
      <p:ext uri="{BB962C8B-B14F-4D97-AF65-F5344CB8AC3E}">
        <p14:creationId xmlns:p14="http://schemas.microsoft.com/office/powerpoint/2010/main" val="855034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gobierno de Porfirio Díaz impulsó importantes proyectos de infraestructura, la llegada de inversión extranjera y el desarrollo del ferrocarril. Sin embargo, estos avances beneficiaron principalmente a una pequeña parte de la población.</a:t>
            </a:r>
          </a:p>
          <a:p>
            <a:r>
              <a:rPr lang="es-MX" dirty="0"/>
              <a:t>Los trabajadores enfrentaban largas jornadas laborales, bajos salarios y ausencia de derechos laborales. Asimismo, la libertad política era limitada y las manifestaciones sociales eran reprimidas.</a:t>
            </a:r>
          </a:p>
          <a:p>
            <a:r>
              <a:rPr lang="es-MX" dirty="0"/>
              <a:t>Estas condiciones provocaron un profundo descontento social que desembocó en la Revolución Mexicana de 1910.</a:t>
            </a:r>
          </a:p>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13</a:t>
            </a:fld>
            <a:endParaRPr lang="es-MX"/>
          </a:p>
        </p:txBody>
      </p:sp>
    </p:spTree>
    <p:extLst>
      <p:ext uri="{BB962C8B-B14F-4D97-AF65-F5344CB8AC3E}">
        <p14:creationId xmlns:p14="http://schemas.microsoft.com/office/powerpoint/2010/main" val="2717931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70911-3DBF-DC0B-30FF-B6345A44BA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A32E65-B671-8338-A91F-38A180AE66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20702C-B4F2-0B8D-7339-29407AC05DA1}"/>
              </a:ext>
            </a:extLst>
          </p:cNvPr>
          <p:cNvSpPr>
            <a:spLocks noGrp="1"/>
          </p:cNvSpPr>
          <p:nvPr>
            <p:ph type="body" idx="1"/>
          </p:nvPr>
        </p:nvSpPr>
        <p:spPr/>
        <p:txBody>
          <a:bodyPr/>
          <a:lstStyle/>
          <a:p>
            <a:r>
              <a:rPr lang="es-MX" dirty="0"/>
              <a:t>El gobierno de Porfirio Díaz impulsó importantes proyectos de infraestructura, la llegada de inversión extranjera y el desarrollo del ferrocarril. Sin embargo, estos avances beneficiaron principalmente a una pequeña parte de la población.</a:t>
            </a:r>
          </a:p>
          <a:p>
            <a:r>
              <a:rPr lang="es-MX" dirty="0"/>
              <a:t>Los trabajadores enfrentaban largas jornadas laborales, bajos salarios y ausencia de derechos laborales. Asimismo, la libertad política era limitada y las manifestaciones sociales eran reprimidas.</a:t>
            </a:r>
          </a:p>
          <a:p>
            <a:r>
              <a:rPr lang="es-MX" dirty="0"/>
              <a:t>Estas condiciones provocaron un profundo descontento social que desembocó en la Revolución Mexicana de 1910.</a:t>
            </a:r>
          </a:p>
          <a:p>
            <a:endParaRPr lang="es-MX" dirty="0"/>
          </a:p>
        </p:txBody>
      </p:sp>
      <p:sp>
        <p:nvSpPr>
          <p:cNvPr id="4" name="Marcador de número de diapositiva 3">
            <a:extLst>
              <a:ext uri="{FF2B5EF4-FFF2-40B4-BE49-F238E27FC236}">
                <a16:creationId xmlns:a16="http://schemas.microsoft.com/office/drawing/2014/main" id="{29850C36-BDA3-5E0C-F7E9-FDC08568399A}"/>
              </a:ext>
            </a:extLst>
          </p:cNvPr>
          <p:cNvSpPr>
            <a:spLocks noGrp="1"/>
          </p:cNvSpPr>
          <p:nvPr>
            <p:ph type="sldNum" sz="quarter" idx="5"/>
          </p:nvPr>
        </p:nvSpPr>
        <p:spPr/>
        <p:txBody>
          <a:bodyPr/>
          <a:lstStyle/>
          <a:p>
            <a:fld id="{DC71F488-B8F8-4D33-8D91-CCBFD956B2B7}" type="slidenum">
              <a:rPr lang="es-MX" smtClean="0"/>
              <a:t>14</a:t>
            </a:fld>
            <a:endParaRPr lang="es-MX"/>
          </a:p>
        </p:txBody>
      </p:sp>
    </p:spTree>
    <p:extLst>
      <p:ext uri="{BB962C8B-B14F-4D97-AF65-F5344CB8AC3E}">
        <p14:creationId xmlns:p14="http://schemas.microsoft.com/office/powerpoint/2010/main" val="2995105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La Revolución Mexicana representó una respuesta a las profundas desigualdades económicas, políticas y sociales del Porfiriato. Campesinos, obreros y diversos sectores de la población exigían mejores condiciones de vida y mayor participación política.</a:t>
            </a:r>
          </a:p>
          <a:p>
            <a:r>
              <a:rPr lang="es-MX" dirty="0"/>
              <a:t>Como resultado del movimiento revolucionario surgió la Constitución Política de 1917, considerada una de las constituciones más avanzadas de su época por incorporar derechos sociales.</a:t>
            </a:r>
          </a:p>
          <a:p>
            <a:r>
              <a:rPr lang="es-MX" dirty="0"/>
              <a:t>Entre sus principales aportaciones destacan el derecho a la educación (artículo 3°), los derechos laborales (artículo 123) y el régimen de propiedad de la tierra (artículo 27). Estos derechos marcaron un cambio trascendental al reconocer que el Estado debía garantizar condiciones de bienestar para toda la población.</a:t>
            </a:r>
          </a:p>
          <a:p>
            <a:endParaRPr lang="es-MX" dirty="0"/>
          </a:p>
        </p:txBody>
      </p:sp>
      <p:sp>
        <p:nvSpPr>
          <p:cNvPr id="4" name="Marcador de número de diapositiva 3"/>
          <p:cNvSpPr>
            <a:spLocks noGrp="1"/>
          </p:cNvSpPr>
          <p:nvPr>
            <p:ph type="sldNum" sz="quarter" idx="5"/>
          </p:nvPr>
        </p:nvSpPr>
        <p:spPr/>
        <p:txBody>
          <a:bodyPr/>
          <a:lstStyle/>
          <a:p>
            <a:fld id="{DC71F488-B8F8-4D33-8D91-CCBFD956B2B7}" type="slidenum">
              <a:rPr lang="es-MX" smtClean="0"/>
              <a:t>15</a:t>
            </a:fld>
            <a:endParaRPr lang="es-MX"/>
          </a:p>
        </p:txBody>
      </p:sp>
    </p:spTree>
    <p:extLst>
      <p:ext uri="{BB962C8B-B14F-4D97-AF65-F5344CB8AC3E}">
        <p14:creationId xmlns:p14="http://schemas.microsoft.com/office/powerpoint/2010/main" val="23776550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9635-04CB-215B-0BDB-47798FE05F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740678-956D-3181-1743-32DFAFB904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4FB670-4FDA-9244-D686-07323D1034E0}"/>
              </a:ext>
            </a:extLst>
          </p:cNvPr>
          <p:cNvSpPr>
            <a:spLocks noGrp="1"/>
          </p:cNvSpPr>
          <p:nvPr>
            <p:ph type="body" idx="1"/>
          </p:nvPr>
        </p:nvSpPr>
        <p:spPr/>
        <p:txBody>
          <a:bodyPr/>
          <a:lstStyle/>
          <a:p>
            <a:r>
              <a:rPr lang="es-MX" dirty="0"/>
              <a:t>La Revolución Mexicana representó una respuesta a las profundas desigualdades económicas, políticas y sociales del Porfiriato. Campesinos, obreros y diversos sectores de la población exigían mejores condiciones de vida y mayor participación política.</a:t>
            </a:r>
          </a:p>
          <a:p>
            <a:r>
              <a:rPr lang="es-MX" dirty="0"/>
              <a:t>Como resultado del movimiento revolucionario surgió la Constitución Política de 1917, considerada una de las constituciones más avanzadas de su época por incorporar derechos sociales.</a:t>
            </a:r>
          </a:p>
          <a:p>
            <a:r>
              <a:rPr lang="es-MX" dirty="0"/>
              <a:t>Entre sus principales aportaciones destacan el derecho a la educación (artículo 3°), los derechos laborales (artículo 123) y el régimen de propiedad de la tierra (artículo 27). Estos derechos marcaron un cambio trascendental al reconocer que el Estado debía garantizar condiciones de bienestar para toda la población.</a:t>
            </a:r>
          </a:p>
          <a:p>
            <a:endParaRPr lang="es-MX" dirty="0"/>
          </a:p>
        </p:txBody>
      </p:sp>
      <p:sp>
        <p:nvSpPr>
          <p:cNvPr id="4" name="Marcador de número de diapositiva 3">
            <a:extLst>
              <a:ext uri="{FF2B5EF4-FFF2-40B4-BE49-F238E27FC236}">
                <a16:creationId xmlns:a16="http://schemas.microsoft.com/office/drawing/2014/main" id="{09A44B8D-B878-041E-CA0D-82304835A3BA}"/>
              </a:ext>
            </a:extLst>
          </p:cNvPr>
          <p:cNvSpPr>
            <a:spLocks noGrp="1"/>
          </p:cNvSpPr>
          <p:nvPr>
            <p:ph type="sldNum" sz="quarter" idx="5"/>
          </p:nvPr>
        </p:nvSpPr>
        <p:spPr/>
        <p:txBody>
          <a:bodyPr/>
          <a:lstStyle/>
          <a:p>
            <a:fld id="{DC71F488-B8F8-4D33-8D91-CCBFD956B2B7}" type="slidenum">
              <a:rPr lang="es-MX" smtClean="0"/>
              <a:t>16</a:t>
            </a:fld>
            <a:endParaRPr lang="es-MX"/>
          </a:p>
        </p:txBody>
      </p:sp>
    </p:spTree>
    <p:extLst>
      <p:ext uri="{BB962C8B-B14F-4D97-AF65-F5344CB8AC3E}">
        <p14:creationId xmlns:p14="http://schemas.microsoft.com/office/powerpoint/2010/main" val="1321695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EC535-AC57-8513-0AC5-7828C66997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772C93-DC36-D3C7-1118-8335FA20373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787DA6-48A4-EE7E-ECD7-201B6E1EF995}"/>
              </a:ext>
            </a:extLst>
          </p:cNvPr>
          <p:cNvSpPr>
            <a:spLocks noGrp="1"/>
          </p:cNvSpPr>
          <p:nvPr>
            <p:ph type="body" idx="1"/>
          </p:nvPr>
        </p:nvSpPr>
        <p:spPr/>
        <p:txBody>
          <a:bodyPr/>
          <a:lstStyle/>
          <a:p>
            <a:r>
              <a:rPr lang="es-MX" dirty="0"/>
              <a:t>Después de la Revolución Mexicana, el país inició un proceso de reconstrucción política y social orientado a cumplir las demandas que habían originado el movimiento revolucionario. La Constitución de 1917 estableció las bases de un nuevo modelo de Estado, en el que la autoridad pública asumió la responsabilidad de garantizar derechos sociales como la educación, el trabajo y la propiedad de la tierra.</a:t>
            </a:r>
          </a:p>
          <a:p>
            <a:r>
              <a:rPr lang="es-MX" dirty="0"/>
              <a:t>Durante el siglo XX, México avanzó en la creación de instituciones y políticas públicas destinadas a fortalecer estos derechos. Se impulsaron programas educativos, mecanismos de protección laboral y acciones relacionadas con la justicia social, buscando reducir las desigualdades heredadas de etapas anteriores.</a:t>
            </a:r>
          </a:p>
          <a:p>
            <a:r>
              <a:rPr lang="es-MX" dirty="0"/>
              <a:t>Sin embargo, también existieron retos relacionados con la participación política, la libertad de expresión y la protección efectiva de diversos sectores sociales. Estas situaciones impulsaron la creación de nuevos mecanismos de defensa de los derechos fundamentales.</a:t>
            </a:r>
          </a:p>
          <a:p>
            <a:r>
              <a:rPr lang="es-MX" dirty="0"/>
              <a:t>Un momento trascendental fue la creación de la </a:t>
            </a:r>
            <a:r>
              <a:rPr lang="es-MX" b="1" dirty="0"/>
              <a:t>Comisión Nacional de los Derechos Humanos (CNDH) en 1990</a:t>
            </a:r>
            <a:r>
              <a:rPr lang="es-MX" dirty="0"/>
              <a:t>, así como la reforma constitucional en materia de derechos humanos de </a:t>
            </a:r>
            <a:r>
              <a:rPr lang="es-MX" b="1" dirty="0"/>
              <a:t>2011</a:t>
            </a:r>
            <a:r>
              <a:rPr lang="es-MX" dirty="0"/>
              <a:t>, mediante la cual se reconoció expresamente que todas las personas gozan de los derechos humanos establecidos en la Constitución y en los tratados internacionales.</a:t>
            </a:r>
          </a:p>
          <a:p>
            <a:r>
              <a:rPr lang="es-MX" dirty="0"/>
              <a:t>De esta manera, los derechos humanos en México pasaron de un modelo centrado en las garantías individuales a un sistema basado en la dignidad humana, la igualdad y la obligación del Estado de promover, respetar, proteger y garantizar los derechos.</a:t>
            </a:r>
          </a:p>
          <a:p>
            <a:endParaRPr lang="es-MX" dirty="0"/>
          </a:p>
        </p:txBody>
      </p:sp>
      <p:sp>
        <p:nvSpPr>
          <p:cNvPr id="4" name="Marcador de número de diapositiva 3">
            <a:extLst>
              <a:ext uri="{FF2B5EF4-FFF2-40B4-BE49-F238E27FC236}">
                <a16:creationId xmlns:a16="http://schemas.microsoft.com/office/drawing/2014/main" id="{EB642086-0ED1-8A1F-AAF5-8EF747AB9142}"/>
              </a:ext>
            </a:extLst>
          </p:cNvPr>
          <p:cNvSpPr>
            <a:spLocks noGrp="1"/>
          </p:cNvSpPr>
          <p:nvPr>
            <p:ph type="sldNum" sz="quarter" idx="5"/>
          </p:nvPr>
        </p:nvSpPr>
        <p:spPr/>
        <p:txBody>
          <a:bodyPr/>
          <a:lstStyle/>
          <a:p>
            <a:fld id="{DC71F488-B8F8-4D33-8D91-CCBFD956B2B7}" type="slidenum">
              <a:rPr lang="es-MX" smtClean="0"/>
              <a:t>17</a:t>
            </a:fld>
            <a:endParaRPr lang="es-MX"/>
          </a:p>
        </p:txBody>
      </p:sp>
    </p:spTree>
    <p:extLst>
      <p:ext uri="{BB962C8B-B14F-4D97-AF65-F5344CB8AC3E}">
        <p14:creationId xmlns:p14="http://schemas.microsoft.com/office/powerpoint/2010/main" val="4051736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47F0F-5165-A14E-93C3-B7EE04551F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8029D5-8C8F-F9A7-727E-A13D19F063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CC2CB8-EEBD-485A-6F38-696C92B2B6C1}"/>
              </a:ext>
            </a:extLst>
          </p:cNvPr>
          <p:cNvSpPr>
            <a:spLocks noGrp="1"/>
          </p:cNvSpPr>
          <p:nvPr>
            <p:ph type="body" idx="1"/>
          </p:nvPr>
        </p:nvSpPr>
        <p:spPr/>
        <p:txBody>
          <a:bodyPr/>
          <a:lstStyle/>
          <a:p>
            <a:r>
              <a:rPr lang="es-MX" dirty="0"/>
              <a:t>Después de la Revolución Mexicana, el país inició un proceso de reconstrucción política y social orientado a cumplir las demandas que habían originado el movimiento revolucionario. La Constitución de 1917 estableció las bases de un nuevo modelo de Estado, en el que la autoridad pública asumió la responsabilidad de garantizar derechos sociales como la educación, el trabajo y la propiedad de la tierra.</a:t>
            </a:r>
          </a:p>
          <a:p>
            <a:r>
              <a:rPr lang="es-MX" dirty="0"/>
              <a:t>Durante el siglo XX, México avanzó en la creación de instituciones y políticas públicas destinadas a fortalecer estos derechos. Se impulsaron programas educativos, mecanismos de protección laboral y acciones relacionadas con la justicia social, buscando reducir las desigualdades heredadas de etapas anteriores.</a:t>
            </a:r>
          </a:p>
          <a:p>
            <a:r>
              <a:rPr lang="es-MX" dirty="0"/>
              <a:t>Sin embargo, también existieron retos relacionados con la participación política, la libertad de expresión y la protección efectiva de diversos sectores sociales. Estas situaciones impulsaron la creación de nuevos mecanismos de defensa de los derechos fundamentales.</a:t>
            </a:r>
          </a:p>
          <a:p>
            <a:r>
              <a:rPr lang="es-MX" dirty="0"/>
              <a:t>Un momento trascendental fue la creación de la </a:t>
            </a:r>
            <a:r>
              <a:rPr lang="es-MX" b="1" dirty="0"/>
              <a:t>Comisión Nacional de los Derechos Humanos (CNDH) en 1990</a:t>
            </a:r>
            <a:r>
              <a:rPr lang="es-MX" dirty="0"/>
              <a:t>, así como la reforma constitucional en materia de derechos humanos de </a:t>
            </a:r>
            <a:r>
              <a:rPr lang="es-MX" b="1" dirty="0"/>
              <a:t>2011</a:t>
            </a:r>
            <a:r>
              <a:rPr lang="es-MX" dirty="0"/>
              <a:t>, mediante la cual se reconoció expresamente que todas las personas gozan de los derechos humanos establecidos en la Constitución y en los tratados internacionales.</a:t>
            </a:r>
          </a:p>
          <a:p>
            <a:r>
              <a:rPr lang="es-MX" dirty="0"/>
              <a:t>De esta manera, los derechos humanos en México pasaron de un modelo centrado en las garantías individuales a un sistema basado en la dignidad humana, la igualdad y la obligación del Estado de promover, respetar, proteger y garantizar los derechos.</a:t>
            </a:r>
          </a:p>
          <a:p>
            <a:endParaRPr lang="es-MX" dirty="0"/>
          </a:p>
        </p:txBody>
      </p:sp>
      <p:sp>
        <p:nvSpPr>
          <p:cNvPr id="4" name="Marcador de número de diapositiva 3">
            <a:extLst>
              <a:ext uri="{FF2B5EF4-FFF2-40B4-BE49-F238E27FC236}">
                <a16:creationId xmlns:a16="http://schemas.microsoft.com/office/drawing/2014/main" id="{6DE995B9-B109-4F5A-E3B9-7606CAFC1D10}"/>
              </a:ext>
            </a:extLst>
          </p:cNvPr>
          <p:cNvSpPr>
            <a:spLocks noGrp="1"/>
          </p:cNvSpPr>
          <p:nvPr>
            <p:ph type="sldNum" sz="quarter" idx="5"/>
          </p:nvPr>
        </p:nvSpPr>
        <p:spPr/>
        <p:txBody>
          <a:bodyPr/>
          <a:lstStyle/>
          <a:p>
            <a:fld id="{DC71F488-B8F8-4D33-8D91-CCBFD956B2B7}" type="slidenum">
              <a:rPr lang="es-MX" smtClean="0"/>
              <a:t>18</a:t>
            </a:fld>
            <a:endParaRPr lang="es-MX"/>
          </a:p>
        </p:txBody>
      </p:sp>
    </p:spTree>
    <p:extLst>
      <p:ext uri="{BB962C8B-B14F-4D97-AF65-F5344CB8AC3E}">
        <p14:creationId xmlns:p14="http://schemas.microsoft.com/office/powerpoint/2010/main" val="1680727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42380-29F4-7885-D208-EE6B3A1F927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D184D8A-FB05-07BE-4B9B-48F890BA6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49E1AC74-A96C-6DF9-BAC2-6B57C578ECCC}"/>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405D51E0-D288-5AD9-E9C6-318A3EEA58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F3E0D9-24E9-9D52-A957-F9D786C835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42185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101505-2B21-4F87-7372-4CD4877344E5}"/>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669F502-C957-D0CD-CB5A-51EC6B4282E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6BECD5D-5141-752C-BB70-0301264F6710}"/>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713BFD11-F425-FF05-8852-2ED48ABF02B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51A02-38E8-5D34-6307-B211425C6BAE}"/>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874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5063E-0145-11AC-B497-708A91452757}"/>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7D96655B-7EA1-0AC4-EEE3-57E2920CD6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D450C324-AB5E-AABF-45D9-FDC77A02163F}"/>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C304D378-2C18-709A-270A-A4E75DD8C9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4E66E3-9229-84F0-EEA4-578EEF325271}"/>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5644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29277-B785-6564-ED5E-C308537FACDE}"/>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6385F2C7-1F65-E84C-E1B2-14CA5B74566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16E1DA9A-F6DC-507F-6F9B-EB5E635D0546}"/>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2F77500F-4FE3-40D7-9039-4BD1297D5814}"/>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6" name="Marcador de pie de página 5">
            <a:extLst>
              <a:ext uri="{FF2B5EF4-FFF2-40B4-BE49-F238E27FC236}">
                <a16:creationId xmlns:a16="http://schemas.microsoft.com/office/drawing/2014/main" id="{D6B18608-9A0D-8E1D-B272-86F09D69475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EA6B838-DC36-C62B-511B-78BBE85849F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5625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40458-0846-538C-D307-267243BDE484}"/>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51EF107-7F66-2CE3-A2E6-366639A121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6A47BF29-8593-4D59-249D-16A686F51A87}"/>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C4358F34-7A43-C3D5-D2DF-9863D9DE26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FAADF1B-BC93-27DD-C8F9-B606CCBFFD05}"/>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5597C082-BED4-EDFA-C890-A23D9C2223F4}"/>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8" name="Marcador de pie de página 7">
            <a:extLst>
              <a:ext uri="{FF2B5EF4-FFF2-40B4-BE49-F238E27FC236}">
                <a16:creationId xmlns:a16="http://schemas.microsoft.com/office/drawing/2014/main" id="{CA273741-70A5-6310-5762-1E42C3B91D4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653C7AB-DB99-BA88-8AF7-A3232973447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69201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EAC9A-8C31-88DC-F120-D79038978387}"/>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6D3C53B0-4C6B-9D13-172D-67325EADB5CD}"/>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4" name="Marcador de pie de página 3">
            <a:extLst>
              <a:ext uri="{FF2B5EF4-FFF2-40B4-BE49-F238E27FC236}">
                <a16:creationId xmlns:a16="http://schemas.microsoft.com/office/drawing/2014/main" id="{7272631A-C47F-77F5-6F29-0E32D02F65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BDCC397-A651-9FAA-1CB9-72E54EC2CDF2}"/>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14912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288B946-D0DE-7222-2974-140E465AE22E}"/>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3" name="Marcador de pie de página 2">
            <a:extLst>
              <a:ext uri="{FF2B5EF4-FFF2-40B4-BE49-F238E27FC236}">
                <a16:creationId xmlns:a16="http://schemas.microsoft.com/office/drawing/2014/main" id="{BAFB80F7-50BC-F3DD-ADEA-96D94FA9C9D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DD38E3D-5FFE-1BFF-23FE-0E1AFAD7709B}"/>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64896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FE16B8-9745-9697-DC34-4A1B0B30E6B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D47D4019-20B9-3478-F316-C78CFB5DE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E3B4CA10-096B-94B7-D4B0-67AB1D147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A287719-0BDE-D8F5-29C7-95A84691E1CE}"/>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6" name="Marcador de pie de página 5">
            <a:extLst>
              <a:ext uri="{FF2B5EF4-FFF2-40B4-BE49-F238E27FC236}">
                <a16:creationId xmlns:a16="http://schemas.microsoft.com/office/drawing/2014/main" id="{3EFBC66D-5856-116B-0C91-548793C83AA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1C00D3C-EC41-4BD5-72BF-6FF4ABFAB1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7304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21240-3A44-BF33-EE08-5167A46A280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91A219E-8DB7-298E-D78C-6DB35D12BA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D58EA7E-1043-0141-6C4F-EA31B98F9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0F901AD-F68A-A08E-8DDC-098A2D75C87F}"/>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6" name="Marcador de pie de página 5">
            <a:extLst>
              <a:ext uri="{FF2B5EF4-FFF2-40B4-BE49-F238E27FC236}">
                <a16:creationId xmlns:a16="http://schemas.microsoft.com/office/drawing/2014/main" id="{6B606934-B544-C67E-1B87-B49D01A7AA7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615C78-C961-35B0-1C3A-F156DB325A98}"/>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1197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FB3792-D10F-5E2D-0233-BB6FCE6978B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0C4FAA32-E80E-5CD3-3A6D-DC8C7430ABCB}"/>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92346C8-E92E-78BA-48A9-C9CAB3A3AB05}"/>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2AF61EB4-9519-C09C-1DDE-27B7E83725A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D7DE98-B357-7145-F331-7ED5CDC42586}"/>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2179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3947258-159E-11F7-22AA-9D9CFC3D94F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8A0DDA63-E83A-F9DE-5CF7-67CBDEFB8B9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8019B2C-BBD7-368E-48BC-DE4E1895A03B}"/>
              </a:ext>
            </a:extLst>
          </p:cNvPr>
          <p:cNvSpPr>
            <a:spLocks noGrp="1"/>
          </p:cNvSpPr>
          <p:nvPr>
            <p:ph type="dt" sz="half" idx="10"/>
          </p:nvPr>
        </p:nvSpPr>
        <p:spPr/>
        <p:txBody>
          <a:body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776E40DE-778A-198D-6B0C-FEC1F8685A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8A89F50-4192-8DB9-7CDA-CF4685B9E083}"/>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27108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0A6187-A44F-5EA2-F272-08996FFC05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06F0401-C8DD-E378-9972-15B55D1CF6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2056BB0-071A-FD3E-7CF4-94E1D8514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55A57F-D9AD-8A45-99FA-27A12DCE6F0B}" type="datetimeFigureOut">
              <a:rPr lang="es-MX" smtClean="0"/>
              <a:t>24/07/2026</a:t>
            </a:fld>
            <a:endParaRPr lang="es-MX"/>
          </a:p>
        </p:txBody>
      </p:sp>
      <p:sp>
        <p:nvSpPr>
          <p:cNvPr id="5" name="Marcador de pie de página 4">
            <a:extLst>
              <a:ext uri="{FF2B5EF4-FFF2-40B4-BE49-F238E27FC236}">
                <a16:creationId xmlns:a16="http://schemas.microsoft.com/office/drawing/2014/main" id="{D060800A-530D-CFF9-38F4-B9F12B4EB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5592F3AD-B7AC-3B40-496A-283399DC8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9777BE-3417-5741-9C06-646E5B4D83DE}" type="slidenum">
              <a:rPr lang="es-MX" smtClean="0"/>
              <a:t>‹Nº›</a:t>
            </a:fld>
            <a:endParaRPr lang="es-MX"/>
          </a:p>
        </p:txBody>
      </p:sp>
    </p:spTree>
    <p:extLst>
      <p:ext uri="{BB962C8B-B14F-4D97-AF65-F5344CB8AC3E}">
        <p14:creationId xmlns:p14="http://schemas.microsoft.com/office/powerpoint/2010/main" val="1924364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hyperlink" Target="https://www.csmc.uni-hamburg.de/publications/aom/mom/35-en.html?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hyperlink" Target="https://www.csmc.uni-hamburg.de/publications/aom/mom/35-en.html?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lavanguardia.com/cultura/20221204/8633247/guerra-descolonizacion-museos-espanoles-debate.html" TargetMode="Externa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www.lavanguardia.com/cultura/20221204/8633247/guerra-descolonizacion-museos-espanoles-debate.html" TargetMode="Externa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hyperlink" Target="https://www.abc.com.py/edicion-impresa/suplementos/cultural/2020/11/01/el-capitulo-mas-radical-de-la-revolucion-de-independencia-en-mexico/?outputType=amp"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hyperlink" Target="https://www.abc.com.py/edicion-impresa/suplementos/cultural/2020/11/01/el-capitulo-mas-radical-de-la-revolucion-de-independencia-en-mexico/?outputType=amp"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hyperlink" Target="https://www.gob.mx/agn/articulos/rumboalcentenario-la-generacion-de-la-reforma-la-constitucion-de-1857?idiom=e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hyperlink" Target="https://www.gob.mx/agn/articulos/rumboalcentenario-la-generacion-de-la-reforma-la-constitucion-de-1857?idiom=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hyperlink" Target="https://www.sprinforma.mx/noticia/historia-porfirista-de-mexico"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hyperlink" Target="https://www.sprinforma.mx/noticia/historia-porfirista-de-mexico"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hyperlink" Target="https://tribunademexico.com/revolucion-mexicana-y-quienes-la-protagonizaron/"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hyperlink" Target="https://tribunademexico.com/revolucion-mexicana-y-quienes-la-protagonizaro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hyperlink" Target="https://portavozchiapas.com.mx/2025/06/22/23-de-junio-de-1937-nacionalizacion-de-los-ferrocarriles-y-la-consolidacion-del-mexico-moderno/"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hyperlink" Target="https://portavozchiapas.com.mx/2025/06/22/23-de-junio-de-1937-nacionalizacion-de-los-ferrocarriles-y-la-consolidacion-del-mexico-moderno/"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bicentenario.scjn.gob.mx/constituciones/constitucion-1917" TargetMode="External"/><Relationship Id="rId3" Type="http://schemas.openxmlformats.org/officeDocument/2006/relationships/hyperlink" Target="https://www.gob.mx/agn/articulos/constitucionde1917-cien-anos-de-constitucionalismo-social-la-constitucion-de-1917" TargetMode="External"/><Relationship Id="rId7" Type="http://schemas.openxmlformats.org/officeDocument/2006/relationships/hyperlink" Target="https://tribunademexico.com/revolucion-mexicana-y-quienes-la-protagonizaron/" TargetMode="Externa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hyperlink" Target="https://www.abc.com.py/edicion-impresa/suplementos/cultural/2020/11/01/el-capitulo-mas-radical-de-la-revolucion-de-independencia-en-mexico/" TargetMode="External"/><Relationship Id="rId5" Type="http://schemas.openxmlformats.org/officeDocument/2006/relationships/hyperlink" Target="https://www.sprinforma.mx/noticia/historia-porfirista-de-mexico" TargetMode="External"/><Relationship Id="rId4" Type="http://schemas.openxmlformats.org/officeDocument/2006/relationships/hyperlink" Target="https://www.gob.mx/agn/articulos/rumboalcentenario-la-generacion-de-la-reforma-la-constitucion-de-1857?idiom=es"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DF373F4D-6C88-7DCC-6C6C-EC8A5B6AAC0B}"/>
              </a:ext>
            </a:extLst>
          </p:cNvPr>
          <p:cNvSpPr txBox="1">
            <a:spLocks noChangeArrowheads="1"/>
          </p:cNvSpPr>
          <p:nvPr/>
        </p:nvSpPr>
        <p:spPr bwMode="auto">
          <a:xfrm>
            <a:off x="435965" y="4761436"/>
            <a:ext cx="11464925" cy="1327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3600" b="1" dirty="0">
                <a:solidFill>
                  <a:srgbClr val="245C4F"/>
                </a:solidFill>
              </a:rPr>
              <a:t>Unidad 3. Identifica aspectos relevantes del desarrollo</a:t>
            </a:r>
          </a:p>
          <a:p>
            <a:r>
              <a:rPr lang="es-ES" sz="3600" b="1" dirty="0">
                <a:solidFill>
                  <a:srgbClr val="245C4F"/>
                </a:solidFill>
              </a:rPr>
              <a:t>histórico de los derechos humanos en México.</a:t>
            </a:r>
            <a:r>
              <a:rPr lang="es-MX" sz="3600" b="1" dirty="0">
                <a:solidFill>
                  <a:srgbClr val="245C4F"/>
                </a:solidFill>
              </a:rPr>
              <a:t> </a:t>
            </a:r>
            <a:endParaRPr lang="es-MX" sz="3600" noProof="0" dirty="0">
              <a:solidFill>
                <a:srgbClr val="245C4F"/>
              </a:solidFill>
              <a:latin typeface="Montserrat SemiBold" pitchFamily="2" charset="77"/>
            </a:endParaRPr>
          </a:p>
        </p:txBody>
      </p:sp>
    </p:spTree>
    <p:extLst>
      <p:ext uri="{BB962C8B-B14F-4D97-AF65-F5344CB8AC3E}">
        <p14:creationId xmlns:p14="http://schemas.microsoft.com/office/powerpoint/2010/main" val="85522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950A1AD-82BD-7726-B6A8-FEBD2EF5A04D}"/>
              </a:ext>
            </a:extLst>
          </p:cNvPr>
          <p:cNvSpPr txBox="1">
            <a:spLocks noChangeArrowheads="1"/>
          </p:cNvSpPr>
          <p:nvPr/>
        </p:nvSpPr>
        <p:spPr bwMode="auto">
          <a:xfrm>
            <a:off x="472179" y="3828928"/>
            <a:ext cx="11464925" cy="1327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4000" b="1" dirty="0">
                <a:solidFill>
                  <a:schemeClr val="bg1"/>
                </a:solidFill>
              </a:rPr>
              <a:t>Antecedentes sociales y contexto político de los derechos humanos en México. </a:t>
            </a:r>
            <a:r>
              <a:rPr lang="es-MX" sz="4000" b="1" dirty="0">
                <a:solidFill>
                  <a:schemeClr val="bg1"/>
                </a:solidFill>
              </a:rPr>
              <a:t> </a:t>
            </a:r>
            <a:endParaRPr lang="es-MX" sz="4000" noProof="0" dirty="0">
              <a:solidFill>
                <a:schemeClr val="bg1"/>
              </a:solidFill>
              <a:latin typeface="Montserrat SemiBold" pitchFamily="2" charset="77"/>
            </a:endParaRPr>
          </a:p>
        </p:txBody>
      </p:sp>
      <p:sp>
        <p:nvSpPr>
          <p:cNvPr id="5" name="Marcador de contenido 2">
            <a:extLst>
              <a:ext uri="{FF2B5EF4-FFF2-40B4-BE49-F238E27FC236}">
                <a16:creationId xmlns:a16="http://schemas.microsoft.com/office/drawing/2014/main" id="{DC8C9EFE-E493-644D-2B8E-E3DC0660311F}"/>
              </a:ext>
            </a:extLst>
          </p:cNvPr>
          <p:cNvSpPr txBox="1">
            <a:spLocks noChangeArrowheads="1"/>
          </p:cNvSpPr>
          <p:nvPr/>
        </p:nvSpPr>
        <p:spPr bwMode="auto">
          <a:xfrm>
            <a:off x="363537" y="5472949"/>
            <a:ext cx="114649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684213" indent="-227013">
              <a:defRPr>
                <a:solidFill>
                  <a:schemeClr val="tx1"/>
                </a:solidFill>
                <a:latin typeface="Calibri" panose="020F0502020204030204" pitchFamily="34" charset="0"/>
              </a:defRPr>
            </a:lvl2pPr>
            <a:lvl3pPr marL="1141413" indent="-227013">
              <a:defRPr>
                <a:solidFill>
                  <a:schemeClr val="tx1"/>
                </a:solidFill>
                <a:latin typeface="Calibri" panose="020F0502020204030204" pitchFamily="34" charset="0"/>
              </a:defRPr>
            </a:lvl3pPr>
            <a:lvl4pPr marL="1598613" indent="-227013">
              <a:defRPr>
                <a:solidFill>
                  <a:schemeClr val="tx1"/>
                </a:solidFill>
                <a:latin typeface="Calibri" panose="020F0502020204030204" pitchFamily="34" charset="0"/>
              </a:defRPr>
            </a:lvl4pPr>
            <a:lvl5pPr marL="2055813" indent="-227013">
              <a:defRPr>
                <a:solidFill>
                  <a:schemeClr val="tx1"/>
                </a:solidFill>
                <a:latin typeface="Calibri" panose="020F0502020204030204" pitchFamily="34" charset="0"/>
              </a:defRPr>
            </a:lvl5pPr>
            <a:lvl6pPr marL="2513013" indent="-227013" defTabSz="912813" fontAlgn="base">
              <a:spcBef>
                <a:spcPct val="0"/>
              </a:spcBef>
              <a:spcAft>
                <a:spcPct val="0"/>
              </a:spcAft>
              <a:defRPr>
                <a:solidFill>
                  <a:schemeClr val="tx1"/>
                </a:solidFill>
                <a:latin typeface="Calibri" panose="020F0502020204030204" pitchFamily="34" charset="0"/>
              </a:defRPr>
            </a:lvl6pPr>
            <a:lvl7pPr marL="2970213" indent="-227013" defTabSz="912813" fontAlgn="base">
              <a:spcBef>
                <a:spcPct val="0"/>
              </a:spcBef>
              <a:spcAft>
                <a:spcPct val="0"/>
              </a:spcAft>
              <a:defRPr>
                <a:solidFill>
                  <a:schemeClr val="tx1"/>
                </a:solidFill>
                <a:latin typeface="Calibri" panose="020F0502020204030204" pitchFamily="34" charset="0"/>
              </a:defRPr>
            </a:lvl7pPr>
            <a:lvl8pPr marL="3427413" indent="-227013" defTabSz="912813" fontAlgn="base">
              <a:spcBef>
                <a:spcPct val="0"/>
              </a:spcBef>
              <a:spcAft>
                <a:spcPct val="0"/>
              </a:spcAft>
              <a:defRPr>
                <a:solidFill>
                  <a:schemeClr val="tx1"/>
                </a:solidFill>
                <a:latin typeface="Calibri" panose="020F0502020204030204" pitchFamily="34" charset="0"/>
              </a:defRPr>
            </a:lvl8pPr>
            <a:lvl9pPr marL="3884613" indent="-227013" defTabSz="912813" fontAlgn="base">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Presenta: </a:t>
            </a:r>
          </a:p>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Mtro. Daniel Alexis Lozano Ortega</a:t>
            </a:r>
          </a:p>
        </p:txBody>
      </p:sp>
    </p:spTree>
    <p:extLst>
      <p:ext uri="{BB962C8B-B14F-4D97-AF65-F5344CB8AC3E}">
        <p14:creationId xmlns:p14="http://schemas.microsoft.com/office/powerpoint/2010/main" val="25257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716849" y="1729553"/>
            <a:ext cx="9827560" cy="2982701"/>
          </a:xfrm>
        </p:spPr>
        <p:txBody>
          <a:bodyPr>
            <a:normAutofit fontScale="90000"/>
          </a:bodyPr>
          <a:lstStyle/>
          <a:p>
            <a:pPr algn="just"/>
            <a:r>
              <a:rPr lang="es-MX" sz="1800" noProof="0" dirty="0"/>
              <a:t>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a:t>
            </a:r>
            <a:br>
              <a:rPr lang="es-MX" sz="1800" noProof="0" dirty="0"/>
            </a:br>
            <a:br>
              <a:rPr lang="es-MX" sz="1800" noProof="0" dirty="0"/>
            </a:br>
            <a:r>
              <a:rPr lang="es-MX" sz="1800" noProof="0" dirty="0"/>
              <a:t>Mis principales intereses académicos se centran en el derecho público, los derechos humanos, la gobernanza y las políticas públicas, así como en el papel del derecho en el fortalecimiento de las instituciones públicas.</a:t>
            </a:r>
            <a:br>
              <a:rPr lang="es-MX" sz="1800" noProof="0" dirty="0"/>
            </a:br>
            <a:br>
              <a:rPr lang="es-MX" sz="1800" noProof="0" dirty="0"/>
            </a:br>
            <a:r>
              <a:rPr lang="es-MX" sz="1800" noProof="0" dirty="0"/>
              <a:t>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a:t>
            </a:r>
            <a:r>
              <a:rPr lang="es-MX" sz="1800" i="1" noProof="0" dirty="0"/>
              <a:t>“Convencionalidad de la autorización a la enajenación de bienes de niñas, niños y adolescentes. La autonomía progresiva y el interés superior de la niñez y la adolescencia”</a:t>
            </a:r>
            <a:r>
              <a:rPr lang="es-MX" sz="1800" noProof="0" dirty="0"/>
              <a:t> (2023).(UnADM).</a:t>
            </a:r>
            <a:br>
              <a:rPr lang="es-MX" sz="1800" noProof="0" dirty="0"/>
            </a:br>
            <a:r>
              <a:rPr lang="es-MX" sz="1800" noProof="0" dirty="0"/>
              <a:t>En el servicio público, destaqué como Procurador de Protección de Niñas, Niños y Adolescentes, participando en la protección y restitución de los derechos de la niñez y adolescencia.	</a:t>
            </a:r>
            <a:br>
              <a:rPr lang="es-MX" sz="1800" noProof="0" dirty="0"/>
            </a:br>
            <a:br>
              <a:rPr lang="es-MX" sz="1800" noProof="0" dirty="0"/>
            </a:br>
            <a:r>
              <a:rPr lang="es-MX" sz="1800" noProof="0" dirty="0"/>
              <a:t>Actualmente me desempeño como abogado postulante en materia de derecho familiar y docente universitario.</a:t>
            </a:r>
            <a:br>
              <a:rPr lang="es-MX" sz="1800" noProof="0" dirty="0"/>
            </a:br>
            <a:r>
              <a:rPr lang="es-MX" sz="1800" noProof="0" dirty="0">
                <a:latin typeface="Montserrat" pitchFamily="2" charset="77"/>
              </a:rPr>
              <a:t>.</a:t>
            </a:r>
          </a:p>
        </p:txBody>
      </p:sp>
      <p:pic>
        <p:nvPicPr>
          <p:cNvPr id="4" name="Marcador de contenido 3">
            <a:extLst>
              <a:ext uri="{FF2B5EF4-FFF2-40B4-BE49-F238E27FC236}">
                <a16:creationId xmlns:a16="http://schemas.microsoft.com/office/drawing/2014/main" id="{BEC3124D-F93C-A09C-23FB-D0DF35A47D93}"/>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9961" b="99023" l="7813" r="94727">
                        <a14:foregroundMark x1="11719" y1="48828" x2="7910" y2="47363"/>
                        <a14:foregroundMark x1="46582" y1="87500" x2="66895" y2="93652"/>
                        <a14:foregroundMark x1="66895" y1="93652" x2="70996" y2="78906"/>
                        <a14:foregroundMark x1="70996" y1="78906" x2="90723" y2="87500"/>
                        <a14:foregroundMark x1="90723" y1="87500" x2="89453" y2="59570"/>
                        <a14:foregroundMark x1="32031" y1="87500" x2="32031" y2="87500"/>
                        <a14:foregroundMark x1="32031" y1="87500" x2="29688" y2="91016"/>
                        <a14:foregroundMark x1="46973" y1="89063" x2="67090" y2="97363"/>
                        <a14:foregroundMark x1="67090" y1="97363" x2="96582" y2="91992"/>
                        <a14:foregroundMark x1="96582" y1="91992" x2="82324" y2="85352"/>
                        <a14:foregroundMark x1="82324" y1="85352" x2="94043" y2="71973"/>
                        <a14:foregroundMark x1="94043" y1="71973" x2="94824" y2="64941"/>
                        <a14:foregroundMark x1="45801" y1="91406" x2="57813" y2="98926"/>
                        <a14:foregroundMark x1="57813" y1="98926" x2="97461" y2="91016"/>
                        <a14:foregroundMark x1="97461" y1="91016" x2="53809" y2="99512"/>
                        <a14:foregroundMark x1="53809" y1="99512" x2="78125" y2="95703"/>
                        <a14:foregroundMark x1="78125" y1="95703" x2="77539" y2="99023"/>
                      </a14:backgroundRemoval>
                    </a14:imgEffect>
                  </a14:imgLayer>
                </a14:imgProps>
              </a:ext>
            </a:extLst>
          </a:blip>
          <a:srcRect r="8169" b="7093"/>
          <a:stretch>
            <a:fillRect/>
          </a:stretch>
        </p:blipFill>
        <p:spPr>
          <a:xfrm>
            <a:off x="8597015" y="3220904"/>
            <a:ext cx="3594985" cy="3637096"/>
          </a:xfrm>
        </p:spPr>
      </p:pic>
      <p:sp>
        <p:nvSpPr>
          <p:cNvPr id="14" name="Título 1">
            <a:extLst>
              <a:ext uri="{FF2B5EF4-FFF2-40B4-BE49-F238E27FC236}">
                <a16:creationId xmlns:a16="http://schemas.microsoft.com/office/drawing/2014/main" id="{333BE15F-6A12-784B-4E92-0085F9F78DEF}"/>
              </a:ext>
            </a:extLst>
          </p:cNvPr>
          <p:cNvSpPr txBox="1">
            <a:spLocks/>
          </p:cNvSpPr>
          <p:nvPr/>
        </p:nvSpPr>
        <p:spPr>
          <a:xfrm>
            <a:off x="716849" y="2113613"/>
            <a:ext cx="9827560" cy="8490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endParaRPr lang="es-MX" sz="1800" noProof="0" dirty="0">
              <a:latin typeface="Montserrat" pitchFamily="2" charset="77"/>
            </a:endParaRPr>
          </a:p>
        </p:txBody>
      </p:sp>
      <p:sp>
        <p:nvSpPr>
          <p:cNvPr id="6" name="Título 1">
            <a:extLst>
              <a:ext uri="{FF2B5EF4-FFF2-40B4-BE49-F238E27FC236}">
                <a16:creationId xmlns:a16="http://schemas.microsoft.com/office/drawing/2014/main" id="{153EBE81-9939-BFA5-CACF-E263C2CBBC6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12493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680545" y="1237484"/>
            <a:ext cx="10930688" cy="974376"/>
          </a:xfrm>
        </p:spPr>
        <p:txBody>
          <a:bodyPr>
            <a:normAutofit/>
          </a:bodyPr>
          <a:lstStyle/>
          <a:p>
            <a:r>
              <a:rPr lang="es-MX" sz="3600" b="1" noProof="0" dirty="0">
                <a:solidFill>
                  <a:srgbClr val="BC9459"/>
                </a:solidFill>
                <a:latin typeface="Montserrat" pitchFamily="2" charset="77"/>
              </a:rPr>
              <a:t>Introducción a la asignatura </a:t>
            </a:r>
          </a:p>
        </p:txBody>
      </p:sp>
      <p:sp>
        <p:nvSpPr>
          <p:cNvPr id="9" name="Marcador de contenido 8">
            <a:extLst>
              <a:ext uri="{FF2B5EF4-FFF2-40B4-BE49-F238E27FC236}">
                <a16:creationId xmlns:a16="http://schemas.microsoft.com/office/drawing/2014/main" id="{3D9E04A6-26A1-E95A-E8B6-2A9813D2F8C5}"/>
              </a:ext>
            </a:extLst>
          </p:cNvPr>
          <p:cNvSpPr>
            <a:spLocks noGrp="1"/>
          </p:cNvSpPr>
          <p:nvPr>
            <p:ph idx="1"/>
          </p:nvPr>
        </p:nvSpPr>
        <p:spPr>
          <a:xfrm>
            <a:off x="630656" y="2211860"/>
            <a:ext cx="10930688" cy="3915677"/>
          </a:xfrm>
        </p:spPr>
        <p:txBody>
          <a:bodyPr>
            <a:normAutofit lnSpcReduction="10000"/>
          </a:bodyPr>
          <a:lstStyle/>
          <a:p>
            <a:pPr algn="just">
              <a:lnSpc>
                <a:spcPct val="100000"/>
              </a:lnSpc>
            </a:pPr>
            <a:r>
              <a:rPr lang="es-MX" sz="2000" dirty="0">
                <a:latin typeface="Montserrat" panose="00000500000000000000" pitchFamily="2" charset="0"/>
              </a:rPr>
              <a:t>El estudio de los antecedentes de los derechos humanos permite comprender que su reconocimiento es el resultado de un largo proceso histórico, político, filosófico y jurídico. A lo largo de la historia, distintas civilizaciones, movimientos sociales y corrientes de pensamiento sentaron las bases para la construcción de los derechos y libertades que hoy protegen la dignidad de todas las personas.</a:t>
            </a:r>
          </a:p>
          <a:p>
            <a:pPr algn="just">
              <a:lnSpc>
                <a:spcPct val="100000"/>
              </a:lnSpc>
            </a:pPr>
            <a:r>
              <a:rPr lang="es-MX" sz="2000" dirty="0">
                <a:latin typeface="Montserrat" panose="00000500000000000000" pitchFamily="2" charset="0"/>
              </a:rPr>
              <a:t>Conocer estos antecedentes resulta fundamental para identificar cómo evolucionaron las ideas de justicia, igualdad y libertad, así como los principales documentos e instituciones que contribuyeron a la consolidación de los derechos humanos en el ámbito nacional e internacional. Este análisis proporciona al estudiantado una perspectiva crítica sobre la importancia de los derechos humanos como fundamento del Estado constitucional de derecho y como instrumentos esenciales para la protección de la persona frente al ejercicio del poder.</a:t>
            </a:r>
          </a:p>
        </p:txBody>
      </p:sp>
      <p:sp>
        <p:nvSpPr>
          <p:cNvPr id="4" name="Título 1">
            <a:extLst>
              <a:ext uri="{FF2B5EF4-FFF2-40B4-BE49-F238E27FC236}">
                <a16:creationId xmlns:a16="http://schemas.microsoft.com/office/drawing/2014/main" id="{670442DD-6C0E-3F5F-1DE2-1F9A71EE9FE7}"/>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22773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ACFCCB-71AD-CA4F-335E-9336AA7EF730}"/>
              </a:ext>
            </a:extLst>
          </p:cNvPr>
          <p:cNvSpPr>
            <a:spLocks noGrp="1"/>
          </p:cNvSpPr>
          <p:nvPr>
            <p:ph type="title"/>
          </p:nvPr>
        </p:nvSpPr>
        <p:spPr>
          <a:xfrm>
            <a:off x="680545" y="753812"/>
            <a:ext cx="10930688" cy="974376"/>
          </a:xfrm>
        </p:spPr>
        <p:txBody>
          <a:bodyPr>
            <a:normAutofit/>
          </a:bodyPr>
          <a:lstStyle/>
          <a:p>
            <a:r>
              <a:rPr lang="es-ES" sz="3600" b="1" noProof="0" dirty="0">
                <a:solidFill>
                  <a:srgbClr val="245C4F"/>
                </a:solidFill>
                <a:latin typeface="Montserrat" pitchFamily="2" charset="77"/>
              </a:rPr>
              <a:t>1. Etapa Prehispánica </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5695B53D-DD4F-A1AA-9EFB-E896B07BBE44}"/>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3" name="CuadroTexto 12">
            <a:extLst>
              <a:ext uri="{FF2B5EF4-FFF2-40B4-BE49-F238E27FC236}">
                <a16:creationId xmlns:a16="http://schemas.microsoft.com/office/drawing/2014/main" id="{B7A70AC2-38A1-FDE9-573D-7F916DC6807C}"/>
              </a:ext>
            </a:extLst>
          </p:cNvPr>
          <p:cNvSpPr txBox="1"/>
          <p:nvPr/>
        </p:nvSpPr>
        <p:spPr>
          <a:xfrm>
            <a:off x="7046990" y="5260062"/>
            <a:ext cx="4925086" cy="400110"/>
          </a:xfrm>
          <a:prstGeom prst="rect">
            <a:avLst/>
          </a:prstGeom>
          <a:noFill/>
        </p:spPr>
        <p:txBody>
          <a:bodyPr wrap="square">
            <a:spAutoFit/>
          </a:bodyPr>
          <a:lstStyle/>
          <a:p>
            <a:r>
              <a:rPr lang="es-MX" sz="1000" dirty="0"/>
              <a:t>Centre </a:t>
            </a:r>
            <a:r>
              <a:rPr lang="es-MX" sz="1000" dirty="0" err="1"/>
              <a:t>for</a:t>
            </a:r>
            <a:r>
              <a:rPr lang="es-MX" sz="1000" dirty="0"/>
              <a:t> </a:t>
            </a:r>
            <a:r>
              <a:rPr lang="es-MX" sz="1000" dirty="0" err="1"/>
              <a:t>the</a:t>
            </a:r>
            <a:r>
              <a:rPr lang="es-MX" sz="1000" dirty="0"/>
              <a:t> Study </a:t>
            </a:r>
            <a:r>
              <a:rPr lang="es-MX" sz="1000" dirty="0" err="1"/>
              <a:t>of</a:t>
            </a:r>
            <a:r>
              <a:rPr lang="es-MX" sz="1000" dirty="0"/>
              <a:t> </a:t>
            </a:r>
            <a:r>
              <a:rPr lang="es-MX" sz="1000" dirty="0" err="1"/>
              <a:t>Manuscript</a:t>
            </a:r>
            <a:r>
              <a:rPr lang="es-MX" sz="1000" dirty="0"/>
              <a:t> Cultures. (s. f.). </a:t>
            </a:r>
            <a:r>
              <a:rPr lang="es-MX" sz="1000" i="1" dirty="0" err="1"/>
              <a:t>Manuscript</a:t>
            </a:r>
            <a:r>
              <a:rPr lang="es-MX" sz="1000" i="1" dirty="0"/>
              <a:t> </a:t>
            </a:r>
            <a:r>
              <a:rPr lang="es-MX" sz="1000" i="1" dirty="0" err="1"/>
              <a:t>of</a:t>
            </a:r>
            <a:r>
              <a:rPr lang="es-MX" sz="1000" i="1" dirty="0"/>
              <a:t> </a:t>
            </a:r>
            <a:r>
              <a:rPr lang="es-MX" sz="1000" i="1" dirty="0" err="1"/>
              <a:t>the</a:t>
            </a:r>
            <a:r>
              <a:rPr lang="es-MX" sz="1000" i="1" dirty="0"/>
              <a:t> </a:t>
            </a:r>
            <a:r>
              <a:rPr lang="es-MX" sz="1000" i="1" dirty="0" err="1"/>
              <a:t>Month</a:t>
            </a:r>
            <a:r>
              <a:rPr lang="es-MX" sz="1000" i="1" dirty="0"/>
              <a:t> No. 35</a:t>
            </a:r>
            <a:r>
              <a:rPr lang="es-MX" sz="1000" dirty="0"/>
              <a:t>. </a:t>
            </a:r>
            <a:r>
              <a:rPr lang="es-MX" sz="1000" dirty="0" err="1"/>
              <a:t>University</a:t>
            </a:r>
            <a:r>
              <a:rPr lang="es-MX" sz="1000" dirty="0"/>
              <a:t> </a:t>
            </a:r>
            <a:r>
              <a:rPr lang="es-MX" sz="1000" dirty="0" err="1"/>
              <a:t>of</a:t>
            </a:r>
            <a:r>
              <a:rPr lang="es-MX" sz="1000" dirty="0"/>
              <a:t> Hamburg. </a:t>
            </a:r>
            <a:r>
              <a:rPr lang="es-MX" sz="1000" dirty="0">
                <a:hlinkClick r:id="rId4"/>
              </a:rPr>
              <a:t>Centre </a:t>
            </a:r>
            <a:r>
              <a:rPr lang="es-MX" sz="1000" dirty="0" err="1">
                <a:hlinkClick r:id="rId4"/>
              </a:rPr>
              <a:t>for</a:t>
            </a:r>
            <a:r>
              <a:rPr lang="es-MX" sz="1000" dirty="0">
                <a:hlinkClick r:id="rId4"/>
              </a:rPr>
              <a:t> </a:t>
            </a:r>
            <a:r>
              <a:rPr lang="es-MX" sz="1000" dirty="0" err="1">
                <a:hlinkClick r:id="rId4"/>
              </a:rPr>
              <a:t>the</a:t>
            </a:r>
            <a:r>
              <a:rPr lang="es-MX" sz="1000" dirty="0">
                <a:hlinkClick r:id="rId4"/>
              </a:rPr>
              <a:t> Study </a:t>
            </a:r>
            <a:r>
              <a:rPr lang="es-MX" sz="1000" dirty="0" err="1">
                <a:hlinkClick r:id="rId4"/>
              </a:rPr>
              <a:t>of</a:t>
            </a:r>
            <a:r>
              <a:rPr lang="es-MX" sz="1000" dirty="0">
                <a:hlinkClick r:id="rId4"/>
              </a:rPr>
              <a:t> </a:t>
            </a:r>
            <a:r>
              <a:rPr lang="es-MX" sz="1000" dirty="0" err="1">
                <a:hlinkClick r:id="rId4"/>
              </a:rPr>
              <a:t>Manuscript</a:t>
            </a:r>
            <a:r>
              <a:rPr lang="es-MX" sz="1000" dirty="0">
                <a:hlinkClick r:id="rId4"/>
              </a:rPr>
              <a:t> Cultures</a:t>
            </a:r>
            <a:endParaRPr lang="es-MX" sz="1000" dirty="0"/>
          </a:p>
        </p:txBody>
      </p:sp>
      <p:pic>
        <p:nvPicPr>
          <p:cNvPr id="16" name="Imagen 15">
            <a:extLst>
              <a:ext uri="{FF2B5EF4-FFF2-40B4-BE49-F238E27FC236}">
                <a16:creationId xmlns:a16="http://schemas.microsoft.com/office/drawing/2014/main" id="{B2C1B83E-7E48-4C42-2866-B83347A2790C}"/>
              </a:ext>
            </a:extLst>
          </p:cNvPr>
          <p:cNvPicPr>
            <a:picLocks noChangeAspect="1"/>
          </p:cNvPicPr>
          <p:nvPr/>
        </p:nvPicPr>
        <p:blipFill>
          <a:blip r:embed="rId5"/>
          <a:srcRect t="29196"/>
          <a:stretch>
            <a:fillRect/>
          </a:stretch>
        </p:blipFill>
        <p:spPr>
          <a:xfrm>
            <a:off x="7093389" y="1019392"/>
            <a:ext cx="4832288" cy="4105747"/>
          </a:xfrm>
          <a:prstGeom prst="rect">
            <a:avLst/>
          </a:prstGeom>
        </p:spPr>
      </p:pic>
      <p:sp>
        <p:nvSpPr>
          <p:cNvPr id="18" name="CuadroTexto 17">
            <a:extLst>
              <a:ext uri="{FF2B5EF4-FFF2-40B4-BE49-F238E27FC236}">
                <a16:creationId xmlns:a16="http://schemas.microsoft.com/office/drawing/2014/main" id="{11E271D0-F79A-90FA-6FEA-A5E1C5DCDFC8}"/>
              </a:ext>
            </a:extLst>
          </p:cNvPr>
          <p:cNvSpPr txBox="1"/>
          <p:nvPr/>
        </p:nvSpPr>
        <p:spPr>
          <a:xfrm>
            <a:off x="680545" y="1927799"/>
            <a:ext cx="6143907" cy="3416320"/>
          </a:xfrm>
          <a:prstGeom prst="rect">
            <a:avLst/>
          </a:prstGeom>
          <a:noFill/>
        </p:spPr>
        <p:txBody>
          <a:bodyPr wrap="square">
            <a:spAutoFit/>
          </a:bodyPr>
          <a:lstStyle/>
          <a:p>
            <a:pPr>
              <a:buNone/>
            </a:pPr>
            <a:r>
              <a:rPr lang="es-MX" sz="2400" b="1" dirty="0">
                <a:latin typeface="Montserrat" panose="00000500000000000000" pitchFamily="2" charset="0"/>
              </a:rPr>
              <a:t>Los primeros antecedentes sociales</a:t>
            </a:r>
          </a:p>
          <a:p>
            <a:pPr marL="342900" lvl="0" indent="-342900">
              <a:buFont typeface="Wingdings" panose="05000000000000000000" pitchFamily="2" charset="2"/>
              <a:buChar char="Ø"/>
            </a:pPr>
            <a:r>
              <a:rPr lang="es-MX" sz="2400" dirty="0">
                <a:latin typeface="Montserrat" panose="00000500000000000000" pitchFamily="2" charset="0"/>
              </a:rPr>
              <a:t>Organización en pueblos y señoríos. </a:t>
            </a:r>
          </a:p>
          <a:p>
            <a:pPr marL="342900" lvl="0" indent="-342900">
              <a:buFont typeface="Wingdings" panose="05000000000000000000" pitchFamily="2" charset="2"/>
              <a:buChar char="Ø"/>
            </a:pPr>
            <a:r>
              <a:rPr lang="es-MX" sz="2400" dirty="0">
                <a:latin typeface="Montserrat" panose="00000500000000000000" pitchFamily="2" charset="0"/>
              </a:rPr>
              <a:t>Existencia de normas consuetudinarias. </a:t>
            </a:r>
          </a:p>
          <a:p>
            <a:pPr marL="342900" lvl="0" indent="-342900">
              <a:buFont typeface="Wingdings" panose="05000000000000000000" pitchFamily="2" charset="2"/>
              <a:buChar char="Ø"/>
            </a:pPr>
            <a:r>
              <a:rPr lang="es-MX" sz="2400" dirty="0">
                <a:latin typeface="Montserrat" panose="00000500000000000000" pitchFamily="2" charset="0"/>
              </a:rPr>
              <a:t>Sociedad jerarquizada. </a:t>
            </a:r>
          </a:p>
          <a:p>
            <a:pPr marL="342900" lvl="0" indent="-342900">
              <a:buFont typeface="Wingdings" panose="05000000000000000000" pitchFamily="2" charset="2"/>
              <a:buChar char="Ø"/>
            </a:pPr>
            <a:r>
              <a:rPr lang="es-MX" sz="2400" dirty="0">
                <a:latin typeface="Montserrat" panose="00000500000000000000" pitchFamily="2" charset="0"/>
              </a:rPr>
              <a:t>Predominio de deberes sobre derechos. </a:t>
            </a:r>
          </a:p>
          <a:p>
            <a:pPr marL="342900" lvl="0" indent="-342900">
              <a:buFont typeface="Wingdings" panose="05000000000000000000" pitchFamily="2" charset="2"/>
              <a:buChar char="Ø"/>
            </a:pPr>
            <a:r>
              <a:rPr lang="es-MX" sz="2400" dirty="0">
                <a:latin typeface="Montserrat" panose="00000500000000000000" pitchFamily="2" charset="0"/>
              </a:rPr>
              <a:t>La autoridad protegía el orden colectivo. </a:t>
            </a:r>
          </a:p>
        </p:txBody>
      </p:sp>
    </p:spTree>
    <p:extLst>
      <p:ext uri="{BB962C8B-B14F-4D97-AF65-F5344CB8AC3E}">
        <p14:creationId xmlns:p14="http://schemas.microsoft.com/office/powerpoint/2010/main" val="323349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BBEAD45-FAFB-ADD9-BDCA-74BCB79C71F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D08B3C8-A7CE-8D1D-5365-3D00AEE6F299}"/>
              </a:ext>
            </a:extLst>
          </p:cNvPr>
          <p:cNvSpPr>
            <a:spLocks noGrp="1"/>
          </p:cNvSpPr>
          <p:nvPr>
            <p:ph type="title"/>
          </p:nvPr>
        </p:nvSpPr>
        <p:spPr>
          <a:xfrm>
            <a:off x="680545" y="753812"/>
            <a:ext cx="10930688" cy="974376"/>
          </a:xfrm>
        </p:spPr>
        <p:txBody>
          <a:bodyPr>
            <a:normAutofit/>
          </a:bodyPr>
          <a:lstStyle/>
          <a:p>
            <a:r>
              <a:rPr lang="es-ES" sz="3600" b="1" noProof="0" dirty="0">
                <a:solidFill>
                  <a:srgbClr val="245C4F"/>
                </a:solidFill>
                <a:latin typeface="Montserrat" pitchFamily="2" charset="77"/>
              </a:rPr>
              <a:t>1. Etapa Prehispánica </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888ECF63-5D01-6CBA-0281-11FC31F33E6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3" name="CuadroTexto 12">
            <a:extLst>
              <a:ext uri="{FF2B5EF4-FFF2-40B4-BE49-F238E27FC236}">
                <a16:creationId xmlns:a16="http://schemas.microsoft.com/office/drawing/2014/main" id="{4823E498-CAD3-7DD6-5D65-EBBCE761A5C5}"/>
              </a:ext>
            </a:extLst>
          </p:cNvPr>
          <p:cNvSpPr txBox="1"/>
          <p:nvPr/>
        </p:nvSpPr>
        <p:spPr>
          <a:xfrm>
            <a:off x="582816" y="5129813"/>
            <a:ext cx="4925086" cy="553998"/>
          </a:xfrm>
          <a:prstGeom prst="rect">
            <a:avLst/>
          </a:prstGeom>
          <a:noFill/>
        </p:spPr>
        <p:txBody>
          <a:bodyPr wrap="square">
            <a:spAutoFit/>
          </a:bodyPr>
          <a:lstStyle/>
          <a:p>
            <a:r>
              <a:rPr lang="es-MX" sz="1000" dirty="0">
                <a:latin typeface="Montserrat" panose="00000500000000000000" pitchFamily="2" charset="0"/>
              </a:rPr>
              <a:t>Centre </a:t>
            </a:r>
            <a:r>
              <a:rPr lang="es-MX" sz="1000" dirty="0" err="1">
                <a:latin typeface="Montserrat" panose="00000500000000000000" pitchFamily="2" charset="0"/>
              </a:rPr>
              <a:t>for</a:t>
            </a:r>
            <a:r>
              <a:rPr lang="es-MX" sz="1000" dirty="0">
                <a:latin typeface="Montserrat" panose="00000500000000000000" pitchFamily="2" charset="0"/>
              </a:rPr>
              <a:t> </a:t>
            </a:r>
            <a:r>
              <a:rPr lang="es-MX" sz="1000" dirty="0" err="1">
                <a:latin typeface="Montserrat" panose="00000500000000000000" pitchFamily="2" charset="0"/>
              </a:rPr>
              <a:t>the</a:t>
            </a:r>
            <a:r>
              <a:rPr lang="es-MX" sz="1000" dirty="0">
                <a:latin typeface="Montserrat" panose="00000500000000000000" pitchFamily="2" charset="0"/>
              </a:rPr>
              <a:t> Study </a:t>
            </a:r>
            <a:r>
              <a:rPr lang="es-MX" sz="1000" dirty="0" err="1">
                <a:latin typeface="Montserrat" panose="00000500000000000000" pitchFamily="2" charset="0"/>
              </a:rPr>
              <a:t>of</a:t>
            </a:r>
            <a:r>
              <a:rPr lang="es-MX" sz="1000" dirty="0">
                <a:latin typeface="Montserrat" panose="00000500000000000000" pitchFamily="2" charset="0"/>
              </a:rPr>
              <a:t> </a:t>
            </a:r>
            <a:r>
              <a:rPr lang="es-MX" sz="1000" dirty="0" err="1">
                <a:latin typeface="Montserrat" panose="00000500000000000000" pitchFamily="2" charset="0"/>
              </a:rPr>
              <a:t>Manuscript</a:t>
            </a:r>
            <a:r>
              <a:rPr lang="es-MX" sz="1000" dirty="0">
                <a:latin typeface="Montserrat" panose="00000500000000000000" pitchFamily="2" charset="0"/>
              </a:rPr>
              <a:t> Cultures. (s. f.). </a:t>
            </a:r>
            <a:r>
              <a:rPr lang="es-MX" sz="1000" i="1" dirty="0" err="1">
                <a:latin typeface="Montserrat" panose="00000500000000000000" pitchFamily="2" charset="0"/>
              </a:rPr>
              <a:t>Manuscript</a:t>
            </a:r>
            <a:r>
              <a:rPr lang="es-MX" sz="1000" i="1" dirty="0">
                <a:latin typeface="Montserrat" panose="00000500000000000000" pitchFamily="2" charset="0"/>
              </a:rPr>
              <a:t> </a:t>
            </a:r>
            <a:r>
              <a:rPr lang="es-MX" sz="1000" i="1" dirty="0" err="1">
                <a:latin typeface="Montserrat" panose="00000500000000000000" pitchFamily="2" charset="0"/>
              </a:rPr>
              <a:t>of</a:t>
            </a:r>
            <a:r>
              <a:rPr lang="es-MX" sz="1000" i="1" dirty="0">
                <a:latin typeface="Montserrat" panose="00000500000000000000" pitchFamily="2" charset="0"/>
              </a:rPr>
              <a:t> </a:t>
            </a:r>
            <a:r>
              <a:rPr lang="es-MX" sz="1000" i="1" dirty="0" err="1">
                <a:latin typeface="Montserrat" panose="00000500000000000000" pitchFamily="2" charset="0"/>
              </a:rPr>
              <a:t>the</a:t>
            </a:r>
            <a:r>
              <a:rPr lang="es-MX" sz="1000" i="1" dirty="0">
                <a:latin typeface="Montserrat" panose="00000500000000000000" pitchFamily="2" charset="0"/>
              </a:rPr>
              <a:t> </a:t>
            </a:r>
            <a:r>
              <a:rPr lang="es-MX" sz="1000" i="1" dirty="0" err="1">
                <a:latin typeface="Montserrat" panose="00000500000000000000" pitchFamily="2" charset="0"/>
              </a:rPr>
              <a:t>Month</a:t>
            </a:r>
            <a:r>
              <a:rPr lang="es-MX" sz="1000" i="1" dirty="0">
                <a:latin typeface="Montserrat" panose="00000500000000000000" pitchFamily="2" charset="0"/>
              </a:rPr>
              <a:t> No. 35</a:t>
            </a:r>
            <a:r>
              <a:rPr lang="es-MX" sz="1000" dirty="0">
                <a:latin typeface="Montserrat" panose="00000500000000000000" pitchFamily="2" charset="0"/>
              </a:rPr>
              <a:t>. </a:t>
            </a:r>
            <a:r>
              <a:rPr lang="es-MX" sz="1000" dirty="0" err="1">
                <a:latin typeface="Montserrat" panose="00000500000000000000" pitchFamily="2" charset="0"/>
              </a:rPr>
              <a:t>University</a:t>
            </a:r>
            <a:r>
              <a:rPr lang="es-MX" sz="1000" dirty="0">
                <a:latin typeface="Montserrat" panose="00000500000000000000" pitchFamily="2" charset="0"/>
              </a:rPr>
              <a:t> </a:t>
            </a:r>
            <a:r>
              <a:rPr lang="es-MX" sz="1000" dirty="0" err="1">
                <a:latin typeface="Montserrat" panose="00000500000000000000" pitchFamily="2" charset="0"/>
              </a:rPr>
              <a:t>of</a:t>
            </a:r>
            <a:r>
              <a:rPr lang="es-MX" sz="1000" dirty="0">
                <a:latin typeface="Montserrat" panose="00000500000000000000" pitchFamily="2" charset="0"/>
              </a:rPr>
              <a:t> Hamburg. </a:t>
            </a:r>
            <a:r>
              <a:rPr lang="es-MX" sz="1000" dirty="0">
                <a:latin typeface="Montserrat" panose="00000500000000000000" pitchFamily="2" charset="0"/>
                <a:hlinkClick r:id="rId4"/>
              </a:rPr>
              <a:t>Centre </a:t>
            </a:r>
            <a:r>
              <a:rPr lang="es-MX" sz="1000" dirty="0" err="1">
                <a:latin typeface="Montserrat" panose="00000500000000000000" pitchFamily="2" charset="0"/>
                <a:hlinkClick r:id="rId4"/>
              </a:rPr>
              <a:t>for</a:t>
            </a:r>
            <a:r>
              <a:rPr lang="es-MX" sz="1000" dirty="0">
                <a:latin typeface="Montserrat" panose="00000500000000000000" pitchFamily="2" charset="0"/>
                <a:hlinkClick r:id="rId4"/>
              </a:rPr>
              <a:t> </a:t>
            </a:r>
            <a:r>
              <a:rPr lang="es-MX" sz="1000" dirty="0" err="1">
                <a:latin typeface="Montserrat" panose="00000500000000000000" pitchFamily="2" charset="0"/>
                <a:hlinkClick r:id="rId4"/>
              </a:rPr>
              <a:t>the</a:t>
            </a:r>
            <a:r>
              <a:rPr lang="es-MX" sz="1000" dirty="0">
                <a:latin typeface="Montserrat" panose="00000500000000000000" pitchFamily="2" charset="0"/>
                <a:hlinkClick r:id="rId4"/>
              </a:rPr>
              <a:t> Study </a:t>
            </a:r>
            <a:r>
              <a:rPr lang="es-MX" sz="1000" dirty="0" err="1">
                <a:latin typeface="Montserrat" panose="00000500000000000000" pitchFamily="2" charset="0"/>
                <a:hlinkClick r:id="rId4"/>
              </a:rPr>
              <a:t>of</a:t>
            </a:r>
            <a:r>
              <a:rPr lang="es-MX" sz="1000" dirty="0">
                <a:latin typeface="Montserrat" panose="00000500000000000000" pitchFamily="2" charset="0"/>
                <a:hlinkClick r:id="rId4"/>
              </a:rPr>
              <a:t> </a:t>
            </a:r>
            <a:r>
              <a:rPr lang="es-MX" sz="1000" dirty="0" err="1">
                <a:latin typeface="Montserrat" panose="00000500000000000000" pitchFamily="2" charset="0"/>
                <a:hlinkClick r:id="rId4"/>
              </a:rPr>
              <a:t>Manuscript</a:t>
            </a:r>
            <a:r>
              <a:rPr lang="es-MX" sz="1000" dirty="0">
                <a:latin typeface="Montserrat" panose="00000500000000000000" pitchFamily="2" charset="0"/>
                <a:hlinkClick r:id="rId4"/>
              </a:rPr>
              <a:t> Cultures</a:t>
            </a:r>
            <a:endParaRPr lang="es-MX" sz="1000" dirty="0">
              <a:latin typeface="Montserrat" panose="00000500000000000000" pitchFamily="2" charset="0"/>
            </a:endParaRPr>
          </a:p>
        </p:txBody>
      </p:sp>
      <p:pic>
        <p:nvPicPr>
          <p:cNvPr id="16" name="Imagen 15">
            <a:extLst>
              <a:ext uri="{FF2B5EF4-FFF2-40B4-BE49-F238E27FC236}">
                <a16:creationId xmlns:a16="http://schemas.microsoft.com/office/drawing/2014/main" id="{483FDE46-692A-4B19-914B-AEA8375B8629}"/>
              </a:ext>
            </a:extLst>
          </p:cNvPr>
          <p:cNvPicPr>
            <a:picLocks noChangeAspect="1"/>
          </p:cNvPicPr>
          <p:nvPr/>
        </p:nvPicPr>
        <p:blipFill>
          <a:blip r:embed="rId5"/>
          <a:srcRect t="29196"/>
          <a:stretch>
            <a:fillRect/>
          </a:stretch>
        </p:blipFill>
        <p:spPr>
          <a:xfrm>
            <a:off x="787651" y="1490137"/>
            <a:ext cx="4118409" cy="3499201"/>
          </a:xfrm>
          <a:prstGeom prst="rect">
            <a:avLst/>
          </a:prstGeom>
        </p:spPr>
      </p:pic>
      <p:sp>
        <p:nvSpPr>
          <p:cNvPr id="3" name="CuadroTexto 2">
            <a:extLst>
              <a:ext uri="{FF2B5EF4-FFF2-40B4-BE49-F238E27FC236}">
                <a16:creationId xmlns:a16="http://schemas.microsoft.com/office/drawing/2014/main" id="{A8A2FEF7-3233-C088-81EA-1E77F7CF04E7}"/>
              </a:ext>
            </a:extLst>
          </p:cNvPr>
          <p:cNvSpPr txBox="1"/>
          <p:nvPr/>
        </p:nvSpPr>
        <p:spPr>
          <a:xfrm>
            <a:off x="5692367" y="1386390"/>
            <a:ext cx="6097508" cy="3754874"/>
          </a:xfrm>
          <a:prstGeom prst="rect">
            <a:avLst/>
          </a:prstGeom>
          <a:noFill/>
        </p:spPr>
        <p:txBody>
          <a:bodyPr wrap="square">
            <a:spAutoFit/>
          </a:bodyPr>
          <a:lstStyle/>
          <a:p>
            <a:pPr algn="just">
              <a:buNone/>
            </a:pPr>
            <a:r>
              <a:rPr lang="es-MX" sz="1400" dirty="0">
                <a:latin typeface="Montserrat" panose="00000500000000000000" pitchFamily="2" charset="0"/>
              </a:rPr>
              <a:t>Las sociedades prehispánicas desarrollaron sistemas normativos propios que regulaban la convivencia, la familia, la propiedad y la organización comunitaria. Aunque no existía un concepto moderno de derechos humanos, estas culturas establecieron mecanismos de protección colectiva y principios relacionados con el orden social.</a:t>
            </a:r>
          </a:p>
          <a:p>
            <a:pPr algn="just">
              <a:buNone/>
            </a:pPr>
            <a:r>
              <a:rPr lang="es-MX" sz="1400" dirty="0">
                <a:latin typeface="Montserrat" panose="00000500000000000000" pitchFamily="2" charset="0"/>
              </a:rPr>
              <a:t>Sin embargo, la estructura jerárquica de estas sociedades generaba diferencias entre grupos sociales, debido a que los derechos y obligaciones dependían de la posición que cada persona ocupaba dentro de la comunidad.</a:t>
            </a:r>
          </a:p>
          <a:p>
            <a:pPr>
              <a:buNone/>
            </a:pPr>
            <a:endParaRPr lang="es-MX" sz="1400" dirty="0">
              <a:latin typeface="Montserrat" panose="00000500000000000000" pitchFamily="2" charset="0"/>
            </a:endParaRPr>
          </a:p>
          <a:p>
            <a:pPr>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Representa un antecedente de la construcción social del derecho, donde la protección de la comunidad y la regulación de la convivencia fueron elementos fundamentales para el desarrollo posterior de los sistemas jurídicos.</a:t>
            </a:r>
          </a:p>
        </p:txBody>
      </p:sp>
    </p:spTree>
    <p:extLst>
      <p:ext uri="{BB962C8B-B14F-4D97-AF65-F5344CB8AC3E}">
        <p14:creationId xmlns:p14="http://schemas.microsoft.com/office/powerpoint/2010/main" val="2790761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446A75E-4A40-984B-EDFF-5296DEBE337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BBAB4D91-353F-5A41-950A-6EDC3E0C4C98}"/>
              </a:ext>
            </a:extLst>
          </p:cNvPr>
          <p:cNvSpPr>
            <a:spLocks noGrp="1"/>
          </p:cNvSpPr>
          <p:nvPr>
            <p:ph type="title"/>
          </p:nvPr>
        </p:nvSpPr>
        <p:spPr>
          <a:xfrm>
            <a:off x="680545" y="753812"/>
            <a:ext cx="10930688" cy="974376"/>
          </a:xfrm>
        </p:spPr>
        <p:txBody>
          <a:bodyPr>
            <a:normAutofit/>
          </a:bodyPr>
          <a:lstStyle/>
          <a:p>
            <a:r>
              <a:rPr lang="es-ES" sz="3600" b="1" dirty="0">
                <a:solidFill>
                  <a:srgbClr val="245C4F"/>
                </a:solidFill>
                <a:latin typeface="Montserrat" pitchFamily="2" charset="77"/>
              </a:rPr>
              <a:t>2</a:t>
            </a:r>
            <a:r>
              <a:rPr lang="es-ES" sz="3600" b="1" noProof="0" dirty="0">
                <a:solidFill>
                  <a:srgbClr val="245C4F"/>
                </a:solidFill>
                <a:latin typeface="Montserrat" pitchFamily="2" charset="77"/>
              </a:rPr>
              <a:t>. La Nueva España</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B028BB5B-AD3D-A6E9-71EA-AC0F101D104E}"/>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9" name="CuadroTexto 8">
            <a:extLst>
              <a:ext uri="{FF2B5EF4-FFF2-40B4-BE49-F238E27FC236}">
                <a16:creationId xmlns:a16="http://schemas.microsoft.com/office/drawing/2014/main" id="{C6F89C51-97BE-A177-5ED1-607F10D4BF60}"/>
              </a:ext>
            </a:extLst>
          </p:cNvPr>
          <p:cNvSpPr txBox="1"/>
          <p:nvPr/>
        </p:nvSpPr>
        <p:spPr>
          <a:xfrm>
            <a:off x="903083" y="1973421"/>
            <a:ext cx="5524877" cy="2677656"/>
          </a:xfrm>
          <a:prstGeom prst="rect">
            <a:avLst/>
          </a:prstGeom>
          <a:noFill/>
        </p:spPr>
        <p:txBody>
          <a:bodyPr wrap="square">
            <a:spAutoFit/>
          </a:bodyPr>
          <a:lstStyle/>
          <a:p>
            <a:pPr algn="just">
              <a:buNone/>
            </a:pPr>
            <a:r>
              <a:rPr lang="es-MX" sz="2400" b="1" dirty="0">
                <a:latin typeface="Montserrat" panose="00000500000000000000" pitchFamily="2" charset="0"/>
              </a:rPr>
              <a:t>Desigualdad y sistema colonial (1521-1810)</a:t>
            </a:r>
          </a:p>
          <a:p>
            <a:pPr marL="342900" lvl="0" indent="-342900" algn="just">
              <a:buFont typeface="Wingdings" panose="05000000000000000000" pitchFamily="2" charset="2"/>
              <a:buChar char="Ø"/>
            </a:pPr>
            <a:r>
              <a:rPr lang="es-MX" sz="2400" dirty="0">
                <a:latin typeface="Montserrat" panose="00000500000000000000" pitchFamily="2" charset="0"/>
              </a:rPr>
              <a:t>Conquista española. </a:t>
            </a:r>
          </a:p>
          <a:p>
            <a:pPr marL="342900" lvl="0" indent="-342900" algn="just">
              <a:buFont typeface="Wingdings" panose="05000000000000000000" pitchFamily="2" charset="2"/>
              <a:buChar char="Ø"/>
            </a:pPr>
            <a:r>
              <a:rPr lang="es-MX" sz="2400" dirty="0">
                <a:latin typeface="Montserrat" panose="00000500000000000000" pitchFamily="2" charset="0"/>
              </a:rPr>
              <a:t>Sistema de castas. </a:t>
            </a:r>
          </a:p>
          <a:p>
            <a:pPr marL="342900" lvl="0" indent="-342900" algn="just">
              <a:buFont typeface="Wingdings" panose="05000000000000000000" pitchFamily="2" charset="2"/>
              <a:buChar char="Ø"/>
            </a:pPr>
            <a:r>
              <a:rPr lang="es-MX" sz="2400" dirty="0">
                <a:latin typeface="Montserrat" panose="00000500000000000000" pitchFamily="2" charset="0"/>
              </a:rPr>
              <a:t>Encomienda y repartimiento. </a:t>
            </a:r>
          </a:p>
          <a:p>
            <a:pPr marL="342900" lvl="0" indent="-342900" algn="just">
              <a:buFont typeface="Wingdings" panose="05000000000000000000" pitchFamily="2" charset="2"/>
              <a:buChar char="Ø"/>
            </a:pPr>
            <a:r>
              <a:rPr lang="es-MX" sz="2400" dirty="0">
                <a:latin typeface="Montserrat" panose="00000500000000000000" pitchFamily="2" charset="0"/>
              </a:rPr>
              <a:t>Evangelización. </a:t>
            </a:r>
          </a:p>
          <a:p>
            <a:pPr marL="342900" lvl="0" indent="-342900" algn="just">
              <a:buFont typeface="Wingdings" panose="05000000000000000000" pitchFamily="2" charset="2"/>
              <a:buChar char="Ø"/>
            </a:pPr>
            <a:r>
              <a:rPr lang="es-MX" sz="2400" dirty="0">
                <a:latin typeface="Montserrat" panose="00000500000000000000" pitchFamily="2" charset="0"/>
              </a:rPr>
              <a:t>Desigualdad jurídica </a:t>
            </a:r>
          </a:p>
        </p:txBody>
      </p:sp>
      <p:pic>
        <p:nvPicPr>
          <p:cNvPr id="3" name="Imagen 2">
            <a:extLst>
              <a:ext uri="{FF2B5EF4-FFF2-40B4-BE49-F238E27FC236}">
                <a16:creationId xmlns:a16="http://schemas.microsoft.com/office/drawing/2014/main" id="{2F031413-CFF7-6B5E-F0EF-E29D6F7AF7CE}"/>
              </a:ext>
            </a:extLst>
          </p:cNvPr>
          <p:cNvPicPr>
            <a:picLocks noChangeAspect="1"/>
          </p:cNvPicPr>
          <p:nvPr/>
        </p:nvPicPr>
        <p:blipFill>
          <a:blip r:embed="rId4"/>
          <a:srcRect t="36786"/>
          <a:stretch>
            <a:fillRect/>
          </a:stretch>
        </p:blipFill>
        <p:spPr>
          <a:xfrm>
            <a:off x="7329980" y="1084854"/>
            <a:ext cx="4181475" cy="3781310"/>
          </a:xfrm>
          <a:prstGeom prst="rect">
            <a:avLst/>
          </a:prstGeom>
        </p:spPr>
      </p:pic>
      <p:sp>
        <p:nvSpPr>
          <p:cNvPr id="7" name="CuadroTexto 6">
            <a:extLst>
              <a:ext uri="{FF2B5EF4-FFF2-40B4-BE49-F238E27FC236}">
                <a16:creationId xmlns:a16="http://schemas.microsoft.com/office/drawing/2014/main" id="{3CD802E3-A510-77AF-9CEE-CB9DDCE43A0A}"/>
              </a:ext>
            </a:extLst>
          </p:cNvPr>
          <p:cNvSpPr txBox="1"/>
          <p:nvPr/>
        </p:nvSpPr>
        <p:spPr>
          <a:xfrm>
            <a:off x="7170344" y="5118694"/>
            <a:ext cx="4773439" cy="707886"/>
          </a:xfrm>
          <a:prstGeom prst="rect">
            <a:avLst/>
          </a:prstGeom>
          <a:noFill/>
        </p:spPr>
        <p:txBody>
          <a:bodyPr wrap="square">
            <a:spAutoFit/>
          </a:bodyPr>
          <a:lstStyle/>
          <a:p>
            <a:r>
              <a:rPr lang="es-MX" sz="1000" dirty="0">
                <a:latin typeface="Montserrat" panose="00000500000000000000" pitchFamily="2" charset="0"/>
              </a:rPr>
              <a:t>Sesé, T., &amp; Barranco, J. (2022, 4 de diciembre). </a:t>
            </a:r>
            <a:r>
              <a:rPr lang="es-MX" sz="1000" i="1" dirty="0">
                <a:latin typeface="Montserrat" panose="00000500000000000000" pitchFamily="2" charset="0"/>
              </a:rPr>
              <a:t>La descolonización de los museos españoles desata una guerra cultural</a:t>
            </a:r>
            <a:r>
              <a:rPr lang="es-MX" sz="1000" dirty="0">
                <a:latin typeface="Montserrat" panose="00000500000000000000" pitchFamily="2" charset="0"/>
              </a:rPr>
              <a:t>. La Vanguardia. </a:t>
            </a:r>
            <a:r>
              <a:rPr lang="es-MX" sz="1000" dirty="0">
                <a:latin typeface="Montserrat" panose="00000500000000000000" pitchFamily="2" charset="0"/>
                <a:hlinkClick r:id="rId5"/>
              </a:rPr>
              <a:t>https://www.lavanguardia.com/cultura/20221204/8633247/guerra-descolonizacion-museos-espanoles-debate.html</a:t>
            </a:r>
            <a:endParaRPr lang="es-MX" sz="1000" dirty="0">
              <a:latin typeface="Montserrat" panose="00000500000000000000" pitchFamily="2" charset="0"/>
            </a:endParaRPr>
          </a:p>
        </p:txBody>
      </p:sp>
    </p:spTree>
    <p:extLst>
      <p:ext uri="{BB962C8B-B14F-4D97-AF65-F5344CB8AC3E}">
        <p14:creationId xmlns:p14="http://schemas.microsoft.com/office/powerpoint/2010/main" val="181147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1617886-08D8-F504-9533-0A983A250137}"/>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5317E37-B93A-9E69-45B8-A0EAC4758838}"/>
              </a:ext>
            </a:extLst>
          </p:cNvPr>
          <p:cNvSpPr>
            <a:spLocks noGrp="1"/>
          </p:cNvSpPr>
          <p:nvPr>
            <p:ph type="title"/>
          </p:nvPr>
        </p:nvSpPr>
        <p:spPr>
          <a:xfrm>
            <a:off x="680545" y="753812"/>
            <a:ext cx="10930688" cy="974376"/>
          </a:xfrm>
        </p:spPr>
        <p:txBody>
          <a:bodyPr>
            <a:normAutofit/>
          </a:bodyPr>
          <a:lstStyle/>
          <a:p>
            <a:r>
              <a:rPr lang="es-ES" sz="3600" b="1" dirty="0">
                <a:solidFill>
                  <a:srgbClr val="245C4F"/>
                </a:solidFill>
                <a:latin typeface="Montserrat" pitchFamily="2" charset="77"/>
              </a:rPr>
              <a:t>2</a:t>
            </a:r>
            <a:r>
              <a:rPr lang="es-ES" sz="3600" b="1" noProof="0" dirty="0">
                <a:solidFill>
                  <a:srgbClr val="245C4F"/>
                </a:solidFill>
                <a:latin typeface="Montserrat" pitchFamily="2" charset="77"/>
              </a:rPr>
              <a:t>. La Nueva España</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188FADCD-62A7-EE13-4B79-B0BE3ED2DB8B}"/>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pic>
        <p:nvPicPr>
          <p:cNvPr id="3" name="Imagen 2">
            <a:extLst>
              <a:ext uri="{FF2B5EF4-FFF2-40B4-BE49-F238E27FC236}">
                <a16:creationId xmlns:a16="http://schemas.microsoft.com/office/drawing/2014/main" id="{70130E95-A949-27B1-B3CD-41E1F53193BA}"/>
              </a:ext>
            </a:extLst>
          </p:cNvPr>
          <p:cNvPicPr>
            <a:picLocks noChangeAspect="1"/>
          </p:cNvPicPr>
          <p:nvPr/>
        </p:nvPicPr>
        <p:blipFill>
          <a:blip r:embed="rId4"/>
          <a:srcRect t="36786"/>
          <a:stretch>
            <a:fillRect/>
          </a:stretch>
        </p:blipFill>
        <p:spPr>
          <a:xfrm>
            <a:off x="680545" y="1538345"/>
            <a:ext cx="4181475" cy="3781310"/>
          </a:xfrm>
          <a:prstGeom prst="rect">
            <a:avLst/>
          </a:prstGeom>
        </p:spPr>
      </p:pic>
      <p:sp>
        <p:nvSpPr>
          <p:cNvPr id="7" name="CuadroTexto 6">
            <a:extLst>
              <a:ext uri="{FF2B5EF4-FFF2-40B4-BE49-F238E27FC236}">
                <a16:creationId xmlns:a16="http://schemas.microsoft.com/office/drawing/2014/main" id="{8135D2AB-34B3-1179-1B58-CCED650820F2}"/>
              </a:ext>
            </a:extLst>
          </p:cNvPr>
          <p:cNvSpPr txBox="1"/>
          <p:nvPr/>
        </p:nvSpPr>
        <p:spPr>
          <a:xfrm>
            <a:off x="579421" y="5396302"/>
            <a:ext cx="4773439" cy="707886"/>
          </a:xfrm>
          <a:prstGeom prst="rect">
            <a:avLst/>
          </a:prstGeom>
          <a:noFill/>
        </p:spPr>
        <p:txBody>
          <a:bodyPr wrap="square">
            <a:spAutoFit/>
          </a:bodyPr>
          <a:lstStyle/>
          <a:p>
            <a:r>
              <a:rPr lang="es-MX" sz="1000" dirty="0">
                <a:latin typeface="Montserrat" panose="00000500000000000000" pitchFamily="2" charset="0"/>
              </a:rPr>
              <a:t>Sesé, T., &amp; Barranco, J. (2022, 4 de diciembre). </a:t>
            </a:r>
            <a:r>
              <a:rPr lang="es-MX" sz="1000" i="1" dirty="0">
                <a:latin typeface="Montserrat" panose="00000500000000000000" pitchFamily="2" charset="0"/>
              </a:rPr>
              <a:t>La descolonización de los museos españoles desata una guerra cultural</a:t>
            </a:r>
            <a:r>
              <a:rPr lang="es-MX" sz="1000" dirty="0">
                <a:latin typeface="Montserrat" panose="00000500000000000000" pitchFamily="2" charset="0"/>
              </a:rPr>
              <a:t>. La Vanguardia. </a:t>
            </a:r>
            <a:r>
              <a:rPr lang="es-MX" sz="1000" dirty="0">
                <a:latin typeface="Montserrat" panose="00000500000000000000" pitchFamily="2" charset="0"/>
                <a:hlinkClick r:id="rId5"/>
              </a:rPr>
              <a:t>https://www.lavanguardia.com/cultura/20221204/8633247/guerra-descolonizacion-museos-espanoles-debate.html</a:t>
            </a:r>
            <a:endParaRPr lang="es-MX" sz="1000" dirty="0">
              <a:latin typeface="Montserrat" panose="00000500000000000000" pitchFamily="2" charset="0"/>
            </a:endParaRPr>
          </a:p>
        </p:txBody>
      </p:sp>
      <p:sp>
        <p:nvSpPr>
          <p:cNvPr id="6" name="CuadroTexto 5">
            <a:extLst>
              <a:ext uri="{FF2B5EF4-FFF2-40B4-BE49-F238E27FC236}">
                <a16:creationId xmlns:a16="http://schemas.microsoft.com/office/drawing/2014/main" id="{FF8319E4-6637-1A72-C289-6FCBC837FCF0}"/>
              </a:ext>
            </a:extLst>
          </p:cNvPr>
          <p:cNvSpPr txBox="1"/>
          <p:nvPr/>
        </p:nvSpPr>
        <p:spPr>
          <a:xfrm>
            <a:off x="5651716" y="1767006"/>
            <a:ext cx="6097508" cy="3323987"/>
          </a:xfrm>
          <a:prstGeom prst="rect">
            <a:avLst/>
          </a:prstGeom>
          <a:noFill/>
        </p:spPr>
        <p:txBody>
          <a:bodyPr wrap="square">
            <a:spAutoFit/>
          </a:bodyPr>
          <a:lstStyle/>
          <a:p>
            <a:pPr algn="just">
              <a:buNone/>
            </a:pPr>
            <a:r>
              <a:rPr lang="es-MX" sz="1400" b="1" dirty="0">
                <a:latin typeface="Montserrat" panose="00000500000000000000" pitchFamily="2" charset="0"/>
              </a:rPr>
              <a:t>Desigualdad social y ausencia de igualdad jurídica</a:t>
            </a:r>
          </a:p>
          <a:p>
            <a:pPr algn="just">
              <a:buNone/>
            </a:pPr>
            <a:r>
              <a:rPr lang="es-MX" sz="1400" dirty="0">
                <a:latin typeface="Montserrat" panose="00000500000000000000" pitchFamily="2" charset="0"/>
              </a:rPr>
              <a:t>Durante la Nueva España se estableció un sistema político y social basado en la autoridad de la Corona española y en una organización jerárquica de la población. El sistema de castas generó profundas desigualdades, limitando la participación política y social de indígenas, mestizos y otros grupos.</a:t>
            </a:r>
          </a:p>
          <a:p>
            <a:pPr algn="just">
              <a:buNone/>
            </a:pPr>
            <a:r>
              <a:rPr lang="es-MX" sz="1400" dirty="0">
                <a:latin typeface="Montserrat" panose="00000500000000000000" pitchFamily="2" charset="0"/>
              </a:rPr>
              <a:t>Aunque existieron normas destinadas a proteger a ciertos sectores, como las Leyes de Indias, en la práctica persistieron abusos relacionados con la explotación laboral y la discriminación.</a:t>
            </a:r>
          </a:p>
          <a:p>
            <a:pPr algn="just">
              <a:buNone/>
            </a:pPr>
            <a:endParaRPr lang="es-MX" sz="1400" dirty="0">
              <a:latin typeface="Montserrat" panose="00000500000000000000" pitchFamily="2" charset="0"/>
            </a:endParaRP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Las condiciones de desigualdad colonial impulsaron posteriormente movimientos sociales que exigieron libertad, igualdad y reconocimiento de derechos para todos los habitantes.</a:t>
            </a:r>
          </a:p>
        </p:txBody>
      </p:sp>
    </p:spTree>
    <p:extLst>
      <p:ext uri="{BB962C8B-B14F-4D97-AF65-F5344CB8AC3E}">
        <p14:creationId xmlns:p14="http://schemas.microsoft.com/office/powerpoint/2010/main" val="55161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AFE66B-4DF4-3D9D-E1AB-90D126F9FE5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6F6FE4D-DBB9-6987-AA61-832E3160BD0A}"/>
              </a:ext>
            </a:extLst>
          </p:cNvPr>
          <p:cNvSpPr>
            <a:spLocks noGrp="1"/>
          </p:cNvSpPr>
          <p:nvPr>
            <p:ph type="title"/>
          </p:nvPr>
        </p:nvSpPr>
        <p:spPr>
          <a:xfrm>
            <a:off x="680545" y="753812"/>
            <a:ext cx="10930688" cy="974376"/>
          </a:xfrm>
        </p:spPr>
        <p:txBody>
          <a:bodyPr>
            <a:normAutofit/>
          </a:bodyPr>
          <a:lstStyle/>
          <a:p>
            <a:r>
              <a:rPr lang="es-MX" sz="2800" b="1" dirty="0">
                <a:solidFill>
                  <a:srgbClr val="245C4F"/>
                </a:solidFill>
                <a:latin typeface="Montserrat" pitchFamily="2" charset="77"/>
              </a:rPr>
              <a:t>3</a:t>
            </a:r>
            <a:r>
              <a:rPr lang="es-MX" sz="2800" b="1" noProof="0" dirty="0">
                <a:solidFill>
                  <a:srgbClr val="245C4F"/>
                </a:solidFill>
                <a:latin typeface="Montserrat" pitchFamily="2" charset="77"/>
              </a:rPr>
              <a:t>. </a:t>
            </a:r>
            <a:r>
              <a:rPr lang="es-MX" sz="2800" b="1" dirty="0">
                <a:solidFill>
                  <a:srgbClr val="245C4F"/>
                </a:solidFill>
                <a:latin typeface="Montserrat" pitchFamily="2" charset="77"/>
              </a:rPr>
              <a:t>La Independencia de México</a:t>
            </a:r>
            <a:endParaRPr lang="es-MX" sz="2800" b="1" noProof="0" dirty="0">
              <a:solidFill>
                <a:srgbClr val="245C4F"/>
              </a:solidFill>
              <a:latin typeface="Montserrat" pitchFamily="2" charset="77"/>
            </a:endParaRPr>
          </a:p>
        </p:txBody>
      </p:sp>
      <p:sp>
        <p:nvSpPr>
          <p:cNvPr id="13" name="Título 1">
            <a:extLst>
              <a:ext uri="{FF2B5EF4-FFF2-40B4-BE49-F238E27FC236}">
                <a16:creationId xmlns:a16="http://schemas.microsoft.com/office/drawing/2014/main" id="{D87B5D8F-C69A-0562-F764-2AE4DF7B7EDA}"/>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6" name="CuadroTexto 15">
            <a:extLst>
              <a:ext uri="{FF2B5EF4-FFF2-40B4-BE49-F238E27FC236}">
                <a16:creationId xmlns:a16="http://schemas.microsoft.com/office/drawing/2014/main" id="{F6D308E7-0FEB-8E0E-07A0-4037BA08B220}"/>
              </a:ext>
            </a:extLst>
          </p:cNvPr>
          <p:cNvSpPr txBox="1"/>
          <p:nvPr/>
        </p:nvSpPr>
        <p:spPr>
          <a:xfrm>
            <a:off x="752086" y="1927799"/>
            <a:ext cx="6097508" cy="2677656"/>
          </a:xfrm>
          <a:prstGeom prst="rect">
            <a:avLst/>
          </a:prstGeom>
          <a:noFill/>
        </p:spPr>
        <p:txBody>
          <a:bodyPr wrap="square">
            <a:spAutoFit/>
          </a:bodyPr>
          <a:lstStyle/>
          <a:p>
            <a:pPr>
              <a:buNone/>
            </a:pPr>
            <a:r>
              <a:rPr lang="es-MX" sz="2400" b="1" dirty="0">
                <a:latin typeface="Montserrat" panose="00000500000000000000" pitchFamily="2" charset="0"/>
              </a:rPr>
              <a:t>El nacimiento de una nueva nación</a:t>
            </a:r>
          </a:p>
          <a:p>
            <a:pPr marL="342900" lvl="0" indent="-342900">
              <a:buFont typeface="Wingdings" panose="05000000000000000000" pitchFamily="2" charset="2"/>
              <a:buChar char="Ø"/>
            </a:pPr>
            <a:r>
              <a:rPr lang="es-MX" sz="2400" dirty="0">
                <a:latin typeface="Montserrat" panose="00000500000000000000" pitchFamily="2" charset="0"/>
              </a:rPr>
              <a:t>Inicio en 1810. </a:t>
            </a:r>
          </a:p>
          <a:p>
            <a:pPr marL="342900" lvl="0" indent="-342900">
              <a:buFont typeface="Wingdings" panose="05000000000000000000" pitchFamily="2" charset="2"/>
              <a:buChar char="Ø"/>
            </a:pPr>
            <a:r>
              <a:rPr lang="es-MX" sz="2400" dirty="0">
                <a:latin typeface="Montserrat" panose="00000500000000000000" pitchFamily="2" charset="0"/>
              </a:rPr>
              <a:t>Búsqueda de igualdad. </a:t>
            </a:r>
          </a:p>
          <a:p>
            <a:pPr marL="342900" lvl="0" indent="-342900">
              <a:buFont typeface="Wingdings" panose="05000000000000000000" pitchFamily="2" charset="2"/>
              <a:buChar char="Ø"/>
            </a:pPr>
            <a:r>
              <a:rPr lang="es-MX" sz="2400" dirty="0">
                <a:latin typeface="Montserrat" panose="00000500000000000000" pitchFamily="2" charset="0"/>
              </a:rPr>
              <a:t>Fin del dominio español. </a:t>
            </a:r>
          </a:p>
          <a:p>
            <a:pPr marL="342900" lvl="0" indent="-342900">
              <a:buFont typeface="Wingdings" panose="05000000000000000000" pitchFamily="2" charset="2"/>
              <a:buChar char="Ø"/>
            </a:pPr>
            <a:r>
              <a:rPr lang="es-MX" sz="2400" dirty="0">
                <a:latin typeface="Montserrat" panose="00000500000000000000" pitchFamily="2" charset="0"/>
              </a:rPr>
              <a:t>Construcción del Estado mexicano. </a:t>
            </a:r>
          </a:p>
          <a:p>
            <a:pPr marL="342900" lvl="0" indent="-342900">
              <a:buFont typeface="Wingdings" panose="05000000000000000000" pitchFamily="2" charset="2"/>
              <a:buChar char="Ø"/>
            </a:pPr>
            <a:r>
              <a:rPr lang="es-MX" sz="2400" dirty="0">
                <a:latin typeface="Montserrat" panose="00000500000000000000" pitchFamily="2" charset="0"/>
              </a:rPr>
              <a:t>Primeras ideas sobre derechos ciudadanos.</a:t>
            </a:r>
          </a:p>
        </p:txBody>
      </p:sp>
      <p:sp>
        <p:nvSpPr>
          <p:cNvPr id="18" name="CuadroTexto 17">
            <a:extLst>
              <a:ext uri="{FF2B5EF4-FFF2-40B4-BE49-F238E27FC236}">
                <a16:creationId xmlns:a16="http://schemas.microsoft.com/office/drawing/2014/main" id="{3B2C31E1-3AB4-05C2-3197-62EDBD38624D}"/>
              </a:ext>
            </a:extLst>
          </p:cNvPr>
          <p:cNvSpPr txBox="1"/>
          <p:nvPr/>
        </p:nvSpPr>
        <p:spPr>
          <a:xfrm>
            <a:off x="7106970" y="4806647"/>
            <a:ext cx="4800600" cy="646331"/>
          </a:xfrm>
          <a:prstGeom prst="rect">
            <a:avLst/>
          </a:prstGeom>
          <a:noFill/>
        </p:spPr>
        <p:txBody>
          <a:bodyPr wrap="square">
            <a:spAutoFit/>
          </a:bodyPr>
          <a:lstStyle/>
          <a:p>
            <a:pPr algn="just"/>
            <a:r>
              <a:rPr lang="es-MX" sz="900" dirty="0">
                <a:latin typeface="Montserrat" panose="00000500000000000000" pitchFamily="2" charset="0"/>
              </a:rPr>
              <a:t>León Núñez, R. (2020, 1 de noviembre). </a:t>
            </a:r>
            <a:r>
              <a:rPr lang="es-MX" sz="900" i="1" dirty="0">
                <a:latin typeface="Montserrat" panose="00000500000000000000" pitchFamily="2" charset="0"/>
              </a:rPr>
              <a:t>El capítulo más radical de la revolución de independencia en México</a:t>
            </a:r>
            <a:r>
              <a:rPr lang="es-MX" sz="900" dirty="0">
                <a:latin typeface="Montserrat" panose="00000500000000000000" pitchFamily="2" charset="0"/>
              </a:rPr>
              <a:t>. ABC Color. </a:t>
            </a:r>
            <a:r>
              <a:rPr lang="es-MX" sz="900" dirty="0">
                <a:latin typeface="Montserrat" panose="00000500000000000000" pitchFamily="2" charset="0"/>
                <a:hlinkClick r:id="rId3"/>
              </a:rPr>
              <a:t>https://www.abc.com.py/edicion-impresa/suplementos/cultural/2020/11/01/el-capitulo-mas-radical-de-la-revolucion-de-independencia-en-mexico/?outputType=amp</a:t>
            </a:r>
            <a:r>
              <a:rPr lang="es-MX" sz="900" dirty="0">
                <a:latin typeface="Montserrat" panose="00000500000000000000" pitchFamily="2" charset="0"/>
              </a:rPr>
              <a:t> </a:t>
            </a:r>
          </a:p>
        </p:txBody>
      </p:sp>
      <p:pic>
        <p:nvPicPr>
          <p:cNvPr id="20" name="Imagen 19">
            <a:extLst>
              <a:ext uri="{FF2B5EF4-FFF2-40B4-BE49-F238E27FC236}">
                <a16:creationId xmlns:a16="http://schemas.microsoft.com/office/drawing/2014/main" id="{D8AE2CE4-EDF3-792E-2CE3-F3C653B778C3}"/>
              </a:ext>
            </a:extLst>
          </p:cNvPr>
          <p:cNvPicPr>
            <a:picLocks noChangeAspect="1"/>
          </p:cNvPicPr>
          <p:nvPr/>
        </p:nvPicPr>
        <p:blipFill>
          <a:blip r:embed="rId4"/>
          <a:stretch>
            <a:fillRect/>
          </a:stretch>
        </p:blipFill>
        <p:spPr>
          <a:xfrm>
            <a:off x="7184448" y="1580572"/>
            <a:ext cx="4370402" cy="2891839"/>
          </a:xfrm>
          <a:prstGeom prst="rect">
            <a:avLst/>
          </a:prstGeom>
        </p:spPr>
      </p:pic>
    </p:spTree>
    <p:extLst>
      <p:ext uri="{BB962C8B-B14F-4D97-AF65-F5344CB8AC3E}">
        <p14:creationId xmlns:p14="http://schemas.microsoft.com/office/powerpoint/2010/main" val="3251687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D5B988-389C-8DD6-37DC-4D9EC235FB11}"/>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8259522-7C75-91EC-122A-73E6DADCCAF0}"/>
              </a:ext>
            </a:extLst>
          </p:cNvPr>
          <p:cNvSpPr>
            <a:spLocks noGrp="1"/>
          </p:cNvSpPr>
          <p:nvPr>
            <p:ph type="title"/>
          </p:nvPr>
        </p:nvSpPr>
        <p:spPr>
          <a:xfrm>
            <a:off x="680545" y="753812"/>
            <a:ext cx="10930688" cy="974376"/>
          </a:xfrm>
        </p:spPr>
        <p:txBody>
          <a:bodyPr>
            <a:normAutofit/>
          </a:bodyPr>
          <a:lstStyle/>
          <a:p>
            <a:r>
              <a:rPr lang="es-MX" sz="2800" b="1" dirty="0">
                <a:solidFill>
                  <a:srgbClr val="245C4F"/>
                </a:solidFill>
                <a:latin typeface="Montserrat" pitchFamily="2" charset="77"/>
              </a:rPr>
              <a:t>3</a:t>
            </a:r>
            <a:r>
              <a:rPr lang="es-MX" sz="2800" b="1" noProof="0" dirty="0">
                <a:solidFill>
                  <a:srgbClr val="245C4F"/>
                </a:solidFill>
                <a:latin typeface="Montserrat" pitchFamily="2" charset="77"/>
              </a:rPr>
              <a:t>. </a:t>
            </a:r>
            <a:r>
              <a:rPr lang="es-MX" sz="2800" b="1" dirty="0">
                <a:solidFill>
                  <a:srgbClr val="245C4F"/>
                </a:solidFill>
                <a:latin typeface="Montserrat" pitchFamily="2" charset="77"/>
              </a:rPr>
              <a:t>La Independencia de México</a:t>
            </a:r>
            <a:endParaRPr lang="es-MX" sz="2800" b="1" noProof="0" dirty="0">
              <a:solidFill>
                <a:srgbClr val="245C4F"/>
              </a:solidFill>
              <a:latin typeface="Montserrat" pitchFamily="2" charset="77"/>
            </a:endParaRPr>
          </a:p>
        </p:txBody>
      </p:sp>
      <p:sp>
        <p:nvSpPr>
          <p:cNvPr id="13" name="Título 1">
            <a:extLst>
              <a:ext uri="{FF2B5EF4-FFF2-40B4-BE49-F238E27FC236}">
                <a16:creationId xmlns:a16="http://schemas.microsoft.com/office/drawing/2014/main" id="{00FF1D48-1237-9B37-11CD-8A43CB08B74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8" name="CuadroTexto 17">
            <a:extLst>
              <a:ext uri="{FF2B5EF4-FFF2-40B4-BE49-F238E27FC236}">
                <a16:creationId xmlns:a16="http://schemas.microsoft.com/office/drawing/2014/main" id="{E8870403-634F-52E1-2501-9E9F55A2F503}"/>
              </a:ext>
            </a:extLst>
          </p:cNvPr>
          <p:cNvSpPr txBox="1"/>
          <p:nvPr/>
        </p:nvSpPr>
        <p:spPr>
          <a:xfrm>
            <a:off x="588475" y="4761482"/>
            <a:ext cx="4800600" cy="646331"/>
          </a:xfrm>
          <a:prstGeom prst="rect">
            <a:avLst/>
          </a:prstGeom>
          <a:noFill/>
        </p:spPr>
        <p:txBody>
          <a:bodyPr wrap="square">
            <a:spAutoFit/>
          </a:bodyPr>
          <a:lstStyle/>
          <a:p>
            <a:pPr algn="just"/>
            <a:r>
              <a:rPr lang="es-MX" sz="900" dirty="0">
                <a:latin typeface="Montserrat" panose="00000500000000000000" pitchFamily="2" charset="0"/>
              </a:rPr>
              <a:t>León Núñez, R. (2020, 1 de noviembre). </a:t>
            </a:r>
            <a:r>
              <a:rPr lang="es-MX" sz="900" i="1" dirty="0">
                <a:latin typeface="Montserrat" panose="00000500000000000000" pitchFamily="2" charset="0"/>
              </a:rPr>
              <a:t>El capítulo más radical de la revolución de independencia en México</a:t>
            </a:r>
            <a:r>
              <a:rPr lang="es-MX" sz="900" dirty="0">
                <a:latin typeface="Montserrat" panose="00000500000000000000" pitchFamily="2" charset="0"/>
              </a:rPr>
              <a:t>. ABC Color. </a:t>
            </a:r>
            <a:r>
              <a:rPr lang="es-MX" sz="900" dirty="0">
                <a:latin typeface="Montserrat" panose="00000500000000000000" pitchFamily="2" charset="0"/>
                <a:hlinkClick r:id="rId3"/>
              </a:rPr>
              <a:t>https://www.abc.com.py/edicion-impresa/suplementos/cultural/2020/11/01/el-capitulo-mas-radical-de-la-revolucion-de-independencia-en-mexico/?outputType=amp</a:t>
            </a:r>
            <a:r>
              <a:rPr lang="es-MX" sz="900" dirty="0">
                <a:latin typeface="Montserrat" panose="00000500000000000000" pitchFamily="2" charset="0"/>
              </a:rPr>
              <a:t> </a:t>
            </a:r>
          </a:p>
        </p:txBody>
      </p:sp>
      <p:pic>
        <p:nvPicPr>
          <p:cNvPr id="20" name="Imagen 19">
            <a:extLst>
              <a:ext uri="{FF2B5EF4-FFF2-40B4-BE49-F238E27FC236}">
                <a16:creationId xmlns:a16="http://schemas.microsoft.com/office/drawing/2014/main" id="{9940073E-93A4-05C6-39AE-8DF281FB663E}"/>
              </a:ext>
            </a:extLst>
          </p:cNvPr>
          <p:cNvPicPr>
            <a:picLocks noChangeAspect="1"/>
          </p:cNvPicPr>
          <p:nvPr/>
        </p:nvPicPr>
        <p:blipFill>
          <a:blip r:embed="rId4"/>
          <a:stretch>
            <a:fillRect/>
          </a:stretch>
        </p:blipFill>
        <p:spPr>
          <a:xfrm>
            <a:off x="680545" y="1634893"/>
            <a:ext cx="4370402" cy="2891839"/>
          </a:xfrm>
          <a:prstGeom prst="rect">
            <a:avLst/>
          </a:prstGeom>
        </p:spPr>
      </p:pic>
      <p:sp>
        <p:nvSpPr>
          <p:cNvPr id="3" name="CuadroTexto 2">
            <a:extLst>
              <a:ext uri="{FF2B5EF4-FFF2-40B4-BE49-F238E27FC236}">
                <a16:creationId xmlns:a16="http://schemas.microsoft.com/office/drawing/2014/main" id="{5D5F6046-917B-316F-6745-89EABECE4A3A}"/>
              </a:ext>
            </a:extLst>
          </p:cNvPr>
          <p:cNvSpPr txBox="1"/>
          <p:nvPr/>
        </p:nvSpPr>
        <p:spPr>
          <a:xfrm>
            <a:off x="6011501" y="1511928"/>
            <a:ext cx="5499954" cy="3754874"/>
          </a:xfrm>
          <a:prstGeom prst="rect">
            <a:avLst/>
          </a:prstGeom>
          <a:noFill/>
        </p:spPr>
        <p:txBody>
          <a:bodyPr wrap="square">
            <a:spAutoFit/>
          </a:bodyPr>
          <a:lstStyle/>
          <a:p>
            <a:pPr algn="just">
              <a:buNone/>
            </a:pPr>
            <a:r>
              <a:rPr lang="es-MX" sz="1400" b="1" dirty="0">
                <a:latin typeface="Montserrat" panose="00000500000000000000" pitchFamily="2" charset="0"/>
              </a:rPr>
              <a:t>Libertad e igualdad como principios fundamentales</a:t>
            </a:r>
          </a:p>
          <a:p>
            <a:pPr algn="just">
              <a:buNone/>
            </a:pPr>
            <a:r>
              <a:rPr lang="es-MX" sz="1400" dirty="0">
                <a:latin typeface="Montserrat" panose="00000500000000000000" pitchFamily="2" charset="0"/>
              </a:rPr>
              <a:t>El movimiento de Independencia iniciado en 1810 representó una lucha contra las estructuras de desigualdad heredadas del periodo colonial. Sus principales demandas estuvieron relacionadas con la libertad, la eliminación de privilegios y la construcción de una nueva organización política.</a:t>
            </a:r>
          </a:p>
          <a:p>
            <a:pPr algn="just">
              <a:buNone/>
            </a:pPr>
            <a:r>
              <a:rPr lang="es-MX" sz="1400" dirty="0">
                <a:latin typeface="Montserrat" panose="00000500000000000000" pitchFamily="2" charset="0"/>
              </a:rPr>
              <a:t>Documentos como </a:t>
            </a:r>
            <a:r>
              <a:rPr lang="es-MX" sz="1400" i="1" dirty="0">
                <a:latin typeface="Montserrat" panose="00000500000000000000" pitchFamily="2" charset="0"/>
              </a:rPr>
              <a:t>Los Sentimientos de la Nación</a:t>
            </a:r>
            <a:r>
              <a:rPr lang="es-MX" sz="1400" dirty="0">
                <a:latin typeface="Montserrat" panose="00000500000000000000" pitchFamily="2" charset="0"/>
              </a:rPr>
              <a:t> de José María Morelos incorporaron principios como la igualdad entre las personas y la eliminación de la esclavitud.</a:t>
            </a:r>
          </a:p>
          <a:p>
            <a:pPr algn="just">
              <a:buNone/>
            </a:pPr>
            <a:endParaRPr lang="es-MX" sz="1400" dirty="0">
              <a:latin typeface="Montserrat" panose="00000500000000000000" pitchFamily="2" charset="0"/>
            </a:endParaRP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La Independencia permitió introducir ideas fundamentales como libertad, soberanía popular e igualdad jurídica, principios que posteriormente formarían parte del constitucionalismo mexicano.</a:t>
            </a:r>
          </a:p>
        </p:txBody>
      </p:sp>
    </p:spTree>
    <p:extLst>
      <p:ext uri="{BB962C8B-B14F-4D97-AF65-F5344CB8AC3E}">
        <p14:creationId xmlns:p14="http://schemas.microsoft.com/office/powerpoint/2010/main" val="1118953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65D2BCE-EBB8-C2D6-7AAF-730F12146A6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63B2424-76B7-935C-536E-70F1B1AA1E9A}"/>
              </a:ext>
            </a:extLst>
          </p:cNvPr>
          <p:cNvSpPr>
            <a:spLocks noGrp="1"/>
          </p:cNvSpPr>
          <p:nvPr>
            <p:ph type="title"/>
          </p:nvPr>
        </p:nvSpPr>
        <p:spPr>
          <a:xfrm>
            <a:off x="752086" y="1124855"/>
            <a:ext cx="10930688" cy="974376"/>
          </a:xfrm>
        </p:spPr>
        <p:txBody>
          <a:bodyPr>
            <a:normAutofit fontScale="90000"/>
          </a:bodyPr>
          <a:lstStyle/>
          <a:p>
            <a:r>
              <a:rPr lang="es-MX" sz="3600" b="1" dirty="0">
                <a:solidFill>
                  <a:srgbClr val="245C4F"/>
                </a:solidFill>
                <a:latin typeface="Montserrat" pitchFamily="2" charset="77"/>
              </a:rPr>
              <a:t>3. </a:t>
            </a:r>
            <a:r>
              <a:rPr lang="es-ES" sz="3600" b="1" dirty="0">
                <a:solidFill>
                  <a:srgbClr val="245C4F"/>
                </a:solidFill>
                <a:latin typeface="Montserrat" pitchFamily="2" charset="77"/>
              </a:rPr>
              <a:t>Liberalismo y Reforma </a:t>
            </a:r>
            <a:br>
              <a:rPr lang="es-ES" sz="3600" b="1" dirty="0">
                <a:solidFill>
                  <a:srgbClr val="245C4F"/>
                </a:solidFill>
                <a:latin typeface="Montserrat" pitchFamily="2" charset="77"/>
              </a:rPr>
            </a:br>
            <a:r>
              <a:rPr lang="es-ES" sz="3600" b="1" dirty="0">
                <a:solidFill>
                  <a:srgbClr val="245C4F"/>
                </a:solidFill>
                <a:latin typeface="Montserrat" pitchFamily="2" charset="77"/>
              </a:rPr>
              <a:t>(Siglo XIX)</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E8FF62F0-21ED-BE18-0F39-EE83E3D1E20E}"/>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3" name="CuadroTexto 2">
            <a:extLst>
              <a:ext uri="{FF2B5EF4-FFF2-40B4-BE49-F238E27FC236}">
                <a16:creationId xmlns:a16="http://schemas.microsoft.com/office/drawing/2014/main" id="{D3375470-A657-47E2-16D3-7BCD9E1578A7}"/>
              </a:ext>
            </a:extLst>
          </p:cNvPr>
          <p:cNvSpPr txBox="1"/>
          <p:nvPr/>
        </p:nvSpPr>
        <p:spPr>
          <a:xfrm>
            <a:off x="752086" y="2198969"/>
            <a:ext cx="6097508" cy="3046988"/>
          </a:xfrm>
          <a:prstGeom prst="rect">
            <a:avLst/>
          </a:prstGeom>
          <a:noFill/>
        </p:spPr>
        <p:txBody>
          <a:bodyPr wrap="square">
            <a:spAutoFit/>
          </a:bodyPr>
          <a:lstStyle/>
          <a:p>
            <a:pPr marL="457200" lvl="0" indent="-457200">
              <a:buFont typeface="Wingdings" panose="05000000000000000000" pitchFamily="2" charset="2"/>
              <a:buChar char="Ø"/>
            </a:pPr>
            <a:r>
              <a:rPr lang="es-MX" sz="3200" dirty="0">
                <a:latin typeface="Montserrat" panose="00000500000000000000" pitchFamily="2" charset="0"/>
              </a:rPr>
              <a:t>Constitución de 1824. </a:t>
            </a:r>
          </a:p>
          <a:p>
            <a:pPr marL="457200" lvl="0" indent="-457200">
              <a:buFont typeface="Wingdings" panose="05000000000000000000" pitchFamily="2" charset="2"/>
              <a:buChar char="Ø"/>
            </a:pPr>
            <a:r>
              <a:rPr lang="es-MX" sz="3200" dirty="0">
                <a:latin typeface="Montserrat" panose="00000500000000000000" pitchFamily="2" charset="0"/>
              </a:rPr>
              <a:t>Constitución de 1857. </a:t>
            </a:r>
          </a:p>
          <a:p>
            <a:pPr marL="457200" lvl="0" indent="-457200">
              <a:buFont typeface="Wingdings" panose="05000000000000000000" pitchFamily="2" charset="2"/>
              <a:buChar char="Ø"/>
            </a:pPr>
            <a:r>
              <a:rPr lang="es-MX" sz="3200" dirty="0">
                <a:latin typeface="Montserrat" panose="00000500000000000000" pitchFamily="2" charset="0"/>
              </a:rPr>
              <a:t>Leyes de Reforma. </a:t>
            </a:r>
          </a:p>
          <a:p>
            <a:pPr marL="457200" lvl="0" indent="-457200">
              <a:buFont typeface="Wingdings" panose="05000000000000000000" pitchFamily="2" charset="2"/>
              <a:buChar char="Ø"/>
            </a:pPr>
            <a:r>
              <a:rPr lang="es-MX" sz="3200" dirty="0">
                <a:latin typeface="Montserrat" panose="00000500000000000000" pitchFamily="2" charset="0"/>
              </a:rPr>
              <a:t>Separación Iglesia-Estado. </a:t>
            </a:r>
          </a:p>
          <a:p>
            <a:pPr marL="457200" lvl="0" indent="-457200">
              <a:buFont typeface="Wingdings" panose="05000000000000000000" pitchFamily="2" charset="2"/>
              <a:buChar char="Ø"/>
            </a:pPr>
            <a:r>
              <a:rPr lang="es-MX" sz="3200" dirty="0">
                <a:latin typeface="Montserrat" panose="00000500000000000000" pitchFamily="2" charset="0"/>
              </a:rPr>
              <a:t>Reconocimiento de libertades.</a:t>
            </a:r>
          </a:p>
        </p:txBody>
      </p:sp>
      <p:sp>
        <p:nvSpPr>
          <p:cNvPr id="7" name="CuadroTexto 6">
            <a:extLst>
              <a:ext uri="{FF2B5EF4-FFF2-40B4-BE49-F238E27FC236}">
                <a16:creationId xmlns:a16="http://schemas.microsoft.com/office/drawing/2014/main" id="{E485FFBC-7123-1453-31B4-59CE7259D3C5}"/>
              </a:ext>
            </a:extLst>
          </p:cNvPr>
          <p:cNvSpPr txBox="1"/>
          <p:nvPr/>
        </p:nvSpPr>
        <p:spPr>
          <a:xfrm>
            <a:off x="8365401" y="5129813"/>
            <a:ext cx="3687023" cy="784830"/>
          </a:xfrm>
          <a:prstGeom prst="rect">
            <a:avLst/>
          </a:prstGeom>
          <a:noFill/>
        </p:spPr>
        <p:txBody>
          <a:bodyPr wrap="square">
            <a:spAutoFit/>
          </a:bodyPr>
          <a:lstStyle/>
          <a:p>
            <a:pPr algn="just"/>
            <a:r>
              <a:rPr lang="es-MX" sz="900" dirty="0">
                <a:latin typeface="Montserrat" panose="00000500000000000000" pitchFamily="2" charset="0"/>
              </a:rPr>
              <a:t>Archivo General de la Nación. (2017, 1 de febrero). </a:t>
            </a:r>
            <a:r>
              <a:rPr lang="es-MX" sz="900" i="1" dirty="0">
                <a:latin typeface="Montserrat" panose="00000500000000000000" pitchFamily="2" charset="0"/>
              </a:rPr>
              <a:t>#RumboAlCentenario: La generación de la Reforma, la Constitución de 1857</a:t>
            </a:r>
            <a:r>
              <a:rPr lang="es-MX" sz="900" dirty="0">
                <a:latin typeface="Montserrat" panose="00000500000000000000" pitchFamily="2" charset="0"/>
              </a:rPr>
              <a:t>. Gobierno de México. </a:t>
            </a:r>
            <a:r>
              <a:rPr lang="es-MX" sz="900" dirty="0">
                <a:latin typeface="Montserrat" panose="00000500000000000000" pitchFamily="2" charset="0"/>
                <a:hlinkClick r:id="rId4"/>
              </a:rPr>
              <a:t>https://www.gob.mx/agn/articulos/rumboalcentenario-la-generacion-de-la-reforma-la-constitucion-de-1857?idiom=es</a:t>
            </a:r>
            <a:endParaRPr lang="es-MX" sz="900" dirty="0">
              <a:latin typeface="Montserrat" panose="00000500000000000000" pitchFamily="2" charset="0"/>
            </a:endParaRPr>
          </a:p>
        </p:txBody>
      </p:sp>
      <p:pic>
        <p:nvPicPr>
          <p:cNvPr id="10" name="Imagen 9">
            <a:extLst>
              <a:ext uri="{FF2B5EF4-FFF2-40B4-BE49-F238E27FC236}">
                <a16:creationId xmlns:a16="http://schemas.microsoft.com/office/drawing/2014/main" id="{D50D3D4D-2936-CAD6-0A91-CF98205D427B}"/>
              </a:ext>
            </a:extLst>
          </p:cNvPr>
          <p:cNvPicPr>
            <a:picLocks noChangeAspect="1"/>
          </p:cNvPicPr>
          <p:nvPr/>
        </p:nvPicPr>
        <p:blipFill>
          <a:blip r:embed="rId5"/>
          <a:stretch>
            <a:fillRect/>
          </a:stretch>
        </p:blipFill>
        <p:spPr>
          <a:xfrm>
            <a:off x="8556416" y="943357"/>
            <a:ext cx="2795874" cy="4155436"/>
          </a:xfrm>
          <a:prstGeom prst="rect">
            <a:avLst/>
          </a:prstGeom>
        </p:spPr>
      </p:pic>
    </p:spTree>
    <p:extLst>
      <p:ext uri="{BB962C8B-B14F-4D97-AF65-F5344CB8AC3E}">
        <p14:creationId xmlns:p14="http://schemas.microsoft.com/office/powerpoint/2010/main" val="2303122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10FF631-B9B1-B5B1-0AEA-4C00F8E9E08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3956B5D-5748-6122-0891-039394DDD178}"/>
              </a:ext>
            </a:extLst>
          </p:cNvPr>
          <p:cNvSpPr>
            <a:spLocks noGrp="1"/>
          </p:cNvSpPr>
          <p:nvPr>
            <p:ph type="title"/>
          </p:nvPr>
        </p:nvSpPr>
        <p:spPr>
          <a:xfrm>
            <a:off x="680545" y="753811"/>
            <a:ext cx="10930688" cy="974376"/>
          </a:xfrm>
        </p:spPr>
        <p:txBody>
          <a:bodyPr>
            <a:normAutofit/>
          </a:bodyPr>
          <a:lstStyle/>
          <a:p>
            <a:r>
              <a:rPr lang="es-MX" sz="3600" b="1" dirty="0">
                <a:solidFill>
                  <a:srgbClr val="245C4F"/>
                </a:solidFill>
                <a:latin typeface="Montserrat" pitchFamily="2" charset="77"/>
              </a:rPr>
              <a:t>3. </a:t>
            </a:r>
            <a:r>
              <a:rPr lang="es-ES" sz="3600" b="1" dirty="0">
                <a:solidFill>
                  <a:srgbClr val="245C4F"/>
                </a:solidFill>
                <a:latin typeface="Montserrat" pitchFamily="2" charset="77"/>
              </a:rPr>
              <a:t>Liberalismo y Reforma (Siglo XIX)</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56D9F217-75A8-D799-3979-CCF44E05E34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7" name="CuadroTexto 6">
            <a:extLst>
              <a:ext uri="{FF2B5EF4-FFF2-40B4-BE49-F238E27FC236}">
                <a16:creationId xmlns:a16="http://schemas.microsoft.com/office/drawing/2014/main" id="{FDB4B3EF-DE41-D0FE-6A7A-295EEC37CCDD}"/>
              </a:ext>
            </a:extLst>
          </p:cNvPr>
          <p:cNvSpPr txBox="1"/>
          <p:nvPr/>
        </p:nvSpPr>
        <p:spPr>
          <a:xfrm>
            <a:off x="425512" y="5176358"/>
            <a:ext cx="3687023" cy="784830"/>
          </a:xfrm>
          <a:prstGeom prst="rect">
            <a:avLst/>
          </a:prstGeom>
          <a:noFill/>
        </p:spPr>
        <p:txBody>
          <a:bodyPr wrap="square">
            <a:spAutoFit/>
          </a:bodyPr>
          <a:lstStyle/>
          <a:p>
            <a:pPr algn="just"/>
            <a:r>
              <a:rPr lang="es-MX" sz="900" dirty="0">
                <a:latin typeface="Montserrat" panose="00000500000000000000" pitchFamily="2" charset="0"/>
              </a:rPr>
              <a:t>Archivo General de la Nación. (2017, 1 de febrero). </a:t>
            </a:r>
            <a:r>
              <a:rPr lang="es-MX" sz="900" i="1" dirty="0">
                <a:latin typeface="Montserrat" panose="00000500000000000000" pitchFamily="2" charset="0"/>
              </a:rPr>
              <a:t>#RumboAlCentenario: La generación de la Reforma, la Constitución de 1857</a:t>
            </a:r>
            <a:r>
              <a:rPr lang="es-MX" sz="900" dirty="0">
                <a:latin typeface="Montserrat" panose="00000500000000000000" pitchFamily="2" charset="0"/>
              </a:rPr>
              <a:t>. Gobierno de México. </a:t>
            </a:r>
            <a:r>
              <a:rPr lang="es-MX" sz="900" dirty="0">
                <a:latin typeface="Montserrat" panose="00000500000000000000" pitchFamily="2" charset="0"/>
                <a:hlinkClick r:id="rId4"/>
              </a:rPr>
              <a:t>https://www.gob.mx/agn/articulos/rumboalcentenario-la-generacion-de-la-reforma-la-constitucion-de-1857?idiom=es</a:t>
            </a:r>
            <a:endParaRPr lang="es-MX" sz="900" dirty="0">
              <a:latin typeface="Montserrat" panose="00000500000000000000" pitchFamily="2" charset="0"/>
            </a:endParaRPr>
          </a:p>
        </p:txBody>
      </p:sp>
      <p:pic>
        <p:nvPicPr>
          <p:cNvPr id="10" name="Imagen 9">
            <a:extLst>
              <a:ext uri="{FF2B5EF4-FFF2-40B4-BE49-F238E27FC236}">
                <a16:creationId xmlns:a16="http://schemas.microsoft.com/office/drawing/2014/main" id="{9688E25D-2CA3-0756-C103-BCF7ADAE78B7}"/>
              </a:ext>
            </a:extLst>
          </p:cNvPr>
          <p:cNvPicPr>
            <a:picLocks noChangeAspect="1"/>
          </p:cNvPicPr>
          <p:nvPr/>
        </p:nvPicPr>
        <p:blipFill>
          <a:blip r:embed="rId5"/>
          <a:stretch>
            <a:fillRect/>
          </a:stretch>
        </p:blipFill>
        <p:spPr>
          <a:xfrm>
            <a:off x="640744" y="1468351"/>
            <a:ext cx="2392167" cy="3555416"/>
          </a:xfrm>
          <a:prstGeom prst="rect">
            <a:avLst/>
          </a:prstGeom>
        </p:spPr>
      </p:pic>
      <p:sp>
        <p:nvSpPr>
          <p:cNvPr id="9" name="CuadroTexto 8">
            <a:extLst>
              <a:ext uri="{FF2B5EF4-FFF2-40B4-BE49-F238E27FC236}">
                <a16:creationId xmlns:a16="http://schemas.microsoft.com/office/drawing/2014/main" id="{A4B419D1-09F8-D304-88A7-4225781DE3F9}"/>
              </a:ext>
            </a:extLst>
          </p:cNvPr>
          <p:cNvSpPr txBox="1"/>
          <p:nvPr/>
        </p:nvSpPr>
        <p:spPr>
          <a:xfrm>
            <a:off x="4959036" y="2067815"/>
            <a:ext cx="6097508" cy="3108543"/>
          </a:xfrm>
          <a:prstGeom prst="rect">
            <a:avLst/>
          </a:prstGeom>
          <a:noFill/>
        </p:spPr>
        <p:txBody>
          <a:bodyPr wrap="square">
            <a:spAutoFit/>
          </a:bodyPr>
          <a:lstStyle/>
          <a:p>
            <a:pPr algn="just">
              <a:buNone/>
            </a:pPr>
            <a:r>
              <a:rPr lang="es-MX" sz="1400" b="1" dirty="0">
                <a:latin typeface="Montserrat" panose="00000500000000000000" pitchFamily="2" charset="0"/>
              </a:rPr>
              <a:t>Reconocimiento de libertades y límites al poder</a:t>
            </a:r>
          </a:p>
          <a:p>
            <a:pPr algn="just">
              <a:buNone/>
            </a:pPr>
            <a:r>
              <a:rPr lang="es-MX" sz="1400" dirty="0">
                <a:latin typeface="Montserrat" panose="00000500000000000000" pitchFamily="2" charset="0"/>
              </a:rPr>
              <a:t>Durante el siglo XIX, el pensamiento liberal impulsó transformaciones políticas orientadas a fortalecer los derechos individuales y limitar el poder de las instituciones tradicionales.</a:t>
            </a:r>
          </a:p>
          <a:p>
            <a:pPr algn="just">
              <a:buNone/>
            </a:pPr>
            <a:r>
              <a:rPr lang="es-MX" sz="1400" dirty="0">
                <a:latin typeface="Montserrat" panose="00000500000000000000" pitchFamily="2" charset="0"/>
              </a:rPr>
              <a:t>La Constitución de 1857 reconoció derechos como la libertad de expresión, la libertad de asociación, la igualdad ante la ley y estableció mecanismos de protección como el juicio de amparo.</a:t>
            </a:r>
          </a:p>
          <a:p>
            <a:pPr algn="just">
              <a:buNone/>
            </a:pPr>
            <a:endParaRPr lang="es-MX" sz="1400" dirty="0">
              <a:latin typeface="Montserrat" panose="00000500000000000000" pitchFamily="2" charset="0"/>
            </a:endParaRP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Esta etapa representa un avance importante porque el Estado comenzó a reconocer jurídicamente derechos fundamentales y estableció herramientas para proteger a las personas frente a actos de autoridad.</a:t>
            </a:r>
          </a:p>
        </p:txBody>
      </p:sp>
    </p:spTree>
    <p:extLst>
      <p:ext uri="{BB962C8B-B14F-4D97-AF65-F5344CB8AC3E}">
        <p14:creationId xmlns:p14="http://schemas.microsoft.com/office/powerpoint/2010/main" val="4237089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44F8708-E421-A793-3D92-0DE4CBFC284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85E860C-26F2-981A-CE97-497D671FE789}"/>
              </a:ext>
            </a:extLst>
          </p:cNvPr>
          <p:cNvSpPr>
            <a:spLocks noGrp="1"/>
          </p:cNvSpPr>
          <p:nvPr>
            <p:ph type="title"/>
          </p:nvPr>
        </p:nvSpPr>
        <p:spPr>
          <a:xfrm>
            <a:off x="680545" y="1275737"/>
            <a:ext cx="10930688" cy="974376"/>
          </a:xfrm>
        </p:spPr>
        <p:txBody>
          <a:bodyPr>
            <a:normAutofit/>
          </a:bodyPr>
          <a:lstStyle/>
          <a:p>
            <a:r>
              <a:rPr lang="es-MX" sz="3600" b="1" dirty="0">
                <a:solidFill>
                  <a:srgbClr val="245C4F"/>
                </a:solidFill>
                <a:latin typeface="Montserrat" pitchFamily="2" charset="77"/>
              </a:rPr>
              <a:t>4. Porfiriato</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18C2B339-94DC-E874-30BB-12D090BFFB4D}"/>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6" name="CuadroTexto 5">
            <a:extLst>
              <a:ext uri="{FF2B5EF4-FFF2-40B4-BE49-F238E27FC236}">
                <a16:creationId xmlns:a16="http://schemas.microsoft.com/office/drawing/2014/main" id="{13FEC76B-81BF-BD7F-868C-C9ACACA0D0E4}"/>
              </a:ext>
            </a:extLst>
          </p:cNvPr>
          <p:cNvSpPr txBox="1"/>
          <p:nvPr/>
        </p:nvSpPr>
        <p:spPr>
          <a:xfrm>
            <a:off x="580767" y="2153050"/>
            <a:ext cx="6097508" cy="2677656"/>
          </a:xfrm>
          <a:prstGeom prst="rect">
            <a:avLst/>
          </a:prstGeom>
          <a:noFill/>
        </p:spPr>
        <p:txBody>
          <a:bodyPr wrap="square">
            <a:spAutoFit/>
          </a:bodyPr>
          <a:lstStyle/>
          <a:p>
            <a:pPr>
              <a:buNone/>
            </a:pPr>
            <a:r>
              <a:rPr lang="es-MX" sz="2400" b="1" dirty="0">
                <a:latin typeface="Montserrat" panose="00000500000000000000" pitchFamily="2" charset="0"/>
              </a:rPr>
              <a:t>Desarrollo económico y desigualdad social</a:t>
            </a:r>
          </a:p>
          <a:p>
            <a:pPr marL="342900" lvl="0" indent="-342900">
              <a:buFont typeface="Wingdings" panose="05000000000000000000" pitchFamily="2" charset="2"/>
              <a:buChar char="Ø"/>
            </a:pPr>
            <a:r>
              <a:rPr lang="es-MX" sz="2400" dirty="0">
                <a:latin typeface="Montserrat" panose="00000500000000000000" pitchFamily="2" charset="0"/>
              </a:rPr>
              <a:t>Crecimiento económico. </a:t>
            </a:r>
          </a:p>
          <a:p>
            <a:pPr marL="342900" lvl="0" indent="-342900">
              <a:buFont typeface="Wingdings" panose="05000000000000000000" pitchFamily="2" charset="2"/>
              <a:buChar char="Ø"/>
            </a:pPr>
            <a:r>
              <a:rPr lang="es-MX" sz="2400" dirty="0">
                <a:latin typeface="Montserrat" panose="00000500000000000000" pitchFamily="2" charset="0"/>
              </a:rPr>
              <a:t>Modernización del país. </a:t>
            </a:r>
          </a:p>
          <a:p>
            <a:pPr marL="342900" lvl="0" indent="-342900">
              <a:buFont typeface="Wingdings" panose="05000000000000000000" pitchFamily="2" charset="2"/>
              <a:buChar char="Ø"/>
            </a:pPr>
            <a:r>
              <a:rPr lang="es-MX" sz="2400" dirty="0">
                <a:latin typeface="Montserrat" panose="00000500000000000000" pitchFamily="2" charset="0"/>
              </a:rPr>
              <a:t>Concentración de la riqueza. </a:t>
            </a:r>
          </a:p>
          <a:p>
            <a:pPr marL="342900" lvl="0" indent="-342900">
              <a:buFont typeface="Wingdings" panose="05000000000000000000" pitchFamily="2" charset="2"/>
              <a:buChar char="Ø"/>
            </a:pPr>
            <a:r>
              <a:rPr lang="es-MX" sz="2400" dirty="0">
                <a:latin typeface="Montserrat" panose="00000500000000000000" pitchFamily="2" charset="0"/>
              </a:rPr>
              <a:t>Represión política. </a:t>
            </a:r>
          </a:p>
          <a:p>
            <a:pPr marL="342900" lvl="0" indent="-342900">
              <a:buFont typeface="Wingdings" panose="05000000000000000000" pitchFamily="2" charset="2"/>
              <a:buChar char="Ø"/>
            </a:pPr>
            <a:r>
              <a:rPr lang="es-MX" sz="2400" dirty="0">
                <a:latin typeface="Montserrat" panose="00000500000000000000" pitchFamily="2" charset="0"/>
              </a:rPr>
              <a:t>Desigualdad laboral.</a:t>
            </a:r>
          </a:p>
        </p:txBody>
      </p:sp>
      <p:sp>
        <p:nvSpPr>
          <p:cNvPr id="12" name="CuadroTexto 11">
            <a:extLst>
              <a:ext uri="{FF2B5EF4-FFF2-40B4-BE49-F238E27FC236}">
                <a16:creationId xmlns:a16="http://schemas.microsoft.com/office/drawing/2014/main" id="{01CDF106-499C-1AC9-7A7B-BCED48E0AA4A}"/>
              </a:ext>
            </a:extLst>
          </p:cNvPr>
          <p:cNvSpPr txBox="1"/>
          <p:nvPr/>
        </p:nvSpPr>
        <p:spPr>
          <a:xfrm>
            <a:off x="7760863" y="4714219"/>
            <a:ext cx="4327775" cy="507831"/>
          </a:xfrm>
          <a:prstGeom prst="rect">
            <a:avLst/>
          </a:prstGeom>
          <a:noFill/>
        </p:spPr>
        <p:txBody>
          <a:bodyPr wrap="square">
            <a:spAutoFit/>
          </a:bodyPr>
          <a:lstStyle/>
          <a:p>
            <a:pPr algn="just"/>
            <a:r>
              <a:rPr lang="es-MX" sz="900" dirty="0">
                <a:latin typeface="Montserrat" panose="00000500000000000000" pitchFamily="2" charset="0"/>
              </a:rPr>
              <a:t>Galindo, R. (2023, 2 de octubre). </a:t>
            </a:r>
            <a:r>
              <a:rPr lang="es-MX" sz="900" i="1" dirty="0">
                <a:latin typeface="Montserrat" panose="00000500000000000000" pitchFamily="2" charset="0"/>
              </a:rPr>
              <a:t>Historia porfirista de México</a:t>
            </a:r>
            <a:r>
              <a:rPr lang="es-MX" sz="900" dirty="0">
                <a:latin typeface="Montserrat" panose="00000500000000000000" pitchFamily="2" charset="0"/>
              </a:rPr>
              <a:t>. SPR Informa. </a:t>
            </a:r>
            <a:r>
              <a:rPr lang="es-MX" sz="900" dirty="0">
                <a:latin typeface="Montserrat" panose="00000500000000000000" pitchFamily="2" charset="0"/>
                <a:hlinkClick r:id="rId4"/>
              </a:rPr>
              <a:t>https://www.sprinforma.mx/noticia/historia-porfirista-de-mexico</a:t>
            </a:r>
            <a:endParaRPr lang="es-MX" sz="900" dirty="0">
              <a:latin typeface="Montserrat" panose="00000500000000000000" pitchFamily="2" charset="0"/>
            </a:endParaRPr>
          </a:p>
        </p:txBody>
      </p:sp>
      <p:pic>
        <p:nvPicPr>
          <p:cNvPr id="15" name="Imagen 14">
            <a:extLst>
              <a:ext uri="{FF2B5EF4-FFF2-40B4-BE49-F238E27FC236}">
                <a16:creationId xmlns:a16="http://schemas.microsoft.com/office/drawing/2014/main" id="{03456554-DD44-F59A-C269-E79CA844E647}"/>
              </a:ext>
            </a:extLst>
          </p:cNvPr>
          <p:cNvPicPr>
            <a:picLocks noChangeAspect="1"/>
          </p:cNvPicPr>
          <p:nvPr/>
        </p:nvPicPr>
        <p:blipFill>
          <a:blip r:embed="rId5"/>
          <a:stretch>
            <a:fillRect/>
          </a:stretch>
        </p:blipFill>
        <p:spPr>
          <a:xfrm>
            <a:off x="7760864" y="2152834"/>
            <a:ext cx="4327775" cy="2296125"/>
          </a:xfrm>
          <a:prstGeom prst="rect">
            <a:avLst/>
          </a:prstGeom>
        </p:spPr>
      </p:pic>
    </p:spTree>
    <p:extLst>
      <p:ext uri="{BB962C8B-B14F-4D97-AF65-F5344CB8AC3E}">
        <p14:creationId xmlns:p14="http://schemas.microsoft.com/office/powerpoint/2010/main" val="3699136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A999ED0-5240-5F6A-87C6-99E8D86213D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5128D9F-17E9-800A-F187-E05AB53FF19A}"/>
              </a:ext>
            </a:extLst>
          </p:cNvPr>
          <p:cNvSpPr>
            <a:spLocks noGrp="1"/>
          </p:cNvSpPr>
          <p:nvPr>
            <p:ph type="title"/>
          </p:nvPr>
        </p:nvSpPr>
        <p:spPr>
          <a:xfrm>
            <a:off x="680545" y="661574"/>
            <a:ext cx="10930688" cy="974376"/>
          </a:xfrm>
        </p:spPr>
        <p:txBody>
          <a:bodyPr>
            <a:normAutofit/>
          </a:bodyPr>
          <a:lstStyle/>
          <a:p>
            <a:r>
              <a:rPr lang="es-MX" sz="3600" b="1" dirty="0">
                <a:solidFill>
                  <a:srgbClr val="245C4F"/>
                </a:solidFill>
                <a:latin typeface="Montserrat" pitchFamily="2" charset="77"/>
              </a:rPr>
              <a:t>4. Porfiriato</a:t>
            </a:r>
            <a:endParaRPr lang="es-MX" sz="3600" b="1" noProof="0" dirty="0">
              <a:solidFill>
                <a:srgbClr val="245C4F"/>
              </a:solidFill>
              <a:latin typeface="Montserrat" pitchFamily="2" charset="77"/>
            </a:endParaRPr>
          </a:p>
        </p:txBody>
      </p:sp>
      <p:sp>
        <p:nvSpPr>
          <p:cNvPr id="5" name="Título 1">
            <a:extLst>
              <a:ext uri="{FF2B5EF4-FFF2-40B4-BE49-F238E27FC236}">
                <a16:creationId xmlns:a16="http://schemas.microsoft.com/office/drawing/2014/main" id="{4455A9E9-AC8A-DEDF-7CD3-09F416C5C63E}"/>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2" name="CuadroTexto 11">
            <a:extLst>
              <a:ext uri="{FF2B5EF4-FFF2-40B4-BE49-F238E27FC236}">
                <a16:creationId xmlns:a16="http://schemas.microsoft.com/office/drawing/2014/main" id="{F4D8CF6E-CC8B-A21D-F3E7-494F34A8D37B}"/>
              </a:ext>
            </a:extLst>
          </p:cNvPr>
          <p:cNvSpPr txBox="1"/>
          <p:nvPr/>
        </p:nvSpPr>
        <p:spPr>
          <a:xfrm>
            <a:off x="509038" y="4652535"/>
            <a:ext cx="4327775" cy="507831"/>
          </a:xfrm>
          <a:prstGeom prst="rect">
            <a:avLst/>
          </a:prstGeom>
          <a:noFill/>
        </p:spPr>
        <p:txBody>
          <a:bodyPr wrap="square">
            <a:spAutoFit/>
          </a:bodyPr>
          <a:lstStyle/>
          <a:p>
            <a:pPr algn="just"/>
            <a:r>
              <a:rPr lang="es-MX" sz="900" dirty="0">
                <a:latin typeface="Montserrat" panose="00000500000000000000" pitchFamily="2" charset="0"/>
              </a:rPr>
              <a:t>Galindo, R. (2023, 2 de octubre). </a:t>
            </a:r>
            <a:r>
              <a:rPr lang="es-MX" sz="900" i="1" dirty="0">
                <a:latin typeface="Montserrat" panose="00000500000000000000" pitchFamily="2" charset="0"/>
              </a:rPr>
              <a:t>Historia porfirista de México</a:t>
            </a:r>
            <a:r>
              <a:rPr lang="es-MX" sz="900" dirty="0">
                <a:latin typeface="Montserrat" panose="00000500000000000000" pitchFamily="2" charset="0"/>
              </a:rPr>
              <a:t>. SPR Informa. </a:t>
            </a:r>
            <a:r>
              <a:rPr lang="es-MX" sz="900" dirty="0">
                <a:latin typeface="Montserrat" panose="00000500000000000000" pitchFamily="2" charset="0"/>
                <a:hlinkClick r:id="rId4"/>
              </a:rPr>
              <a:t>https://www.sprinforma.mx/noticia/historia-porfirista-de-mexico</a:t>
            </a:r>
            <a:endParaRPr lang="es-MX" sz="900" dirty="0">
              <a:latin typeface="Montserrat" panose="00000500000000000000" pitchFamily="2" charset="0"/>
            </a:endParaRPr>
          </a:p>
        </p:txBody>
      </p:sp>
      <p:pic>
        <p:nvPicPr>
          <p:cNvPr id="15" name="Imagen 14">
            <a:extLst>
              <a:ext uri="{FF2B5EF4-FFF2-40B4-BE49-F238E27FC236}">
                <a16:creationId xmlns:a16="http://schemas.microsoft.com/office/drawing/2014/main" id="{36BF4645-3638-03AA-D726-F19698C35AFE}"/>
              </a:ext>
            </a:extLst>
          </p:cNvPr>
          <p:cNvPicPr>
            <a:picLocks noChangeAspect="1"/>
          </p:cNvPicPr>
          <p:nvPr/>
        </p:nvPicPr>
        <p:blipFill>
          <a:blip r:embed="rId5"/>
          <a:stretch>
            <a:fillRect/>
          </a:stretch>
        </p:blipFill>
        <p:spPr>
          <a:xfrm>
            <a:off x="509037" y="2182903"/>
            <a:ext cx="4327775" cy="2296125"/>
          </a:xfrm>
          <a:prstGeom prst="rect">
            <a:avLst/>
          </a:prstGeom>
        </p:spPr>
      </p:pic>
      <p:sp>
        <p:nvSpPr>
          <p:cNvPr id="3" name="CuadroTexto 2">
            <a:extLst>
              <a:ext uri="{FF2B5EF4-FFF2-40B4-BE49-F238E27FC236}">
                <a16:creationId xmlns:a16="http://schemas.microsoft.com/office/drawing/2014/main" id="{5DC101D3-5A8A-B7A4-4CC8-8EDCCA7D6561}"/>
              </a:ext>
            </a:extLst>
          </p:cNvPr>
          <p:cNvSpPr txBox="1"/>
          <p:nvPr/>
        </p:nvSpPr>
        <p:spPr>
          <a:xfrm>
            <a:off x="5791955" y="2111099"/>
            <a:ext cx="6097508" cy="3323987"/>
          </a:xfrm>
          <a:prstGeom prst="rect">
            <a:avLst/>
          </a:prstGeom>
          <a:noFill/>
        </p:spPr>
        <p:txBody>
          <a:bodyPr wrap="square">
            <a:spAutoFit/>
          </a:bodyPr>
          <a:lstStyle/>
          <a:p>
            <a:pPr algn="just">
              <a:buNone/>
            </a:pPr>
            <a:r>
              <a:rPr lang="es-MX" sz="1400" b="1" dirty="0">
                <a:latin typeface="Montserrat" panose="00000500000000000000" pitchFamily="2" charset="0"/>
              </a:rPr>
              <a:t>Modernización económica y desigualdad social</a:t>
            </a:r>
          </a:p>
          <a:p>
            <a:pPr algn="just">
              <a:buNone/>
            </a:pPr>
            <a:r>
              <a:rPr lang="es-MX" sz="1400" dirty="0">
                <a:latin typeface="Montserrat" panose="00000500000000000000" pitchFamily="2" charset="0"/>
              </a:rPr>
              <a:t>Durante el gobierno de Porfirio Díaz México experimentó crecimiento económico, desarrollo industrial y modernización de infraestructura. Sin embargo, estos avances estuvieron acompañados de profundas desigualdades sociales, concentración de la riqueza y limitaciones a la participación política.</a:t>
            </a:r>
          </a:p>
          <a:p>
            <a:pPr algn="just">
              <a:buNone/>
            </a:pPr>
            <a:r>
              <a:rPr lang="es-MX" sz="1400" dirty="0">
                <a:latin typeface="Montserrat" panose="00000500000000000000" pitchFamily="2" charset="0"/>
              </a:rPr>
              <a:t>Los trabajadores enfrentaban condiciones laborales injustas y diversos sectores sociales carecían de mecanismos efectivos para defender sus derechos.</a:t>
            </a: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Las desigualdades del Porfiriato evidenciaron la necesidad de reconocer derechos sociales y laborales, lo que contribuyó al surgimiento de la Revolución Mexicana.</a:t>
            </a:r>
          </a:p>
        </p:txBody>
      </p:sp>
    </p:spTree>
    <p:extLst>
      <p:ext uri="{BB962C8B-B14F-4D97-AF65-F5344CB8AC3E}">
        <p14:creationId xmlns:p14="http://schemas.microsoft.com/office/powerpoint/2010/main" val="14413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119F1E8-FFCE-6517-D462-15D709A3B3C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AD0C80B-7B87-72DF-E146-11775AA92C48}"/>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5. Revolución Mexicana</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5EE58C9E-1287-A139-D525-51699DE98D3C}"/>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7" name="CuadroTexto 6">
            <a:extLst>
              <a:ext uri="{FF2B5EF4-FFF2-40B4-BE49-F238E27FC236}">
                <a16:creationId xmlns:a16="http://schemas.microsoft.com/office/drawing/2014/main" id="{3B4FF4DA-1F74-6044-19A4-9E3C50ECEC6A}"/>
              </a:ext>
            </a:extLst>
          </p:cNvPr>
          <p:cNvSpPr txBox="1"/>
          <p:nvPr/>
        </p:nvSpPr>
        <p:spPr>
          <a:xfrm>
            <a:off x="680545" y="1769475"/>
            <a:ext cx="6097508" cy="3539430"/>
          </a:xfrm>
          <a:prstGeom prst="rect">
            <a:avLst/>
          </a:prstGeom>
          <a:noFill/>
        </p:spPr>
        <p:txBody>
          <a:bodyPr wrap="square">
            <a:spAutoFit/>
          </a:bodyPr>
          <a:lstStyle/>
          <a:p>
            <a:pPr>
              <a:buNone/>
            </a:pPr>
            <a:r>
              <a:rPr lang="es-MX" sz="2800" b="1" dirty="0">
                <a:latin typeface="Montserrat" panose="00000500000000000000" pitchFamily="2" charset="0"/>
              </a:rPr>
              <a:t>Revolución Mexicana</a:t>
            </a:r>
          </a:p>
          <a:p>
            <a:pPr>
              <a:buNone/>
            </a:pPr>
            <a:r>
              <a:rPr lang="es-MX" sz="2800" b="1" dirty="0">
                <a:latin typeface="Montserrat" panose="00000500000000000000" pitchFamily="2" charset="0"/>
              </a:rPr>
              <a:t>El origen de los derechos sociales</a:t>
            </a:r>
          </a:p>
          <a:p>
            <a:pPr marL="457200" lvl="0" indent="-457200">
              <a:buFont typeface="Wingdings" panose="05000000000000000000" pitchFamily="2" charset="2"/>
              <a:buChar char="Ø"/>
            </a:pPr>
            <a:r>
              <a:rPr lang="es-MX" sz="2800" dirty="0">
                <a:latin typeface="Montserrat" panose="00000500000000000000" pitchFamily="2" charset="0"/>
              </a:rPr>
              <a:t>Justicia social. </a:t>
            </a:r>
          </a:p>
          <a:p>
            <a:pPr marL="457200" lvl="0" indent="-457200">
              <a:buFont typeface="Wingdings" panose="05000000000000000000" pitchFamily="2" charset="2"/>
              <a:buChar char="Ø"/>
            </a:pPr>
            <a:r>
              <a:rPr lang="es-MX" sz="2800" dirty="0">
                <a:latin typeface="Montserrat" panose="00000500000000000000" pitchFamily="2" charset="0"/>
              </a:rPr>
              <a:t>Reparto agrario. </a:t>
            </a:r>
          </a:p>
          <a:p>
            <a:pPr marL="457200" lvl="0" indent="-457200">
              <a:buFont typeface="Wingdings" panose="05000000000000000000" pitchFamily="2" charset="2"/>
              <a:buChar char="Ø"/>
            </a:pPr>
            <a:r>
              <a:rPr lang="es-MX" sz="2800" dirty="0">
                <a:latin typeface="Montserrat" panose="00000500000000000000" pitchFamily="2" charset="0"/>
              </a:rPr>
              <a:t>Derechos laborales. </a:t>
            </a:r>
          </a:p>
          <a:p>
            <a:pPr marL="457200" lvl="0" indent="-457200">
              <a:buFont typeface="Wingdings" panose="05000000000000000000" pitchFamily="2" charset="2"/>
              <a:buChar char="Ø"/>
            </a:pPr>
            <a:r>
              <a:rPr lang="es-MX" sz="2800" dirty="0">
                <a:latin typeface="Montserrat" panose="00000500000000000000" pitchFamily="2" charset="0"/>
              </a:rPr>
              <a:t>Educación pública. </a:t>
            </a:r>
          </a:p>
          <a:p>
            <a:pPr marL="457200" lvl="0" indent="-457200">
              <a:buFont typeface="Wingdings" panose="05000000000000000000" pitchFamily="2" charset="2"/>
              <a:buChar char="Ø"/>
            </a:pPr>
            <a:r>
              <a:rPr lang="es-MX" sz="2800" dirty="0">
                <a:latin typeface="Montserrat" panose="00000500000000000000" pitchFamily="2" charset="0"/>
              </a:rPr>
              <a:t>Constitución de 1917.</a:t>
            </a:r>
          </a:p>
        </p:txBody>
      </p:sp>
      <p:sp>
        <p:nvSpPr>
          <p:cNvPr id="10" name="CuadroTexto 9">
            <a:extLst>
              <a:ext uri="{FF2B5EF4-FFF2-40B4-BE49-F238E27FC236}">
                <a16:creationId xmlns:a16="http://schemas.microsoft.com/office/drawing/2014/main" id="{2D5A3E75-2F7F-D23E-E4F3-CAF79390D040}"/>
              </a:ext>
            </a:extLst>
          </p:cNvPr>
          <p:cNvSpPr txBox="1"/>
          <p:nvPr/>
        </p:nvSpPr>
        <p:spPr>
          <a:xfrm>
            <a:off x="7260879" y="4985739"/>
            <a:ext cx="4637636" cy="646331"/>
          </a:xfrm>
          <a:prstGeom prst="rect">
            <a:avLst/>
          </a:prstGeom>
          <a:noFill/>
        </p:spPr>
        <p:txBody>
          <a:bodyPr wrap="square">
            <a:spAutoFit/>
          </a:bodyPr>
          <a:lstStyle/>
          <a:p>
            <a:pPr algn="just"/>
            <a:r>
              <a:rPr lang="es-MX" sz="900" dirty="0">
                <a:latin typeface="Montserrat" panose="00000500000000000000" pitchFamily="2" charset="0"/>
              </a:rPr>
              <a:t>Ruiz Arce, S. (2025, 4 de noviembre). </a:t>
            </a:r>
            <a:r>
              <a:rPr lang="es-MX" sz="900" i="1" dirty="0">
                <a:latin typeface="Montserrat" panose="00000500000000000000" pitchFamily="2" charset="0"/>
              </a:rPr>
              <a:t>¿Qué impulsó la Revolución Mexicana de 1910 y quiénes la protagonizaron?</a:t>
            </a:r>
            <a:r>
              <a:rPr lang="es-MX" sz="900" dirty="0">
                <a:latin typeface="Montserrat" panose="00000500000000000000" pitchFamily="2" charset="0"/>
              </a:rPr>
              <a:t> Tribuna de México. </a:t>
            </a:r>
            <a:r>
              <a:rPr lang="es-MX" sz="900" dirty="0">
                <a:latin typeface="Montserrat" panose="00000500000000000000" pitchFamily="2" charset="0"/>
                <a:hlinkClick r:id="rId4"/>
              </a:rPr>
              <a:t>https://tribunademexico.com/revolucion-mexicana-y-quienes-la-protagonizaron/</a:t>
            </a:r>
            <a:endParaRPr lang="es-MX" sz="900" dirty="0">
              <a:latin typeface="Montserrat" panose="00000500000000000000" pitchFamily="2" charset="0"/>
            </a:endParaRPr>
          </a:p>
        </p:txBody>
      </p:sp>
      <p:pic>
        <p:nvPicPr>
          <p:cNvPr id="13" name="Imagen 12">
            <a:extLst>
              <a:ext uri="{FF2B5EF4-FFF2-40B4-BE49-F238E27FC236}">
                <a16:creationId xmlns:a16="http://schemas.microsoft.com/office/drawing/2014/main" id="{FC68422D-BBA0-7BFB-DC8A-E4DBF8A8ED02}"/>
              </a:ext>
            </a:extLst>
          </p:cNvPr>
          <p:cNvPicPr>
            <a:picLocks noChangeAspect="1"/>
          </p:cNvPicPr>
          <p:nvPr/>
        </p:nvPicPr>
        <p:blipFill>
          <a:blip r:embed="rId5"/>
          <a:stretch>
            <a:fillRect/>
          </a:stretch>
        </p:blipFill>
        <p:spPr>
          <a:xfrm>
            <a:off x="7043264" y="1728188"/>
            <a:ext cx="4809382" cy="2884350"/>
          </a:xfrm>
          <a:prstGeom prst="rect">
            <a:avLst/>
          </a:prstGeom>
        </p:spPr>
      </p:pic>
    </p:spTree>
    <p:extLst>
      <p:ext uri="{BB962C8B-B14F-4D97-AF65-F5344CB8AC3E}">
        <p14:creationId xmlns:p14="http://schemas.microsoft.com/office/powerpoint/2010/main" val="3710450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27D371-0989-B307-5026-9D9B808B2C9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E15B1D0-1146-7C6C-3DC2-B21FCDA8B8F6}"/>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5. Revolución Mexicana</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2B115F5B-593F-98DA-7207-5983D110F93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0" name="CuadroTexto 9">
            <a:extLst>
              <a:ext uri="{FF2B5EF4-FFF2-40B4-BE49-F238E27FC236}">
                <a16:creationId xmlns:a16="http://schemas.microsoft.com/office/drawing/2014/main" id="{6CB31EFB-3E3A-E2D4-75A7-A558072176F3}"/>
              </a:ext>
            </a:extLst>
          </p:cNvPr>
          <p:cNvSpPr txBox="1"/>
          <p:nvPr/>
        </p:nvSpPr>
        <p:spPr>
          <a:xfrm>
            <a:off x="543207" y="4806647"/>
            <a:ext cx="4637636" cy="646331"/>
          </a:xfrm>
          <a:prstGeom prst="rect">
            <a:avLst/>
          </a:prstGeom>
          <a:noFill/>
        </p:spPr>
        <p:txBody>
          <a:bodyPr wrap="square">
            <a:spAutoFit/>
          </a:bodyPr>
          <a:lstStyle/>
          <a:p>
            <a:pPr algn="just"/>
            <a:r>
              <a:rPr lang="es-MX" sz="900" dirty="0">
                <a:latin typeface="Montserrat" panose="00000500000000000000" pitchFamily="2" charset="0"/>
              </a:rPr>
              <a:t>Ruiz Arce, S. (2025, 4 de noviembre). </a:t>
            </a:r>
            <a:r>
              <a:rPr lang="es-MX" sz="900" i="1" dirty="0">
                <a:latin typeface="Montserrat" panose="00000500000000000000" pitchFamily="2" charset="0"/>
              </a:rPr>
              <a:t>¿Qué impulsó la Revolución Mexicana de 1910 y quiénes la protagonizaron?</a:t>
            </a:r>
            <a:r>
              <a:rPr lang="es-MX" sz="900" dirty="0">
                <a:latin typeface="Montserrat" panose="00000500000000000000" pitchFamily="2" charset="0"/>
              </a:rPr>
              <a:t> Tribuna de México. </a:t>
            </a:r>
            <a:r>
              <a:rPr lang="es-MX" sz="900" dirty="0">
                <a:latin typeface="Montserrat" panose="00000500000000000000" pitchFamily="2" charset="0"/>
                <a:hlinkClick r:id="rId4"/>
              </a:rPr>
              <a:t>https://tribunademexico.com/revolucion-mexicana-y-quienes-la-protagonizaron/</a:t>
            </a:r>
            <a:endParaRPr lang="es-MX" sz="900" dirty="0">
              <a:latin typeface="Montserrat" panose="00000500000000000000" pitchFamily="2" charset="0"/>
            </a:endParaRPr>
          </a:p>
        </p:txBody>
      </p:sp>
      <p:pic>
        <p:nvPicPr>
          <p:cNvPr id="13" name="Imagen 12">
            <a:extLst>
              <a:ext uri="{FF2B5EF4-FFF2-40B4-BE49-F238E27FC236}">
                <a16:creationId xmlns:a16="http://schemas.microsoft.com/office/drawing/2014/main" id="{FE076237-B13A-731A-EFF7-FB92522D2260}"/>
              </a:ext>
            </a:extLst>
          </p:cNvPr>
          <p:cNvPicPr>
            <a:picLocks noChangeAspect="1"/>
          </p:cNvPicPr>
          <p:nvPr/>
        </p:nvPicPr>
        <p:blipFill>
          <a:blip r:embed="rId5"/>
          <a:stretch>
            <a:fillRect/>
          </a:stretch>
        </p:blipFill>
        <p:spPr>
          <a:xfrm>
            <a:off x="680545" y="1637654"/>
            <a:ext cx="4809382" cy="2884350"/>
          </a:xfrm>
          <a:prstGeom prst="rect">
            <a:avLst/>
          </a:prstGeom>
        </p:spPr>
      </p:pic>
      <p:sp>
        <p:nvSpPr>
          <p:cNvPr id="3" name="CuadroTexto 2">
            <a:extLst>
              <a:ext uri="{FF2B5EF4-FFF2-40B4-BE49-F238E27FC236}">
                <a16:creationId xmlns:a16="http://schemas.microsoft.com/office/drawing/2014/main" id="{52EA6C83-5B1A-DDB2-FE0C-06FCD84CE479}"/>
              </a:ext>
            </a:extLst>
          </p:cNvPr>
          <p:cNvSpPr txBox="1"/>
          <p:nvPr/>
        </p:nvSpPr>
        <p:spPr>
          <a:xfrm>
            <a:off x="5891543" y="1982450"/>
            <a:ext cx="6097508" cy="2893100"/>
          </a:xfrm>
          <a:prstGeom prst="rect">
            <a:avLst/>
          </a:prstGeom>
          <a:noFill/>
        </p:spPr>
        <p:txBody>
          <a:bodyPr wrap="square">
            <a:spAutoFit/>
          </a:bodyPr>
          <a:lstStyle/>
          <a:p>
            <a:pPr algn="just">
              <a:buNone/>
            </a:pPr>
            <a:r>
              <a:rPr lang="es-MX" sz="1400" b="1" dirty="0">
                <a:latin typeface="Montserrat" panose="00000500000000000000" pitchFamily="2" charset="0"/>
              </a:rPr>
              <a:t>El nacimiento de los derechos sociales</a:t>
            </a:r>
          </a:p>
          <a:p>
            <a:pPr algn="just">
              <a:buNone/>
            </a:pPr>
            <a:r>
              <a:rPr lang="es-MX" sz="1400" dirty="0">
                <a:latin typeface="Montserrat" panose="00000500000000000000" pitchFamily="2" charset="0"/>
              </a:rPr>
              <a:t>La Revolución Mexicana de 1910 surgió como respuesta a problemas relacionados con la desigualdad, la falta de democracia, la concentración de tierras y la explotación laboral.</a:t>
            </a:r>
          </a:p>
          <a:p>
            <a:pPr algn="just">
              <a:buNone/>
            </a:pPr>
            <a:r>
              <a:rPr lang="es-MX" sz="1400" dirty="0">
                <a:latin typeface="Montserrat" panose="00000500000000000000" pitchFamily="2" charset="0"/>
              </a:rPr>
              <a:t>Las demandas de campesinos y trabajadores impulsaron un nuevo modelo constitucional que reconociera derechos económicos y sociales.</a:t>
            </a: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La Revolución permitió incorporar una visión social del derecho, donde el Estado asumió la obligación de garantizar condiciones de bienestar mediante derechos como educación, trabajo y propiedad social.</a:t>
            </a:r>
          </a:p>
        </p:txBody>
      </p:sp>
    </p:spTree>
    <p:extLst>
      <p:ext uri="{BB962C8B-B14F-4D97-AF65-F5344CB8AC3E}">
        <p14:creationId xmlns:p14="http://schemas.microsoft.com/office/powerpoint/2010/main" val="915484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CC444DC-1CAB-FDD6-D266-1D65F2DE6DF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2C8F951F-EADA-4D05-9F25-3AF79AA548EE}"/>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6. Etapa Posterior a la Revolución Mexicana</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B611416D-CACA-94CB-9F07-630D0BE549B3}"/>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3" name="CuadroTexto 2">
            <a:extLst>
              <a:ext uri="{FF2B5EF4-FFF2-40B4-BE49-F238E27FC236}">
                <a16:creationId xmlns:a16="http://schemas.microsoft.com/office/drawing/2014/main" id="{67C6712F-685E-906D-3B41-A3E82C6333C6}"/>
              </a:ext>
            </a:extLst>
          </p:cNvPr>
          <p:cNvSpPr txBox="1"/>
          <p:nvPr/>
        </p:nvSpPr>
        <p:spPr>
          <a:xfrm>
            <a:off x="752086" y="1927799"/>
            <a:ext cx="6097508" cy="2862322"/>
          </a:xfrm>
          <a:prstGeom prst="rect">
            <a:avLst/>
          </a:prstGeom>
          <a:noFill/>
        </p:spPr>
        <p:txBody>
          <a:bodyPr wrap="square">
            <a:spAutoFit/>
          </a:bodyPr>
          <a:lstStyle/>
          <a:p>
            <a:pPr>
              <a:buNone/>
            </a:pPr>
            <a:r>
              <a:rPr lang="es-MX" sz="2000" b="1" dirty="0">
                <a:latin typeface="Montserrat" panose="00000500000000000000" pitchFamily="2" charset="0"/>
              </a:rPr>
              <a:t>Consolidación del Estado social y evolución de los derechos humanos</a:t>
            </a:r>
          </a:p>
          <a:p>
            <a:pPr marL="342900" lvl="0" indent="-342900">
              <a:buFont typeface="Wingdings" panose="05000000000000000000" pitchFamily="2" charset="2"/>
              <a:buChar char="Ø"/>
            </a:pPr>
            <a:r>
              <a:rPr lang="es-MX" sz="2000" dirty="0">
                <a:latin typeface="Montserrat" panose="00000500000000000000" pitchFamily="2" charset="0"/>
              </a:rPr>
              <a:t>Consolidación de la Constitución de 1917. </a:t>
            </a:r>
          </a:p>
          <a:p>
            <a:pPr marL="342900" lvl="0" indent="-342900">
              <a:buFont typeface="Wingdings" panose="05000000000000000000" pitchFamily="2" charset="2"/>
              <a:buChar char="Ø"/>
            </a:pPr>
            <a:r>
              <a:rPr lang="es-MX" sz="2000" dirty="0">
                <a:latin typeface="Montserrat" panose="00000500000000000000" pitchFamily="2" charset="0"/>
              </a:rPr>
              <a:t>Creación de instituciones sociales. </a:t>
            </a:r>
          </a:p>
          <a:p>
            <a:pPr marL="342900" lvl="0" indent="-342900">
              <a:buFont typeface="Wingdings" panose="05000000000000000000" pitchFamily="2" charset="2"/>
              <a:buChar char="Ø"/>
            </a:pPr>
            <a:r>
              <a:rPr lang="es-MX" sz="2000" dirty="0">
                <a:latin typeface="Montserrat" panose="00000500000000000000" pitchFamily="2" charset="0"/>
              </a:rPr>
              <a:t>Reconocimiento progresivo de derechos. </a:t>
            </a:r>
          </a:p>
          <a:p>
            <a:pPr marL="342900" lvl="0" indent="-342900">
              <a:buFont typeface="Wingdings" panose="05000000000000000000" pitchFamily="2" charset="2"/>
              <a:buChar char="Ø"/>
            </a:pPr>
            <a:r>
              <a:rPr lang="es-MX" sz="2000" dirty="0">
                <a:latin typeface="Montserrat" panose="00000500000000000000" pitchFamily="2" charset="0"/>
              </a:rPr>
              <a:t>Desarrollo de derechos laborales, educativos y agrarios. </a:t>
            </a:r>
          </a:p>
          <a:p>
            <a:pPr marL="342900" lvl="0" indent="-342900">
              <a:buFont typeface="Wingdings" panose="05000000000000000000" pitchFamily="2" charset="2"/>
              <a:buChar char="Ø"/>
            </a:pPr>
            <a:r>
              <a:rPr lang="es-MX" sz="2000" dirty="0">
                <a:latin typeface="Montserrat" panose="00000500000000000000" pitchFamily="2" charset="0"/>
              </a:rPr>
              <a:t>Incorporación del enfoque de derechos humanos. </a:t>
            </a:r>
          </a:p>
        </p:txBody>
      </p:sp>
      <p:sp>
        <p:nvSpPr>
          <p:cNvPr id="11" name="CuadroTexto 10">
            <a:extLst>
              <a:ext uri="{FF2B5EF4-FFF2-40B4-BE49-F238E27FC236}">
                <a16:creationId xmlns:a16="http://schemas.microsoft.com/office/drawing/2014/main" id="{90690694-B0CC-6E4F-EE93-DA411248416A}"/>
              </a:ext>
            </a:extLst>
          </p:cNvPr>
          <p:cNvSpPr txBox="1"/>
          <p:nvPr/>
        </p:nvSpPr>
        <p:spPr>
          <a:xfrm>
            <a:off x="7170342" y="4952832"/>
            <a:ext cx="4755333" cy="646331"/>
          </a:xfrm>
          <a:prstGeom prst="rect">
            <a:avLst/>
          </a:prstGeom>
          <a:noFill/>
        </p:spPr>
        <p:txBody>
          <a:bodyPr wrap="square">
            <a:spAutoFit/>
          </a:bodyPr>
          <a:lstStyle/>
          <a:p>
            <a:pPr algn="just"/>
            <a:r>
              <a:rPr lang="es-MX" sz="900" dirty="0">
                <a:latin typeface="Montserrat" panose="00000500000000000000" pitchFamily="2" charset="0"/>
              </a:rPr>
              <a:t>de los Santos Cruz, G. (2025, 22 de junio). </a:t>
            </a:r>
            <a:r>
              <a:rPr lang="es-MX" sz="900" i="1" dirty="0">
                <a:latin typeface="Montserrat" panose="00000500000000000000" pitchFamily="2" charset="0"/>
              </a:rPr>
              <a:t>23 de junio de 1937, nacionalización de los ferrocarriles y la consolidación del México moderno</a:t>
            </a:r>
            <a:r>
              <a:rPr lang="es-MX" sz="900" dirty="0">
                <a:latin typeface="Montserrat" panose="00000500000000000000" pitchFamily="2" charset="0"/>
              </a:rPr>
              <a:t>. Portavoz. </a:t>
            </a:r>
            <a:r>
              <a:rPr lang="es-MX" sz="900" dirty="0">
                <a:latin typeface="Montserrat" panose="00000500000000000000" pitchFamily="2" charset="0"/>
                <a:hlinkClick r:id="rId4"/>
              </a:rPr>
              <a:t>https://portavozchiapas.com.mx/2025/06/22/23-de-junio-de-1937-nacionalizacion-de-los-ferrocarriles-y-la-consolidacion-del-mexico-moderno/</a:t>
            </a:r>
            <a:endParaRPr lang="es-MX" sz="900" dirty="0">
              <a:latin typeface="Montserrat" panose="00000500000000000000" pitchFamily="2" charset="0"/>
            </a:endParaRPr>
          </a:p>
        </p:txBody>
      </p:sp>
      <p:pic>
        <p:nvPicPr>
          <p:cNvPr id="14" name="Imagen 13">
            <a:extLst>
              <a:ext uri="{FF2B5EF4-FFF2-40B4-BE49-F238E27FC236}">
                <a16:creationId xmlns:a16="http://schemas.microsoft.com/office/drawing/2014/main" id="{8A95804E-41C6-D1B2-D754-4B3DE58CD4AC}"/>
              </a:ext>
            </a:extLst>
          </p:cNvPr>
          <p:cNvPicPr>
            <a:picLocks noChangeAspect="1"/>
          </p:cNvPicPr>
          <p:nvPr/>
        </p:nvPicPr>
        <p:blipFill>
          <a:blip r:embed="rId5"/>
          <a:stretch>
            <a:fillRect/>
          </a:stretch>
        </p:blipFill>
        <p:spPr>
          <a:xfrm>
            <a:off x="7363244" y="1582002"/>
            <a:ext cx="4369530" cy="3224645"/>
          </a:xfrm>
          <a:prstGeom prst="rect">
            <a:avLst/>
          </a:prstGeom>
        </p:spPr>
      </p:pic>
    </p:spTree>
    <p:extLst>
      <p:ext uri="{BB962C8B-B14F-4D97-AF65-F5344CB8AC3E}">
        <p14:creationId xmlns:p14="http://schemas.microsoft.com/office/powerpoint/2010/main" val="367352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A813FCD-D752-6406-1AFE-F68B4F2674FC}"/>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69DE0AD6-464E-753D-9F77-BCF900BBCD00}"/>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6. Etapa Posterior a la Revolución Mexicana</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30FDC6FE-66C0-A0D0-DBC6-CDFE71A111E1}"/>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1" name="CuadroTexto 10">
            <a:extLst>
              <a:ext uri="{FF2B5EF4-FFF2-40B4-BE49-F238E27FC236}">
                <a16:creationId xmlns:a16="http://schemas.microsoft.com/office/drawing/2014/main" id="{EB4EB012-CBEE-BA68-C0B3-CD45CBECF495}"/>
              </a:ext>
            </a:extLst>
          </p:cNvPr>
          <p:cNvSpPr txBox="1"/>
          <p:nvPr/>
        </p:nvSpPr>
        <p:spPr>
          <a:xfrm>
            <a:off x="680545" y="4952292"/>
            <a:ext cx="4755333" cy="646331"/>
          </a:xfrm>
          <a:prstGeom prst="rect">
            <a:avLst/>
          </a:prstGeom>
          <a:noFill/>
        </p:spPr>
        <p:txBody>
          <a:bodyPr wrap="square">
            <a:spAutoFit/>
          </a:bodyPr>
          <a:lstStyle/>
          <a:p>
            <a:pPr algn="just"/>
            <a:r>
              <a:rPr lang="es-MX" sz="900" dirty="0">
                <a:latin typeface="Montserrat" panose="00000500000000000000" pitchFamily="2" charset="0"/>
              </a:rPr>
              <a:t>de los Santos Cruz, G. (2025, 22 de junio). </a:t>
            </a:r>
            <a:r>
              <a:rPr lang="es-MX" sz="900" i="1" dirty="0">
                <a:latin typeface="Montserrat" panose="00000500000000000000" pitchFamily="2" charset="0"/>
              </a:rPr>
              <a:t>23 de junio de 1937, nacionalización de los ferrocarriles y la consolidación del México moderno</a:t>
            </a:r>
            <a:r>
              <a:rPr lang="es-MX" sz="900" dirty="0">
                <a:latin typeface="Montserrat" panose="00000500000000000000" pitchFamily="2" charset="0"/>
              </a:rPr>
              <a:t>. Portavoz. </a:t>
            </a:r>
            <a:r>
              <a:rPr lang="es-MX" sz="900" dirty="0">
                <a:latin typeface="Montserrat" panose="00000500000000000000" pitchFamily="2" charset="0"/>
                <a:hlinkClick r:id="rId4"/>
              </a:rPr>
              <a:t>https://portavozchiapas.com.mx/2025/06/22/23-de-junio-de-1937-nacionalizacion-de-los-ferrocarriles-y-la-consolidacion-del-mexico-moderno/</a:t>
            </a:r>
            <a:endParaRPr lang="es-MX" sz="900" dirty="0">
              <a:latin typeface="Montserrat" panose="00000500000000000000" pitchFamily="2" charset="0"/>
            </a:endParaRPr>
          </a:p>
        </p:txBody>
      </p:sp>
      <p:pic>
        <p:nvPicPr>
          <p:cNvPr id="14" name="Imagen 13">
            <a:extLst>
              <a:ext uri="{FF2B5EF4-FFF2-40B4-BE49-F238E27FC236}">
                <a16:creationId xmlns:a16="http://schemas.microsoft.com/office/drawing/2014/main" id="{10C7F626-F16D-A6B2-5453-DDD6069E192A}"/>
              </a:ext>
            </a:extLst>
          </p:cNvPr>
          <p:cNvPicPr>
            <a:picLocks noChangeAspect="1"/>
          </p:cNvPicPr>
          <p:nvPr/>
        </p:nvPicPr>
        <p:blipFill>
          <a:blip r:embed="rId5"/>
          <a:stretch>
            <a:fillRect/>
          </a:stretch>
        </p:blipFill>
        <p:spPr>
          <a:xfrm>
            <a:off x="835696" y="1563895"/>
            <a:ext cx="4369530" cy="3224645"/>
          </a:xfrm>
          <a:prstGeom prst="rect">
            <a:avLst/>
          </a:prstGeom>
        </p:spPr>
      </p:pic>
      <p:sp>
        <p:nvSpPr>
          <p:cNvPr id="5" name="CuadroTexto 4">
            <a:extLst>
              <a:ext uri="{FF2B5EF4-FFF2-40B4-BE49-F238E27FC236}">
                <a16:creationId xmlns:a16="http://schemas.microsoft.com/office/drawing/2014/main" id="{4D33B3A7-913B-4466-9CBD-92CC2379881B}"/>
              </a:ext>
            </a:extLst>
          </p:cNvPr>
          <p:cNvSpPr txBox="1"/>
          <p:nvPr/>
        </p:nvSpPr>
        <p:spPr>
          <a:xfrm>
            <a:off x="5640474" y="1925444"/>
            <a:ext cx="6097508" cy="2893100"/>
          </a:xfrm>
          <a:prstGeom prst="rect">
            <a:avLst/>
          </a:prstGeom>
          <a:noFill/>
        </p:spPr>
        <p:txBody>
          <a:bodyPr wrap="square">
            <a:spAutoFit/>
          </a:bodyPr>
          <a:lstStyle/>
          <a:p>
            <a:pPr algn="just">
              <a:buNone/>
            </a:pPr>
            <a:r>
              <a:rPr lang="es-MX" sz="1400" b="1" dirty="0">
                <a:latin typeface="Montserrat" panose="00000500000000000000" pitchFamily="2" charset="0"/>
              </a:rPr>
              <a:t>Consolidación del constitucionalismo social mexicano</a:t>
            </a:r>
          </a:p>
          <a:p>
            <a:pPr algn="just">
              <a:buNone/>
            </a:pPr>
            <a:endParaRPr lang="es-MX" sz="1400" b="1" dirty="0">
              <a:latin typeface="Montserrat" panose="00000500000000000000" pitchFamily="2" charset="0"/>
            </a:endParaRPr>
          </a:p>
          <a:p>
            <a:pPr algn="just">
              <a:buNone/>
            </a:pPr>
            <a:r>
              <a:rPr lang="es-MX" sz="1400" dirty="0">
                <a:latin typeface="Montserrat" panose="00000500000000000000" pitchFamily="2" charset="0"/>
              </a:rPr>
              <a:t>La Constitución Política de los Estados Unidos Mexicanos de 1917 representó un cambio histórico al reconocer derechos sociales dentro del texto constitucional.</a:t>
            </a:r>
          </a:p>
          <a:p>
            <a:pPr algn="just">
              <a:buNone/>
            </a:pPr>
            <a:r>
              <a:rPr lang="es-MX" sz="1400" dirty="0">
                <a:latin typeface="Montserrat" panose="00000500000000000000" pitchFamily="2" charset="0"/>
              </a:rPr>
              <a:t>Sus artículos 3°, 27 y 123 establecieron derechos relacionados con educación, propiedad de la tierra y trabajo, convirtiendo al Estado en responsable de promover justicia social.</a:t>
            </a:r>
          </a:p>
          <a:p>
            <a:pPr algn="just">
              <a:buNone/>
            </a:pPr>
            <a:r>
              <a:rPr lang="es-MX" sz="1400" b="1" dirty="0">
                <a:latin typeface="Montserrat" panose="00000500000000000000" pitchFamily="2" charset="0"/>
              </a:rPr>
              <a:t>Relación con los derechos humanos:</a:t>
            </a:r>
          </a:p>
          <a:p>
            <a:pPr algn="just">
              <a:buNone/>
            </a:pPr>
            <a:br>
              <a:rPr lang="es-MX" sz="1400" dirty="0">
                <a:latin typeface="Montserrat" panose="00000500000000000000" pitchFamily="2" charset="0"/>
              </a:rPr>
            </a:br>
            <a:r>
              <a:rPr lang="es-MX" sz="1400" dirty="0">
                <a:latin typeface="Montserrat" panose="00000500000000000000" pitchFamily="2" charset="0"/>
              </a:rPr>
              <a:t>Constituyó uno de los primeros modelos de constitucionalismo social en el mundo y sentó las bases para la protección progresiva de los derechos humanos en México.</a:t>
            </a:r>
          </a:p>
        </p:txBody>
      </p:sp>
    </p:spTree>
    <p:extLst>
      <p:ext uri="{BB962C8B-B14F-4D97-AF65-F5344CB8AC3E}">
        <p14:creationId xmlns:p14="http://schemas.microsoft.com/office/powerpoint/2010/main" val="1475213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DCC169D-4AAC-22A9-FDA8-866B8A68381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98EB869-2861-9428-0364-5867855ADDE9}"/>
              </a:ext>
            </a:extLst>
          </p:cNvPr>
          <p:cNvSpPr>
            <a:spLocks noGrp="1"/>
          </p:cNvSpPr>
          <p:nvPr>
            <p:ph type="title"/>
          </p:nvPr>
        </p:nvSpPr>
        <p:spPr>
          <a:xfrm>
            <a:off x="674467" y="1041971"/>
            <a:ext cx="8521372" cy="974376"/>
          </a:xfrm>
        </p:spPr>
        <p:txBody>
          <a:bodyPr>
            <a:normAutofit/>
          </a:bodyPr>
          <a:lstStyle/>
          <a:p>
            <a:r>
              <a:rPr lang="es-MX" sz="3600" b="1" dirty="0">
                <a:solidFill>
                  <a:srgbClr val="245C4F"/>
                </a:solidFill>
                <a:latin typeface="Montserrat" pitchFamily="2" charset="77"/>
              </a:rPr>
              <a:t>Conclusiones</a:t>
            </a:r>
            <a:endParaRPr lang="es-MX" sz="3600" b="1" noProof="0" dirty="0">
              <a:solidFill>
                <a:srgbClr val="245C4F"/>
              </a:solidFill>
              <a:latin typeface="Montserrat" pitchFamily="2" charset="77"/>
            </a:endParaRPr>
          </a:p>
        </p:txBody>
      </p:sp>
      <p:sp>
        <p:nvSpPr>
          <p:cNvPr id="6" name="Marcador de contenido 5">
            <a:extLst>
              <a:ext uri="{FF2B5EF4-FFF2-40B4-BE49-F238E27FC236}">
                <a16:creationId xmlns:a16="http://schemas.microsoft.com/office/drawing/2014/main" id="{99A80811-DA41-B581-B4D5-1F975AA1F365}"/>
              </a:ext>
            </a:extLst>
          </p:cNvPr>
          <p:cNvSpPr>
            <a:spLocks noGrp="1"/>
          </p:cNvSpPr>
          <p:nvPr>
            <p:ph idx="1"/>
          </p:nvPr>
        </p:nvSpPr>
        <p:spPr>
          <a:xfrm>
            <a:off x="499494" y="2016347"/>
            <a:ext cx="10515600" cy="3619955"/>
          </a:xfrm>
        </p:spPr>
        <p:txBody>
          <a:bodyPr>
            <a:normAutofit fontScale="92500" lnSpcReduction="10000"/>
          </a:bodyPr>
          <a:lstStyle/>
          <a:p>
            <a:pPr algn="just"/>
            <a:r>
              <a:rPr lang="es-MX" sz="2000" dirty="0">
                <a:latin typeface="Montserrat" panose="00000500000000000000" pitchFamily="2" charset="0"/>
              </a:rPr>
              <a:t>El desarrollo histórico de los derechos humanos en México es resultado de un proceso social y político marcado por diversas luchas contra la desigualdad, la injusticia y la concentración del poder. Cada etapa histórica aportó elementos que permitieron avanzar hacia el reconocimiento de la dignidad humana y la protección de las personas.</a:t>
            </a:r>
          </a:p>
          <a:p>
            <a:pPr algn="just"/>
            <a:r>
              <a:rPr lang="es-MX" sz="2000" dirty="0">
                <a:latin typeface="Montserrat" panose="00000500000000000000" pitchFamily="2" charset="0"/>
              </a:rPr>
              <a:t>Los movimientos de Independencia, Reforma y Revolución Mexicana fueron fundamentales para transformar la organización del Estado mexicano. Estos procesos impulsaron principios como la libertad, la igualdad, la justicia social y la creación de normas destinadas a limitar los abusos de la autoridad.</a:t>
            </a:r>
          </a:p>
          <a:p>
            <a:pPr algn="just"/>
            <a:r>
              <a:rPr lang="es-MX" sz="2000" dirty="0">
                <a:latin typeface="Montserrat" panose="00000500000000000000" pitchFamily="2" charset="0"/>
              </a:rPr>
              <a:t>En este sentido, la Constitución de 1917 representó un momento clave al incorporar derechos sociales y establecer la responsabilidad del Estado de garantizar mejores condiciones de vida para la población. Comprender estos antecedentes permite reconocer que los derechos humanos son una construcción histórica que continúa evolucionando para responder a las necesidades de la sociedad actual.</a:t>
            </a:r>
          </a:p>
        </p:txBody>
      </p:sp>
      <p:sp>
        <p:nvSpPr>
          <p:cNvPr id="5" name="Título 1">
            <a:extLst>
              <a:ext uri="{FF2B5EF4-FFF2-40B4-BE49-F238E27FC236}">
                <a16:creationId xmlns:a16="http://schemas.microsoft.com/office/drawing/2014/main" id="{8BC8E68C-68C6-76D0-6C9D-6CBE8FEA5A73}"/>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3640947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A74908F-EFE9-2634-CC91-CDC04904380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5676AA59-7AFC-5C29-5062-8E8DBE631892}"/>
              </a:ext>
            </a:extLst>
          </p:cNvPr>
          <p:cNvSpPr>
            <a:spLocks noGrp="1"/>
          </p:cNvSpPr>
          <p:nvPr>
            <p:ph type="title"/>
          </p:nvPr>
        </p:nvSpPr>
        <p:spPr>
          <a:xfrm>
            <a:off x="674467" y="1041971"/>
            <a:ext cx="8521372" cy="974376"/>
          </a:xfrm>
        </p:spPr>
        <p:txBody>
          <a:bodyPr>
            <a:normAutofit/>
          </a:bodyPr>
          <a:lstStyle/>
          <a:p>
            <a:r>
              <a:rPr lang="es-MX" sz="3600" b="1" noProof="0" dirty="0">
                <a:solidFill>
                  <a:srgbClr val="245C4F"/>
                </a:solidFill>
                <a:latin typeface="Montserrat" pitchFamily="2" charset="77"/>
              </a:rPr>
              <a:t>Referencias</a:t>
            </a:r>
          </a:p>
        </p:txBody>
      </p:sp>
      <p:sp>
        <p:nvSpPr>
          <p:cNvPr id="6" name="Marcador de contenido 5">
            <a:extLst>
              <a:ext uri="{FF2B5EF4-FFF2-40B4-BE49-F238E27FC236}">
                <a16:creationId xmlns:a16="http://schemas.microsoft.com/office/drawing/2014/main" id="{F575F7A2-0F98-E8DB-1014-1D509D50F588}"/>
              </a:ext>
            </a:extLst>
          </p:cNvPr>
          <p:cNvSpPr>
            <a:spLocks noGrp="1"/>
          </p:cNvSpPr>
          <p:nvPr>
            <p:ph idx="1"/>
          </p:nvPr>
        </p:nvSpPr>
        <p:spPr>
          <a:xfrm>
            <a:off x="469513" y="1881435"/>
            <a:ext cx="10515600" cy="4351338"/>
          </a:xfrm>
        </p:spPr>
        <p:txBody>
          <a:bodyPr>
            <a:normAutofit fontScale="55000" lnSpcReduction="20000"/>
          </a:bodyPr>
          <a:lstStyle/>
          <a:p>
            <a:pPr algn="just"/>
            <a:r>
              <a:rPr lang="es-MX" dirty="0">
                <a:latin typeface="Montserrat" panose="00000500000000000000" pitchFamily="2" charset="0"/>
              </a:rPr>
              <a:t>Archivo General de la Nación. (2017, 5 de febrero). </a:t>
            </a:r>
            <a:r>
              <a:rPr lang="es-MX" i="1" dirty="0">
                <a:latin typeface="Montserrat" panose="00000500000000000000" pitchFamily="2" charset="0"/>
              </a:rPr>
              <a:t>Constitución de 1917: Un siglo de constitucionalismo social</a:t>
            </a:r>
            <a:r>
              <a:rPr lang="es-MX" dirty="0">
                <a:latin typeface="Montserrat" panose="00000500000000000000" pitchFamily="2" charset="0"/>
              </a:rPr>
              <a:t>. Gobierno de México. </a:t>
            </a:r>
            <a:r>
              <a:rPr lang="es-MX" dirty="0">
                <a:latin typeface="Montserrat" panose="00000500000000000000" pitchFamily="2" charset="0"/>
                <a:hlinkClick r:id="rId3"/>
              </a:rPr>
              <a:t>https://www.gob.mx/agn/articulos/constitucionde1917-cien-anos-de-constitucionalismo-social-la-constitucion-de-1917</a:t>
            </a:r>
            <a:r>
              <a:rPr lang="es-MX" dirty="0">
                <a:latin typeface="Montserrat" panose="00000500000000000000" pitchFamily="2" charset="0"/>
              </a:rPr>
              <a:t> </a:t>
            </a:r>
          </a:p>
          <a:p>
            <a:pPr algn="just"/>
            <a:r>
              <a:rPr lang="es-MX" dirty="0">
                <a:latin typeface="Montserrat" panose="00000500000000000000" pitchFamily="2" charset="0"/>
              </a:rPr>
              <a:t>Archivo General de la Nación. (2017, 1 de febrero). </a:t>
            </a:r>
            <a:r>
              <a:rPr lang="es-MX" i="1" dirty="0">
                <a:latin typeface="Montserrat" panose="00000500000000000000" pitchFamily="2" charset="0"/>
              </a:rPr>
              <a:t>#RumboAlCentenario: La generación de la Reforma, la Constitución de 1857</a:t>
            </a:r>
            <a:r>
              <a:rPr lang="es-MX" dirty="0">
                <a:latin typeface="Montserrat" panose="00000500000000000000" pitchFamily="2" charset="0"/>
              </a:rPr>
              <a:t>. Gobierno de México. </a:t>
            </a:r>
            <a:r>
              <a:rPr lang="es-MX" dirty="0">
                <a:latin typeface="Montserrat" panose="00000500000000000000" pitchFamily="2" charset="0"/>
                <a:hlinkClick r:id="rId4"/>
              </a:rPr>
              <a:t>https://www.gob.mx/agn/articulos/rumboalcentenario-la-generacion-de-la-reforma-la-constitucion-de-1857?idiom=es</a:t>
            </a:r>
            <a:endParaRPr lang="es-MX" dirty="0">
              <a:latin typeface="Montserrat" panose="00000500000000000000" pitchFamily="2" charset="0"/>
            </a:endParaRPr>
          </a:p>
          <a:p>
            <a:pPr algn="just"/>
            <a:r>
              <a:rPr lang="es-MX" dirty="0">
                <a:latin typeface="Montserrat" panose="00000500000000000000" pitchFamily="2" charset="0"/>
              </a:rPr>
              <a:t>Galindo, R. (2023, 2 de octubre). </a:t>
            </a:r>
            <a:r>
              <a:rPr lang="es-MX" i="1" dirty="0">
                <a:latin typeface="Montserrat" panose="00000500000000000000" pitchFamily="2" charset="0"/>
              </a:rPr>
              <a:t>Historia porfirista de México</a:t>
            </a:r>
            <a:r>
              <a:rPr lang="es-MX" dirty="0">
                <a:latin typeface="Montserrat" panose="00000500000000000000" pitchFamily="2" charset="0"/>
              </a:rPr>
              <a:t>. SPR Informa. </a:t>
            </a:r>
            <a:r>
              <a:rPr lang="es-MX" dirty="0">
                <a:latin typeface="Montserrat" panose="00000500000000000000" pitchFamily="2" charset="0"/>
                <a:hlinkClick r:id="rId5"/>
              </a:rPr>
              <a:t>https://www.sprinforma.mx/noticia/historia-porfirista-de-mexico</a:t>
            </a:r>
            <a:endParaRPr lang="es-MX" dirty="0">
              <a:latin typeface="Montserrat" panose="00000500000000000000" pitchFamily="2" charset="0"/>
            </a:endParaRPr>
          </a:p>
          <a:p>
            <a:pPr algn="just"/>
            <a:r>
              <a:rPr lang="es-MX" dirty="0">
                <a:latin typeface="Montserrat" panose="00000500000000000000" pitchFamily="2" charset="0"/>
              </a:rPr>
              <a:t>León Núñez, R. (2020, 1 de noviembre). </a:t>
            </a:r>
            <a:r>
              <a:rPr lang="es-MX" i="1" dirty="0">
                <a:latin typeface="Montserrat" panose="00000500000000000000" pitchFamily="2" charset="0"/>
              </a:rPr>
              <a:t>El capítulo más radical de la revolución de independencia en México</a:t>
            </a:r>
            <a:r>
              <a:rPr lang="es-MX" dirty="0">
                <a:latin typeface="Montserrat" panose="00000500000000000000" pitchFamily="2" charset="0"/>
              </a:rPr>
              <a:t>. ABC Color. </a:t>
            </a:r>
            <a:r>
              <a:rPr lang="es-MX" dirty="0">
                <a:latin typeface="Montserrat" panose="00000500000000000000" pitchFamily="2" charset="0"/>
                <a:hlinkClick r:id="rId6"/>
              </a:rPr>
              <a:t>https://www.abc.com.py/edicion-impresa/suplementos/cultural/2020/11/01/el-capitulo-mas-radical-de-la-revolucion-de-independencia-en-mexico/</a:t>
            </a:r>
            <a:endParaRPr lang="es-MX" dirty="0">
              <a:latin typeface="Montserrat" panose="00000500000000000000" pitchFamily="2" charset="0"/>
            </a:endParaRPr>
          </a:p>
          <a:p>
            <a:pPr algn="just"/>
            <a:r>
              <a:rPr lang="es-MX" dirty="0">
                <a:latin typeface="Montserrat" panose="00000500000000000000" pitchFamily="2" charset="0"/>
              </a:rPr>
              <a:t>Ruiz Arce, S. (2025, 4 de noviembre). </a:t>
            </a:r>
            <a:r>
              <a:rPr lang="es-MX" i="1" dirty="0">
                <a:latin typeface="Montserrat" panose="00000500000000000000" pitchFamily="2" charset="0"/>
              </a:rPr>
              <a:t>¿Qué impulsó la Revolución Mexicana de 1910 y quiénes la protagonizaron?</a:t>
            </a:r>
            <a:r>
              <a:rPr lang="es-MX" dirty="0">
                <a:latin typeface="Montserrat" panose="00000500000000000000" pitchFamily="2" charset="0"/>
              </a:rPr>
              <a:t> Tribuna de México. </a:t>
            </a:r>
            <a:r>
              <a:rPr lang="es-MX" dirty="0">
                <a:latin typeface="Montserrat" panose="00000500000000000000" pitchFamily="2" charset="0"/>
                <a:hlinkClick r:id="rId7"/>
              </a:rPr>
              <a:t>https://tribunademexico.com/revolucion-mexicana-y-quienes-la-protagonizaron/</a:t>
            </a:r>
            <a:endParaRPr lang="es-MX" dirty="0">
              <a:latin typeface="Montserrat" panose="00000500000000000000" pitchFamily="2" charset="0"/>
            </a:endParaRPr>
          </a:p>
          <a:p>
            <a:pPr algn="just"/>
            <a:r>
              <a:rPr lang="es-MX" dirty="0">
                <a:latin typeface="Montserrat" panose="00000500000000000000" pitchFamily="2" charset="0"/>
              </a:rPr>
              <a:t>Suprema Corte de Justicia de la Nación. (s. f.). </a:t>
            </a:r>
            <a:r>
              <a:rPr lang="es-MX" i="1" dirty="0">
                <a:latin typeface="Montserrat" panose="00000500000000000000" pitchFamily="2" charset="0"/>
              </a:rPr>
              <a:t>Constitución Federal de 1917</a:t>
            </a:r>
            <a:r>
              <a:rPr lang="es-MX" dirty="0">
                <a:latin typeface="Montserrat" panose="00000500000000000000" pitchFamily="2" charset="0"/>
              </a:rPr>
              <a:t>. 200 años de la Suprema Corte de Justicia de la Nación. </a:t>
            </a:r>
            <a:r>
              <a:rPr lang="es-MX" dirty="0">
                <a:latin typeface="Montserrat" panose="00000500000000000000" pitchFamily="2" charset="0"/>
                <a:hlinkClick r:id="rId8"/>
              </a:rPr>
              <a:t>https://bicentenario.scjn.gob.mx/constituciones/constitucion-1917</a:t>
            </a:r>
            <a:r>
              <a:rPr lang="es-MX" dirty="0">
                <a:latin typeface="Montserrat" panose="00000500000000000000" pitchFamily="2" charset="0"/>
              </a:rPr>
              <a:t> </a:t>
            </a:r>
          </a:p>
          <a:p>
            <a:pPr marL="0" indent="0">
              <a:buNone/>
            </a:pPr>
            <a:endParaRPr lang="es-MX" noProof="0" dirty="0"/>
          </a:p>
        </p:txBody>
      </p:sp>
      <p:sp>
        <p:nvSpPr>
          <p:cNvPr id="5" name="Título 1">
            <a:extLst>
              <a:ext uri="{FF2B5EF4-FFF2-40B4-BE49-F238E27FC236}">
                <a16:creationId xmlns:a16="http://schemas.microsoft.com/office/drawing/2014/main" id="{3D3D23A3-FC94-D5F7-94BB-F609D0426A18}"/>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1072034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texto 1">
            <a:extLst>
              <a:ext uri="{FF2B5EF4-FFF2-40B4-BE49-F238E27FC236}">
                <a16:creationId xmlns:a16="http://schemas.microsoft.com/office/drawing/2014/main" id="{74122129-FC8A-B799-371B-7E035F9C36B1}"/>
              </a:ext>
            </a:extLst>
          </p:cNvPr>
          <p:cNvSpPr txBox="1">
            <a:spLocks/>
          </p:cNvSpPr>
          <p:nvPr/>
        </p:nvSpPr>
        <p:spPr>
          <a:xfrm>
            <a:off x="0" y="4247292"/>
            <a:ext cx="12192000" cy="901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77">
              <a:buNone/>
              <a:defRPr/>
            </a:pPr>
            <a:r>
              <a:rPr lang="es-MX" sz="4000" b="1" noProof="0" dirty="0">
                <a:solidFill>
                  <a:srgbClr val="245C4F"/>
                </a:solidFill>
                <a:latin typeface="Montserrat" pitchFamily="2" charset="77"/>
              </a:rPr>
              <a:t>Gracias</a:t>
            </a:r>
          </a:p>
          <a:p>
            <a:pPr defTabSz="914377">
              <a:defRPr/>
            </a:pPr>
            <a:endParaRPr lang="es-MX" noProof="0" dirty="0"/>
          </a:p>
        </p:txBody>
      </p:sp>
    </p:spTree>
    <p:extLst>
      <p:ext uri="{BB962C8B-B14F-4D97-AF65-F5344CB8AC3E}">
        <p14:creationId xmlns:p14="http://schemas.microsoft.com/office/powerpoint/2010/main" val="354541923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1905</TotalTime>
  <Words>4303</Words>
  <Application>Microsoft Office PowerPoint</Application>
  <PresentationFormat>Panorámica</PresentationFormat>
  <Paragraphs>205</Paragraphs>
  <Slides>21</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21</vt:i4>
      </vt:variant>
    </vt:vector>
  </HeadingPairs>
  <TitlesOfParts>
    <vt:vector size="29" baseType="lpstr">
      <vt:lpstr>Aptos</vt:lpstr>
      <vt:lpstr>Aptos Display</vt:lpstr>
      <vt:lpstr>Arial</vt:lpstr>
      <vt:lpstr>Montserrat</vt:lpstr>
      <vt:lpstr>Montserrat Medium</vt:lpstr>
      <vt:lpstr>Montserrat SemiBold</vt:lpstr>
      <vt:lpstr>Wingdings</vt:lpstr>
      <vt:lpstr>Tema de Office</vt:lpstr>
      <vt:lpstr>Presentación de PowerPoint</vt:lpstr>
      <vt:lpstr>Presentación de PowerPoint</vt:lpstr>
      <vt:lpstr>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Mis principales intereses académicos se centran en el derecho público, los derechos humanos, la gobernanza y las políticas públicas, así como en el papel del derecho en el fortalecimiento de las instituciones públicas.  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“Convencionalidad de la autorización a la enajenación de bienes de niñas, niños y adolescentes. La autonomía progresiva y el interés superior de la niñez y la adolescencia” (2023).(UnADM). En el servicio público, destaqué como Procurador de Protección de Niñas, Niños y Adolescentes, participando en la protección y restitución de los derechos de la niñez y adolescencia.   Actualmente me desempeño como abogado postulante en materia de derecho familiar y docente universitario. .</vt:lpstr>
      <vt:lpstr>Introducción a la asignatura </vt:lpstr>
      <vt:lpstr>1. Etapa Prehispánica </vt:lpstr>
      <vt:lpstr>1. Etapa Prehispánica </vt:lpstr>
      <vt:lpstr>2. La Nueva España</vt:lpstr>
      <vt:lpstr>2. La Nueva España</vt:lpstr>
      <vt:lpstr>3. La Independencia de México</vt:lpstr>
      <vt:lpstr>3. La Independencia de México</vt:lpstr>
      <vt:lpstr>3. Liberalismo y Reforma  (Siglo XIX)</vt:lpstr>
      <vt:lpstr>3. Liberalismo y Reforma (Siglo XIX)</vt:lpstr>
      <vt:lpstr>4. Porfiriato</vt:lpstr>
      <vt:lpstr>4. Porfiriato</vt:lpstr>
      <vt:lpstr>5. Revolución Mexicana</vt:lpstr>
      <vt:lpstr>5. Revolución Mexicana</vt:lpstr>
      <vt:lpstr>6. Etapa Posterior a la Revolución Mexicana</vt:lpstr>
      <vt:lpstr>6. Etapa Posterior a la Revolución Mexicana</vt:lpstr>
      <vt:lpstr>Conclusiones</vt:lpstr>
      <vt:lpstr>Referencias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Antecedetes de los Derechos Humanos</dc:title>
  <dc:creator>Mtro. Daniel Alexis Lozano Ortega</dc:creator>
  <cp:keywords>Derecho - UnADM</cp:keywords>
  <cp:lastModifiedBy>DANIEL ALEXIS LOZANO ORTEGA</cp:lastModifiedBy>
  <cp:revision>25</cp:revision>
  <dcterms:created xsi:type="dcterms:W3CDTF">2024-03-22T19:16:03Z</dcterms:created>
  <dcterms:modified xsi:type="dcterms:W3CDTF">2026-07-25T05:19:14Z</dcterms:modified>
</cp:coreProperties>
</file>