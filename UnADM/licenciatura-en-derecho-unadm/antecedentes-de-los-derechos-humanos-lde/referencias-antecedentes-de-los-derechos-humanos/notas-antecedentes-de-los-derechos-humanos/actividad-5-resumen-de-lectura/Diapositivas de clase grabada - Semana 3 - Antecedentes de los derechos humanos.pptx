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62" r:id="rId3"/>
    <p:sldId id="257" r:id="rId4"/>
    <p:sldId id="264" r:id="rId5"/>
    <p:sldId id="258" r:id="rId6"/>
    <p:sldId id="273" r:id="rId7"/>
    <p:sldId id="275" r:id="rId8"/>
    <p:sldId id="276" r:id="rId9"/>
    <p:sldId id="277" r:id="rId10"/>
    <p:sldId id="287" r:id="rId11"/>
    <p:sldId id="286" r:id="rId12"/>
    <p:sldId id="278" r:id="rId13"/>
    <p:sldId id="280" r:id="rId14"/>
    <p:sldId id="272" r:id="rId15"/>
    <p:sldId id="285" r:id="rId16"/>
    <p:sldId id="261" r:id="rId17"/>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C9459"/>
    <a:srgbClr val="245C4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845" autoAdjust="0"/>
    <p:restoredTop sz="94694"/>
  </p:normalViewPr>
  <p:slideViewPr>
    <p:cSldViewPr snapToGrid="0">
      <p:cViewPr varScale="1">
        <p:scale>
          <a:sx n="106" d="100"/>
          <a:sy n="106" d="100"/>
        </p:scale>
        <p:origin x="4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EB305B-7678-43AD-BDC3-20C842B6CE70}" type="datetimeFigureOut">
              <a:rPr lang="es-MX" smtClean="0"/>
              <a:t>20/07/2026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71F488-B8F8-4D33-8D91-CCBFD956B2B7}" type="slidenum">
              <a:rPr lang="es-MX" smtClean="0"/>
              <a:t>‹Nº›</a:t>
            </a:fld>
            <a:endParaRPr lang="es-MX"/>
          </a:p>
        </p:txBody>
      </p:sp>
    </p:spTree>
    <p:extLst>
      <p:ext uri="{BB962C8B-B14F-4D97-AF65-F5344CB8AC3E}">
        <p14:creationId xmlns:p14="http://schemas.microsoft.com/office/powerpoint/2010/main" val="3069585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442380-29F4-7885-D208-EE6B3A1F9270}"/>
              </a:ext>
            </a:extLst>
          </p:cNvPr>
          <p:cNvSpPr>
            <a:spLocks noGrp="1"/>
          </p:cNvSpPr>
          <p:nvPr>
            <p:ph type="ctrTitle"/>
          </p:nvPr>
        </p:nvSpPr>
        <p:spPr>
          <a:xfrm>
            <a:off x="1524000" y="1122363"/>
            <a:ext cx="9144000" cy="2387600"/>
          </a:xfrm>
        </p:spPr>
        <p:txBody>
          <a:bodyPr anchor="b"/>
          <a:lstStyle>
            <a:lvl1pPr algn="ctr">
              <a:defRPr sz="6000"/>
            </a:lvl1pPr>
          </a:lstStyle>
          <a:p>
            <a:r>
              <a:rPr lang="es-MX"/>
              <a:t>Haz clic para modificar el estilo de título del patrón</a:t>
            </a:r>
          </a:p>
        </p:txBody>
      </p:sp>
      <p:sp>
        <p:nvSpPr>
          <p:cNvPr id="3" name="Subtítulo 2">
            <a:extLst>
              <a:ext uri="{FF2B5EF4-FFF2-40B4-BE49-F238E27FC236}">
                <a16:creationId xmlns:a16="http://schemas.microsoft.com/office/drawing/2014/main" id="{BD184D8A-FB05-07BE-4B9B-48F890BA6E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p>
        </p:txBody>
      </p:sp>
      <p:sp>
        <p:nvSpPr>
          <p:cNvPr id="4" name="Marcador de fecha 3">
            <a:extLst>
              <a:ext uri="{FF2B5EF4-FFF2-40B4-BE49-F238E27FC236}">
                <a16:creationId xmlns:a16="http://schemas.microsoft.com/office/drawing/2014/main" id="{49E1AC74-A96C-6DF9-BAC2-6B57C578ECCC}"/>
              </a:ext>
            </a:extLst>
          </p:cNvPr>
          <p:cNvSpPr>
            <a:spLocks noGrp="1"/>
          </p:cNvSpPr>
          <p:nvPr>
            <p:ph type="dt" sz="half" idx="10"/>
          </p:nvPr>
        </p:nvSpPr>
        <p:spPr/>
        <p:txBody>
          <a:bodyPr/>
          <a:lstStyle/>
          <a:p>
            <a:fld id="{BE55A57F-D9AD-8A45-99FA-27A12DCE6F0B}" type="datetimeFigureOut">
              <a:rPr lang="es-MX" smtClean="0"/>
              <a:t>20/07/2026</a:t>
            </a:fld>
            <a:endParaRPr lang="es-MX"/>
          </a:p>
        </p:txBody>
      </p:sp>
      <p:sp>
        <p:nvSpPr>
          <p:cNvPr id="5" name="Marcador de pie de página 4">
            <a:extLst>
              <a:ext uri="{FF2B5EF4-FFF2-40B4-BE49-F238E27FC236}">
                <a16:creationId xmlns:a16="http://schemas.microsoft.com/office/drawing/2014/main" id="{405D51E0-D288-5AD9-E9C6-318A3EEA585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EF3E0D9-24E9-9D52-A957-F9D786C835B9}"/>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421853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101505-2B21-4F87-7372-4CD4877344E5}"/>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F669F502-C957-D0CD-CB5A-51EC6B4282E4}"/>
              </a:ext>
            </a:extLst>
          </p:cNvPr>
          <p:cNvSpPr>
            <a:spLocks noGrp="1"/>
          </p:cNvSpPr>
          <p:nvPr>
            <p:ph idx="1"/>
          </p:nvPr>
        </p:nvSpPr>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B6BECD5D-5141-752C-BB70-0301264F6710}"/>
              </a:ext>
            </a:extLst>
          </p:cNvPr>
          <p:cNvSpPr>
            <a:spLocks noGrp="1"/>
          </p:cNvSpPr>
          <p:nvPr>
            <p:ph type="dt" sz="half" idx="10"/>
          </p:nvPr>
        </p:nvSpPr>
        <p:spPr/>
        <p:txBody>
          <a:bodyPr/>
          <a:lstStyle/>
          <a:p>
            <a:fld id="{BE55A57F-D9AD-8A45-99FA-27A12DCE6F0B}" type="datetimeFigureOut">
              <a:rPr lang="es-MX" smtClean="0"/>
              <a:t>20/07/2026</a:t>
            </a:fld>
            <a:endParaRPr lang="es-MX"/>
          </a:p>
        </p:txBody>
      </p:sp>
      <p:sp>
        <p:nvSpPr>
          <p:cNvPr id="5" name="Marcador de pie de página 4">
            <a:extLst>
              <a:ext uri="{FF2B5EF4-FFF2-40B4-BE49-F238E27FC236}">
                <a16:creationId xmlns:a16="http://schemas.microsoft.com/office/drawing/2014/main" id="{713BFD11-F425-FF05-8852-2ED48ABF02B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F451A02-38E8-5D34-6307-B211425C6BAE}"/>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21987422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85063E-0145-11AC-B497-708A91452757}"/>
              </a:ext>
            </a:extLst>
          </p:cNvPr>
          <p:cNvSpPr>
            <a:spLocks noGrp="1"/>
          </p:cNvSpPr>
          <p:nvPr>
            <p:ph type="title"/>
          </p:nvPr>
        </p:nvSpPr>
        <p:spPr>
          <a:xfrm>
            <a:off x="831850" y="1709738"/>
            <a:ext cx="10515600" cy="2852737"/>
          </a:xfrm>
        </p:spPr>
        <p:txBody>
          <a:bodyPr anchor="b"/>
          <a:lstStyle>
            <a:lvl1pPr>
              <a:defRPr sz="6000"/>
            </a:lvl1pPr>
          </a:lstStyle>
          <a:p>
            <a:r>
              <a:rPr lang="es-MX"/>
              <a:t>Haz clic para modificar el estilo de título del patrón</a:t>
            </a:r>
          </a:p>
        </p:txBody>
      </p:sp>
      <p:sp>
        <p:nvSpPr>
          <p:cNvPr id="3" name="Marcador de texto 2">
            <a:extLst>
              <a:ext uri="{FF2B5EF4-FFF2-40B4-BE49-F238E27FC236}">
                <a16:creationId xmlns:a16="http://schemas.microsoft.com/office/drawing/2014/main" id="{7D96655B-7EA1-0AC4-EEE3-57E2920CD6E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D450C324-AB5E-AABF-45D9-FDC77A02163F}"/>
              </a:ext>
            </a:extLst>
          </p:cNvPr>
          <p:cNvSpPr>
            <a:spLocks noGrp="1"/>
          </p:cNvSpPr>
          <p:nvPr>
            <p:ph type="dt" sz="half" idx="10"/>
          </p:nvPr>
        </p:nvSpPr>
        <p:spPr/>
        <p:txBody>
          <a:bodyPr/>
          <a:lstStyle/>
          <a:p>
            <a:fld id="{BE55A57F-D9AD-8A45-99FA-27A12DCE6F0B}" type="datetimeFigureOut">
              <a:rPr lang="es-MX" smtClean="0"/>
              <a:t>20/07/2026</a:t>
            </a:fld>
            <a:endParaRPr lang="es-MX"/>
          </a:p>
        </p:txBody>
      </p:sp>
      <p:sp>
        <p:nvSpPr>
          <p:cNvPr id="5" name="Marcador de pie de página 4">
            <a:extLst>
              <a:ext uri="{FF2B5EF4-FFF2-40B4-BE49-F238E27FC236}">
                <a16:creationId xmlns:a16="http://schemas.microsoft.com/office/drawing/2014/main" id="{C304D378-2C18-709A-270A-A4E75DD8C92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54E66E3-9229-84F0-EEA4-578EEF325271}"/>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1956443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329277-B785-6564-ED5E-C308537FACDE}"/>
              </a:ext>
            </a:extLst>
          </p:cNvPr>
          <p:cNvSpPr>
            <a:spLocks noGrp="1"/>
          </p:cNvSpPr>
          <p:nvPr>
            <p:ph type="title"/>
          </p:nvPr>
        </p:nvSpPr>
        <p:spPr/>
        <p:txBody>
          <a:body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6385F2C7-1F65-E84C-E1B2-14CA5B745667}"/>
              </a:ext>
            </a:extLst>
          </p:cNvPr>
          <p:cNvSpPr>
            <a:spLocks noGrp="1"/>
          </p:cNvSpPr>
          <p:nvPr>
            <p:ph sz="half" idx="1"/>
          </p:nvPr>
        </p:nvSpPr>
        <p:spPr>
          <a:xfrm>
            <a:off x="838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contenido 3">
            <a:extLst>
              <a:ext uri="{FF2B5EF4-FFF2-40B4-BE49-F238E27FC236}">
                <a16:creationId xmlns:a16="http://schemas.microsoft.com/office/drawing/2014/main" id="{16E1DA9A-F6DC-507F-6F9B-EB5E635D0546}"/>
              </a:ext>
            </a:extLst>
          </p:cNvPr>
          <p:cNvSpPr>
            <a:spLocks noGrp="1"/>
          </p:cNvSpPr>
          <p:nvPr>
            <p:ph sz="half" idx="2"/>
          </p:nvPr>
        </p:nvSpPr>
        <p:spPr>
          <a:xfrm>
            <a:off x="6172200" y="1825625"/>
            <a:ext cx="5181600" cy="435133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fecha 4">
            <a:extLst>
              <a:ext uri="{FF2B5EF4-FFF2-40B4-BE49-F238E27FC236}">
                <a16:creationId xmlns:a16="http://schemas.microsoft.com/office/drawing/2014/main" id="{2F77500F-4FE3-40D7-9039-4BD1297D5814}"/>
              </a:ext>
            </a:extLst>
          </p:cNvPr>
          <p:cNvSpPr>
            <a:spLocks noGrp="1"/>
          </p:cNvSpPr>
          <p:nvPr>
            <p:ph type="dt" sz="half" idx="10"/>
          </p:nvPr>
        </p:nvSpPr>
        <p:spPr/>
        <p:txBody>
          <a:bodyPr/>
          <a:lstStyle/>
          <a:p>
            <a:fld id="{BE55A57F-D9AD-8A45-99FA-27A12DCE6F0B}" type="datetimeFigureOut">
              <a:rPr lang="es-MX" smtClean="0"/>
              <a:t>20/07/2026</a:t>
            </a:fld>
            <a:endParaRPr lang="es-MX"/>
          </a:p>
        </p:txBody>
      </p:sp>
      <p:sp>
        <p:nvSpPr>
          <p:cNvPr id="6" name="Marcador de pie de página 5">
            <a:extLst>
              <a:ext uri="{FF2B5EF4-FFF2-40B4-BE49-F238E27FC236}">
                <a16:creationId xmlns:a16="http://schemas.microsoft.com/office/drawing/2014/main" id="{D6B18608-9A0D-8E1D-B272-86F09D69475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CEA6B838-DC36-C62B-511B-78BBE85849FF}"/>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3562576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640458-0846-538C-D307-267243BDE484}"/>
              </a:ext>
            </a:extLst>
          </p:cNvPr>
          <p:cNvSpPr>
            <a:spLocks noGrp="1"/>
          </p:cNvSpPr>
          <p:nvPr>
            <p:ph type="title"/>
          </p:nvPr>
        </p:nvSpPr>
        <p:spPr>
          <a:xfrm>
            <a:off x="839788" y="365125"/>
            <a:ext cx="10515600" cy="1325563"/>
          </a:xfrm>
        </p:spPr>
        <p:txBody>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951EF107-7F66-2CE3-A2E6-366639A121F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6A47BF29-8593-4D59-249D-16A686F51A87}"/>
              </a:ext>
            </a:extLst>
          </p:cNvPr>
          <p:cNvSpPr>
            <a:spLocks noGrp="1"/>
          </p:cNvSpPr>
          <p:nvPr>
            <p:ph sz="half" idx="2"/>
          </p:nvPr>
        </p:nvSpPr>
        <p:spPr>
          <a:xfrm>
            <a:off x="839788" y="2505075"/>
            <a:ext cx="5157787"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5" name="Marcador de texto 4">
            <a:extLst>
              <a:ext uri="{FF2B5EF4-FFF2-40B4-BE49-F238E27FC236}">
                <a16:creationId xmlns:a16="http://schemas.microsoft.com/office/drawing/2014/main" id="{C4358F34-7A43-C3D5-D2DF-9863D9DE26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4FAADF1B-BC93-27DD-C8F9-B606CCBFFD05}"/>
              </a:ext>
            </a:extLst>
          </p:cNvPr>
          <p:cNvSpPr>
            <a:spLocks noGrp="1"/>
          </p:cNvSpPr>
          <p:nvPr>
            <p:ph sz="quarter" idx="4"/>
          </p:nvPr>
        </p:nvSpPr>
        <p:spPr>
          <a:xfrm>
            <a:off x="6172200" y="2505075"/>
            <a:ext cx="5183188" cy="3684588"/>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7" name="Marcador de fecha 6">
            <a:extLst>
              <a:ext uri="{FF2B5EF4-FFF2-40B4-BE49-F238E27FC236}">
                <a16:creationId xmlns:a16="http://schemas.microsoft.com/office/drawing/2014/main" id="{5597C082-BED4-EDFA-C890-A23D9C2223F4}"/>
              </a:ext>
            </a:extLst>
          </p:cNvPr>
          <p:cNvSpPr>
            <a:spLocks noGrp="1"/>
          </p:cNvSpPr>
          <p:nvPr>
            <p:ph type="dt" sz="half" idx="10"/>
          </p:nvPr>
        </p:nvSpPr>
        <p:spPr/>
        <p:txBody>
          <a:bodyPr/>
          <a:lstStyle/>
          <a:p>
            <a:fld id="{BE55A57F-D9AD-8A45-99FA-27A12DCE6F0B}" type="datetimeFigureOut">
              <a:rPr lang="es-MX" smtClean="0"/>
              <a:t>20/07/2026</a:t>
            </a:fld>
            <a:endParaRPr lang="es-MX"/>
          </a:p>
        </p:txBody>
      </p:sp>
      <p:sp>
        <p:nvSpPr>
          <p:cNvPr id="8" name="Marcador de pie de página 7">
            <a:extLst>
              <a:ext uri="{FF2B5EF4-FFF2-40B4-BE49-F238E27FC236}">
                <a16:creationId xmlns:a16="http://schemas.microsoft.com/office/drawing/2014/main" id="{CA273741-70A5-6310-5762-1E42C3B91D48}"/>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A653C7AB-DB99-BA88-8AF7-A3232973447F}"/>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3692015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1EAC9A-8C31-88DC-F120-D79038978387}"/>
              </a:ext>
            </a:extLst>
          </p:cNvPr>
          <p:cNvSpPr>
            <a:spLocks noGrp="1"/>
          </p:cNvSpPr>
          <p:nvPr>
            <p:ph type="title"/>
          </p:nvPr>
        </p:nvSpPr>
        <p:spPr/>
        <p:txBody>
          <a:bodyPr/>
          <a:lstStyle/>
          <a:p>
            <a:r>
              <a:rPr lang="es-MX"/>
              <a:t>Haz clic para modificar el estilo de título del patrón</a:t>
            </a:r>
          </a:p>
        </p:txBody>
      </p:sp>
      <p:sp>
        <p:nvSpPr>
          <p:cNvPr id="3" name="Marcador de fecha 2">
            <a:extLst>
              <a:ext uri="{FF2B5EF4-FFF2-40B4-BE49-F238E27FC236}">
                <a16:creationId xmlns:a16="http://schemas.microsoft.com/office/drawing/2014/main" id="{6D3C53B0-4C6B-9D13-172D-67325EADB5CD}"/>
              </a:ext>
            </a:extLst>
          </p:cNvPr>
          <p:cNvSpPr>
            <a:spLocks noGrp="1"/>
          </p:cNvSpPr>
          <p:nvPr>
            <p:ph type="dt" sz="half" idx="10"/>
          </p:nvPr>
        </p:nvSpPr>
        <p:spPr/>
        <p:txBody>
          <a:bodyPr/>
          <a:lstStyle/>
          <a:p>
            <a:fld id="{BE55A57F-D9AD-8A45-99FA-27A12DCE6F0B}" type="datetimeFigureOut">
              <a:rPr lang="es-MX" smtClean="0"/>
              <a:t>20/07/2026</a:t>
            </a:fld>
            <a:endParaRPr lang="es-MX"/>
          </a:p>
        </p:txBody>
      </p:sp>
      <p:sp>
        <p:nvSpPr>
          <p:cNvPr id="4" name="Marcador de pie de página 3">
            <a:extLst>
              <a:ext uri="{FF2B5EF4-FFF2-40B4-BE49-F238E27FC236}">
                <a16:creationId xmlns:a16="http://schemas.microsoft.com/office/drawing/2014/main" id="{7272631A-C47F-77F5-6F29-0E32D02F65F5}"/>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EBDCC397-A651-9FAA-1CB9-72E54EC2CDF2}"/>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1149129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288B946-D0DE-7222-2974-140E465AE22E}"/>
              </a:ext>
            </a:extLst>
          </p:cNvPr>
          <p:cNvSpPr>
            <a:spLocks noGrp="1"/>
          </p:cNvSpPr>
          <p:nvPr>
            <p:ph type="dt" sz="half" idx="10"/>
          </p:nvPr>
        </p:nvSpPr>
        <p:spPr/>
        <p:txBody>
          <a:bodyPr/>
          <a:lstStyle/>
          <a:p>
            <a:fld id="{BE55A57F-D9AD-8A45-99FA-27A12DCE6F0B}" type="datetimeFigureOut">
              <a:rPr lang="es-MX" smtClean="0"/>
              <a:t>20/07/2026</a:t>
            </a:fld>
            <a:endParaRPr lang="es-MX"/>
          </a:p>
        </p:txBody>
      </p:sp>
      <p:sp>
        <p:nvSpPr>
          <p:cNvPr id="3" name="Marcador de pie de página 2">
            <a:extLst>
              <a:ext uri="{FF2B5EF4-FFF2-40B4-BE49-F238E27FC236}">
                <a16:creationId xmlns:a16="http://schemas.microsoft.com/office/drawing/2014/main" id="{BAFB80F7-50BC-F3DD-ADEA-96D94FA9C9D9}"/>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4DD38E3D-5FFE-1BFF-23FE-0E1AFAD7709B}"/>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6489654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FE16B8-9745-9697-DC34-4A1B0B30E6B3}"/>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contenido 2">
            <a:extLst>
              <a:ext uri="{FF2B5EF4-FFF2-40B4-BE49-F238E27FC236}">
                <a16:creationId xmlns:a16="http://schemas.microsoft.com/office/drawing/2014/main" id="{D47D4019-20B9-3478-F316-C78CFB5DEF5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texto 3">
            <a:extLst>
              <a:ext uri="{FF2B5EF4-FFF2-40B4-BE49-F238E27FC236}">
                <a16:creationId xmlns:a16="http://schemas.microsoft.com/office/drawing/2014/main" id="{E3B4CA10-096B-94B7-D4B0-67AB1D1474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DA287719-0BDE-D8F5-29C7-95A84691E1CE}"/>
              </a:ext>
            </a:extLst>
          </p:cNvPr>
          <p:cNvSpPr>
            <a:spLocks noGrp="1"/>
          </p:cNvSpPr>
          <p:nvPr>
            <p:ph type="dt" sz="half" idx="10"/>
          </p:nvPr>
        </p:nvSpPr>
        <p:spPr/>
        <p:txBody>
          <a:bodyPr/>
          <a:lstStyle/>
          <a:p>
            <a:fld id="{BE55A57F-D9AD-8A45-99FA-27A12DCE6F0B}" type="datetimeFigureOut">
              <a:rPr lang="es-MX" smtClean="0"/>
              <a:t>20/07/2026</a:t>
            </a:fld>
            <a:endParaRPr lang="es-MX"/>
          </a:p>
        </p:txBody>
      </p:sp>
      <p:sp>
        <p:nvSpPr>
          <p:cNvPr id="6" name="Marcador de pie de página 5">
            <a:extLst>
              <a:ext uri="{FF2B5EF4-FFF2-40B4-BE49-F238E27FC236}">
                <a16:creationId xmlns:a16="http://schemas.microsoft.com/office/drawing/2014/main" id="{3EFBC66D-5856-116B-0C91-548793C83AA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01C00D3C-EC41-4BD5-72BF-6FF4ABFAB1B9}"/>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1973045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B21240-3A44-BF33-EE08-5167A46A2806}"/>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p>
        </p:txBody>
      </p:sp>
      <p:sp>
        <p:nvSpPr>
          <p:cNvPr id="3" name="Marcador de posición de imagen 2">
            <a:extLst>
              <a:ext uri="{FF2B5EF4-FFF2-40B4-BE49-F238E27FC236}">
                <a16:creationId xmlns:a16="http://schemas.microsoft.com/office/drawing/2014/main" id="{291A219E-8DB7-298E-D78C-6DB35D12BA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AD58EA7E-1043-0141-6C4F-EA31B98F99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20F901AD-F68A-A08E-8DDC-098A2D75C87F}"/>
              </a:ext>
            </a:extLst>
          </p:cNvPr>
          <p:cNvSpPr>
            <a:spLocks noGrp="1"/>
          </p:cNvSpPr>
          <p:nvPr>
            <p:ph type="dt" sz="half" idx="10"/>
          </p:nvPr>
        </p:nvSpPr>
        <p:spPr/>
        <p:txBody>
          <a:bodyPr/>
          <a:lstStyle/>
          <a:p>
            <a:fld id="{BE55A57F-D9AD-8A45-99FA-27A12DCE6F0B}" type="datetimeFigureOut">
              <a:rPr lang="es-MX" smtClean="0"/>
              <a:t>20/07/2026</a:t>
            </a:fld>
            <a:endParaRPr lang="es-MX"/>
          </a:p>
        </p:txBody>
      </p:sp>
      <p:sp>
        <p:nvSpPr>
          <p:cNvPr id="6" name="Marcador de pie de página 5">
            <a:extLst>
              <a:ext uri="{FF2B5EF4-FFF2-40B4-BE49-F238E27FC236}">
                <a16:creationId xmlns:a16="http://schemas.microsoft.com/office/drawing/2014/main" id="{6B606934-B544-C67E-1B87-B49D01A7AA71}"/>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3D615C78-C961-35B0-1C3A-F156DB325A98}"/>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21911979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8FB3792-D10F-5E2D-0233-BB6FCE6978B5}"/>
              </a:ext>
            </a:extLst>
          </p:cNvPr>
          <p:cNvSpPr>
            <a:spLocks noGrp="1"/>
          </p:cNvSpPr>
          <p:nvPr>
            <p:ph type="title"/>
          </p:nvPr>
        </p:nvSpPr>
        <p:spPr/>
        <p:txBody>
          <a:bodyPr/>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0C4FAA32-E80E-5CD3-3A6D-DC8C7430ABCB}"/>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692346C8-E92E-78BA-48A9-C9CAB3A3AB05}"/>
              </a:ext>
            </a:extLst>
          </p:cNvPr>
          <p:cNvSpPr>
            <a:spLocks noGrp="1"/>
          </p:cNvSpPr>
          <p:nvPr>
            <p:ph type="dt" sz="half" idx="10"/>
          </p:nvPr>
        </p:nvSpPr>
        <p:spPr/>
        <p:txBody>
          <a:bodyPr/>
          <a:lstStyle/>
          <a:p>
            <a:fld id="{BE55A57F-D9AD-8A45-99FA-27A12DCE6F0B}" type="datetimeFigureOut">
              <a:rPr lang="es-MX" smtClean="0"/>
              <a:t>20/07/2026</a:t>
            </a:fld>
            <a:endParaRPr lang="es-MX"/>
          </a:p>
        </p:txBody>
      </p:sp>
      <p:sp>
        <p:nvSpPr>
          <p:cNvPr id="5" name="Marcador de pie de página 4">
            <a:extLst>
              <a:ext uri="{FF2B5EF4-FFF2-40B4-BE49-F238E27FC236}">
                <a16:creationId xmlns:a16="http://schemas.microsoft.com/office/drawing/2014/main" id="{2AF61EB4-9519-C09C-1DDE-27B7E83725A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AD7DE98-B357-7145-F331-7ED5CDC42586}"/>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32179077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3947258-159E-11F7-22AA-9D9CFC3D94F3}"/>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p>
        </p:txBody>
      </p:sp>
      <p:sp>
        <p:nvSpPr>
          <p:cNvPr id="3" name="Marcador de texto vertical 2">
            <a:extLst>
              <a:ext uri="{FF2B5EF4-FFF2-40B4-BE49-F238E27FC236}">
                <a16:creationId xmlns:a16="http://schemas.microsoft.com/office/drawing/2014/main" id="{8A0DDA63-E83A-F9DE-5CF7-67CBDEFB8B9F}"/>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E8019B2C-BBD7-368E-48BC-DE4E1895A03B}"/>
              </a:ext>
            </a:extLst>
          </p:cNvPr>
          <p:cNvSpPr>
            <a:spLocks noGrp="1"/>
          </p:cNvSpPr>
          <p:nvPr>
            <p:ph type="dt" sz="half" idx="10"/>
          </p:nvPr>
        </p:nvSpPr>
        <p:spPr/>
        <p:txBody>
          <a:bodyPr/>
          <a:lstStyle/>
          <a:p>
            <a:fld id="{BE55A57F-D9AD-8A45-99FA-27A12DCE6F0B}" type="datetimeFigureOut">
              <a:rPr lang="es-MX" smtClean="0"/>
              <a:t>20/07/2026</a:t>
            </a:fld>
            <a:endParaRPr lang="es-MX"/>
          </a:p>
        </p:txBody>
      </p:sp>
      <p:sp>
        <p:nvSpPr>
          <p:cNvPr id="5" name="Marcador de pie de página 4">
            <a:extLst>
              <a:ext uri="{FF2B5EF4-FFF2-40B4-BE49-F238E27FC236}">
                <a16:creationId xmlns:a16="http://schemas.microsoft.com/office/drawing/2014/main" id="{776E40DE-778A-198D-6B0C-FEC1F8685A0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E8A89F50-4192-8DB9-7CDA-CF4685B9E083}"/>
              </a:ext>
            </a:extLst>
          </p:cNvPr>
          <p:cNvSpPr>
            <a:spLocks noGrp="1"/>
          </p:cNvSpPr>
          <p:nvPr>
            <p:ph type="sldNum" sz="quarter" idx="12"/>
          </p:nvPr>
        </p:nvSpPr>
        <p:spPr/>
        <p:txBody>
          <a:bodyPr/>
          <a:lstStyle/>
          <a:p>
            <a:fld id="{3B9777BE-3417-5741-9C06-646E5B4D83DE}" type="slidenum">
              <a:rPr lang="es-MX" smtClean="0"/>
              <a:t>‹Nº›</a:t>
            </a:fld>
            <a:endParaRPr lang="es-MX"/>
          </a:p>
        </p:txBody>
      </p:sp>
    </p:spTree>
    <p:extLst>
      <p:ext uri="{BB962C8B-B14F-4D97-AF65-F5344CB8AC3E}">
        <p14:creationId xmlns:p14="http://schemas.microsoft.com/office/powerpoint/2010/main" val="1271088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8A0A6187-A44F-5EA2-F272-08996FFC05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p>
        </p:txBody>
      </p:sp>
      <p:sp>
        <p:nvSpPr>
          <p:cNvPr id="3" name="Marcador de texto 2">
            <a:extLst>
              <a:ext uri="{FF2B5EF4-FFF2-40B4-BE49-F238E27FC236}">
                <a16:creationId xmlns:a16="http://schemas.microsoft.com/office/drawing/2014/main" id="{A06F0401-C8DD-E378-9972-15B55D1CF6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p>
        </p:txBody>
      </p:sp>
      <p:sp>
        <p:nvSpPr>
          <p:cNvPr id="4" name="Marcador de fecha 3">
            <a:extLst>
              <a:ext uri="{FF2B5EF4-FFF2-40B4-BE49-F238E27FC236}">
                <a16:creationId xmlns:a16="http://schemas.microsoft.com/office/drawing/2014/main" id="{62056BB0-071A-FD3E-7CF4-94E1D85146A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E55A57F-D9AD-8A45-99FA-27A12DCE6F0B}" type="datetimeFigureOut">
              <a:rPr lang="es-MX" smtClean="0"/>
              <a:t>20/07/2026</a:t>
            </a:fld>
            <a:endParaRPr lang="es-MX"/>
          </a:p>
        </p:txBody>
      </p:sp>
      <p:sp>
        <p:nvSpPr>
          <p:cNvPr id="5" name="Marcador de pie de página 4">
            <a:extLst>
              <a:ext uri="{FF2B5EF4-FFF2-40B4-BE49-F238E27FC236}">
                <a16:creationId xmlns:a16="http://schemas.microsoft.com/office/drawing/2014/main" id="{D060800A-530D-CFF9-38F4-B9F12B4EB3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5592F3AD-B7AC-3B40-496A-283399DC8CD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B9777BE-3417-5741-9C06-646E5B4D83DE}" type="slidenum">
              <a:rPr lang="es-MX" smtClean="0"/>
              <a:t>‹Nº›</a:t>
            </a:fld>
            <a:endParaRPr lang="es-MX"/>
          </a:p>
        </p:txBody>
      </p:sp>
    </p:spTree>
    <p:extLst>
      <p:ext uri="{BB962C8B-B14F-4D97-AF65-F5344CB8AC3E}">
        <p14:creationId xmlns:p14="http://schemas.microsoft.com/office/powerpoint/2010/main" val="19243640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2.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hyperlink" Target="https://www.scjn.gob.mx/"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gestiopolis.com/evolucion-de-los-derechos-humanos/?utm_source=chatgpt.com" TargetMode="External"/><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3" Type="http://schemas.openxmlformats.org/officeDocument/2006/relationships/hyperlink" Target="https://www.es.amnesty.org/en-que-estamos/blog/historia/articulo/derechos-civiles-derechos-politicos/" TargetMode="External"/><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10.xml.rels><?xml version="1.0" encoding="UTF-8" standalone="yes"?>
<Relationships xmlns="http://schemas.openxmlformats.org/package/2006/relationships"><Relationship Id="rId3" Type="http://schemas.openxmlformats.org/officeDocument/2006/relationships/hyperlink" Target="https://www.es.amnesty.org/en-que-estamos/blog/historia/articulo/derechos-civiles-derechos-politicos/" TargetMode="External"/><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10.JPG"/></Relationships>
</file>

<file path=ppt/slides/_rels/slide11.xml.rels><?xml version="1.0" encoding="UTF-8" standalone="yes"?>
<Relationships xmlns="http://schemas.openxmlformats.org/package/2006/relationships"><Relationship Id="rId3" Type="http://schemas.openxmlformats.org/officeDocument/2006/relationships/hyperlink" Target="https://humanidades.com/causas-y-consecuencias-de-la-revolucion-industrial/" TargetMode="External"/><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12.xml.rels><?xml version="1.0" encoding="UTF-8" standalone="yes"?>
<Relationships xmlns="http://schemas.openxmlformats.org/package/2006/relationships"><Relationship Id="rId3" Type="http://schemas.openxmlformats.org/officeDocument/2006/relationships/hyperlink" Target="https://humanidades.com/causas-y-consecuencias-de-la-revolucion-industrial/" TargetMode="External"/><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13.xml.rels><?xml version="1.0" encoding="UTF-8" standalone="yes"?>
<Relationships xmlns="http://schemas.openxmlformats.org/package/2006/relationships"><Relationship Id="rId3" Type="http://schemas.openxmlformats.org/officeDocument/2006/relationships/hyperlink" Target="https://viajes.lavozdegalicia.es/lista/2018/09/01/nueve-lugares-mexico-patrimonio-humanidad/03071535805974871346710.htm" TargetMode="External"/><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diputados.gob.mx/LeyesBiblio/pdf/CPEUM.pdf" TargetMode="External"/><Relationship Id="rId2" Type="http://schemas.openxmlformats.org/officeDocument/2006/relationships/image" Target="../media/image5.jpg"/><Relationship Id="rId1" Type="http://schemas.openxmlformats.org/officeDocument/2006/relationships/slideLayout" Target="../slideLayouts/slideLayout2.xml"/><Relationship Id="rId4" Type="http://schemas.openxmlformats.org/officeDocument/2006/relationships/hyperlink" Target="https://www.ohchr.org/es/instruments-mechanisms/instruments/vienna-declaration-and-programme-action"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55228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8950A1AD-82BD-7726-B6A8-FEBD2EF5A04D}"/>
              </a:ext>
            </a:extLst>
          </p:cNvPr>
          <p:cNvSpPr txBox="1">
            <a:spLocks noChangeArrowheads="1"/>
          </p:cNvSpPr>
          <p:nvPr/>
        </p:nvSpPr>
        <p:spPr bwMode="auto">
          <a:xfrm>
            <a:off x="481232" y="4009998"/>
            <a:ext cx="11464925" cy="132715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s-MX" sz="4000" noProof="0" dirty="0">
                <a:solidFill>
                  <a:schemeClr val="bg1"/>
                </a:solidFill>
                <a:latin typeface="Montserrat SemiBold" pitchFamily="2" charset="77"/>
              </a:rPr>
              <a:t>Unidad 2. </a:t>
            </a:r>
            <a:r>
              <a:rPr lang="es-MX" sz="4000" b="1" dirty="0">
                <a:solidFill>
                  <a:schemeClr val="bg1"/>
                </a:solidFill>
              </a:rPr>
              <a:t>Reconoce las bases teóricas básicas relacionadas con los derechos humanos en México</a:t>
            </a:r>
            <a:endParaRPr lang="es-MX" sz="4000" noProof="0" dirty="0">
              <a:solidFill>
                <a:schemeClr val="bg1"/>
              </a:solidFill>
              <a:latin typeface="Montserrat SemiBold" pitchFamily="2" charset="77"/>
            </a:endParaRPr>
          </a:p>
        </p:txBody>
      </p:sp>
      <p:sp>
        <p:nvSpPr>
          <p:cNvPr id="5" name="Marcador de contenido 2">
            <a:extLst>
              <a:ext uri="{FF2B5EF4-FFF2-40B4-BE49-F238E27FC236}">
                <a16:creationId xmlns:a16="http://schemas.microsoft.com/office/drawing/2014/main" id="{DC8C9EFE-E493-644D-2B8E-E3DC0660311F}"/>
              </a:ext>
            </a:extLst>
          </p:cNvPr>
          <p:cNvSpPr txBox="1">
            <a:spLocks noChangeArrowheads="1"/>
          </p:cNvSpPr>
          <p:nvPr/>
        </p:nvSpPr>
        <p:spPr bwMode="auto">
          <a:xfrm>
            <a:off x="363537" y="5337148"/>
            <a:ext cx="11464925" cy="113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684213" indent="-227013">
              <a:defRPr>
                <a:solidFill>
                  <a:schemeClr val="tx1"/>
                </a:solidFill>
                <a:latin typeface="Calibri" panose="020F0502020204030204" pitchFamily="34" charset="0"/>
              </a:defRPr>
            </a:lvl2pPr>
            <a:lvl3pPr marL="1141413" indent="-227013">
              <a:defRPr>
                <a:solidFill>
                  <a:schemeClr val="tx1"/>
                </a:solidFill>
                <a:latin typeface="Calibri" panose="020F0502020204030204" pitchFamily="34" charset="0"/>
              </a:defRPr>
            </a:lvl3pPr>
            <a:lvl4pPr marL="1598613" indent="-227013">
              <a:defRPr>
                <a:solidFill>
                  <a:schemeClr val="tx1"/>
                </a:solidFill>
                <a:latin typeface="Calibri" panose="020F0502020204030204" pitchFamily="34" charset="0"/>
              </a:defRPr>
            </a:lvl4pPr>
            <a:lvl5pPr marL="2055813" indent="-227013">
              <a:defRPr>
                <a:solidFill>
                  <a:schemeClr val="tx1"/>
                </a:solidFill>
                <a:latin typeface="Calibri" panose="020F0502020204030204" pitchFamily="34" charset="0"/>
              </a:defRPr>
            </a:lvl5pPr>
            <a:lvl6pPr marL="2513013" indent="-227013" defTabSz="912813" fontAlgn="base">
              <a:spcBef>
                <a:spcPct val="0"/>
              </a:spcBef>
              <a:spcAft>
                <a:spcPct val="0"/>
              </a:spcAft>
              <a:defRPr>
                <a:solidFill>
                  <a:schemeClr val="tx1"/>
                </a:solidFill>
                <a:latin typeface="Calibri" panose="020F0502020204030204" pitchFamily="34" charset="0"/>
              </a:defRPr>
            </a:lvl6pPr>
            <a:lvl7pPr marL="2970213" indent="-227013" defTabSz="912813" fontAlgn="base">
              <a:spcBef>
                <a:spcPct val="0"/>
              </a:spcBef>
              <a:spcAft>
                <a:spcPct val="0"/>
              </a:spcAft>
              <a:defRPr>
                <a:solidFill>
                  <a:schemeClr val="tx1"/>
                </a:solidFill>
                <a:latin typeface="Calibri" panose="020F0502020204030204" pitchFamily="34" charset="0"/>
              </a:defRPr>
            </a:lvl7pPr>
            <a:lvl8pPr marL="3427413" indent="-227013" defTabSz="912813" fontAlgn="base">
              <a:spcBef>
                <a:spcPct val="0"/>
              </a:spcBef>
              <a:spcAft>
                <a:spcPct val="0"/>
              </a:spcAft>
              <a:defRPr>
                <a:solidFill>
                  <a:schemeClr val="tx1"/>
                </a:solidFill>
                <a:latin typeface="Calibri" panose="020F0502020204030204" pitchFamily="34" charset="0"/>
              </a:defRPr>
            </a:lvl8pPr>
            <a:lvl9pPr marL="3884613" indent="-227013" defTabSz="912813" fontAlgn="base">
              <a:spcBef>
                <a:spcPct val="0"/>
              </a:spcBef>
              <a:spcAft>
                <a:spcPct val="0"/>
              </a:spcAft>
              <a:defRPr>
                <a:solidFill>
                  <a:schemeClr val="tx1"/>
                </a:solidFill>
                <a:latin typeface="Calibri" panose="020F0502020204030204" pitchFamily="34" charset="0"/>
              </a:defRPr>
            </a:lvl9pPr>
          </a:lstStyle>
          <a:p>
            <a:pPr algn="ctr" eaLnBrk="1" hangingPunct="1">
              <a:lnSpc>
                <a:spcPct val="90000"/>
              </a:lnSpc>
              <a:spcBef>
                <a:spcPts val="1000"/>
              </a:spcBef>
              <a:buFont typeface="Arial" panose="020B0604020202020204" pitchFamily="34" charset="0"/>
              <a:buNone/>
            </a:pPr>
            <a:r>
              <a:rPr lang="es-MX" sz="2400" noProof="0" dirty="0">
                <a:solidFill>
                  <a:srgbClr val="BC945A"/>
                </a:solidFill>
                <a:latin typeface="Montserrat SemiBold" pitchFamily="2" charset="77"/>
              </a:rPr>
              <a:t>Presenta: </a:t>
            </a:r>
          </a:p>
          <a:p>
            <a:pPr algn="ctr" eaLnBrk="1" hangingPunct="1">
              <a:lnSpc>
                <a:spcPct val="90000"/>
              </a:lnSpc>
              <a:spcBef>
                <a:spcPts val="1000"/>
              </a:spcBef>
              <a:buFont typeface="Arial" panose="020B0604020202020204" pitchFamily="34" charset="0"/>
              <a:buNone/>
            </a:pPr>
            <a:r>
              <a:rPr lang="es-MX" sz="2400" noProof="0" dirty="0">
                <a:solidFill>
                  <a:srgbClr val="BC945A"/>
                </a:solidFill>
                <a:latin typeface="Montserrat SemiBold" pitchFamily="2" charset="77"/>
              </a:rPr>
              <a:t>Mtro. Daniel Alexis Lozano Ortega</a:t>
            </a:r>
          </a:p>
        </p:txBody>
      </p:sp>
    </p:spTree>
    <p:extLst>
      <p:ext uri="{BB962C8B-B14F-4D97-AF65-F5344CB8AC3E}">
        <p14:creationId xmlns:p14="http://schemas.microsoft.com/office/powerpoint/2010/main" val="25257058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B72355-4ACF-0CA5-3B28-6075CBF91C0E}"/>
              </a:ext>
            </a:extLst>
          </p:cNvPr>
          <p:cNvSpPr>
            <a:spLocks noGrp="1"/>
          </p:cNvSpPr>
          <p:nvPr>
            <p:ph type="title"/>
          </p:nvPr>
        </p:nvSpPr>
        <p:spPr>
          <a:xfrm>
            <a:off x="716849" y="1729553"/>
            <a:ext cx="9827560" cy="2982701"/>
          </a:xfrm>
        </p:spPr>
        <p:txBody>
          <a:bodyPr>
            <a:normAutofit fontScale="90000"/>
          </a:bodyPr>
          <a:lstStyle/>
          <a:p>
            <a:pPr algn="just"/>
            <a:r>
              <a:rPr lang="es-MX" sz="1800" noProof="0" dirty="0"/>
              <a:t>Soy Licenciado en Derecho por la Universidad Veracruzana, donde obtuve el grado con mención honorífica y promedio general de 9.2. Posteriormente cursé la Maestría en Derechos Humanos y Justicia Constitucional en la misma institución, también con mención honorífica y promedio de 9.0.	</a:t>
            </a:r>
            <a:br>
              <a:rPr lang="es-MX" sz="1800" noProof="0" dirty="0"/>
            </a:br>
            <a:br>
              <a:rPr lang="es-MX" sz="1800" noProof="0" dirty="0"/>
            </a:br>
            <a:r>
              <a:rPr lang="es-MX" sz="1800" noProof="0" dirty="0"/>
              <a:t>Mis principales intereses académicos se centran en el derecho público, los derechos humanos, la gobernanza y las políticas públicas, así como en el papel del derecho en el fortalecimiento de las instituciones públicas.</a:t>
            </a:r>
            <a:br>
              <a:rPr lang="es-MX" sz="1800" noProof="0" dirty="0"/>
            </a:br>
            <a:br>
              <a:rPr lang="es-MX" sz="1800" noProof="0" dirty="0"/>
            </a:br>
            <a:r>
              <a:rPr lang="es-MX" sz="1800" noProof="0" dirty="0"/>
              <a:t>En el ámbito académico, me he desempeñado como docente en la Universidad Abierta y a Distancia de México (UnADM). Asimismo, he participado como coautor en diversas publicaciones especializadas en derechos humanos, particularmente en temas relacionados con derechos de la niñez, derecho de propiedad y violencia patrimonial en contextos rurales, destacando el capítulo </a:t>
            </a:r>
            <a:r>
              <a:rPr lang="es-MX" sz="1800" i="1" noProof="0" dirty="0"/>
              <a:t>“Convencionalidad de la autorización a la enajenación de bienes de niñas, niños y adolescentes. La autonomía progresiva y el interés superior de la niñez y la adolescencia”</a:t>
            </a:r>
            <a:r>
              <a:rPr lang="es-MX" sz="1800" noProof="0" dirty="0"/>
              <a:t> (2023).(UnADM).</a:t>
            </a:r>
            <a:br>
              <a:rPr lang="es-MX" sz="1800" noProof="0" dirty="0"/>
            </a:br>
            <a:r>
              <a:rPr lang="es-MX" sz="1800" noProof="0" dirty="0"/>
              <a:t>En el servicio público, destaqué como Procurador de Protección de Niñas, Niños y Adolescentes, participando en la protección y restitución de los derechos de la niñez y adolescencia.	</a:t>
            </a:r>
            <a:br>
              <a:rPr lang="es-MX" sz="1800" noProof="0" dirty="0"/>
            </a:br>
            <a:br>
              <a:rPr lang="es-MX" sz="1800" noProof="0" dirty="0"/>
            </a:br>
            <a:r>
              <a:rPr lang="es-MX" sz="1800" noProof="0" dirty="0"/>
              <a:t>Actualmente me desempeño como abogado postulante en materia de derecho familiar y docente universitario.</a:t>
            </a:r>
            <a:br>
              <a:rPr lang="es-MX" sz="1800" noProof="0" dirty="0"/>
            </a:br>
            <a:r>
              <a:rPr lang="es-MX" sz="1800" noProof="0" dirty="0">
                <a:latin typeface="Montserrat" pitchFamily="2" charset="77"/>
              </a:rPr>
              <a:t>.</a:t>
            </a:r>
          </a:p>
        </p:txBody>
      </p:sp>
      <p:pic>
        <p:nvPicPr>
          <p:cNvPr id="4" name="Marcador de contenido 3">
            <a:extLst>
              <a:ext uri="{FF2B5EF4-FFF2-40B4-BE49-F238E27FC236}">
                <a16:creationId xmlns:a16="http://schemas.microsoft.com/office/drawing/2014/main" id="{BEC3124D-F93C-A09C-23FB-D0DF35A47D93}"/>
              </a:ext>
            </a:extLst>
          </p:cNvPr>
          <p:cNvPicPr>
            <a:picLocks noGrp="1" noChangeAspect="1"/>
          </p:cNvPicPr>
          <p:nvPr>
            <p:ph idx="1"/>
          </p:nvPr>
        </p:nvPicPr>
        <p:blipFill>
          <a:blip r:embed="rId3">
            <a:extLst>
              <a:ext uri="{BEBA8EAE-BF5A-486C-A8C5-ECC9F3942E4B}">
                <a14:imgProps xmlns:a14="http://schemas.microsoft.com/office/drawing/2010/main">
                  <a14:imgLayer r:embed="rId4">
                    <a14:imgEffect>
                      <a14:backgroundRemoval t="9961" b="99023" l="7813" r="94727">
                        <a14:foregroundMark x1="11719" y1="48828" x2="7910" y2="47363"/>
                        <a14:foregroundMark x1="46582" y1="87500" x2="66895" y2="93652"/>
                        <a14:foregroundMark x1="66895" y1="93652" x2="70996" y2="78906"/>
                        <a14:foregroundMark x1="70996" y1="78906" x2="90723" y2="87500"/>
                        <a14:foregroundMark x1="90723" y1="87500" x2="89453" y2="59570"/>
                        <a14:foregroundMark x1="32031" y1="87500" x2="32031" y2="87500"/>
                        <a14:foregroundMark x1="32031" y1="87500" x2="29688" y2="91016"/>
                        <a14:foregroundMark x1="46973" y1="89063" x2="67090" y2="97363"/>
                        <a14:foregroundMark x1="67090" y1="97363" x2="96582" y2="91992"/>
                        <a14:foregroundMark x1="96582" y1="91992" x2="82324" y2="85352"/>
                        <a14:foregroundMark x1="82324" y1="85352" x2="94043" y2="71973"/>
                        <a14:foregroundMark x1="94043" y1="71973" x2="94824" y2="64941"/>
                        <a14:foregroundMark x1="45801" y1="91406" x2="57813" y2="98926"/>
                        <a14:foregroundMark x1="57813" y1="98926" x2="97461" y2="91016"/>
                        <a14:foregroundMark x1="97461" y1="91016" x2="53809" y2="99512"/>
                        <a14:foregroundMark x1="53809" y1="99512" x2="78125" y2="95703"/>
                        <a14:foregroundMark x1="78125" y1="95703" x2="77539" y2="99023"/>
                      </a14:backgroundRemoval>
                    </a14:imgEffect>
                  </a14:imgLayer>
                </a14:imgProps>
              </a:ext>
            </a:extLst>
          </a:blip>
          <a:srcRect r="8169" b="7093"/>
          <a:stretch>
            <a:fillRect/>
          </a:stretch>
        </p:blipFill>
        <p:spPr>
          <a:xfrm>
            <a:off x="8597015" y="3220904"/>
            <a:ext cx="3594985" cy="3637096"/>
          </a:xfrm>
        </p:spPr>
      </p:pic>
      <p:sp>
        <p:nvSpPr>
          <p:cNvPr id="14" name="Título 1">
            <a:extLst>
              <a:ext uri="{FF2B5EF4-FFF2-40B4-BE49-F238E27FC236}">
                <a16:creationId xmlns:a16="http://schemas.microsoft.com/office/drawing/2014/main" id="{333BE15F-6A12-784B-4E92-0085F9F78DEF}"/>
              </a:ext>
            </a:extLst>
          </p:cNvPr>
          <p:cNvSpPr txBox="1">
            <a:spLocks/>
          </p:cNvSpPr>
          <p:nvPr/>
        </p:nvSpPr>
        <p:spPr>
          <a:xfrm>
            <a:off x="716849" y="2113613"/>
            <a:ext cx="9827560" cy="849005"/>
          </a:xfrm>
          <a:prstGeom prst="rect">
            <a:avLst/>
          </a:prstGeom>
        </p:spPr>
        <p:txBody>
          <a:bodyPr vert="horz" lIns="91440" tIns="45720" rIns="91440" bIns="45720" rtlCol="0" anchor="ct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nSpc>
                <a:spcPct val="100000"/>
              </a:lnSpc>
            </a:pPr>
            <a:endParaRPr lang="es-MX" sz="1800" noProof="0" dirty="0">
              <a:latin typeface="Montserrat" pitchFamily="2" charset="77"/>
            </a:endParaRPr>
          </a:p>
        </p:txBody>
      </p:sp>
      <p:sp>
        <p:nvSpPr>
          <p:cNvPr id="6" name="Título 1">
            <a:extLst>
              <a:ext uri="{FF2B5EF4-FFF2-40B4-BE49-F238E27FC236}">
                <a16:creationId xmlns:a16="http://schemas.microsoft.com/office/drawing/2014/main" id="{153EBE81-9939-BFA5-CACF-E263C2CBBC65}"/>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Tree>
    <p:extLst>
      <p:ext uri="{BB962C8B-B14F-4D97-AF65-F5344CB8AC3E}">
        <p14:creationId xmlns:p14="http://schemas.microsoft.com/office/powerpoint/2010/main" val="41249319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BB72355-4ACF-0CA5-3B28-6075CBF91C0E}"/>
              </a:ext>
            </a:extLst>
          </p:cNvPr>
          <p:cNvSpPr>
            <a:spLocks noGrp="1"/>
          </p:cNvSpPr>
          <p:nvPr>
            <p:ph type="title"/>
          </p:nvPr>
        </p:nvSpPr>
        <p:spPr>
          <a:xfrm>
            <a:off x="680545" y="1237484"/>
            <a:ext cx="10930688" cy="974376"/>
          </a:xfrm>
        </p:spPr>
        <p:txBody>
          <a:bodyPr>
            <a:normAutofit/>
          </a:bodyPr>
          <a:lstStyle/>
          <a:p>
            <a:r>
              <a:rPr lang="es-MX" sz="3600" b="1" noProof="0" dirty="0">
                <a:solidFill>
                  <a:srgbClr val="BC9459"/>
                </a:solidFill>
                <a:latin typeface="Montserrat" pitchFamily="2" charset="77"/>
              </a:rPr>
              <a:t>Introducción a la asignatura </a:t>
            </a:r>
          </a:p>
        </p:txBody>
      </p:sp>
      <p:sp>
        <p:nvSpPr>
          <p:cNvPr id="9" name="Marcador de contenido 8">
            <a:extLst>
              <a:ext uri="{FF2B5EF4-FFF2-40B4-BE49-F238E27FC236}">
                <a16:creationId xmlns:a16="http://schemas.microsoft.com/office/drawing/2014/main" id="{3D9E04A6-26A1-E95A-E8B6-2A9813D2F8C5}"/>
              </a:ext>
            </a:extLst>
          </p:cNvPr>
          <p:cNvSpPr>
            <a:spLocks noGrp="1"/>
          </p:cNvSpPr>
          <p:nvPr>
            <p:ph idx="1"/>
          </p:nvPr>
        </p:nvSpPr>
        <p:spPr>
          <a:xfrm>
            <a:off x="630656" y="2211860"/>
            <a:ext cx="10930688" cy="3915677"/>
          </a:xfrm>
        </p:spPr>
        <p:txBody>
          <a:bodyPr>
            <a:normAutofit/>
          </a:bodyPr>
          <a:lstStyle/>
          <a:p>
            <a:pPr algn="just">
              <a:lnSpc>
                <a:spcPct val="100000"/>
              </a:lnSpc>
            </a:pPr>
            <a:r>
              <a:rPr lang="es-MX" sz="2000" dirty="0"/>
              <a:t>El estudio de los antecedentes de los derechos humanos permite comprender que su reconocimiento es el resultado de un largo proceso histórico, político, filosófico y jurídico. A lo largo de la historia, distintas civilizaciones, movimientos sociales y corrientes de pensamiento sentaron las bases para la construcción de los derechos y libertades que hoy protegen la dignidad de todas las personas.</a:t>
            </a:r>
          </a:p>
          <a:p>
            <a:pPr algn="just">
              <a:lnSpc>
                <a:spcPct val="100000"/>
              </a:lnSpc>
            </a:pPr>
            <a:r>
              <a:rPr lang="es-MX" sz="2000" dirty="0"/>
              <a:t>Conocer estos antecedentes resulta fundamental para identificar cómo evolucionaron las ideas de justicia, igualdad y libertad, así como los principales documentos e instituciones que contribuyeron a la consolidación de los derechos humanos en el ámbito nacional e internacional. Este análisis proporciona al estudiantado una perspectiva crítica sobre la importancia de los derechos humanos como fundamento del Estado constitucional de derecho y como instrumentos esenciales para la protección de la persona frente al ejercicio del poder.</a:t>
            </a:r>
          </a:p>
        </p:txBody>
      </p:sp>
      <p:sp>
        <p:nvSpPr>
          <p:cNvPr id="4" name="Título 1">
            <a:extLst>
              <a:ext uri="{FF2B5EF4-FFF2-40B4-BE49-F238E27FC236}">
                <a16:creationId xmlns:a16="http://schemas.microsoft.com/office/drawing/2014/main" id="{670442DD-6C0E-3F5F-1DE2-1F9A71EE9FE7}"/>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Tree>
    <p:extLst>
      <p:ext uri="{BB962C8B-B14F-4D97-AF65-F5344CB8AC3E}">
        <p14:creationId xmlns:p14="http://schemas.microsoft.com/office/powerpoint/2010/main" val="42277396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98ACFCCB-71AD-CA4F-335E-9336AA7EF730}"/>
              </a:ext>
            </a:extLst>
          </p:cNvPr>
          <p:cNvSpPr>
            <a:spLocks noGrp="1"/>
          </p:cNvSpPr>
          <p:nvPr>
            <p:ph type="title"/>
          </p:nvPr>
        </p:nvSpPr>
        <p:spPr>
          <a:xfrm>
            <a:off x="680545" y="753812"/>
            <a:ext cx="10930688" cy="974376"/>
          </a:xfrm>
        </p:spPr>
        <p:txBody>
          <a:bodyPr>
            <a:normAutofit/>
          </a:bodyPr>
          <a:lstStyle/>
          <a:p>
            <a:r>
              <a:rPr lang="es-ES" sz="3600" b="1" noProof="0" dirty="0">
                <a:solidFill>
                  <a:srgbClr val="245C4F"/>
                </a:solidFill>
                <a:latin typeface="Montserrat" pitchFamily="2" charset="77"/>
              </a:rPr>
              <a:t>1. ¿Por qué estudiar esta teoría?</a:t>
            </a:r>
            <a:endParaRPr lang="es-MX" sz="3600" b="1" noProof="0" dirty="0">
              <a:solidFill>
                <a:srgbClr val="245C4F"/>
              </a:solidFill>
              <a:latin typeface="Montserrat" pitchFamily="2" charset="77"/>
            </a:endParaRPr>
          </a:p>
        </p:txBody>
      </p:sp>
      <p:sp>
        <p:nvSpPr>
          <p:cNvPr id="3" name="Título 1">
            <a:extLst>
              <a:ext uri="{FF2B5EF4-FFF2-40B4-BE49-F238E27FC236}">
                <a16:creationId xmlns:a16="http://schemas.microsoft.com/office/drawing/2014/main" id="{43830790-D1D7-C8A5-295A-009595AF5F16}"/>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Unidad 9. Nuevo Derecho Mexicano</a:t>
            </a:r>
          </a:p>
        </p:txBody>
      </p:sp>
      <p:sp>
        <p:nvSpPr>
          <p:cNvPr id="6" name="Rectangle 2">
            <a:extLst>
              <a:ext uri="{FF2B5EF4-FFF2-40B4-BE49-F238E27FC236}">
                <a16:creationId xmlns:a16="http://schemas.microsoft.com/office/drawing/2014/main" id="{8E0A32C3-C3D3-84A5-11B4-212C6A7FB96E}"/>
              </a:ext>
            </a:extLst>
          </p:cNvPr>
          <p:cNvSpPr>
            <a:spLocks noGrp="1" noChangeArrowheads="1"/>
          </p:cNvSpPr>
          <p:nvPr>
            <p:ph idx="1"/>
          </p:nvPr>
        </p:nvSpPr>
        <p:spPr bwMode="auto">
          <a:xfrm>
            <a:off x="880751" y="1719667"/>
            <a:ext cx="5840178"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00000"/>
              </a:lnSpc>
              <a:spcBef>
                <a:spcPct val="0"/>
              </a:spcBef>
              <a:spcAft>
                <a:spcPct val="0"/>
              </a:spcAft>
              <a:buFont typeface="Wingdings" panose="05000000000000000000" pitchFamily="2" charset="2"/>
              <a:buChar char="Ø"/>
            </a:pPr>
            <a:r>
              <a:rPr lang="es-MX" sz="1800" dirty="0">
                <a:latin typeface="Montserrat" panose="00000500000000000000" pitchFamily="2" charset="0"/>
              </a:rPr>
              <a:t>Los derechos humanos no surgieron simultáneamente, sino que fueron reconocidos como resultado de diversos acontecimientos históricos, sociales y políticos. La Teoría de las Tres Generaciones permite comprender este proceso evolutivo y facilita el análisis cronológico de la expansión del catálogo de derechos. Su estudio constituye una estrategia pedagógica que ayuda a explicar cómo las demandas de libertad, igualdad y solidaridad dieron origen a nuevas formas de protección jurídica de la dignidad humana.</a:t>
            </a:r>
            <a:endParaRPr kumimoji="0" lang="es-MX" sz="1800" b="0" i="0" u="none" strike="noStrike" cap="none" normalizeH="0" baseline="0" noProof="0" dirty="0">
              <a:ln>
                <a:noFill/>
              </a:ln>
              <a:solidFill>
                <a:schemeClr val="tx1"/>
              </a:solidFill>
              <a:effectLst/>
              <a:latin typeface="Montserrat" panose="00000500000000000000" pitchFamily="2" charset="0"/>
            </a:endParaRPr>
          </a:p>
        </p:txBody>
      </p:sp>
      <p:pic>
        <p:nvPicPr>
          <p:cNvPr id="10" name="Imagen 9">
            <a:extLst>
              <a:ext uri="{FF2B5EF4-FFF2-40B4-BE49-F238E27FC236}">
                <a16:creationId xmlns:a16="http://schemas.microsoft.com/office/drawing/2014/main" id="{3EB636CF-3587-441B-2AAA-35504551A7C6}"/>
              </a:ext>
            </a:extLst>
          </p:cNvPr>
          <p:cNvPicPr>
            <a:picLocks noChangeAspect="1"/>
          </p:cNvPicPr>
          <p:nvPr/>
        </p:nvPicPr>
        <p:blipFill>
          <a:blip r:embed="rId3"/>
          <a:stretch>
            <a:fillRect/>
          </a:stretch>
        </p:blipFill>
        <p:spPr>
          <a:xfrm>
            <a:off x="7248012" y="1973421"/>
            <a:ext cx="4363221" cy="2908814"/>
          </a:xfrm>
          <a:prstGeom prst="rect">
            <a:avLst/>
          </a:prstGeom>
        </p:spPr>
      </p:pic>
      <p:sp>
        <p:nvSpPr>
          <p:cNvPr id="12" name="CuadroTexto 11">
            <a:extLst>
              <a:ext uri="{FF2B5EF4-FFF2-40B4-BE49-F238E27FC236}">
                <a16:creationId xmlns:a16="http://schemas.microsoft.com/office/drawing/2014/main" id="{4CA2D38F-C097-2E70-9E52-2656F29E31A8}"/>
              </a:ext>
            </a:extLst>
          </p:cNvPr>
          <p:cNvSpPr txBox="1"/>
          <p:nvPr/>
        </p:nvSpPr>
        <p:spPr>
          <a:xfrm>
            <a:off x="754090" y="5274487"/>
            <a:ext cx="6093500" cy="523220"/>
          </a:xfrm>
          <a:prstGeom prst="rect">
            <a:avLst/>
          </a:prstGeom>
          <a:noFill/>
        </p:spPr>
        <p:txBody>
          <a:bodyPr wrap="square">
            <a:spAutoFit/>
          </a:bodyPr>
          <a:lstStyle/>
          <a:p>
            <a:pPr algn="ctr">
              <a:buNone/>
            </a:pPr>
            <a:r>
              <a:rPr lang="es-MX" sz="1400" b="1" dirty="0"/>
              <a:t>La teoría explica una evolución histórica, no una jerarquía entre derechos</a:t>
            </a:r>
            <a:r>
              <a:rPr lang="es-MX" sz="1400" dirty="0"/>
              <a:t>.</a:t>
            </a:r>
            <a:endParaRPr lang="es-MX" sz="1400" noProof="0" dirty="0"/>
          </a:p>
        </p:txBody>
      </p:sp>
      <p:sp>
        <p:nvSpPr>
          <p:cNvPr id="14" name="CuadroTexto 13">
            <a:extLst>
              <a:ext uri="{FF2B5EF4-FFF2-40B4-BE49-F238E27FC236}">
                <a16:creationId xmlns:a16="http://schemas.microsoft.com/office/drawing/2014/main" id="{D9482BB6-FA02-D9BE-8878-AF5CA38ACEED}"/>
              </a:ext>
            </a:extLst>
          </p:cNvPr>
          <p:cNvSpPr txBox="1"/>
          <p:nvPr/>
        </p:nvSpPr>
        <p:spPr>
          <a:xfrm>
            <a:off x="7152991" y="5127468"/>
            <a:ext cx="4553261" cy="738664"/>
          </a:xfrm>
          <a:prstGeom prst="rect">
            <a:avLst/>
          </a:prstGeom>
          <a:noFill/>
        </p:spPr>
        <p:txBody>
          <a:bodyPr wrap="square">
            <a:spAutoFit/>
          </a:bodyPr>
          <a:lstStyle/>
          <a:p>
            <a:pPr algn="just">
              <a:buNone/>
            </a:pPr>
            <a:r>
              <a:rPr lang="es-MX" sz="1400" noProof="0" dirty="0"/>
              <a:t>Suprema Corte de Justicia de la Nación. (2023). </a:t>
            </a:r>
            <a:r>
              <a:rPr lang="es-MX" sz="1400" i="1" noProof="0" dirty="0"/>
              <a:t>Edificio de la Suprema Corte de Justicia de la Nación</a:t>
            </a:r>
            <a:r>
              <a:rPr lang="es-MX" sz="1400" noProof="0" dirty="0"/>
              <a:t> [Fotografía]. </a:t>
            </a:r>
            <a:r>
              <a:rPr lang="es-MX" sz="1400" noProof="0" dirty="0">
                <a:hlinkClick r:id="rId4"/>
              </a:rPr>
              <a:t>https://www.scjn.gob.mx</a:t>
            </a:r>
            <a:endParaRPr lang="es-MX" sz="1400" noProof="0" dirty="0"/>
          </a:p>
        </p:txBody>
      </p:sp>
    </p:spTree>
    <p:extLst>
      <p:ext uri="{BB962C8B-B14F-4D97-AF65-F5344CB8AC3E}">
        <p14:creationId xmlns:p14="http://schemas.microsoft.com/office/powerpoint/2010/main" val="3233493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CAFE66B-4DF4-3D9D-E1AB-90D126F9FE5D}"/>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A6F6FE4D-DBB9-6987-AA61-832E3160BD0A}"/>
              </a:ext>
            </a:extLst>
          </p:cNvPr>
          <p:cNvSpPr>
            <a:spLocks noGrp="1"/>
          </p:cNvSpPr>
          <p:nvPr>
            <p:ph type="title"/>
          </p:nvPr>
        </p:nvSpPr>
        <p:spPr>
          <a:xfrm>
            <a:off x="680545" y="753812"/>
            <a:ext cx="10930688" cy="974376"/>
          </a:xfrm>
        </p:spPr>
        <p:txBody>
          <a:bodyPr>
            <a:normAutofit/>
          </a:bodyPr>
          <a:lstStyle/>
          <a:p>
            <a:r>
              <a:rPr lang="es-MX" sz="2800" b="1" noProof="0" dirty="0">
                <a:solidFill>
                  <a:srgbClr val="245C4F"/>
                </a:solidFill>
                <a:latin typeface="Montserrat" pitchFamily="2" charset="77"/>
              </a:rPr>
              <a:t>2. Quién fue Karel Vasak?</a:t>
            </a:r>
          </a:p>
        </p:txBody>
      </p:sp>
      <p:sp>
        <p:nvSpPr>
          <p:cNvPr id="5" name="Rectangle 2">
            <a:extLst>
              <a:ext uri="{FF2B5EF4-FFF2-40B4-BE49-F238E27FC236}">
                <a16:creationId xmlns:a16="http://schemas.microsoft.com/office/drawing/2014/main" id="{60C42D2C-984E-A1D1-D78A-D6DA5A12C31D}"/>
              </a:ext>
            </a:extLst>
          </p:cNvPr>
          <p:cNvSpPr>
            <a:spLocks noGrp="1" noChangeArrowheads="1"/>
          </p:cNvSpPr>
          <p:nvPr>
            <p:ph idx="1"/>
          </p:nvPr>
        </p:nvSpPr>
        <p:spPr bwMode="auto">
          <a:xfrm>
            <a:off x="754090" y="1435593"/>
            <a:ext cx="5341910" cy="3716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s-MX" sz="2000" dirty="0">
                <a:latin typeface="Montserrat" panose="00000500000000000000" pitchFamily="2" charset="0"/>
              </a:rPr>
              <a:t>Jurista checo-francés. </a:t>
            </a:r>
          </a:p>
          <a:p>
            <a:r>
              <a:rPr lang="es-MX" sz="2000" dirty="0">
                <a:latin typeface="Montserrat" panose="00000500000000000000" pitchFamily="2" charset="0"/>
              </a:rPr>
              <a:t>Director de la División de Derechos Humanos de la UNESCO. </a:t>
            </a:r>
          </a:p>
          <a:p>
            <a:r>
              <a:rPr lang="es-MX" sz="2000" dirty="0">
                <a:latin typeface="Montserrat" panose="00000500000000000000" pitchFamily="2" charset="0"/>
              </a:rPr>
              <a:t>En 1979 formuló la teoría de las tres generaciones. </a:t>
            </a:r>
          </a:p>
          <a:p>
            <a:r>
              <a:rPr lang="es-MX" sz="2000" dirty="0">
                <a:latin typeface="Montserrat" panose="00000500000000000000" pitchFamily="2" charset="0"/>
              </a:rPr>
              <a:t>Se inspiró en los ideales de la Revolución Francesa: </a:t>
            </a:r>
          </a:p>
          <a:p>
            <a:pPr lvl="1"/>
            <a:r>
              <a:rPr lang="es-MX" sz="2000" dirty="0">
                <a:latin typeface="Montserrat" panose="00000500000000000000" pitchFamily="2" charset="0"/>
              </a:rPr>
              <a:t>Libertad </a:t>
            </a:r>
          </a:p>
          <a:p>
            <a:pPr lvl="1"/>
            <a:r>
              <a:rPr lang="es-MX" sz="2000" dirty="0">
                <a:latin typeface="Montserrat" panose="00000500000000000000" pitchFamily="2" charset="0"/>
              </a:rPr>
              <a:t>Igualdad </a:t>
            </a:r>
          </a:p>
          <a:p>
            <a:pPr lvl="1"/>
            <a:r>
              <a:rPr lang="es-MX" sz="2000" dirty="0">
                <a:latin typeface="Montserrat" panose="00000500000000000000" pitchFamily="2" charset="0"/>
              </a:rPr>
              <a:t>Fraternidad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6" name="CuadroTexto 5">
            <a:extLst>
              <a:ext uri="{FF2B5EF4-FFF2-40B4-BE49-F238E27FC236}">
                <a16:creationId xmlns:a16="http://schemas.microsoft.com/office/drawing/2014/main" id="{587AB88A-0EA6-3DB0-256E-0A89CCDAD367}"/>
              </a:ext>
            </a:extLst>
          </p:cNvPr>
          <p:cNvSpPr txBox="1"/>
          <p:nvPr/>
        </p:nvSpPr>
        <p:spPr>
          <a:xfrm>
            <a:off x="6742569" y="5129813"/>
            <a:ext cx="6097508" cy="276999"/>
          </a:xfrm>
          <a:prstGeom prst="rect">
            <a:avLst/>
          </a:prstGeom>
          <a:noFill/>
        </p:spPr>
        <p:txBody>
          <a:bodyPr wrap="square">
            <a:spAutoFit/>
          </a:bodyPr>
          <a:lstStyle/>
          <a:p>
            <a:r>
              <a:rPr lang="es-MX" sz="1200" dirty="0"/>
              <a:t>Vasak, K. (1979). </a:t>
            </a:r>
            <a:r>
              <a:rPr lang="es-MX" sz="1200" i="1" dirty="0"/>
              <a:t>Pour une </a:t>
            </a:r>
            <a:r>
              <a:rPr lang="es-MX" sz="1200" i="1" dirty="0" err="1"/>
              <a:t>troisième</a:t>
            </a:r>
            <a:r>
              <a:rPr lang="es-MX" sz="1200" i="1" dirty="0"/>
              <a:t> </a:t>
            </a:r>
            <a:r>
              <a:rPr lang="es-MX" sz="1200" i="1" dirty="0" err="1"/>
              <a:t>génération</a:t>
            </a:r>
            <a:r>
              <a:rPr lang="es-MX" sz="1200" i="1" dirty="0"/>
              <a:t> des </a:t>
            </a:r>
            <a:r>
              <a:rPr lang="es-MX" sz="1200" i="1" dirty="0" err="1"/>
              <a:t>droits</a:t>
            </a:r>
            <a:r>
              <a:rPr lang="es-MX" sz="1200" i="1" dirty="0"/>
              <a:t> de </a:t>
            </a:r>
            <a:r>
              <a:rPr lang="es-MX" sz="1200" i="1" dirty="0" err="1"/>
              <a:t>l'homme</a:t>
            </a:r>
            <a:r>
              <a:rPr lang="es-MX" sz="1200" dirty="0"/>
              <a:t>. UNESCO.</a:t>
            </a:r>
          </a:p>
        </p:txBody>
      </p:sp>
      <p:pic>
        <p:nvPicPr>
          <p:cNvPr id="9" name="Imagen 8">
            <a:extLst>
              <a:ext uri="{FF2B5EF4-FFF2-40B4-BE49-F238E27FC236}">
                <a16:creationId xmlns:a16="http://schemas.microsoft.com/office/drawing/2014/main" id="{60727174-F7F6-11C8-DD8D-CEDDB2228F3C}"/>
              </a:ext>
            </a:extLst>
          </p:cNvPr>
          <p:cNvPicPr>
            <a:picLocks noChangeAspect="1"/>
          </p:cNvPicPr>
          <p:nvPr/>
        </p:nvPicPr>
        <p:blipFill>
          <a:blip r:embed="rId3"/>
          <a:stretch>
            <a:fillRect/>
          </a:stretch>
        </p:blipFill>
        <p:spPr>
          <a:xfrm>
            <a:off x="8025614" y="1020824"/>
            <a:ext cx="2876550" cy="3838575"/>
          </a:xfrm>
          <a:prstGeom prst="rect">
            <a:avLst/>
          </a:prstGeom>
        </p:spPr>
      </p:pic>
      <p:sp>
        <p:nvSpPr>
          <p:cNvPr id="11" name="CuadroTexto 10">
            <a:extLst>
              <a:ext uri="{FF2B5EF4-FFF2-40B4-BE49-F238E27FC236}">
                <a16:creationId xmlns:a16="http://schemas.microsoft.com/office/drawing/2014/main" id="{2C485B4A-45EC-BE68-A35E-7C739FD464E6}"/>
              </a:ext>
            </a:extLst>
          </p:cNvPr>
          <p:cNvSpPr txBox="1"/>
          <p:nvPr/>
        </p:nvSpPr>
        <p:spPr>
          <a:xfrm>
            <a:off x="463431" y="5151995"/>
            <a:ext cx="5923228" cy="461665"/>
          </a:xfrm>
          <a:prstGeom prst="rect">
            <a:avLst/>
          </a:prstGeom>
          <a:noFill/>
        </p:spPr>
        <p:txBody>
          <a:bodyPr wrap="square">
            <a:spAutoFit/>
          </a:bodyPr>
          <a:lstStyle/>
          <a:p>
            <a:pPr algn="just"/>
            <a:r>
              <a:rPr lang="es-MX" sz="1200" b="1" dirty="0">
                <a:latin typeface="Arial" panose="020B0604020202020204" pitchFamily="34" charset="0"/>
                <a:cs typeface="Arial" panose="020B0604020202020204" pitchFamily="34" charset="0"/>
              </a:rPr>
              <a:t>Su finalidad fue exclusivamente didáctica</a:t>
            </a:r>
            <a:r>
              <a:rPr lang="es-MX" sz="1200" dirty="0">
                <a:latin typeface="Arial" panose="020B0604020202020204" pitchFamily="34" charset="0"/>
                <a:cs typeface="Arial" panose="020B0604020202020204" pitchFamily="34" charset="0"/>
              </a:rPr>
              <a:t>, para explicar el desarrollo histórico de los derechos humanos.</a:t>
            </a:r>
          </a:p>
        </p:txBody>
      </p:sp>
      <p:sp>
        <p:nvSpPr>
          <p:cNvPr id="13" name="Título 1">
            <a:extLst>
              <a:ext uri="{FF2B5EF4-FFF2-40B4-BE49-F238E27FC236}">
                <a16:creationId xmlns:a16="http://schemas.microsoft.com/office/drawing/2014/main" id="{D87B5D8F-C69A-0562-F764-2AE4DF7B7EDA}"/>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Tree>
    <p:extLst>
      <p:ext uri="{BB962C8B-B14F-4D97-AF65-F5344CB8AC3E}">
        <p14:creationId xmlns:p14="http://schemas.microsoft.com/office/powerpoint/2010/main" val="32516871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65D2BCE-EBB8-C2D6-7AAF-730F12146A6F}"/>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D63B2424-76B7-935C-536E-70F1B1AA1E9A}"/>
              </a:ext>
            </a:extLst>
          </p:cNvPr>
          <p:cNvSpPr>
            <a:spLocks noGrp="1"/>
          </p:cNvSpPr>
          <p:nvPr>
            <p:ph type="title"/>
          </p:nvPr>
        </p:nvSpPr>
        <p:spPr>
          <a:xfrm>
            <a:off x="680545" y="753812"/>
            <a:ext cx="10930688" cy="974376"/>
          </a:xfrm>
        </p:spPr>
        <p:txBody>
          <a:bodyPr>
            <a:normAutofit fontScale="90000"/>
          </a:bodyPr>
          <a:lstStyle/>
          <a:p>
            <a:r>
              <a:rPr lang="es-MX" sz="3600" b="1" dirty="0">
                <a:solidFill>
                  <a:srgbClr val="245C4F"/>
                </a:solidFill>
                <a:latin typeface="Montserrat" pitchFamily="2" charset="77"/>
              </a:rPr>
              <a:t>3. </a:t>
            </a:r>
            <a:r>
              <a:rPr lang="es-ES" sz="3600" b="1" dirty="0">
                <a:solidFill>
                  <a:srgbClr val="245C4F"/>
                </a:solidFill>
                <a:latin typeface="Montserrat" pitchFamily="2" charset="77"/>
              </a:rPr>
              <a:t>Evolución histórica de los derechos humanos</a:t>
            </a:r>
            <a:endParaRPr lang="es-MX" sz="3600" b="1" noProof="0" dirty="0">
              <a:solidFill>
                <a:srgbClr val="245C4F"/>
              </a:solidFill>
              <a:latin typeface="Montserrat" pitchFamily="2" charset="77"/>
            </a:endParaRPr>
          </a:p>
        </p:txBody>
      </p:sp>
      <p:sp>
        <p:nvSpPr>
          <p:cNvPr id="6" name="Título 1">
            <a:extLst>
              <a:ext uri="{FF2B5EF4-FFF2-40B4-BE49-F238E27FC236}">
                <a16:creationId xmlns:a16="http://schemas.microsoft.com/office/drawing/2014/main" id="{E8FF62F0-21ED-BE18-0F39-EE83E3D1E20E}"/>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pic>
        <p:nvPicPr>
          <p:cNvPr id="9" name="Imagen 8">
            <a:extLst>
              <a:ext uri="{FF2B5EF4-FFF2-40B4-BE49-F238E27FC236}">
                <a16:creationId xmlns:a16="http://schemas.microsoft.com/office/drawing/2014/main" id="{E704B862-D483-7C4F-B7E2-40679BD44E34}"/>
              </a:ext>
            </a:extLst>
          </p:cNvPr>
          <p:cNvPicPr>
            <a:picLocks noChangeAspect="1"/>
          </p:cNvPicPr>
          <p:nvPr/>
        </p:nvPicPr>
        <p:blipFill>
          <a:blip r:embed="rId3"/>
          <a:stretch>
            <a:fillRect/>
          </a:stretch>
        </p:blipFill>
        <p:spPr>
          <a:xfrm>
            <a:off x="3428575" y="1537579"/>
            <a:ext cx="5334849" cy="4371788"/>
          </a:xfrm>
          <a:prstGeom prst="rect">
            <a:avLst/>
          </a:prstGeom>
        </p:spPr>
      </p:pic>
    </p:spTree>
    <p:extLst>
      <p:ext uri="{BB962C8B-B14F-4D97-AF65-F5344CB8AC3E}">
        <p14:creationId xmlns:p14="http://schemas.microsoft.com/office/powerpoint/2010/main" val="2303122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44F8708-E421-A793-3D92-0DE4CBFC2840}"/>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085E860C-26F2-981A-CE97-497D671FE789}"/>
              </a:ext>
            </a:extLst>
          </p:cNvPr>
          <p:cNvSpPr>
            <a:spLocks noGrp="1"/>
          </p:cNvSpPr>
          <p:nvPr>
            <p:ph type="title"/>
          </p:nvPr>
        </p:nvSpPr>
        <p:spPr>
          <a:xfrm>
            <a:off x="680545" y="1275737"/>
            <a:ext cx="10930688" cy="974376"/>
          </a:xfrm>
        </p:spPr>
        <p:txBody>
          <a:bodyPr>
            <a:normAutofit/>
          </a:bodyPr>
          <a:lstStyle/>
          <a:p>
            <a:r>
              <a:rPr lang="es-MX" sz="3600" b="1" dirty="0">
                <a:solidFill>
                  <a:srgbClr val="245C4F"/>
                </a:solidFill>
                <a:latin typeface="Montserrat" pitchFamily="2" charset="77"/>
              </a:rPr>
              <a:t>4. ¿Qué significa "generación"?</a:t>
            </a:r>
            <a:endParaRPr lang="es-MX" sz="3600" b="1" noProof="0" dirty="0">
              <a:solidFill>
                <a:srgbClr val="245C4F"/>
              </a:solidFill>
              <a:latin typeface="Montserrat" pitchFamily="2" charset="77"/>
            </a:endParaRPr>
          </a:p>
        </p:txBody>
      </p:sp>
      <p:sp>
        <p:nvSpPr>
          <p:cNvPr id="7" name="Rectangle 1">
            <a:extLst>
              <a:ext uri="{FF2B5EF4-FFF2-40B4-BE49-F238E27FC236}">
                <a16:creationId xmlns:a16="http://schemas.microsoft.com/office/drawing/2014/main" id="{5C62FEED-385F-4DE2-17C1-F40BC3651C66}"/>
              </a:ext>
            </a:extLst>
          </p:cNvPr>
          <p:cNvSpPr>
            <a:spLocks noGrp="1" noChangeArrowheads="1"/>
          </p:cNvSpPr>
          <p:nvPr>
            <p:ph idx="1"/>
          </p:nvPr>
        </p:nvSpPr>
        <p:spPr bwMode="auto">
          <a:xfrm>
            <a:off x="882097" y="2561936"/>
            <a:ext cx="5837486" cy="26930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s-MX" sz="2000" dirty="0">
                <a:latin typeface="Montserrat" panose="00000500000000000000" pitchFamily="2" charset="0"/>
              </a:rPr>
              <a:t>Explica que </a:t>
            </a:r>
            <a:r>
              <a:rPr lang="es-MX" sz="2000" b="1" dirty="0">
                <a:latin typeface="Montserrat" panose="00000500000000000000" pitchFamily="2" charset="0"/>
              </a:rPr>
              <a:t>no significa sustitución</a:t>
            </a:r>
            <a:r>
              <a:rPr lang="es-MX" sz="2000" dirty="0">
                <a:latin typeface="Montserrat" panose="00000500000000000000" pitchFamily="2" charset="0"/>
              </a:rPr>
              <a:t>.</a:t>
            </a:r>
          </a:p>
          <a:p>
            <a:pPr>
              <a:buFont typeface="Wingdings" panose="05000000000000000000" pitchFamily="2" charset="2"/>
              <a:buChar char="Ø"/>
            </a:pPr>
            <a:r>
              <a:rPr lang="es-MX" sz="2000" dirty="0">
                <a:latin typeface="Montserrat" panose="00000500000000000000" pitchFamily="2" charset="0"/>
              </a:rPr>
              <a:t>Cada generación representa una etapa histórica del reconocimiento de nuevos derechos.</a:t>
            </a:r>
          </a:p>
          <a:p>
            <a:pPr>
              <a:buFont typeface="Wingdings" panose="05000000000000000000" pitchFamily="2" charset="2"/>
              <a:buChar char="Ø"/>
            </a:pPr>
            <a:r>
              <a:rPr lang="es-MX" sz="2000" dirty="0">
                <a:latin typeface="Montserrat" panose="00000500000000000000" pitchFamily="2" charset="0"/>
              </a:rPr>
              <a:t>Los derechos anteriores continúan vigentes.</a:t>
            </a:r>
          </a:p>
          <a:p>
            <a:pPr>
              <a:buFont typeface="Wingdings" panose="05000000000000000000" pitchFamily="2" charset="2"/>
              <a:buChar char="Ø"/>
            </a:pPr>
            <a:r>
              <a:rPr lang="es-MX" sz="2000" dirty="0">
                <a:latin typeface="Montserrat" panose="00000500000000000000" pitchFamily="2" charset="0"/>
              </a:rPr>
              <a:t>Todos forman un solo sistema jurídico.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dirty="0">
              <a:ln>
                <a:noFill/>
              </a:ln>
              <a:solidFill>
                <a:schemeClr val="tx1"/>
              </a:solidFill>
              <a:effectLst/>
              <a:latin typeface="Arial" panose="020B0604020202020204" pitchFamily="34" charset="0"/>
            </a:endParaRPr>
          </a:p>
        </p:txBody>
      </p:sp>
      <p:sp>
        <p:nvSpPr>
          <p:cNvPr id="5" name="Título 1">
            <a:extLst>
              <a:ext uri="{FF2B5EF4-FFF2-40B4-BE49-F238E27FC236}">
                <a16:creationId xmlns:a16="http://schemas.microsoft.com/office/drawing/2014/main" id="{18C2B339-94DC-E874-30BB-12D090BFFB4D}"/>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10" name="CuadroTexto 9">
            <a:extLst>
              <a:ext uri="{FF2B5EF4-FFF2-40B4-BE49-F238E27FC236}">
                <a16:creationId xmlns:a16="http://schemas.microsoft.com/office/drawing/2014/main" id="{7060EFC5-9E29-6CE2-014E-DAD06FD2AECD}"/>
              </a:ext>
            </a:extLst>
          </p:cNvPr>
          <p:cNvSpPr txBox="1"/>
          <p:nvPr/>
        </p:nvSpPr>
        <p:spPr>
          <a:xfrm>
            <a:off x="7161290" y="5175946"/>
            <a:ext cx="4828609" cy="646331"/>
          </a:xfrm>
          <a:prstGeom prst="rect">
            <a:avLst/>
          </a:prstGeom>
          <a:noFill/>
        </p:spPr>
        <p:txBody>
          <a:bodyPr wrap="square">
            <a:spAutoFit/>
          </a:bodyPr>
          <a:lstStyle/>
          <a:p>
            <a:pPr algn="just"/>
            <a:r>
              <a:rPr lang="es-MX" sz="1200" dirty="0"/>
              <a:t>Ynoa Hidalgo, A. C. (2011, 2 de marzo). </a:t>
            </a:r>
            <a:r>
              <a:rPr lang="es-MX" sz="1200" i="1" dirty="0"/>
              <a:t>Evolución de los derechos humanos</a:t>
            </a:r>
            <a:r>
              <a:rPr lang="es-MX" sz="1200" dirty="0"/>
              <a:t>. Gestiopolis. </a:t>
            </a:r>
            <a:r>
              <a:rPr lang="es-MX" sz="1200" dirty="0">
                <a:hlinkClick r:id="rId3"/>
              </a:rPr>
              <a:t>https://www.gestiopolis.com/evolucion-de-los-derechos-humanos/</a:t>
            </a:r>
            <a:endParaRPr lang="es-MX" sz="1200" dirty="0"/>
          </a:p>
        </p:txBody>
      </p:sp>
      <p:pic>
        <p:nvPicPr>
          <p:cNvPr id="13" name="Imagen 12">
            <a:extLst>
              <a:ext uri="{FF2B5EF4-FFF2-40B4-BE49-F238E27FC236}">
                <a16:creationId xmlns:a16="http://schemas.microsoft.com/office/drawing/2014/main" id="{D37A211B-F9D9-40EE-A591-17F8D21320D3}"/>
              </a:ext>
            </a:extLst>
          </p:cNvPr>
          <p:cNvPicPr>
            <a:picLocks noChangeAspect="1"/>
          </p:cNvPicPr>
          <p:nvPr/>
        </p:nvPicPr>
        <p:blipFill>
          <a:blip r:embed="rId4"/>
          <a:stretch>
            <a:fillRect/>
          </a:stretch>
        </p:blipFill>
        <p:spPr>
          <a:xfrm>
            <a:off x="7296903" y="1973233"/>
            <a:ext cx="4214552" cy="3013601"/>
          </a:xfrm>
          <a:prstGeom prst="rect">
            <a:avLst/>
          </a:prstGeom>
        </p:spPr>
      </p:pic>
    </p:spTree>
    <p:extLst>
      <p:ext uri="{BB962C8B-B14F-4D97-AF65-F5344CB8AC3E}">
        <p14:creationId xmlns:p14="http://schemas.microsoft.com/office/powerpoint/2010/main" val="3699136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119F1E8-FFCE-6517-D462-15D709A3B3CF}"/>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0AD0C80B-7B87-72DF-E146-11775AA92C48}"/>
              </a:ext>
            </a:extLst>
          </p:cNvPr>
          <p:cNvSpPr>
            <a:spLocks noGrp="1"/>
          </p:cNvSpPr>
          <p:nvPr>
            <p:ph type="title"/>
          </p:nvPr>
        </p:nvSpPr>
        <p:spPr>
          <a:xfrm>
            <a:off x="680545" y="753812"/>
            <a:ext cx="10930688" cy="974376"/>
          </a:xfrm>
        </p:spPr>
        <p:txBody>
          <a:bodyPr>
            <a:normAutofit/>
          </a:bodyPr>
          <a:lstStyle/>
          <a:p>
            <a:r>
              <a:rPr lang="es-MX" sz="3600" b="1" dirty="0">
                <a:solidFill>
                  <a:srgbClr val="245C4F"/>
                </a:solidFill>
                <a:latin typeface="Montserrat" pitchFamily="2" charset="77"/>
              </a:rPr>
              <a:t>5. Primera Generación</a:t>
            </a:r>
            <a:endParaRPr lang="es-MX" sz="3600" b="1" noProof="0" dirty="0">
              <a:solidFill>
                <a:srgbClr val="245C4F"/>
              </a:solidFill>
              <a:latin typeface="Montserrat" pitchFamily="2" charset="77"/>
            </a:endParaRPr>
          </a:p>
        </p:txBody>
      </p:sp>
      <p:sp>
        <p:nvSpPr>
          <p:cNvPr id="5" name="Rectangle 1">
            <a:extLst>
              <a:ext uri="{FF2B5EF4-FFF2-40B4-BE49-F238E27FC236}">
                <a16:creationId xmlns:a16="http://schemas.microsoft.com/office/drawing/2014/main" id="{5111FC6A-5137-53C0-BEE2-EDAAAA162DEA}"/>
              </a:ext>
            </a:extLst>
          </p:cNvPr>
          <p:cNvSpPr>
            <a:spLocks noGrp="1" noChangeArrowheads="1"/>
          </p:cNvSpPr>
          <p:nvPr>
            <p:ph idx="1"/>
          </p:nvPr>
        </p:nvSpPr>
        <p:spPr bwMode="auto">
          <a:xfrm>
            <a:off x="770890" y="1476469"/>
            <a:ext cx="5082164" cy="3972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00000"/>
              </a:lnSpc>
            </a:pPr>
            <a:r>
              <a:rPr lang="es-MX" sz="1800" b="1" dirty="0">
                <a:latin typeface="Montserrat" panose="00000500000000000000" pitchFamily="2" charset="0"/>
              </a:rPr>
              <a:t>Derechos civiles y políticos</a:t>
            </a:r>
          </a:p>
          <a:p>
            <a:pPr marL="0" indent="0">
              <a:lnSpc>
                <a:spcPct val="100000"/>
              </a:lnSpc>
              <a:buNone/>
            </a:pPr>
            <a:r>
              <a:rPr lang="es-MX" sz="1800" b="1" dirty="0">
                <a:latin typeface="Montserrat" panose="00000500000000000000" pitchFamily="2" charset="0"/>
              </a:rPr>
              <a:t>Surgen para limitar el poder del Estado.</a:t>
            </a:r>
          </a:p>
          <a:p>
            <a:pPr>
              <a:lnSpc>
                <a:spcPct val="100000"/>
              </a:lnSpc>
            </a:pPr>
            <a:r>
              <a:rPr lang="es-MX" sz="1800" b="1" dirty="0">
                <a:latin typeface="Montserrat" panose="00000500000000000000" pitchFamily="2" charset="0"/>
              </a:rPr>
              <a:t>Autores:</a:t>
            </a:r>
          </a:p>
          <a:p>
            <a:pPr lvl="1">
              <a:lnSpc>
                <a:spcPct val="100000"/>
              </a:lnSpc>
              <a:buFont typeface="Wingdings" panose="05000000000000000000" pitchFamily="2" charset="2"/>
              <a:buChar char="Ø"/>
            </a:pPr>
            <a:r>
              <a:rPr lang="es-MX" sz="1800" dirty="0">
                <a:latin typeface="Montserrat" panose="00000500000000000000" pitchFamily="2" charset="0"/>
              </a:rPr>
              <a:t>John Locke </a:t>
            </a:r>
          </a:p>
          <a:p>
            <a:pPr lvl="1">
              <a:lnSpc>
                <a:spcPct val="100000"/>
              </a:lnSpc>
              <a:buFont typeface="Wingdings" panose="05000000000000000000" pitchFamily="2" charset="2"/>
              <a:buChar char="Ø"/>
            </a:pPr>
            <a:r>
              <a:rPr lang="es-MX" sz="1800" dirty="0">
                <a:latin typeface="Montserrat" panose="00000500000000000000" pitchFamily="2" charset="0"/>
              </a:rPr>
              <a:t>Montesquieu </a:t>
            </a:r>
          </a:p>
          <a:p>
            <a:pPr lvl="1">
              <a:lnSpc>
                <a:spcPct val="100000"/>
              </a:lnSpc>
              <a:buFont typeface="Wingdings" panose="05000000000000000000" pitchFamily="2" charset="2"/>
              <a:buChar char="Ø"/>
            </a:pPr>
            <a:r>
              <a:rPr lang="es-MX" sz="1800" dirty="0">
                <a:latin typeface="Montserrat" panose="00000500000000000000" pitchFamily="2" charset="0"/>
              </a:rPr>
              <a:t>Rousseau </a:t>
            </a:r>
          </a:p>
          <a:p>
            <a:pPr>
              <a:lnSpc>
                <a:spcPct val="100000"/>
              </a:lnSpc>
            </a:pPr>
            <a:r>
              <a:rPr lang="es-MX" sz="1800" b="1" dirty="0">
                <a:latin typeface="Montserrat" panose="00000500000000000000" pitchFamily="2" charset="0"/>
              </a:rPr>
              <a:t>Documentos históricos:</a:t>
            </a:r>
          </a:p>
          <a:p>
            <a:pPr lvl="1">
              <a:lnSpc>
                <a:spcPct val="100000"/>
              </a:lnSpc>
              <a:buFont typeface="Wingdings" panose="05000000000000000000" pitchFamily="2" charset="2"/>
              <a:buChar char="Ø"/>
            </a:pPr>
            <a:r>
              <a:rPr lang="es-MX" sz="1800" dirty="0">
                <a:latin typeface="Montserrat" panose="00000500000000000000" pitchFamily="2" charset="0"/>
              </a:rPr>
              <a:t>Magna Carta </a:t>
            </a:r>
          </a:p>
          <a:p>
            <a:pPr lvl="1">
              <a:lnSpc>
                <a:spcPct val="100000"/>
              </a:lnSpc>
              <a:buFont typeface="Wingdings" panose="05000000000000000000" pitchFamily="2" charset="2"/>
              <a:buChar char="Ø"/>
            </a:pPr>
            <a:r>
              <a:rPr lang="es-MX" sz="1800" dirty="0">
                <a:latin typeface="Montserrat" panose="00000500000000000000" pitchFamily="2" charset="0"/>
              </a:rPr>
              <a:t>Bill </a:t>
            </a:r>
            <a:r>
              <a:rPr lang="es-MX" sz="1800" dirty="0" err="1">
                <a:latin typeface="Montserrat" panose="00000500000000000000" pitchFamily="2" charset="0"/>
              </a:rPr>
              <a:t>of</a:t>
            </a:r>
            <a:r>
              <a:rPr lang="es-MX" sz="1800" dirty="0">
                <a:latin typeface="Montserrat" panose="00000500000000000000" pitchFamily="2" charset="0"/>
              </a:rPr>
              <a:t> </a:t>
            </a:r>
            <a:r>
              <a:rPr lang="es-MX" sz="1800" dirty="0" err="1">
                <a:latin typeface="Montserrat" panose="00000500000000000000" pitchFamily="2" charset="0"/>
              </a:rPr>
              <a:t>Rights</a:t>
            </a:r>
            <a:r>
              <a:rPr lang="es-MX" sz="1800" dirty="0">
                <a:latin typeface="Montserrat" panose="00000500000000000000" pitchFamily="2" charset="0"/>
              </a:rPr>
              <a:t> </a:t>
            </a:r>
          </a:p>
          <a:p>
            <a:pPr lvl="1">
              <a:lnSpc>
                <a:spcPct val="100000"/>
              </a:lnSpc>
              <a:buFont typeface="Wingdings" panose="05000000000000000000" pitchFamily="2" charset="2"/>
              <a:buChar char="Ø"/>
            </a:pPr>
            <a:r>
              <a:rPr lang="es-MX" sz="1800" dirty="0">
                <a:latin typeface="Montserrat" panose="00000500000000000000" pitchFamily="2" charset="0"/>
              </a:rPr>
              <a:t>Declaración de Virginia </a:t>
            </a:r>
          </a:p>
          <a:p>
            <a:pPr lvl="1">
              <a:lnSpc>
                <a:spcPct val="100000"/>
              </a:lnSpc>
              <a:buFont typeface="Wingdings" panose="05000000000000000000" pitchFamily="2" charset="2"/>
              <a:buChar char="Ø"/>
            </a:pPr>
            <a:r>
              <a:rPr lang="es-MX" sz="1800" dirty="0">
                <a:latin typeface="Montserrat" panose="00000500000000000000" pitchFamily="2" charset="0"/>
              </a:rPr>
              <a:t>Declaración Francesa</a:t>
            </a:r>
          </a:p>
        </p:txBody>
      </p:sp>
      <p:sp>
        <p:nvSpPr>
          <p:cNvPr id="6" name="Título 1">
            <a:extLst>
              <a:ext uri="{FF2B5EF4-FFF2-40B4-BE49-F238E27FC236}">
                <a16:creationId xmlns:a16="http://schemas.microsoft.com/office/drawing/2014/main" id="{5EE58C9E-1287-A139-D525-51699DE98D3C}"/>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8" name="CuadroTexto 7">
            <a:extLst>
              <a:ext uri="{FF2B5EF4-FFF2-40B4-BE49-F238E27FC236}">
                <a16:creationId xmlns:a16="http://schemas.microsoft.com/office/drawing/2014/main" id="{F85CBB8E-04FD-B828-023A-19C2AC026B44}"/>
              </a:ext>
            </a:extLst>
          </p:cNvPr>
          <p:cNvSpPr txBox="1"/>
          <p:nvPr/>
        </p:nvSpPr>
        <p:spPr>
          <a:xfrm>
            <a:off x="6255945" y="5088525"/>
            <a:ext cx="5433648" cy="830997"/>
          </a:xfrm>
          <a:prstGeom prst="rect">
            <a:avLst/>
          </a:prstGeom>
          <a:noFill/>
        </p:spPr>
        <p:txBody>
          <a:bodyPr wrap="square">
            <a:spAutoFit/>
          </a:bodyPr>
          <a:lstStyle/>
          <a:p>
            <a:r>
              <a:rPr lang="es-MX" sz="1200" dirty="0"/>
              <a:t>Cortés, J. I. (2020, 29 de octubre). </a:t>
            </a:r>
            <a:r>
              <a:rPr lang="es-MX" sz="1200" i="1" dirty="0"/>
              <a:t>Los derechos civiles y políticos, garantía de una vida en libertad</a:t>
            </a:r>
            <a:r>
              <a:rPr lang="es-MX" sz="1200" dirty="0"/>
              <a:t>. Amnistía Internacional España. </a:t>
            </a:r>
            <a:r>
              <a:rPr lang="es-MX" sz="1200" dirty="0">
                <a:hlinkClick r:id="rId3"/>
              </a:rPr>
              <a:t>https://www.es.amnesty.org/en-que-estamos/blog/historia/articulo/derechos-civiles-derechos-politicos/</a:t>
            </a:r>
            <a:endParaRPr lang="es-MX" sz="1200" dirty="0"/>
          </a:p>
        </p:txBody>
      </p:sp>
      <p:pic>
        <p:nvPicPr>
          <p:cNvPr id="11" name="Imagen 10">
            <a:extLst>
              <a:ext uri="{FF2B5EF4-FFF2-40B4-BE49-F238E27FC236}">
                <a16:creationId xmlns:a16="http://schemas.microsoft.com/office/drawing/2014/main" id="{C0941DAA-FBDD-1BF7-4F85-D3624A9D6227}"/>
              </a:ext>
            </a:extLst>
          </p:cNvPr>
          <p:cNvPicPr>
            <a:picLocks noChangeAspect="1"/>
          </p:cNvPicPr>
          <p:nvPr/>
        </p:nvPicPr>
        <p:blipFill>
          <a:blip r:embed="rId4"/>
          <a:stretch>
            <a:fillRect/>
          </a:stretch>
        </p:blipFill>
        <p:spPr>
          <a:xfrm>
            <a:off x="6338948" y="1476469"/>
            <a:ext cx="5646740" cy="3309638"/>
          </a:xfrm>
          <a:prstGeom prst="rect">
            <a:avLst/>
          </a:prstGeom>
        </p:spPr>
      </p:pic>
    </p:spTree>
    <p:extLst>
      <p:ext uri="{BB962C8B-B14F-4D97-AF65-F5344CB8AC3E}">
        <p14:creationId xmlns:p14="http://schemas.microsoft.com/office/powerpoint/2010/main" val="3710450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DFFB50A-B4B8-F833-9E9E-D6AF9BE11BA8}"/>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13531207-6625-2DC4-45DC-F494C0FD4874}"/>
              </a:ext>
            </a:extLst>
          </p:cNvPr>
          <p:cNvSpPr>
            <a:spLocks noGrp="1"/>
          </p:cNvSpPr>
          <p:nvPr>
            <p:ph type="title"/>
          </p:nvPr>
        </p:nvSpPr>
        <p:spPr>
          <a:xfrm>
            <a:off x="680545" y="753812"/>
            <a:ext cx="10930688" cy="974376"/>
          </a:xfrm>
        </p:spPr>
        <p:txBody>
          <a:bodyPr>
            <a:normAutofit/>
          </a:bodyPr>
          <a:lstStyle/>
          <a:p>
            <a:r>
              <a:rPr lang="es-MX" sz="3600" b="1" dirty="0">
                <a:solidFill>
                  <a:srgbClr val="245C4F"/>
                </a:solidFill>
                <a:latin typeface="Montserrat" pitchFamily="2" charset="77"/>
              </a:rPr>
              <a:t>5. Características de la Primera Generación</a:t>
            </a:r>
            <a:endParaRPr lang="es-MX" sz="3600" b="1" noProof="0" dirty="0">
              <a:solidFill>
                <a:srgbClr val="245C4F"/>
              </a:solidFill>
              <a:latin typeface="Montserrat" pitchFamily="2" charset="77"/>
            </a:endParaRPr>
          </a:p>
        </p:txBody>
      </p:sp>
      <p:sp>
        <p:nvSpPr>
          <p:cNvPr id="6" name="Título 1">
            <a:extLst>
              <a:ext uri="{FF2B5EF4-FFF2-40B4-BE49-F238E27FC236}">
                <a16:creationId xmlns:a16="http://schemas.microsoft.com/office/drawing/2014/main" id="{73E16308-0498-84AA-7C24-21CDCFF2DECF}"/>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8" name="CuadroTexto 7">
            <a:extLst>
              <a:ext uri="{FF2B5EF4-FFF2-40B4-BE49-F238E27FC236}">
                <a16:creationId xmlns:a16="http://schemas.microsoft.com/office/drawing/2014/main" id="{96DAC9EE-15CA-FF2A-5635-81A023E39A5C}"/>
              </a:ext>
            </a:extLst>
          </p:cNvPr>
          <p:cNvSpPr txBox="1"/>
          <p:nvPr/>
        </p:nvSpPr>
        <p:spPr>
          <a:xfrm>
            <a:off x="6255945" y="5088525"/>
            <a:ext cx="5433648" cy="830997"/>
          </a:xfrm>
          <a:prstGeom prst="rect">
            <a:avLst/>
          </a:prstGeom>
          <a:noFill/>
        </p:spPr>
        <p:txBody>
          <a:bodyPr wrap="square">
            <a:spAutoFit/>
          </a:bodyPr>
          <a:lstStyle/>
          <a:p>
            <a:r>
              <a:rPr lang="es-MX" sz="1200" dirty="0"/>
              <a:t>Cortés, J. I. (2020, 29 de octubre). </a:t>
            </a:r>
            <a:r>
              <a:rPr lang="es-MX" sz="1200" i="1" dirty="0"/>
              <a:t>Los derechos civiles y políticos, garantía de una vida en libertad</a:t>
            </a:r>
            <a:r>
              <a:rPr lang="es-MX" sz="1200" dirty="0"/>
              <a:t>. Amnistía Internacional España. </a:t>
            </a:r>
            <a:r>
              <a:rPr lang="es-MX" sz="1200" dirty="0">
                <a:hlinkClick r:id="rId3"/>
              </a:rPr>
              <a:t>https://www.es.amnesty.org/en-que-estamos/blog/historia/articulo/derechos-civiles-derechos-politicos/</a:t>
            </a:r>
            <a:endParaRPr lang="es-MX" sz="1200" dirty="0"/>
          </a:p>
        </p:txBody>
      </p:sp>
      <p:pic>
        <p:nvPicPr>
          <p:cNvPr id="11" name="Imagen 10">
            <a:extLst>
              <a:ext uri="{FF2B5EF4-FFF2-40B4-BE49-F238E27FC236}">
                <a16:creationId xmlns:a16="http://schemas.microsoft.com/office/drawing/2014/main" id="{4918BC8C-D826-A169-4F95-491FD145C58B}"/>
              </a:ext>
            </a:extLst>
          </p:cNvPr>
          <p:cNvPicPr>
            <a:picLocks noChangeAspect="1"/>
          </p:cNvPicPr>
          <p:nvPr/>
        </p:nvPicPr>
        <p:blipFill>
          <a:blip r:embed="rId4"/>
          <a:stretch>
            <a:fillRect/>
          </a:stretch>
        </p:blipFill>
        <p:spPr>
          <a:xfrm>
            <a:off x="6338948" y="1476469"/>
            <a:ext cx="5646740" cy="3309638"/>
          </a:xfrm>
          <a:prstGeom prst="rect">
            <a:avLst/>
          </a:prstGeom>
        </p:spPr>
      </p:pic>
      <p:sp>
        <p:nvSpPr>
          <p:cNvPr id="7" name="CuadroTexto 6">
            <a:extLst>
              <a:ext uri="{FF2B5EF4-FFF2-40B4-BE49-F238E27FC236}">
                <a16:creationId xmlns:a16="http://schemas.microsoft.com/office/drawing/2014/main" id="{7CD83F5F-4BF3-B8EB-C7C8-1155E99C81EE}"/>
              </a:ext>
            </a:extLst>
          </p:cNvPr>
          <p:cNvSpPr txBox="1"/>
          <p:nvPr/>
        </p:nvSpPr>
        <p:spPr>
          <a:xfrm>
            <a:off x="306090" y="1595879"/>
            <a:ext cx="6097508" cy="3785652"/>
          </a:xfrm>
          <a:prstGeom prst="rect">
            <a:avLst/>
          </a:prstGeom>
          <a:noFill/>
        </p:spPr>
        <p:txBody>
          <a:bodyPr wrap="square">
            <a:spAutoFit/>
          </a:bodyPr>
          <a:lstStyle/>
          <a:p>
            <a:pPr marL="285750" indent="-285750">
              <a:buFont typeface="Wingdings" panose="05000000000000000000" pitchFamily="2" charset="2"/>
              <a:buChar char="Ø"/>
            </a:pPr>
            <a:r>
              <a:rPr lang="es-MX" sz="2400" dirty="0">
                <a:latin typeface="Montserrat" panose="00000500000000000000" pitchFamily="2" charset="0"/>
              </a:rPr>
              <a:t>Protegen la libertad individual. </a:t>
            </a:r>
          </a:p>
          <a:p>
            <a:pPr marL="285750" indent="-285750">
              <a:buFont typeface="Wingdings" panose="05000000000000000000" pitchFamily="2" charset="2"/>
              <a:buChar char="Ø"/>
            </a:pPr>
            <a:r>
              <a:rPr lang="es-MX" sz="2400" dirty="0">
                <a:latin typeface="Montserrat" panose="00000500000000000000" pitchFamily="2" charset="0"/>
              </a:rPr>
              <a:t>Garantizan la participación política. </a:t>
            </a:r>
          </a:p>
          <a:p>
            <a:pPr marL="285750" indent="-285750">
              <a:buFont typeface="Wingdings" panose="05000000000000000000" pitchFamily="2" charset="2"/>
              <a:buChar char="Ø"/>
            </a:pPr>
            <a:r>
              <a:rPr lang="es-MX" sz="2400" dirty="0">
                <a:latin typeface="Montserrat" panose="00000500000000000000" pitchFamily="2" charset="0"/>
              </a:rPr>
              <a:t>Exigen límites al Estado. </a:t>
            </a:r>
          </a:p>
          <a:p>
            <a:pPr marL="285750" indent="-285750">
              <a:buFont typeface="Wingdings" panose="05000000000000000000" pitchFamily="2" charset="2"/>
              <a:buChar char="Ø"/>
            </a:pPr>
            <a:r>
              <a:rPr lang="es-MX" sz="2400" b="1" dirty="0">
                <a:latin typeface="Montserrat" panose="00000500000000000000" pitchFamily="2" charset="0"/>
              </a:rPr>
              <a:t>Ejemplos:</a:t>
            </a:r>
          </a:p>
          <a:p>
            <a:pPr marL="285750" indent="-285750">
              <a:buFont typeface="Wingdings" panose="05000000000000000000" pitchFamily="2" charset="2"/>
              <a:buChar char="Ø"/>
            </a:pPr>
            <a:r>
              <a:rPr lang="es-MX" sz="2400" dirty="0">
                <a:latin typeface="Montserrat" panose="00000500000000000000" pitchFamily="2" charset="0"/>
              </a:rPr>
              <a:t>Vida </a:t>
            </a:r>
          </a:p>
          <a:p>
            <a:pPr marL="285750" indent="-285750">
              <a:buFont typeface="Wingdings" panose="05000000000000000000" pitchFamily="2" charset="2"/>
              <a:buChar char="Ø"/>
            </a:pPr>
            <a:r>
              <a:rPr lang="es-MX" sz="2400" dirty="0">
                <a:latin typeface="Montserrat" panose="00000500000000000000" pitchFamily="2" charset="0"/>
              </a:rPr>
              <a:t>Libertad </a:t>
            </a:r>
          </a:p>
          <a:p>
            <a:pPr marL="285750" indent="-285750">
              <a:buFont typeface="Wingdings" panose="05000000000000000000" pitchFamily="2" charset="2"/>
              <a:buChar char="Ø"/>
            </a:pPr>
            <a:r>
              <a:rPr lang="es-MX" sz="2400" dirty="0">
                <a:latin typeface="Montserrat" panose="00000500000000000000" pitchFamily="2" charset="0"/>
              </a:rPr>
              <a:t>Propiedad </a:t>
            </a:r>
          </a:p>
          <a:p>
            <a:pPr marL="285750" indent="-285750">
              <a:buFont typeface="Wingdings" panose="05000000000000000000" pitchFamily="2" charset="2"/>
              <a:buChar char="Ø"/>
            </a:pPr>
            <a:r>
              <a:rPr lang="es-MX" sz="2400" dirty="0">
                <a:latin typeface="Montserrat" panose="00000500000000000000" pitchFamily="2" charset="0"/>
              </a:rPr>
              <a:t>Debido proceso </a:t>
            </a:r>
          </a:p>
          <a:p>
            <a:pPr marL="285750" indent="-285750">
              <a:buFont typeface="Wingdings" panose="05000000000000000000" pitchFamily="2" charset="2"/>
              <a:buChar char="Ø"/>
            </a:pPr>
            <a:r>
              <a:rPr lang="es-MX" sz="2400" dirty="0">
                <a:latin typeface="Montserrat" panose="00000500000000000000" pitchFamily="2" charset="0"/>
              </a:rPr>
              <a:t>Libertad de expresión </a:t>
            </a:r>
          </a:p>
          <a:p>
            <a:pPr marL="285750" indent="-285750">
              <a:buFont typeface="Wingdings" panose="05000000000000000000" pitchFamily="2" charset="2"/>
              <a:buChar char="Ø"/>
            </a:pPr>
            <a:r>
              <a:rPr lang="es-MX" sz="2400" dirty="0">
                <a:latin typeface="Montserrat" panose="00000500000000000000" pitchFamily="2" charset="0"/>
              </a:rPr>
              <a:t>Libertad religiosa</a:t>
            </a:r>
          </a:p>
        </p:txBody>
      </p:sp>
    </p:spTree>
    <p:extLst>
      <p:ext uri="{BB962C8B-B14F-4D97-AF65-F5344CB8AC3E}">
        <p14:creationId xmlns:p14="http://schemas.microsoft.com/office/powerpoint/2010/main" val="36338784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6B74AD6-17F8-1D3F-7897-B6034068CEF6}"/>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4346FD8D-F413-736B-7EFA-13990DFD04EB}"/>
              </a:ext>
            </a:extLst>
          </p:cNvPr>
          <p:cNvSpPr>
            <a:spLocks noGrp="1"/>
          </p:cNvSpPr>
          <p:nvPr>
            <p:ph type="title"/>
          </p:nvPr>
        </p:nvSpPr>
        <p:spPr>
          <a:xfrm>
            <a:off x="680545" y="922921"/>
            <a:ext cx="10930688" cy="974376"/>
          </a:xfrm>
        </p:spPr>
        <p:txBody>
          <a:bodyPr>
            <a:normAutofit/>
          </a:bodyPr>
          <a:lstStyle/>
          <a:p>
            <a:r>
              <a:rPr lang="es-MX" sz="3600" b="1" dirty="0">
                <a:solidFill>
                  <a:srgbClr val="245C4F"/>
                </a:solidFill>
                <a:latin typeface="Montserrat" pitchFamily="2" charset="77"/>
              </a:rPr>
              <a:t>6. Segunda Generación</a:t>
            </a:r>
            <a:endParaRPr lang="es-MX" sz="3600" b="1" noProof="0" dirty="0">
              <a:solidFill>
                <a:srgbClr val="245C4F"/>
              </a:solidFill>
              <a:latin typeface="Montserrat" pitchFamily="2" charset="77"/>
            </a:endParaRPr>
          </a:p>
        </p:txBody>
      </p:sp>
      <p:sp>
        <p:nvSpPr>
          <p:cNvPr id="2" name="Rectangle 1">
            <a:extLst>
              <a:ext uri="{FF2B5EF4-FFF2-40B4-BE49-F238E27FC236}">
                <a16:creationId xmlns:a16="http://schemas.microsoft.com/office/drawing/2014/main" id="{E5DBA711-FC76-C03A-F40E-B8F7EE166E88}"/>
              </a:ext>
            </a:extLst>
          </p:cNvPr>
          <p:cNvSpPr>
            <a:spLocks noGrp="1" noChangeArrowheads="1"/>
          </p:cNvSpPr>
          <p:nvPr>
            <p:ph idx="1"/>
          </p:nvPr>
        </p:nvSpPr>
        <p:spPr bwMode="auto">
          <a:xfrm>
            <a:off x="714550" y="1708674"/>
            <a:ext cx="5381450" cy="348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s-MX" sz="2000" b="1" dirty="0">
                <a:latin typeface="Montserrat" panose="00000500000000000000" pitchFamily="2" charset="0"/>
              </a:rPr>
              <a:t>Contexto:</a:t>
            </a:r>
          </a:p>
          <a:p>
            <a:pPr>
              <a:buFont typeface="Wingdings" panose="05000000000000000000" pitchFamily="2" charset="2"/>
              <a:buChar char="Ø"/>
            </a:pPr>
            <a:r>
              <a:rPr lang="es-MX" sz="2000" dirty="0">
                <a:latin typeface="Montserrat" panose="00000500000000000000" pitchFamily="2" charset="0"/>
              </a:rPr>
              <a:t>La Revolución Industrial produjo pobreza y desigualdad.</a:t>
            </a:r>
          </a:p>
          <a:p>
            <a:pPr>
              <a:buFont typeface="Wingdings" panose="05000000000000000000" pitchFamily="2" charset="2"/>
              <a:buChar char="Ø"/>
            </a:pPr>
            <a:r>
              <a:rPr lang="es-MX" sz="2000" dirty="0">
                <a:latin typeface="Montserrat" panose="00000500000000000000" pitchFamily="2" charset="0"/>
              </a:rPr>
              <a:t>La libertad jurídica era insuficiente.</a:t>
            </a:r>
          </a:p>
          <a:p>
            <a:pPr>
              <a:buFont typeface="Wingdings" panose="05000000000000000000" pitchFamily="2" charset="2"/>
              <a:buChar char="Ø"/>
            </a:pPr>
            <a:r>
              <a:rPr lang="es-MX" sz="2000" dirty="0">
                <a:latin typeface="Montserrat" panose="00000500000000000000" pitchFamily="2" charset="0"/>
              </a:rPr>
              <a:t>Se exigieron derechos sociales.</a:t>
            </a:r>
          </a:p>
          <a:p>
            <a:pPr>
              <a:buFont typeface="Wingdings" panose="05000000000000000000" pitchFamily="2" charset="2"/>
              <a:buChar char="Ø"/>
            </a:pPr>
            <a:r>
              <a:rPr lang="es-MX" sz="2000" dirty="0">
                <a:latin typeface="Montserrat" panose="00000500000000000000" pitchFamily="2" charset="0"/>
              </a:rPr>
              <a:t>Autores</a:t>
            </a:r>
          </a:p>
          <a:p>
            <a:pPr>
              <a:buFont typeface="Wingdings" panose="05000000000000000000" pitchFamily="2" charset="2"/>
              <a:buChar char="Ø"/>
            </a:pPr>
            <a:r>
              <a:rPr lang="es-MX" sz="2000" dirty="0">
                <a:latin typeface="Montserrat" panose="00000500000000000000" pitchFamily="2" charset="0"/>
              </a:rPr>
              <a:t>T. H. Marshall </a:t>
            </a:r>
          </a:p>
          <a:p>
            <a:pPr>
              <a:buFont typeface="Wingdings" panose="05000000000000000000" pitchFamily="2" charset="2"/>
              <a:buChar char="Ø"/>
            </a:pPr>
            <a:r>
              <a:rPr lang="es-MX" sz="2000" dirty="0">
                <a:latin typeface="Montserrat" panose="00000500000000000000" pitchFamily="2" charset="0"/>
              </a:rPr>
              <a:t>Hermann Heller </a:t>
            </a:r>
          </a:p>
          <a:p>
            <a:pPr>
              <a:buFont typeface="Wingdings" panose="05000000000000000000" pitchFamily="2" charset="2"/>
              <a:buChar char="Ø"/>
            </a:pPr>
            <a:r>
              <a:rPr lang="es-MX" sz="2000" dirty="0">
                <a:latin typeface="Montserrat" panose="00000500000000000000" pitchFamily="2" charset="0"/>
              </a:rPr>
              <a:t>Luigi Ferrajoli </a:t>
            </a:r>
          </a:p>
        </p:txBody>
      </p:sp>
      <p:sp>
        <p:nvSpPr>
          <p:cNvPr id="6" name="Título 1">
            <a:extLst>
              <a:ext uri="{FF2B5EF4-FFF2-40B4-BE49-F238E27FC236}">
                <a16:creationId xmlns:a16="http://schemas.microsoft.com/office/drawing/2014/main" id="{827954B8-876B-AD59-2C41-3C10F6E3797A}"/>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8" name="CuadroTexto 7">
            <a:extLst>
              <a:ext uri="{FF2B5EF4-FFF2-40B4-BE49-F238E27FC236}">
                <a16:creationId xmlns:a16="http://schemas.microsoft.com/office/drawing/2014/main" id="{E8EC2425-9C88-D508-7EE6-951128085E37}"/>
              </a:ext>
            </a:extLst>
          </p:cNvPr>
          <p:cNvSpPr txBox="1"/>
          <p:nvPr/>
        </p:nvSpPr>
        <p:spPr>
          <a:xfrm>
            <a:off x="7405735" y="4958359"/>
            <a:ext cx="4496636" cy="769441"/>
          </a:xfrm>
          <a:prstGeom prst="rect">
            <a:avLst/>
          </a:prstGeom>
          <a:noFill/>
        </p:spPr>
        <p:txBody>
          <a:bodyPr wrap="square">
            <a:spAutoFit/>
          </a:bodyPr>
          <a:lstStyle/>
          <a:p>
            <a:r>
              <a:rPr lang="es-MX" sz="1100" dirty="0">
                <a:latin typeface="Arial" panose="020B0604020202020204" pitchFamily="34" charset="0"/>
                <a:cs typeface="Arial" panose="020B0604020202020204" pitchFamily="34" charset="0"/>
              </a:rPr>
              <a:t>Gayubas, A. (2023, 2 de noviembre). </a:t>
            </a:r>
            <a:r>
              <a:rPr lang="es-MX" sz="1100" i="1" dirty="0">
                <a:latin typeface="Arial" panose="020B0604020202020204" pitchFamily="34" charset="0"/>
                <a:cs typeface="Arial" panose="020B0604020202020204" pitchFamily="34" charset="0"/>
              </a:rPr>
              <a:t>Causas y consecuencias de la Revolución Industrial</a:t>
            </a:r>
            <a:r>
              <a:rPr lang="es-MX" sz="1100" dirty="0">
                <a:latin typeface="Arial" panose="020B0604020202020204" pitchFamily="34" charset="0"/>
                <a:cs typeface="Arial" panose="020B0604020202020204" pitchFamily="34" charset="0"/>
              </a:rPr>
              <a:t>. Enciclopedia Humanidades. </a:t>
            </a:r>
            <a:r>
              <a:rPr lang="es-MX" sz="1100" dirty="0">
                <a:latin typeface="Arial" panose="020B0604020202020204" pitchFamily="34" charset="0"/>
                <a:cs typeface="Arial" panose="020B0604020202020204" pitchFamily="34" charset="0"/>
                <a:hlinkClick r:id="rId3"/>
              </a:rPr>
              <a:t>https://humanidades.com/causas-y-consecuencias-de-la-revolucion-industrial/</a:t>
            </a:r>
            <a:endParaRPr lang="es-MX" sz="1100" dirty="0">
              <a:latin typeface="Arial" panose="020B0604020202020204" pitchFamily="34" charset="0"/>
              <a:cs typeface="Arial" panose="020B0604020202020204" pitchFamily="34" charset="0"/>
            </a:endParaRPr>
          </a:p>
        </p:txBody>
      </p:sp>
      <p:pic>
        <p:nvPicPr>
          <p:cNvPr id="11" name="Imagen 10">
            <a:extLst>
              <a:ext uri="{FF2B5EF4-FFF2-40B4-BE49-F238E27FC236}">
                <a16:creationId xmlns:a16="http://schemas.microsoft.com/office/drawing/2014/main" id="{ED93C1D1-1CF3-2CB9-D09A-A4EB2EF45284}"/>
              </a:ext>
            </a:extLst>
          </p:cNvPr>
          <p:cNvPicPr>
            <a:picLocks noChangeAspect="1"/>
          </p:cNvPicPr>
          <p:nvPr/>
        </p:nvPicPr>
        <p:blipFill>
          <a:blip r:embed="rId4"/>
          <a:srcRect l="29371"/>
          <a:stretch>
            <a:fillRect/>
          </a:stretch>
        </p:blipFill>
        <p:spPr>
          <a:xfrm>
            <a:off x="7125077" y="1638718"/>
            <a:ext cx="4931203" cy="2990850"/>
          </a:xfrm>
          <a:prstGeom prst="rect">
            <a:avLst/>
          </a:prstGeom>
        </p:spPr>
      </p:pic>
    </p:spTree>
    <p:extLst>
      <p:ext uri="{BB962C8B-B14F-4D97-AF65-F5344CB8AC3E}">
        <p14:creationId xmlns:p14="http://schemas.microsoft.com/office/powerpoint/2010/main" val="2857034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CF4D1DC5-F669-992C-CED1-24ADEDC84504}"/>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670119A7-2EAE-67C6-766B-B7E1E9935A88}"/>
              </a:ext>
            </a:extLst>
          </p:cNvPr>
          <p:cNvSpPr>
            <a:spLocks noGrp="1"/>
          </p:cNvSpPr>
          <p:nvPr>
            <p:ph type="title"/>
          </p:nvPr>
        </p:nvSpPr>
        <p:spPr>
          <a:xfrm>
            <a:off x="680545" y="922921"/>
            <a:ext cx="10930688" cy="974376"/>
          </a:xfrm>
        </p:spPr>
        <p:txBody>
          <a:bodyPr>
            <a:normAutofit/>
          </a:bodyPr>
          <a:lstStyle/>
          <a:p>
            <a:r>
              <a:rPr lang="es-MX" sz="3600" b="1" dirty="0">
                <a:solidFill>
                  <a:srgbClr val="245C4F"/>
                </a:solidFill>
                <a:latin typeface="Montserrat" pitchFamily="2" charset="77"/>
              </a:rPr>
              <a:t>6.1 Características de la Segunda Generación</a:t>
            </a:r>
            <a:endParaRPr lang="es-MX" sz="3600" b="1" noProof="0" dirty="0">
              <a:solidFill>
                <a:srgbClr val="245C4F"/>
              </a:solidFill>
              <a:latin typeface="Montserrat" pitchFamily="2" charset="77"/>
            </a:endParaRPr>
          </a:p>
        </p:txBody>
      </p:sp>
      <p:sp>
        <p:nvSpPr>
          <p:cNvPr id="6" name="Título 1">
            <a:extLst>
              <a:ext uri="{FF2B5EF4-FFF2-40B4-BE49-F238E27FC236}">
                <a16:creationId xmlns:a16="http://schemas.microsoft.com/office/drawing/2014/main" id="{973C8BA7-EE9E-982D-199D-B45DDE955BBB}"/>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8" name="CuadroTexto 7">
            <a:extLst>
              <a:ext uri="{FF2B5EF4-FFF2-40B4-BE49-F238E27FC236}">
                <a16:creationId xmlns:a16="http://schemas.microsoft.com/office/drawing/2014/main" id="{9C21521B-E9A0-C538-C32D-DE1202CF42C8}"/>
              </a:ext>
            </a:extLst>
          </p:cNvPr>
          <p:cNvSpPr txBox="1"/>
          <p:nvPr/>
        </p:nvSpPr>
        <p:spPr>
          <a:xfrm>
            <a:off x="7405735" y="4958359"/>
            <a:ext cx="4496636" cy="769441"/>
          </a:xfrm>
          <a:prstGeom prst="rect">
            <a:avLst/>
          </a:prstGeom>
          <a:noFill/>
        </p:spPr>
        <p:txBody>
          <a:bodyPr wrap="square">
            <a:spAutoFit/>
          </a:bodyPr>
          <a:lstStyle/>
          <a:p>
            <a:r>
              <a:rPr lang="es-MX" sz="1100" dirty="0">
                <a:latin typeface="Arial" panose="020B0604020202020204" pitchFamily="34" charset="0"/>
                <a:cs typeface="Arial" panose="020B0604020202020204" pitchFamily="34" charset="0"/>
              </a:rPr>
              <a:t>Gayubas, A. (2023, 2 de noviembre). </a:t>
            </a:r>
            <a:r>
              <a:rPr lang="es-MX" sz="1100" i="1" dirty="0">
                <a:latin typeface="Arial" panose="020B0604020202020204" pitchFamily="34" charset="0"/>
                <a:cs typeface="Arial" panose="020B0604020202020204" pitchFamily="34" charset="0"/>
              </a:rPr>
              <a:t>Causas y consecuencias de la Revolución Industrial</a:t>
            </a:r>
            <a:r>
              <a:rPr lang="es-MX" sz="1100" dirty="0">
                <a:latin typeface="Arial" panose="020B0604020202020204" pitchFamily="34" charset="0"/>
                <a:cs typeface="Arial" panose="020B0604020202020204" pitchFamily="34" charset="0"/>
              </a:rPr>
              <a:t>. Enciclopedia Humanidades. </a:t>
            </a:r>
            <a:r>
              <a:rPr lang="es-MX" sz="1100" dirty="0">
                <a:latin typeface="Arial" panose="020B0604020202020204" pitchFamily="34" charset="0"/>
                <a:cs typeface="Arial" panose="020B0604020202020204" pitchFamily="34" charset="0"/>
                <a:hlinkClick r:id="rId3"/>
              </a:rPr>
              <a:t>https://humanidades.com/causas-y-consecuencias-de-la-revolucion-industrial/</a:t>
            </a:r>
            <a:endParaRPr lang="es-MX" sz="1100" dirty="0">
              <a:latin typeface="Arial" panose="020B0604020202020204" pitchFamily="34" charset="0"/>
              <a:cs typeface="Arial" panose="020B0604020202020204" pitchFamily="34" charset="0"/>
            </a:endParaRPr>
          </a:p>
        </p:txBody>
      </p:sp>
      <p:pic>
        <p:nvPicPr>
          <p:cNvPr id="11" name="Imagen 10">
            <a:extLst>
              <a:ext uri="{FF2B5EF4-FFF2-40B4-BE49-F238E27FC236}">
                <a16:creationId xmlns:a16="http://schemas.microsoft.com/office/drawing/2014/main" id="{8572B48C-3A66-10D5-BF7B-E5F26E6700FC}"/>
              </a:ext>
            </a:extLst>
          </p:cNvPr>
          <p:cNvPicPr>
            <a:picLocks noChangeAspect="1"/>
          </p:cNvPicPr>
          <p:nvPr/>
        </p:nvPicPr>
        <p:blipFill>
          <a:blip r:embed="rId4"/>
          <a:srcRect l="29371"/>
          <a:stretch>
            <a:fillRect/>
          </a:stretch>
        </p:blipFill>
        <p:spPr>
          <a:xfrm>
            <a:off x="6971168" y="1729253"/>
            <a:ext cx="4931203" cy="2990850"/>
          </a:xfrm>
          <a:prstGeom prst="rect">
            <a:avLst/>
          </a:prstGeom>
        </p:spPr>
      </p:pic>
      <p:sp>
        <p:nvSpPr>
          <p:cNvPr id="18" name="CuadroTexto 17">
            <a:extLst>
              <a:ext uri="{FF2B5EF4-FFF2-40B4-BE49-F238E27FC236}">
                <a16:creationId xmlns:a16="http://schemas.microsoft.com/office/drawing/2014/main" id="{6F8149BD-B23A-631C-F63A-37F74DF84B90}"/>
              </a:ext>
            </a:extLst>
          </p:cNvPr>
          <p:cNvSpPr txBox="1"/>
          <p:nvPr/>
        </p:nvSpPr>
        <p:spPr>
          <a:xfrm>
            <a:off x="680545" y="1830969"/>
            <a:ext cx="6097508" cy="4185761"/>
          </a:xfrm>
          <a:prstGeom prst="rect">
            <a:avLst/>
          </a:prstGeom>
          <a:noFill/>
        </p:spPr>
        <p:txBody>
          <a:bodyPr wrap="square">
            <a:spAutoFit/>
          </a:bodyPr>
          <a:lstStyle/>
          <a:p>
            <a:pPr algn="just">
              <a:buNone/>
            </a:pPr>
            <a:r>
              <a:rPr lang="es-MX" sz="1400" b="1" dirty="0">
                <a:latin typeface="Montserrat" panose="00000500000000000000" pitchFamily="2" charset="0"/>
              </a:rPr>
              <a:t>Segunda Generación: Derechos Económicos, Sociales, Culturales y Ambientales (DESCA)</a:t>
            </a:r>
          </a:p>
          <a:p>
            <a:pPr algn="just">
              <a:buNone/>
            </a:pPr>
            <a:r>
              <a:rPr lang="es-MX" sz="1400" dirty="0">
                <a:latin typeface="Montserrat" panose="00000500000000000000" pitchFamily="2" charset="0"/>
              </a:rPr>
              <a:t>Estos derechos surgieron como respuesta a las desigualdades provocadas por la Revolución Industrial y buscan garantizar condiciones de vida dignas para todas las personas mediante la intervención activa del Estado.</a:t>
            </a:r>
          </a:p>
          <a:p>
            <a:pPr algn="just">
              <a:buNone/>
            </a:pPr>
            <a:r>
              <a:rPr lang="es-MX" sz="1400" b="1" dirty="0">
                <a:latin typeface="Montserrat" panose="00000500000000000000" pitchFamily="2" charset="0"/>
              </a:rPr>
              <a:t>Características principales</a:t>
            </a:r>
          </a:p>
          <a:p>
            <a:pPr marL="285750" indent="-285750" algn="just">
              <a:buFont typeface="Wingdings" panose="05000000000000000000" pitchFamily="2" charset="2"/>
              <a:buChar char="Ø"/>
            </a:pPr>
            <a:r>
              <a:rPr lang="es-MX" sz="1400" dirty="0">
                <a:latin typeface="Montserrat" panose="00000500000000000000" pitchFamily="2" charset="0"/>
              </a:rPr>
              <a:t>Promueven la igualdad material o sustantiva. </a:t>
            </a:r>
          </a:p>
          <a:p>
            <a:pPr marL="285750" indent="-285750" algn="just">
              <a:buFont typeface="Wingdings" panose="05000000000000000000" pitchFamily="2" charset="2"/>
              <a:buChar char="Ø"/>
            </a:pPr>
            <a:r>
              <a:rPr lang="es-MX" sz="1400" dirty="0">
                <a:latin typeface="Montserrat" panose="00000500000000000000" pitchFamily="2" charset="0"/>
              </a:rPr>
              <a:t>Requieren una participación activa del Estado mediante políticas públicas. </a:t>
            </a:r>
          </a:p>
          <a:p>
            <a:pPr marL="285750" indent="-285750" algn="just">
              <a:buFont typeface="Wingdings" panose="05000000000000000000" pitchFamily="2" charset="2"/>
              <a:buChar char="Ø"/>
            </a:pPr>
            <a:r>
              <a:rPr lang="es-MX" sz="1400" dirty="0">
                <a:latin typeface="Montserrat" panose="00000500000000000000" pitchFamily="2" charset="0"/>
              </a:rPr>
              <a:t>Buscan satisfacer las necesidades básicas para el desarrollo integral de la persona. </a:t>
            </a:r>
          </a:p>
          <a:p>
            <a:pPr marL="285750" indent="-285750" algn="just">
              <a:buFont typeface="Wingdings" panose="05000000000000000000" pitchFamily="2" charset="2"/>
              <a:buChar char="Ø"/>
            </a:pPr>
            <a:r>
              <a:rPr lang="es-MX" sz="1400" dirty="0">
                <a:latin typeface="Montserrat" panose="00000500000000000000" pitchFamily="2" charset="0"/>
              </a:rPr>
              <a:t>Favorecen la justicia social y reducen las desigualdades económicas y sociales. </a:t>
            </a:r>
          </a:p>
          <a:p>
            <a:pPr marL="285750" indent="-285750" algn="just">
              <a:buFont typeface="Wingdings" panose="05000000000000000000" pitchFamily="2" charset="2"/>
              <a:buChar char="Ø"/>
            </a:pPr>
            <a:r>
              <a:rPr lang="es-MX" sz="1400" dirty="0">
                <a:latin typeface="Montserrat" panose="00000500000000000000" pitchFamily="2" charset="0"/>
              </a:rPr>
              <a:t>Su cumplimiento depende, en gran medida, de la disponibilidad de recursos y de una adecuada planeación gubernamental. </a:t>
            </a:r>
          </a:p>
          <a:p>
            <a:pPr marL="285750" indent="-285750" algn="just">
              <a:buFont typeface="Wingdings" panose="05000000000000000000" pitchFamily="2" charset="2"/>
              <a:buChar char="Ø"/>
            </a:pPr>
            <a:r>
              <a:rPr lang="es-MX" sz="1400" dirty="0">
                <a:latin typeface="Montserrat" panose="00000500000000000000" pitchFamily="2" charset="0"/>
              </a:rPr>
              <a:t>Son indispensables para el ejercicio efectivo de los derechos civiles y políticos.</a:t>
            </a:r>
          </a:p>
        </p:txBody>
      </p:sp>
    </p:spTree>
    <p:extLst>
      <p:ext uri="{BB962C8B-B14F-4D97-AF65-F5344CB8AC3E}">
        <p14:creationId xmlns:p14="http://schemas.microsoft.com/office/powerpoint/2010/main" val="1243456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66CA3E39-8F0B-3F81-A11C-C1C4F6119408}"/>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675F6C6E-A062-4DC7-6438-9DDD04F3517D}"/>
              </a:ext>
            </a:extLst>
          </p:cNvPr>
          <p:cNvSpPr>
            <a:spLocks noGrp="1"/>
          </p:cNvSpPr>
          <p:nvPr>
            <p:ph type="title"/>
          </p:nvPr>
        </p:nvSpPr>
        <p:spPr>
          <a:xfrm>
            <a:off x="680545" y="662648"/>
            <a:ext cx="10930688" cy="974376"/>
          </a:xfrm>
        </p:spPr>
        <p:txBody>
          <a:bodyPr>
            <a:normAutofit/>
          </a:bodyPr>
          <a:lstStyle/>
          <a:p>
            <a:r>
              <a:rPr lang="es-MX" sz="3600" b="1" dirty="0">
                <a:solidFill>
                  <a:srgbClr val="245C4F"/>
                </a:solidFill>
                <a:latin typeface="Montserrat" pitchFamily="2" charset="77"/>
              </a:rPr>
              <a:t>7. Tercera Generación </a:t>
            </a:r>
            <a:endParaRPr lang="es-MX" sz="3600" b="1" noProof="0" dirty="0">
              <a:solidFill>
                <a:srgbClr val="245C4F"/>
              </a:solidFill>
              <a:latin typeface="Montserrat" pitchFamily="2" charset="77"/>
            </a:endParaRPr>
          </a:p>
        </p:txBody>
      </p:sp>
      <p:sp>
        <p:nvSpPr>
          <p:cNvPr id="7" name="Título 1">
            <a:extLst>
              <a:ext uri="{FF2B5EF4-FFF2-40B4-BE49-F238E27FC236}">
                <a16:creationId xmlns:a16="http://schemas.microsoft.com/office/drawing/2014/main" id="{B4D4693C-8072-E5CC-06B8-34565BA55D09}"/>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
        <p:nvSpPr>
          <p:cNvPr id="12" name="CuadroTexto 11">
            <a:extLst>
              <a:ext uri="{FF2B5EF4-FFF2-40B4-BE49-F238E27FC236}">
                <a16:creationId xmlns:a16="http://schemas.microsoft.com/office/drawing/2014/main" id="{C10E4762-723B-F5B3-9F29-4BBBD2CF7D7E}"/>
              </a:ext>
            </a:extLst>
          </p:cNvPr>
          <p:cNvSpPr txBox="1"/>
          <p:nvPr/>
        </p:nvSpPr>
        <p:spPr>
          <a:xfrm>
            <a:off x="580767" y="1452076"/>
            <a:ext cx="6527789" cy="3970318"/>
          </a:xfrm>
          <a:prstGeom prst="rect">
            <a:avLst/>
          </a:prstGeom>
          <a:noFill/>
        </p:spPr>
        <p:txBody>
          <a:bodyPr wrap="square">
            <a:spAutoFit/>
          </a:bodyPr>
          <a:lstStyle/>
          <a:p>
            <a:pPr algn="just">
              <a:buNone/>
            </a:pPr>
            <a:r>
              <a:rPr lang="es-MX" sz="1400" dirty="0">
                <a:latin typeface="Montserrat" panose="00000500000000000000" pitchFamily="2" charset="0"/>
              </a:rPr>
              <a:t>Los derechos de tercera generación comenzaron a desarrollarse durante la segunda mitad del siglo XX, especialmente después de la Segunda Guerra Mundial. Su reconocimiento respondió a la necesidad de enfrentar problemas que trascienden las fronteras nacionales y cuya solución requiere la cooperación entre los Estados y la comunidad internacional.</a:t>
            </a:r>
          </a:p>
          <a:p>
            <a:pPr algn="just">
              <a:buNone/>
            </a:pPr>
            <a:r>
              <a:rPr lang="es-MX" sz="1400" dirty="0">
                <a:latin typeface="Montserrat" panose="00000500000000000000" pitchFamily="2" charset="0"/>
              </a:rPr>
              <a:t>A diferencia de las generaciones anteriores, estos derechos tienen una dimensión colectiva, ya que protegen no solo a las personas de manera individual, sino también a los pueblos y a la humanidad en su conjunto.</a:t>
            </a:r>
          </a:p>
          <a:p>
            <a:pPr algn="just">
              <a:buNone/>
            </a:pPr>
            <a:endParaRPr lang="es-MX" sz="1400" b="1" dirty="0">
              <a:latin typeface="Montserrat" panose="00000500000000000000" pitchFamily="2" charset="0"/>
            </a:endParaRPr>
          </a:p>
          <a:p>
            <a:pPr algn="just">
              <a:buNone/>
            </a:pPr>
            <a:r>
              <a:rPr lang="es-MX" sz="1400" b="1" dirty="0">
                <a:latin typeface="Montserrat" panose="00000500000000000000" pitchFamily="2" charset="0"/>
              </a:rPr>
              <a:t>Principales derechos</a:t>
            </a:r>
          </a:p>
          <a:p>
            <a:pPr algn="just">
              <a:buNone/>
            </a:pPr>
            <a:r>
              <a:rPr lang="es-MX" sz="1400" dirty="0">
                <a:latin typeface="Montserrat" panose="00000500000000000000" pitchFamily="2" charset="0"/>
              </a:rPr>
              <a:t>🕊️ Derecho a la paz.</a:t>
            </a:r>
          </a:p>
          <a:p>
            <a:pPr algn="just">
              <a:buNone/>
            </a:pPr>
            <a:r>
              <a:rPr lang="es-MX" sz="1400" dirty="0">
                <a:latin typeface="Montserrat" panose="00000500000000000000" pitchFamily="2" charset="0"/>
              </a:rPr>
              <a:t>🌍 Derecho al desarrollo.</a:t>
            </a:r>
          </a:p>
          <a:p>
            <a:pPr algn="just">
              <a:buNone/>
            </a:pPr>
            <a:r>
              <a:rPr lang="es-MX" sz="1400" dirty="0">
                <a:latin typeface="Montserrat" panose="00000500000000000000" pitchFamily="2" charset="0"/>
              </a:rPr>
              <a:t>🌱 Derecho a un medio ambiente sano.</a:t>
            </a:r>
          </a:p>
          <a:p>
            <a:pPr algn="just">
              <a:buNone/>
            </a:pPr>
            <a:r>
              <a:rPr lang="es-MX" sz="1400" dirty="0">
                <a:latin typeface="Montserrat" panose="00000500000000000000" pitchFamily="2" charset="0"/>
              </a:rPr>
              <a:t>🤝 Derecho a la cooperación internacional.</a:t>
            </a:r>
          </a:p>
          <a:p>
            <a:pPr algn="just">
              <a:buNone/>
            </a:pPr>
            <a:r>
              <a:rPr lang="es-MX" sz="1400" dirty="0">
                <a:latin typeface="Montserrat" panose="00000500000000000000" pitchFamily="2" charset="0"/>
              </a:rPr>
              <a:t>🌎 Derecho a la autodeterminación de los pueblos.</a:t>
            </a:r>
          </a:p>
          <a:p>
            <a:pPr algn="just">
              <a:buNone/>
            </a:pPr>
            <a:r>
              <a:rPr lang="es-MX" sz="1400" dirty="0">
                <a:latin typeface="Montserrat" panose="00000500000000000000" pitchFamily="2" charset="0"/>
              </a:rPr>
              <a:t>🏛️ Derecho al patrimonio común de la humanidad.</a:t>
            </a:r>
          </a:p>
          <a:p>
            <a:pPr algn="just">
              <a:buNone/>
            </a:pPr>
            <a:r>
              <a:rPr lang="es-MX" sz="1400" dirty="0">
                <a:latin typeface="Montserrat" panose="00000500000000000000" pitchFamily="2" charset="0"/>
              </a:rPr>
              <a:t>🆘 Derecho a la asistencia humanitaria.</a:t>
            </a:r>
          </a:p>
        </p:txBody>
      </p:sp>
      <p:sp>
        <p:nvSpPr>
          <p:cNvPr id="14" name="CuadroTexto 13">
            <a:extLst>
              <a:ext uri="{FF2B5EF4-FFF2-40B4-BE49-F238E27FC236}">
                <a16:creationId xmlns:a16="http://schemas.microsoft.com/office/drawing/2014/main" id="{35713812-B77F-0A50-C5E0-A86A96BA86AA}"/>
              </a:ext>
            </a:extLst>
          </p:cNvPr>
          <p:cNvSpPr txBox="1"/>
          <p:nvPr/>
        </p:nvSpPr>
        <p:spPr>
          <a:xfrm>
            <a:off x="7161568" y="4835801"/>
            <a:ext cx="4909241" cy="707886"/>
          </a:xfrm>
          <a:prstGeom prst="rect">
            <a:avLst/>
          </a:prstGeom>
          <a:noFill/>
        </p:spPr>
        <p:txBody>
          <a:bodyPr wrap="square">
            <a:spAutoFit/>
          </a:bodyPr>
          <a:lstStyle/>
          <a:p>
            <a:r>
              <a:rPr lang="es-MX" sz="1000" dirty="0" err="1"/>
              <a:t>Viatges</a:t>
            </a:r>
            <a:r>
              <a:rPr lang="es-MX" sz="1000" dirty="0"/>
              <a:t>. (2018, 1 de septiembre). </a:t>
            </a:r>
            <a:r>
              <a:rPr lang="es-MX" sz="1000" i="1" dirty="0"/>
              <a:t>Nueve lugares de México que son patrimonio de la humanidad</a:t>
            </a:r>
            <a:r>
              <a:rPr lang="es-MX" sz="1000" dirty="0"/>
              <a:t>. </a:t>
            </a:r>
            <a:r>
              <a:rPr lang="es-MX" sz="1000" b="1" dirty="0"/>
              <a:t>La Voz de Galicia</a:t>
            </a:r>
            <a:r>
              <a:rPr lang="es-MX" sz="1000" dirty="0"/>
              <a:t>. </a:t>
            </a:r>
            <a:r>
              <a:rPr lang="es-MX" sz="1000" dirty="0">
                <a:hlinkClick r:id="rId3"/>
              </a:rPr>
              <a:t>https://viajes.lavozdegalicia.es/lista/2018/09/01/nueve-lugares-mexico-patrimonio-humanidad/03071535805974871346710.htm</a:t>
            </a:r>
            <a:endParaRPr lang="es-MX" sz="1000" dirty="0"/>
          </a:p>
        </p:txBody>
      </p:sp>
      <p:pic>
        <p:nvPicPr>
          <p:cNvPr id="16" name="Imagen 15">
            <a:extLst>
              <a:ext uri="{FF2B5EF4-FFF2-40B4-BE49-F238E27FC236}">
                <a16:creationId xmlns:a16="http://schemas.microsoft.com/office/drawing/2014/main" id="{93EAB839-EF2E-FFA7-8388-63EC803D9EAC}"/>
              </a:ext>
            </a:extLst>
          </p:cNvPr>
          <p:cNvPicPr>
            <a:picLocks noChangeAspect="1"/>
          </p:cNvPicPr>
          <p:nvPr/>
        </p:nvPicPr>
        <p:blipFill>
          <a:blip r:embed="rId4"/>
          <a:srcRect l="1703" r="15321"/>
          <a:stretch>
            <a:fillRect/>
          </a:stretch>
        </p:blipFill>
        <p:spPr>
          <a:xfrm>
            <a:off x="7161568" y="1637024"/>
            <a:ext cx="4862475" cy="2823840"/>
          </a:xfrm>
          <a:prstGeom prst="rect">
            <a:avLst/>
          </a:prstGeom>
        </p:spPr>
      </p:pic>
    </p:spTree>
    <p:extLst>
      <p:ext uri="{BB962C8B-B14F-4D97-AF65-F5344CB8AC3E}">
        <p14:creationId xmlns:p14="http://schemas.microsoft.com/office/powerpoint/2010/main" val="42176517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DCC169D-4AAC-22A9-FDA8-866B8A68381D}"/>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398EB869-2861-9428-0364-5867855ADDE9}"/>
              </a:ext>
            </a:extLst>
          </p:cNvPr>
          <p:cNvSpPr>
            <a:spLocks noGrp="1"/>
          </p:cNvSpPr>
          <p:nvPr>
            <p:ph type="title"/>
          </p:nvPr>
        </p:nvSpPr>
        <p:spPr>
          <a:xfrm>
            <a:off x="674467" y="1041971"/>
            <a:ext cx="8521372" cy="974376"/>
          </a:xfrm>
        </p:spPr>
        <p:txBody>
          <a:bodyPr>
            <a:normAutofit/>
          </a:bodyPr>
          <a:lstStyle/>
          <a:p>
            <a:r>
              <a:rPr lang="es-MX" sz="3600" b="1" dirty="0">
                <a:solidFill>
                  <a:srgbClr val="245C4F"/>
                </a:solidFill>
                <a:latin typeface="Montserrat" pitchFamily="2" charset="77"/>
              </a:rPr>
              <a:t>Conclusiones</a:t>
            </a:r>
            <a:endParaRPr lang="es-MX" sz="3600" b="1" noProof="0" dirty="0">
              <a:solidFill>
                <a:srgbClr val="245C4F"/>
              </a:solidFill>
              <a:latin typeface="Montserrat" pitchFamily="2" charset="77"/>
            </a:endParaRPr>
          </a:p>
        </p:txBody>
      </p:sp>
      <p:sp>
        <p:nvSpPr>
          <p:cNvPr id="6" name="Marcador de contenido 5">
            <a:extLst>
              <a:ext uri="{FF2B5EF4-FFF2-40B4-BE49-F238E27FC236}">
                <a16:creationId xmlns:a16="http://schemas.microsoft.com/office/drawing/2014/main" id="{99A80811-DA41-B581-B4D5-1F975AA1F365}"/>
              </a:ext>
            </a:extLst>
          </p:cNvPr>
          <p:cNvSpPr>
            <a:spLocks noGrp="1"/>
          </p:cNvSpPr>
          <p:nvPr>
            <p:ph idx="1"/>
          </p:nvPr>
        </p:nvSpPr>
        <p:spPr>
          <a:xfrm>
            <a:off x="499494" y="2016347"/>
            <a:ext cx="10515600" cy="3619955"/>
          </a:xfrm>
        </p:spPr>
        <p:txBody>
          <a:bodyPr>
            <a:normAutofit/>
          </a:bodyPr>
          <a:lstStyle/>
          <a:p>
            <a:pPr marL="0" indent="0" algn="just">
              <a:buNone/>
            </a:pPr>
            <a:r>
              <a:rPr lang="es-MX" sz="2000" dirty="0">
                <a:latin typeface="Montserrat" panose="00000500000000000000" pitchFamily="2" charset="0"/>
              </a:rPr>
              <a:t>La Teoría de las Tres Generaciones de los Derechos Humanos constituye una herramienta académica que permite comprender la evolución histórica del reconocimiento y protección de la dignidad humana. Su clasificación facilita el estudio cronológico de los derechos humanos, explicando cómo las demandas de libertad, igualdad y solidaridad dieron origen a nuevos derechos conforme evolucionaron las sociedades. Sin embargo, esta teoría tiene un propósito principalmente didáctico, pues no establece una jerarquía entre los derechos. En la actualidad, todos los derechos humanos son reconocidos como universales, indivisibles, interdependientes y progresivos, por lo que deben promoverse, respetarse, protegerse y garantizarse de manera integral dentro del Estado constitucional de derecho.</a:t>
            </a:r>
            <a:endParaRPr lang="es-MX" sz="2000" noProof="0" dirty="0">
              <a:latin typeface="Montserrat" panose="00000500000000000000" pitchFamily="2" charset="0"/>
            </a:endParaRPr>
          </a:p>
        </p:txBody>
      </p:sp>
      <p:sp>
        <p:nvSpPr>
          <p:cNvPr id="5" name="Título 1">
            <a:extLst>
              <a:ext uri="{FF2B5EF4-FFF2-40B4-BE49-F238E27FC236}">
                <a16:creationId xmlns:a16="http://schemas.microsoft.com/office/drawing/2014/main" id="{8BC8E68C-68C6-76D0-6C9D-6CBE8FEA5A73}"/>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Tree>
    <p:extLst>
      <p:ext uri="{BB962C8B-B14F-4D97-AF65-F5344CB8AC3E}">
        <p14:creationId xmlns:p14="http://schemas.microsoft.com/office/powerpoint/2010/main" val="36409471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A74908F-EFE9-2634-CC91-CDC049043804}"/>
            </a:ext>
          </a:extLst>
        </p:cNvPr>
        <p:cNvGrpSpPr/>
        <p:nvPr/>
      </p:nvGrpSpPr>
      <p:grpSpPr>
        <a:xfrm>
          <a:off x="0" y="0"/>
          <a:ext cx="0" cy="0"/>
          <a:chOff x="0" y="0"/>
          <a:chExt cx="0" cy="0"/>
        </a:xfrm>
      </p:grpSpPr>
      <p:sp>
        <p:nvSpPr>
          <p:cNvPr id="4" name="Título 1">
            <a:extLst>
              <a:ext uri="{FF2B5EF4-FFF2-40B4-BE49-F238E27FC236}">
                <a16:creationId xmlns:a16="http://schemas.microsoft.com/office/drawing/2014/main" id="{5676AA59-7AFC-5C29-5062-8E8DBE631892}"/>
              </a:ext>
            </a:extLst>
          </p:cNvPr>
          <p:cNvSpPr>
            <a:spLocks noGrp="1"/>
          </p:cNvSpPr>
          <p:nvPr>
            <p:ph type="title"/>
          </p:nvPr>
        </p:nvSpPr>
        <p:spPr>
          <a:xfrm>
            <a:off x="674467" y="1041971"/>
            <a:ext cx="8521372" cy="974376"/>
          </a:xfrm>
        </p:spPr>
        <p:txBody>
          <a:bodyPr>
            <a:normAutofit/>
          </a:bodyPr>
          <a:lstStyle/>
          <a:p>
            <a:r>
              <a:rPr lang="es-MX" sz="3600" b="1" noProof="0" dirty="0">
                <a:solidFill>
                  <a:srgbClr val="245C4F"/>
                </a:solidFill>
                <a:latin typeface="Montserrat" pitchFamily="2" charset="77"/>
              </a:rPr>
              <a:t>Referencias</a:t>
            </a:r>
          </a:p>
        </p:txBody>
      </p:sp>
      <p:sp>
        <p:nvSpPr>
          <p:cNvPr id="6" name="Marcador de contenido 5">
            <a:extLst>
              <a:ext uri="{FF2B5EF4-FFF2-40B4-BE49-F238E27FC236}">
                <a16:creationId xmlns:a16="http://schemas.microsoft.com/office/drawing/2014/main" id="{F575F7A2-0F98-E8DB-1014-1D509D50F588}"/>
              </a:ext>
            </a:extLst>
          </p:cNvPr>
          <p:cNvSpPr>
            <a:spLocks noGrp="1"/>
          </p:cNvSpPr>
          <p:nvPr>
            <p:ph idx="1"/>
          </p:nvPr>
        </p:nvSpPr>
        <p:spPr>
          <a:xfrm>
            <a:off x="469513" y="1881435"/>
            <a:ext cx="10515600" cy="4351338"/>
          </a:xfrm>
        </p:spPr>
        <p:txBody>
          <a:bodyPr>
            <a:normAutofit fontScale="62500" lnSpcReduction="20000"/>
          </a:bodyPr>
          <a:lstStyle/>
          <a:p>
            <a:r>
              <a:rPr lang="es-MX" dirty="0"/>
              <a:t>Bobbio, N. (1991). </a:t>
            </a:r>
            <a:r>
              <a:rPr lang="es-MX" i="1" dirty="0"/>
              <a:t>El tiempo de los derechos</a:t>
            </a:r>
            <a:r>
              <a:rPr lang="es-MX" dirty="0"/>
              <a:t>. Editorial Sistema.</a:t>
            </a:r>
          </a:p>
          <a:p>
            <a:r>
              <a:rPr lang="es-MX" dirty="0"/>
              <a:t>Cámara de Diputados del H. Congreso de la Unión. (2026). </a:t>
            </a:r>
            <a:r>
              <a:rPr lang="es-MX" i="1" dirty="0"/>
              <a:t>Constitución Política de los Estados Unidos Mexicanos</a:t>
            </a:r>
            <a:r>
              <a:rPr lang="es-MX" dirty="0"/>
              <a:t>. </a:t>
            </a:r>
            <a:r>
              <a:rPr lang="es-MX" dirty="0">
                <a:hlinkClick r:id="rId3"/>
              </a:rPr>
              <a:t>https://www.diputados.gob.mx/LeyesBiblio/pdf/CPEUM.pdf</a:t>
            </a:r>
            <a:endParaRPr lang="es-MX" dirty="0"/>
          </a:p>
          <a:p>
            <a:r>
              <a:rPr lang="es-MX" dirty="0"/>
              <a:t>Cançado Trindade, A. A. (2003). </a:t>
            </a:r>
            <a:r>
              <a:rPr lang="es-MX" i="1" dirty="0"/>
              <a:t>Tratado de derecho internacional de los derechos humanos</a:t>
            </a:r>
            <a:r>
              <a:rPr lang="es-MX" dirty="0"/>
              <a:t> (Vol. I). Editorial Porrúa.</a:t>
            </a:r>
          </a:p>
          <a:p>
            <a:r>
              <a:rPr lang="es-MX" dirty="0"/>
              <a:t>Carbonell, M. (2023). </a:t>
            </a:r>
            <a:r>
              <a:rPr lang="es-MX" i="1" dirty="0"/>
              <a:t>Los derechos fundamentales en México</a:t>
            </a:r>
            <a:r>
              <a:rPr lang="es-MX" dirty="0"/>
              <a:t> (9.ª ed.). Editorial Porrúa.</a:t>
            </a:r>
          </a:p>
          <a:p>
            <a:r>
              <a:rPr lang="es-MX" dirty="0"/>
              <a:t>Conferencia Mundial de Derechos Humanos. (1993). </a:t>
            </a:r>
            <a:r>
              <a:rPr lang="es-MX" i="1" dirty="0"/>
              <a:t>Declaración y Programa de Acción de Viena</a:t>
            </a:r>
            <a:r>
              <a:rPr lang="es-MX" dirty="0"/>
              <a:t>. Organización de las Naciones Unidas. </a:t>
            </a:r>
            <a:r>
              <a:rPr lang="es-MX" dirty="0">
                <a:hlinkClick r:id="rId4"/>
              </a:rPr>
              <a:t>https://www.ohchr.org/es/instruments-mechanisms/instruments/vienna-declaration-and-programme-action</a:t>
            </a:r>
            <a:endParaRPr lang="es-MX" dirty="0"/>
          </a:p>
          <a:p>
            <a:r>
              <a:rPr lang="es-MX" dirty="0"/>
              <a:t>Ferrajoli, L. (2011). </a:t>
            </a:r>
            <a:r>
              <a:rPr lang="es-MX" i="1" dirty="0"/>
              <a:t>Principia iuris. Teoría del derecho y de la democracia</a:t>
            </a:r>
            <a:r>
              <a:rPr lang="es-MX" dirty="0"/>
              <a:t> (Vol. 2). Editorial Trotta.</a:t>
            </a:r>
          </a:p>
          <a:p>
            <a:r>
              <a:rPr lang="es-MX" dirty="0"/>
              <a:t>Fix-Zamudio, H., &amp; Valencia Carmona, S. (2020). </a:t>
            </a:r>
            <a:r>
              <a:rPr lang="es-MX" i="1" dirty="0"/>
              <a:t>Las reformas constitucionales de derechos humanos y amparo (2011-2019)</a:t>
            </a:r>
            <a:r>
              <a:rPr lang="es-MX" dirty="0"/>
              <a:t>. Universidad Nacional Autónoma de México</a:t>
            </a:r>
          </a:p>
          <a:p>
            <a:r>
              <a:rPr lang="es-MX" dirty="0"/>
              <a:t>Peces-Barba Martínez, G. (1999). </a:t>
            </a:r>
            <a:r>
              <a:rPr lang="es-MX" i="1" dirty="0"/>
              <a:t>Curso de derechos fundamentales. Teoría general</a:t>
            </a:r>
            <a:r>
              <a:rPr lang="es-MX" dirty="0"/>
              <a:t>. Universidad Carlos III de Madrid.</a:t>
            </a:r>
          </a:p>
          <a:p>
            <a:r>
              <a:rPr lang="es-MX" dirty="0"/>
              <a:t>Pérez </a:t>
            </a:r>
            <a:r>
              <a:rPr lang="es-MX" dirty="0" err="1"/>
              <a:t>Luño</a:t>
            </a:r>
            <a:r>
              <a:rPr lang="es-MX" dirty="0"/>
              <a:t>, A. E. (2014). </a:t>
            </a:r>
            <a:r>
              <a:rPr lang="es-MX" i="1" dirty="0"/>
              <a:t>Los derechos fundamentales</a:t>
            </a:r>
            <a:r>
              <a:rPr lang="es-MX" dirty="0"/>
              <a:t> (11.ª ed.). Editorial Tecnos.</a:t>
            </a:r>
          </a:p>
          <a:p>
            <a:r>
              <a:rPr lang="es-MX" dirty="0"/>
              <a:t>Vasak, K. (1979). </a:t>
            </a:r>
            <a:r>
              <a:rPr lang="es-MX" i="1" dirty="0"/>
              <a:t>Pour une </a:t>
            </a:r>
            <a:r>
              <a:rPr lang="es-MX" i="1" dirty="0" err="1"/>
              <a:t>troisième</a:t>
            </a:r>
            <a:r>
              <a:rPr lang="es-MX" i="1" dirty="0"/>
              <a:t> </a:t>
            </a:r>
            <a:r>
              <a:rPr lang="es-MX" i="1" dirty="0" err="1"/>
              <a:t>génération</a:t>
            </a:r>
            <a:r>
              <a:rPr lang="es-MX" i="1" dirty="0"/>
              <a:t> des </a:t>
            </a:r>
            <a:r>
              <a:rPr lang="es-MX" i="1" dirty="0" err="1"/>
              <a:t>droits</a:t>
            </a:r>
            <a:r>
              <a:rPr lang="es-MX" i="1" dirty="0"/>
              <a:t> de </a:t>
            </a:r>
            <a:r>
              <a:rPr lang="es-MX" i="1" dirty="0" err="1"/>
              <a:t>l'homme</a:t>
            </a:r>
            <a:r>
              <a:rPr lang="es-MX" dirty="0"/>
              <a:t>. UNESCO.</a:t>
            </a:r>
          </a:p>
          <a:p>
            <a:pPr marL="0" indent="0">
              <a:buNone/>
            </a:pPr>
            <a:endParaRPr lang="es-MX" noProof="0" dirty="0"/>
          </a:p>
        </p:txBody>
      </p:sp>
      <p:sp>
        <p:nvSpPr>
          <p:cNvPr id="5" name="Título 1">
            <a:extLst>
              <a:ext uri="{FF2B5EF4-FFF2-40B4-BE49-F238E27FC236}">
                <a16:creationId xmlns:a16="http://schemas.microsoft.com/office/drawing/2014/main" id="{3D3D23A3-FC94-D5F7-94BB-F609D0426A18}"/>
              </a:ext>
            </a:extLst>
          </p:cNvPr>
          <p:cNvSpPr txBox="1">
            <a:spLocks/>
          </p:cNvSpPr>
          <p:nvPr/>
        </p:nvSpPr>
        <p:spPr>
          <a:xfrm>
            <a:off x="3800840" y="86846"/>
            <a:ext cx="7810393" cy="46735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fontAlgn="base"/>
            <a:r>
              <a:rPr lang="es-MX" sz="1600" noProof="0" dirty="0">
                <a:solidFill>
                  <a:srgbClr val="245C4F"/>
                </a:solidFill>
                <a:latin typeface="Montserrat Medium" pitchFamily="2" charset="77"/>
              </a:rPr>
              <a:t>Antecedentes de los Derechos Humanos</a:t>
            </a:r>
          </a:p>
        </p:txBody>
      </p:sp>
    </p:spTree>
    <p:extLst>
      <p:ext uri="{BB962C8B-B14F-4D97-AF65-F5344CB8AC3E}">
        <p14:creationId xmlns:p14="http://schemas.microsoft.com/office/powerpoint/2010/main" val="1072034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Marcador de texto 1">
            <a:extLst>
              <a:ext uri="{FF2B5EF4-FFF2-40B4-BE49-F238E27FC236}">
                <a16:creationId xmlns:a16="http://schemas.microsoft.com/office/drawing/2014/main" id="{74122129-FC8A-B799-371B-7E035F9C36B1}"/>
              </a:ext>
            </a:extLst>
          </p:cNvPr>
          <p:cNvSpPr txBox="1">
            <a:spLocks/>
          </p:cNvSpPr>
          <p:nvPr/>
        </p:nvSpPr>
        <p:spPr>
          <a:xfrm>
            <a:off x="0" y="4247292"/>
            <a:ext cx="12192000" cy="90170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defTabSz="914377">
              <a:buNone/>
              <a:defRPr/>
            </a:pPr>
            <a:r>
              <a:rPr lang="es-MX" sz="4000" b="1" noProof="0" dirty="0">
                <a:solidFill>
                  <a:srgbClr val="245C4F"/>
                </a:solidFill>
                <a:latin typeface="Montserrat" pitchFamily="2" charset="77"/>
              </a:rPr>
              <a:t>Gracias</a:t>
            </a:r>
          </a:p>
          <a:p>
            <a:pPr defTabSz="914377">
              <a:defRPr/>
            </a:pPr>
            <a:endParaRPr lang="es-MX" noProof="0" dirty="0"/>
          </a:p>
        </p:txBody>
      </p:sp>
    </p:spTree>
    <p:extLst>
      <p:ext uri="{BB962C8B-B14F-4D97-AF65-F5344CB8AC3E}">
        <p14:creationId xmlns:p14="http://schemas.microsoft.com/office/powerpoint/2010/main" val="354541923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1857</TotalTime>
  <Words>1725</Words>
  <Application>Microsoft Office PowerPoint</Application>
  <PresentationFormat>Panorámica</PresentationFormat>
  <Paragraphs>114</Paragraphs>
  <Slides>16</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16</vt:i4>
      </vt:variant>
    </vt:vector>
  </HeadingPairs>
  <TitlesOfParts>
    <vt:vector size="24" baseType="lpstr">
      <vt:lpstr>Aptos</vt:lpstr>
      <vt:lpstr>Aptos Display</vt:lpstr>
      <vt:lpstr>Arial</vt:lpstr>
      <vt:lpstr>Montserrat</vt:lpstr>
      <vt:lpstr>Montserrat Medium</vt:lpstr>
      <vt:lpstr>Montserrat SemiBold</vt:lpstr>
      <vt:lpstr>Wingdings</vt:lpstr>
      <vt:lpstr>Tema de Office</vt:lpstr>
      <vt:lpstr>Presentación de PowerPoint</vt:lpstr>
      <vt:lpstr>Presentación de PowerPoint</vt:lpstr>
      <vt:lpstr>Soy Licenciado en Derecho por la Universidad Veracruzana, donde obtuve el grado con mención honorífica y promedio general de 9.2. Posteriormente cursé la Maestría en Derechos Humanos y Justicia Constitucional en la misma institución, también con mención honorífica y promedio de 9.0.   Mis principales intereses académicos se centran en el derecho público, los derechos humanos, la gobernanza y las políticas públicas, así como en el papel del derecho en el fortalecimiento de las instituciones públicas.  En el ámbito académico, me he desempeñado como docente en la Universidad Abierta y a Distancia de México (UnADM). Asimismo, he participado como coautor en diversas publicaciones especializadas en derechos humanos, particularmente en temas relacionados con derechos de la niñez, derecho de propiedad y violencia patrimonial en contextos rurales, destacando el capítulo “Convencionalidad de la autorización a la enajenación de bienes de niñas, niños y adolescentes. La autonomía progresiva y el interés superior de la niñez y la adolescencia” (2023).(UnADM). En el servicio público, destaqué como Procurador de Protección de Niñas, Niños y Adolescentes, participando en la protección y restitución de los derechos de la niñez y adolescencia.   Actualmente me desempeño como abogado postulante en materia de derecho familiar y docente universitario. .</vt:lpstr>
      <vt:lpstr>Introducción a la asignatura </vt:lpstr>
      <vt:lpstr>1. ¿Por qué estudiar esta teoría?</vt:lpstr>
      <vt:lpstr>2. Quién fue Karel Vasak?</vt:lpstr>
      <vt:lpstr>3. Evolución histórica de los derechos humanos</vt:lpstr>
      <vt:lpstr>4. ¿Qué significa "generación"?</vt:lpstr>
      <vt:lpstr>5. Primera Generación</vt:lpstr>
      <vt:lpstr>5. Características de la Primera Generación</vt:lpstr>
      <vt:lpstr>6. Segunda Generación</vt:lpstr>
      <vt:lpstr>6.1 Características de la Segunda Generación</vt:lpstr>
      <vt:lpstr>7. Tercera Generación </vt:lpstr>
      <vt:lpstr>Conclusiones</vt:lpstr>
      <vt:lpstr>Referencias</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Antecedetes de los Derechos Humanos</dc:title>
  <dc:creator>Mtro. Daniel Alexis Lozano Ortega</dc:creator>
  <cp:keywords>Derecho - UnADM</cp:keywords>
  <cp:lastModifiedBy>DANIEL ALEXIS LOZANO ORTEGA</cp:lastModifiedBy>
  <cp:revision>24</cp:revision>
  <dcterms:created xsi:type="dcterms:W3CDTF">2024-03-22T19:16:03Z</dcterms:created>
  <dcterms:modified xsi:type="dcterms:W3CDTF">2026-07-20T07:16:54Z</dcterms:modified>
</cp:coreProperties>
</file>