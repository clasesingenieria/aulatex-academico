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62" r:id="rId3"/>
    <p:sldId id="257" r:id="rId4"/>
    <p:sldId id="264" r:id="rId5"/>
    <p:sldId id="258" r:id="rId6"/>
    <p:sldId id="290" r:id="rId7"/>
    <p:sldId id="288" r:id="rId8"/>
    <p:sldId id="308" r:id="rId9"/>
    <p:sldId id="291" r:id="rId10"/>
    <p:sldId id="298" r:id="rId11"/>
    <p:sldId id="311" r:id="rId12"/>
    <p:sldId id="310" r:id="rId13"/>
    <p:sldId id="273" r:id="rId14"/>
    <p:sldId id="312" r:id="rId15"/>
    <p:sldId id="292" r:id="rId16"/>
    <p:sldId id="276" r:id="rId17"/>
    <p:sldId id="313" r:id="rId18"/>
    <p:sldId id="299" r:id="rId19"/>
    <p:sldId id="272" r:id="rId20"/>
    <p:sldId id="285" r:id="rId21"/>
    <p:sldId id="261" r:id="rId2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9459"/>
    <a:srgbClr val="245C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45" autoAdjust="0"/>
    <p:restoredTop sz="94694"/>
  </p:normalViewPr>
  <p:slideViewPr>
    <p:cSldViewPr snapToGrid="0">
      <p:cViewPr varScale="1">
        <p:scale>
          <a:sx n="62" d="100"/>
          <a:sy n="62" d="100"/>
        </p:scale>
        <p:origin x="84" y="9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EB305B-7678-43AD-BDC3-20C842B6CE70}" type="datetimeFigureOut">
              <a:rPr lang="es-MX" smtClean="0"/>
              <a:t>03/10/2026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71F488-B8F8-4D33-8D91-CCBFD956B2B7}" type="slidenum">
              <a:rPr lang="es-MX" smtClean="0"/>
              <a:t>‹Nº›</a:t>
            </a:fld>
            <a:endParaRPr lang="es-MX"/>
          </a:p>
        </p:txBody>
      </p:sp>
    </p:spTree>
    <p:extLst>
      <p:ext uri="{BB962C8B-B14F-4D97-AF65-F5344CB8AC3E}">
        <p14:creationId xmlns:p14="http://schemas.microsoft.com/office/powerpoint/2010/main" val="306958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C71F488-B8F8-4D33-8D91-CCBFD956B2B7}" type="slidenum">
              <a:rPr lang="es-MX" smtClean="0"/>
              <a:t>4</a:t>
            </a:fld>
            <a:endParaRPr lang="es-MX"/>
          </a:p>
        </p:txBody>
      </p:sp>
    </p:spTree>
    <p:extLst>
      <p:ext uri="{BB962C8B-B14F-4D97-AF65-F5344CB8AC3E}">
        <p14:creationId xmlns:p14="http://schemas.microsoft.com/office/powerpoint/2010/main" val="3226746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r>
              <a:rPr lang="es-MX" dirty="0"/>
              <a:t>Antes de la llegada de los españoles, el territorio que hoy conocemos como México estaba habitado por diversas culturas como los mexicas, mayas, zapotecas, mixtecas y purépechas. Cada una contaba con sistemas jurídicos propios, basados principalmente en la costumbre y la tradición.</a:t>
            </a:r>
          </a:p>
          <a:p>
            <a:r>
              <a:rPr lang="es-MX" dirty="0"/>
              <a:t>En estas sociedades existían normas muy estrictas que regulaban la convivencia, el comercio, el matrimonio, la propiedad y las sanciones por incumplimiento de las leyes. Sin embargo, el concepto moderno de derechos humanos aún no existía. Lo que predominaba era el cumplimiento de obligaciones hacia la comunidad y la obediencia a la autoridad.</a:t>
            </a:r>
          </a:p>
          <a:p>
            <a:r>
              <a:rPr lang="es-MX" dirty="0"/>
              <a:t>La organización social era profundamente jerarquizada; existían nobles, sacerdotes, guerreros, comerciantes y campesinos, cada uno con derechos y obligaciones diferentes según su posición dentro de la estructura social.</a:t>
            </a:r>
          </a:p>
          <a:p>
            <a:r>
              <a:rPr lang="es-MX" dirty="0"/>
              <a:t>Aunque no existía una protección universal de la dignidad humana, estas culturas desarrollaron mecanismos para preservar el orden social y resolver conflictos, constituyendo uno de los primeros antecedentes del derecho en México.</a:t>
            </a:r>
          </a:p>
          <a:p>
            <a:endParaRPr lang="es-MX" dirty="0"/>
          </a:p>
        </p:txBody>
      </p:sp>
      <p:sp>
        <p:nvSpPr>
          <p:cNvPr id="4" name="Marcador de número de diapositiva 3"/>
          <p:cNvSpPr>
            <a:spLocks noGrp="1"/>
          </p:cNvSpPr>
          <p:nvPr>
            <p:ph type="sldNum" sz="quarter" idx="5"/>
          </p:nvPr>
        </p:nvSpPr>
        <p:spPr/>
        <p:txBody>
          <a:bodyPr/>
          <a:lstStyle/>
          <a:p>
            <a:fld id="{DC71F488-B8F8-4D33-8D91-CCBFD956B2B7}" type="slidenum">
              <a:rPr lang="es-MX" smtClean="0"/>
              <a:t>5</a:t>
            </a:fld>
            <a:endParaRPr lang="es-MX"/>
          </a:p>
        </p:txBody>
      </p:sp>
    </p:spTree>
    <p:extLst>
      <p:ext uri="{BB962C8B-B14F-4D97-AF65-F5344CB8AC3E}">
        <p14:creationId xmlns:p14="http://schemas.microsoft.com/office/powerpoint/2010/main" val="3114172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002E7-00CC-399A-627D-2DF2276E1A4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6DD3BB-D54F-FD04-E852-68A946058D06}"/>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6DB4B58E-3D23-19E3-31DD-EC581970BAC0}"/>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B745D6D2-98FF-6F65-7A20-F435E928551F}"/>
              </a:ext>
            </a:extLst>
          </p:cNvPr>
          <p:cNvSpPr>
            <a:spLocks noGrp="1"/>
          </p:cNvSpPr>
          <p:nvPr>
            <p:ph type="sldNum" sz="quarter" idx="5"/>
          </p:nvPr>
        </p:nvSpPr>
        <p:spPr/>
        <p:txBody>
          <a:bodyPr/>
          <a:lstStyle/>
          <a:p>
            <a:fld id="{DC71F488-B8F8-4D33-8D91-CCBFD956B2B7}" type="slidenum">
              <a:rPr lang="es-MX" smtClean="0"/>
              <a:t>6</a:t>
            </a:fld>
            <a:endParaRPr lang="es-MX"/>
          </a:p>
        </p:txBody>
      </p:sp>
    </p:spTree>
    <p:extLst>
      <p:ext uri="{BB962C8B-B14F-4D97-AF65-F5344CB8AC3E}">
        <p14:creationId xmlns:p14="http://schemas.microsoft.com/office/powerpoint/2010/main" val="3653765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A11DC-C617-7F6B-9D06-A39800DF1A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C82CAD-F1AD-4928-46C4-811BEF683ED4}"/>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1E80E7EF-6111-7BE4-9E35-1B1DF8312C39}"/>
              </a:ext>
            </a:extLst>
          </p:cNvPr>
          <p:cNvSpPr>
            <a:spLocks noGrp="1"/>
          </p:cNvSpPr>
          <p:nvPr>
            <p:ph type="body" idx="1"/>
          </p:nvPr>
        </p:nvSpPr>
        <p:spPr/>
        <p:txBody>
          <a:bodyPr/>
          <a:lstStyle/>
          <a:p>
            <a:r>
              <a:rPr lang="es-MX" dirty="0"/>
              <a:t>Antes de la llegada de los españoles, el territorio que hoy conocemos como México estaba habitado por diversas culturas como los mexicas, mayas, zapotecas, mixtecas y purépechas. Cada una contaba con sistemas jurídicos propios, basados principalmente en la costumbre y la tradición.</a:t>
            </a:r>
          </a:p>
          <a:p>
            <a:r>
              <a:rPr lang="es-MX" dirty="0"/>
              <a:t>En estas sociedades existían normas muy estrictas que regulaban la convivencia, el comercio, el matrimonio, la propiedad y las sanciones por incumplimiento de las leyes. Sin embargo, el concepto moderno de derechos humanos aún no existía. Lo que predominaba era el cumplimiento de obligaciones hacia la comunidad y la obediencia a la autoridad.</a:t>
            </a:r>
          </a:p>
          <a:p>
            <a:r>
              <a:rPr lang="es-MX" dirty="0"/>
              <a:t>La organización social era profundamente jerarquizada; existían nobles, sacerdotes, guerreros, comerciantes y campesinos, cada uno con derechos y obligaciones diferentes según su posición dentro de la estructura social.</a:t>
            </a:r>
          </a:p>
          <a:p>
            <a:r>
              <a:rPr lang="es-MX" dirty="0"/>
              <a:t>Aunque no existía una protección universal de la dignidad humana, estas culturas desarrollaron mecanismos para preservar el orden social y resolver conflictos, constituyendo uno de los primeros antecedentes del derecho en México.</a:t>
            </a:r>
          </a:p>
          <a:p>
            <a:endParaRPr lang="es-MX" dirty="0"/>
          </a:p>
        </p:txBody>
      </p:sp>
      <p:sp>
        <p:nvSpPr>
          <p:cNvPr id="4" name="Marcador de número de diapositiva 3">
            <a:extLst>
              <a:ext uri="{FF2B5EF4-FFF2-40B4-BE49-F238E27FC236}">
                <a16:creationId xmlns:a16="http://schemas.microsoft.com/office/drawing/2014/main" id="{613EE4A4-9951-1C0F-B604-38DF5E0899BD}"/>
              </a:ext>
            </a:extLst>
          </p:cNvPr>
          <p:cNvSpPr>
            <a:spLocks noGrp="1"/>
          </p:cNvSpPr>
          <p:nvPr>
            <p:ph type="sldNum" sz="quarter" idx="5"/>
          </p:nvPr>
        </p:nvSpPr>
        <p:spPr/>
        <p:txBody>
          <a:bodyPr/>
          <a:lstStyle/>
          <a:p>
            <a:fld id="{DC71F488-B8F8-4D33-8D91-CCBFD956B2B7}" type="slidenum">
              <a:rPr lang="es-MX" smtClean="0"/>
              <a:t>7</a:t>
            </a:fld>
            <a:endParaRPr lang="es-MX"/>
          </a:p>
        </p:txBody>
      </p:sp>
    </p:spTree>
    <p:extLst>
      <p:ext uri="{BB962C8B-B14F-4D97-AF65-F5344CB8AC3E}">
        <p14:creationId xmlns:p14="http://schemas.microsoft.com/office/powerpoint/2010/main" val="632457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B5FAF-3BF3-4BC9-188A-0B4EFBAFA6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EFD1AD1-6146-DE6E-84DB-CF4401300625}"/>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AB3440C8-EED8-5078-62FC-F06B892F2354}"/>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D704311B-50DA-FD0C-F0D0-0594E1804045}"/>
              </a:ext>
            </a:extLst>
          </p:cNvPr>
          <p:cNvSpPr>
            <a:spLocks noGrp="1"/>
          </p:cNvSpPr>
          <p:nvPr>
            <p:ph type="sldNum" sz="quarter" idx="5"/>
          </p:nvPr>
        </p:nvSpPr>
        <p:spPr/>
        <p:txBody>
          <a:bodyPr/>
          <a:lstStyle/>
          <a:p>
            <a:fld id="{DC71F488-B8F8-4D33-8D91-CCBFD956B2B7}" type="slidenum">
              <a:rPr lang="es-MX" smtClean="0"/>
              <a:t>8</a:t>
            </a:fld>
            <a:endParaRPr lang="es-MX"/>
          </a:p>
        </p:txBody>
      </p:sp>
    </p:spTree>
    <p:extLst>
      <p:ext uri="{BB962C8B-B14F-4D97-AF65-F5344CB8AC3E}">
        <p14:creationId xmlns:p14="http://schemas.microsoft.com/office/powerpoint/2010/main" val="3974604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AB680-B787-0817-8B88-A0474990A6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C2096B-5396-A3BD-9B5E-05146142B564}"/>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07AE9061-09EE-D002-3DCC-517D51AB117E}"/>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0E4BF42B-3F95-5E0C-BCEB-14A7EBE5146D}"/>
              </a:ext>
            </a:extLst>
          </p:cNvPr>
          <p:cNvSpPr>
            <a:spLocks noGrp="1"/>
          </p:cNvSpPr>
          <p:nvPr>
            <p:ph type="sldNum" sz="quarter" idx="5"/>
          </p:nvPr>
        </p:nvSpPr>
        <p:spPr/>
        <p:txBody>
          <a:bodyPr/>
          <a:lstStyle/>
          <a:p>
            <a:fld id="{DC71F488-B8F8-4D33-8D91-CCBFD956B2B7}" type="slidenum">
              <a:rPr lang="es-MX" smtClean="0"/>
              <a:t>9</a:t>
            </a:fld>
            <a:endParaRPr lang="es-MX"/>
          </a:p>
        </p:txBody>
      </p:sp>
    </p:spTree>
    <p:extLst>
      <p:ext uri="{BB962C8B-B14F-4D97-AF65-F5344CB8AC3E}">
        <p14:creationId xmlns:p14="http://schemas.microsoft.com/office/powerpoint/2010/main" val="2621661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1F2AB-03BC-E52E-5911-021D2691F1D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F71CDBE-8014-2D02-5BDE-5899D10F6069}"/>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37843C99-77CC-7377-9BA2-AB6D4EF096EB}"/>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5C257C3B-9BFD-2D4E-491E-22CE248FE966}"/>
              </a:ext>
            </a:extLst>
          </p:cNvPr>
          <p:cNvSpPr>
            <a:spLocks noGrp="1"/>
          </p:cNvSpPr>
          <p:nvPr>
            <p:ph type="sldNum" sz="quarter" idx="5"/>
          </p:nvPr>
        </p:nvSpPr>
        <p:spPr/>
        <p:txBody>
          <a:bodyPr/>
          <a:lstStyle/>
          <a:p>
            <a:fld id="{DC71F488-B8F8-4D33-8D91-CCBFD956B2B7}" type="slidenum">
              <a:rPr lang="es-MX" smtClean="0"/>
              <a:t>10</a:t>
            </a:fld>
            <a:endParaRPr lang="es-MX"/>
          </a:p>
        </p:txBody>
      </p:sp>
    </p:spTree>
    <p:extLst>
      <p:ext uri="{BB962C8B-B14F-4D97-AF65-F5344CB8AC3E}">
        <p14:creationId xmlns:p14="http://schemas.microsoft.com/office/powerpoint/2010/main" val="2625217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F096A-2A27-D75F-104B-AE247F8481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E19A75-CD32-73AF-A08D-2E1C406FE9ED}"/>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3ECE00DA-7813-A9E3-14CC-18087F19C775}"/>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13E6DF5E-7F99-0F79-F973-31F71A75FB9F}"/>
              </a:ext>
            </a:extLst>
          </p:cNvPr>
          <p:cNvSpPr>
            <a:spLocks noGrp="1"/>
          </p:cNvSpPr>
          <p:nvPr>
            <p:ph type="sldNum" sz="quarter" idx="5"/>
          </p:nvPr>
        </p:nvSpPr>
        <p:spPr/>
        <p:txBody>
          <a:bodyPr/>
          <a:lstStyle/>
          <a:p>
            <a:fld id="{DC71F488-B8F8-4D33-8D91-CCBFD956B2B7}" type="slidenum">
              <a:rPr lang="es-MX" smtClean="0"/>
              <a:t>11</a:t>
            </a:fld>
            <a:endParaRPr lang="es-MX"/>
          </a:p>
        </p:txBody>
      </p:sp>
    </p:spTree>
    <p:extLst>
      <p:ext uri="{BB962C8B-B14F-4D97-AF65-F5344CB8AC3E}">
        <p14:creationId xmlns:p14="http://schemas.microsoft.com/office/powerpoint/2010/main" val="386704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5E8EA-169C-5774-9156-2E121F96191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2ADEC26-4E36-B31C-2F5B-6A39A44F6260}"/>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17E15B27-0134-DCFB-4B8D-2878A4437F60}"/>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CB65FE49-2516-4D88-74C4-C7E516A544D5}"/>
              </a:ext>
            </a:extLst>
          </p:cNvPr>
          <p:cNvSpPr>
            <a:spLocks noGrp="1"/>
          </p:cNvSpPr>
          <p:nvPr>
            <p:ph type="sldNum" sz="quarter" idx="5"/>
          </p:nvPr>
        </p:nvSpPr>
        <p:spPr/>
        <p:txBody>
          <a:bodyPr/>
          <a:lstStyle/>
          <a:p>
            <a:fld id="{DC71F488-B8F8-4D33-8D91-CCBFD956B2B7}" type="slidenum">
              <a:rPr lang="es-MX" smtClean="0"/>
              <a:t>12</a:t>
            </a:fld>
            <a:endParaRPr lang="es-MX"/>
          </a:p>
        </p:txBody>
      </p:sp>
    </p:spTree>
    <p:extLst>
      <p:ext uri="{BB962C8B-B14F-4D97-AF65-F5344CB8AC3E}">
        <p14:creationId xmlns:p14="http://schemas.microsoft.com/office/powerpoint/2010/main" val="4010562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C71F488-B8F8-4D33-8D91-CCBFD956B2B7}" type="slidenum">
              <a:rPr lang="es-MX" smtClean="0"/>
              <a:t>16</a:t>
            </a:fld>
            <a:endParaRPr lang="es-MX"/>
          </a:p>
        </p:txBody>
      </p:sp>
    </p:spTree>
    <p:extLst>
      <p:ext uri="{BB962C8B-B14F-4D97-AF65-F5344CB8AC3E}">
        <p14:creationId xmlns:p14="http://schemas.microsoft.com/office/powerpoint/2010/main" val="2717931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D3A0F-7522-4737-7E86-9F43512BE5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78EBC3-FE3F-7A91-140C-25D770B28BAD}"/>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DA3CA3B3-9972-392A-40AA-33B2A638DFE0}"/>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F9F4EEB9-29C8-9D13-3419-C7CB3A4979D9}"/>
              </a:ext>
            </a:extLst>
          </p:cNvPr>
          <p:cNvSpPr>
            <a:spLocks noGrp="1"/>
          </p:cNvSpPr>
          <p:nvPr>
            <p:ph type="sldNum" sz="quarter" idx="5"/>
          </p:nvPr>
        </p:nvSpPr>
        <p:spPr/>
        <p:txBody>
          <a:bodyPr/>
          <a:lstStyle/>
          <a:p>
            <a:fld id="{DC71F488-B8F8-4D33-8D91-CCBFD956B2B7}" type="slidenum">
              <a:rPr lang="es-MX" smtClean="0"/>
              <a:t>17</a:t>
            </a:fld>
            <a:endParaRPr lang="es-MX"/>
          </a:p>
        </p:txBody>
      </p:sp>
    </p:spTree>
    <p:extLst>
      <p:ext uri="{BB962C8B-B14F-4D97-AF65-F5344CB8AC3E}">
        <p14:creationId xmlns:p14="http://schemas.microsoft.com/office/powerpoint/2010/main" val="1681990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24E78-D9A0-3FF8-75A7-31F976638C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72DEF50-8685-FF50-A181-508AD7BC11CC}"/>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F766866F-5707-F101-7E93-AF569D5F4BA2}"/>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A19F28D3-6728-A366-F28C-844237A0EC9D}"/>
              </a:ext>
            </a:extLst>
          </p:cNvPr>
          <p:cNvSpPr>
            <a:spLocks noGrp="1"/>
          </p:cNvSpPr>
          <p:nvPr>
            <p:ph type="sldNum" sz="quarter" idx="5"/>
          </p:nvPr>
        </p:nvSpPr>
        <p:spPr/>
        <p:txBody>
          <a:bodyPr/>
          <a:lstStyle/>
          <a:p>
            <a:fld id="{DC71F488-B8F8-4D33-8D91-CCBFD956B2B7}" type="slidenum">
              <a:rPr lang="es-MX" smtClean="0"/>
              <a:t>18</a:t>
            </a:fld>
            <a:endParaRPr lang="es-MX"/>
          </a:p>
        </p:txBody>
      </p:sp>
    </p:spTree>
    <p:extLst>
      <p:ext uri="{BB962C8B-B14F-4D97-AF65-F5344CB8AC3E}">
        <p14:creationId xmlns:p14="http://schemas.microsoft.com/office/powerpoint/2010/main" val="1318253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442380-29F4-7885-D208-EE6B3A1F9270}"/>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BD184D8A-FB05-07BE-4B9B-48F890BA6E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49E1AC74-A96C-6DF9-BAC2-6B57C578ECCC}"/>
              </a:ext>
            </a:extLst>
          </p:cNvPr>
          <p:cNvSpPr>
            <a:spLocks noGrp="1"/>
          </p:cNvSpPr>
          <p:nvPr>
            <p:ph type="dt" sz="half" idx="10"/>
          </p:nvPr>
        </p:nvSpPr>
        <p:spPr/>
        <p:txBody>
          <a:bodyPr/>
          <a:lstStyle/>
          <a:p>
            <a:fld id="{BE55A57F-D9AD-8A45-99FA-27A12DCE6F0B}" type="datetimeFigureOut">
              <a:rPr lang="es-MX" smtClean="0"/>
              <a:t>03/10/2026</a:t>
            </a:fld>
            <a:endParaRPr lang="es-MX"/>
          </a:p>
        </p:txBody>
      </p:sp>
      <p:sp>
        <p:nvSpPr>
          <p:cNvPr id="5" name="Marcador de pie de página 4">
            <a:extLst>
              <a:ext uri="{FF2B5EF4-FFF2-40B4-BE49-F238E27FC236}">
                <a16:creationId xmlns:a16="http://schemas.microsoft.com/office/drawing/2014/main" id="{405D51E0-D288-5AD9-E9C6-318A3EEA585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EF3E0D9-24E9-9D52-A957-F9D786C835B9}"/>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421853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101505-2B21-4F87-7372-4CD4877344E5}"/>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F669F502-C957-D0CD-CB5A-51EC6B4282E4}"/>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B6BECD5D-5141-752C-BB70-0301264F6710}"/>
              </a:ext>
            </a:extLst>
          </p:cNvPr>
          <p:cNvSpPr>
            <a:spLocks noGrp="1"/>
          </p:cNvSpPr>
          <p:nvPr>
            <p:ph type="dt" sz="half" idx="10"/>
          </p:nvPr>
        </p:nvSpPr>
        <p:spPr/>
        <p:txBody>
          <a:bodyPr/>
          <a:lstStyle/>
          <a:p>
            <a:fld id="{BE55A57F-D9AD-8A45-99FA-27A12DCE6F0B}" type="datetimeFigureOut">
              <a:rPr lang="es-MX" smtClean="0"/>
              <a:t>03/10/2026</a:t>
            </a:fld>
            <a:endParaRPr lang="es-MX"/>
          </a:p>
        </p:txBody>
      </p:sp>
      <p:sp>
        <p:nvSpPr>
          <p:cNvPr id="5" name="Marcador de pie de página 4">
            <a:extLst>
              <a:ext uri="{FF2B5EF4-FFF2-40B4-BE49-F238E27FC236}">
                <a16:creationId xmlns:a16="http://schemas.microsoft.com/office/drawing/2014/main" id="{713BFD11-F425-FF05-8852-2ED48ABF02B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F451A02-38E8-5D34-6307-B211425C6BAE}"/>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2198742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85063E-0145-11AC-B497-708A91452757}"/>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7D96655B-7EA1-0AC4-EEE3-57E2920CD6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D450C324-AB5E-AABF-45D9-FDC77A02163F}"/>
              </a:ext>
            </a:extLst>
          </p:cNvPr>
          <p:cNvSpPr>
            <a:spLocks noGrp="1"/>
          </p:cNvSpPr>
          <p:nvPr>
            <p:ph type="dt" sz="half" idx="10"/>
          </p:nvPr>
        </p:nvSpPr>
        <p:spPr/>
        <p:txBody>
          <a:bodyPr/>
          <a:lstStyle/>
          <a:p>
            <a:fld id="{BE55A57F-D9AD-8A45-99FA-27A12DCE6F0B}" type="datetimeFigureOut">
              <a:rPr lang="es-MX" smtClean="0"/>
              <a:t>03/10/2026</a:t>
            </a:fld>
            <a:endParaRPr lang="es-MX"/>
          </a:p>
        </p:txBody>
      </p:sp>
      <p:sp>
        <p:nvSpPr>
          <p:cNvPr id="5" name="Marcador de pie de página 4">
            <a:extLst>
              <a:ext uri="{FF2B5EF4-FFF2-40B4-BE49-F238E27FC236}">
                <a16:creationId xmlns:a16="http://schemas.microsoft.com/office/drawing/2014/main" id="{C304D378-2C18-709A-270A-A4E75DD8C92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54E66E3-9229-84F0-EEA4-578EEF325271}"/>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1956443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329277-B785-6564-ED5E-C308537FACDE}"/>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6385F2C7-1F65-E84C-E1B2-14CA5B745667}"/>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16E1DA9A-F6DC-507F-6F9B-EB5E635D0546}"/>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2F77500F-4FE3-40D7-9039-4BD1297D5814}"/>
              </a:ext>
            </a:extLst>
          </p:cNvPr>
          <p:cNvSpPr>
            <a:spLocks noGrp="1"/>
          </p:cNvSpPr>
          <p:nvPr>
            <p:ph type="dt" sz="half" idx="10"/>
          </p:nvPr>
        </p:nvSpPr>
        <p:spPr/>
        <p:txBody>
          <a:bodyPr/>
          <a:lstStyle/>
          <a:p>
            <a:fld id="{BE55A57F-D9AD-8A45-99FA-27A12DCE6F0B}" type="datetimeFigureOut">
              <a:rPr lang="es-MX" smtClean="0"/>
              <a:t>03/10/2026</a:t>
            </a:fld>
            <a:endParaRPr lang="es-MX"/>
          </a:p>
        </p:txBody>
      </p:sp>
      <p:sp>
        <p:nvSpPr>
          <p:cNvPr id="6" name="Marcador de pie de página 5">
            <a:extLst>
              <a:ext uri="{FF2B5EF4-FFF2-40B4-BE49-F238E27FC236}">
                <a16:creationId xmlns:a16="http://schemas.microsoft.com/office/drawing/2014/main" id="{D6B18608-9A0D-8E1D-B272-86F09D69475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EA6B838-DC36-C62B-511B-78BBE85849FF}"/>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3562576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40458-0846-538C-D307-267243BDE484}"/>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951EF107-7F66-2CE3-A2E6-366639A121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6A47BF29-8593-4D59-249D-16A686F51A87}"/>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C4358F34-7A43-C3D5-D2DF-9863D9DE26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4FAADF1B-BC93-27DD-C8F9-B606CCBFFD05}"/>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5597C082-BED4-EDFA-C890-A23D9C2223F4}"/>
              </a:ext>
            </a:extLst>
          </p:cNvPr>
          <p:cNvSpPr>
            <a:spLocks noGrp="1"/>
          </p:cNvSpPr>
          <p:nvPr>
            <p:ph type="dt" sz="half" idx="10"/>
          </p:nvPr>
        </p:nvSpPr>
        <p:spPr/>
        <p:txBody>
          <a:bodyPr/>
          <a:lstStyle/>
          <a:p>
            <a:fld id="{BE55A57F-D9AD-8A45-99FA-27A12DCE6F0B}" type="datetimeFigureOut">
              <a:rPr lang="es-MX" smtClean="0"/>
              <a:t>03/10/2026</a:t>
            </a:fld>
            <a:endParaRPr lang="es-MX"/>
          </a:p>
        </p:txBody>
      </p:sp>
      <p:sp>
        <p:nvSpPr>
          <p:cNvPr id="8" name="Marcador de pie de página 7">
            <a:extLst>
              <a:ext uri="{FF2B5EF4-FFF2-40B4-BE49-F238E27FC236}">
                <a16:creationId xmlns:a16="http://schemas.microsoft.com/office/drawing/2014/main" id="{CA273741-70A5-6310-5762-1E42C3B91D4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A653C7AB-DB99-BA88-8AF7-A3232973447F}"/>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3692015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1EAC9A-8C31-88DC-F120-D79038978387}"/>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6D3C53B0-4C6B-9D13-172D-67325EADB5CD}"/>
              </a:ext>
            </a:extLst>
          </p:cNvPr>
          <p:cNvSpPr>
            <a:spLocks noGrp="1"/>
          </p:cNvSpPr>
          <p:nvPr>
            <p:ph type="dt" sz="half" idx="10"/>
          </p:nvPr>
        </p:nvSpPr>
        <p:spPr/>
        <p:txBody>
          <a:bodyPr/>
          <a:lstStyle/>
          <a:p>
            <a:fld id="{BE55A57F-D9AD-8A45-99FA-27A12DCE6F0B}" type="datetimeFigureOut">
              <a:rPr lang="es-MX" smtClean="0"/>
              <a:t>03/10/2026</a:t>
            </a:fld>
            <a:endParaRPr lang="es-MX"/>
          </a:p>
        </p:txBody>
      </p:sp>
      <p:sp>
        <p:nvSpPr>
          <p:cNvPr id="4" name="Marcador de pie de página 3">
            <a:extLst>
              <a:ext uri="{FF2B5EF4-FFF2-40B4-BE49-F238E27FC236}">
                <a16:creationId xmlns:a16="http://schemas.microsoft.com/office/drawing/2014/main" id="{7272631A-C47F-77F5-6F29-0E32D02F65F5}"/>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EBDCC397-A651-9FAA-1CB9-72E54EC2CDF2}"/>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1149129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288B946-D0DE-7222-2974-140E465AE22E}"/>
              </a:ext>
            </a:extLst>
          </p:cNvPr>
          <p:cNvSpPr>
            <a:spLocks noGrp="1"/>
          </p:cNvSpPr>
          <p:nvPr>
            <p:ph type="dt" sz="half" idx="10"/>
          </p:nvPr>
        </p:nvSpPr>
        <p:spPr/>
        <p:txBody>
          <a:bodyPr/>
          <a:lstStyle/>
          <a:p>
            <a:fld id="{BE55A57F-D9AD-8A45-99FA-27A12DCE6F0B}" type="datetimeFigureOut">
              <a:rPr lang="es-MX" smtClean="0"/>
              <a:t>03/10/2026</a:t>
            </a:fld>
            <a:endParaRPr lang="es-MX"/>
          </a:p>
        </p:txBody>
      </p:sp>
      <p:sp>
        <p:nvSpPr>
          <p:cNvPr id="3" name="Marcador de pie de página 2">
            <a:extLst>
              <a:ext uri="{FF2B5EF4-FFF2-40B4-BE49-F238E27FC236}">
                <a16:creationId xmlns:a16="http://schemas.microsoft.com/office/drawing/2014/main" id="{BAFB80F7-50BC-F3DD-ADEA-96D94FA9C9D9}"/>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4DD38E3D-5FFE-1BFF-23FE-0E1AFAD7709B}"/>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648965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FE16B8-9745-9697-DC34-4A1B0B30E6B3}"/>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D47D4019-20B9-3478-F316-C78CFB5DEF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E3B4CA10-096B-94B7-D4B0-67AB1D1474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DA287719-0BDE-D8F5-29C7-95A84691E1CE}"/>
              </a:ext>
            </a:extLst>
          </p:cNvPr>
          <p:cNvSpPr>
            <a:spLocks noGrp="1"/>
          </p:cNvSpPr>
          <p:nvPr>
            <p:ph type="dt" sz="half" idx="10"/>
          </p:nvPr>
        </p:nvSpPr>
        <p:spPr/>
        <p:txBody>
          <a:bodyPr/>
          <a:lstStyle/>
          <a:p>
            <a:fld id="{BE55A57F-D9AD-8A45-99FA-27A12DCE6F0B}" type="datetimeFigureOut">
              <a:rPr lang="es-MX" smtClean="0"/>
              <a:t>03/10/2026</a:t>
            </a:fld>
            <a:endParaRPr lang="es-MX"/>
          </a:p>
        </p:txBody>
      </p:sp>
      <p:sp>
        <p:nvSpPr>
          <p:cNvPr id="6" name="Marcador de pie de página 5">
            <a:extLst>
              <a:ext uri="{FF2B5EF4-FFF2-40B4-BE49-F238E27FC236}">
                <a16:creationId xmlns:a16="http://schemas.microsoft.com/office/drawing/2014/main" id="{3EFBC66D-5856-116B-0C91-548793C83AA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1C00D3C-EC41-4BD5-72BF-6FF4ABFAB1B9}"/>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197304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B21240-3A44-BF33-EE08-5167A46A2806}"/>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291A219E-8DB7-298E-D78C-6DB35D12BA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AD58EA7E-1043-0141-6C4F-EA31B98F9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20F901AD-F68A-A08E-8DDC-098A2D75C87F}"/>
              </a:ext>
            </a:extLst>
          </p:cNvPr>
          <p:cNvSpPr>
            <a:spLocks noGrp="1"/>
          </p:cNvSpPr>
          <p:nvPr>
            <p:ph type="dt" sz="half" idx="10"/>
          </p:nvPr>
        </p:nvSpPr>
        <p:spPr/>
        <p:txBody>
          <a:bodyPr/>
          <a:lstStyle/>
          <a:p>
            <a:fld id="{BE55A57F-D9AD-8A45-99FA-27A12DCE6F0B}" type="datetimeFigureOut">
              <a:rPr lang="es-MX" smtClean="0"/>
              <a:t>03/10/2026</a:t>
            </a:fld>
            <a:endParaRPr lang="es-MX"/>
          </a:p>
        </p:txBody>
      </p:sp>
      <p:sp>
        <p:nvSpPr>
          <p:cNvPr id="6" name="Marcador de pie de página 5">
            <a:extLst>
              <a:ext uri="{FF2B5EF4-FFF2-40B4-BE49-F238E27FC236}">
                <a16:creationId xmlns:a16="http://schemas.microsoft.com/office/drawing/2014/main" id="{6B606934-B544-C67E-1B87-B49D01A7AA7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D615C78-C961-35B0-1C3A-F156DB325A98}"/>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2191197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FB3792-D10F-5E2D-0233-BB6FCE6978B5}"/>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0C4FAA32-E80E-5CD3-3A6D-DC8C7430ABCB}"/>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692346C8-E92E-78BA-48A9-C9CAB3A3AB05}"/>
              </a:ext>
            </a:extLst>
          </p:cNvPr>
          <p:cNvSpPr>
            <a:spLocks noGrp="1"/>
          </p:cNvSpPr>
          <p:nvPr>
            <p:ph type="dt" sz="half" idx="10"/>
          </p:nvPr>
        </p:nvSpPr>
        <p:spPr/>
        <p:txBody>
          <a:bodyPr/>
          <a:lstStyle/>
          <a:p>
            <a:fld id="{BE55A57F-D9AD-8A45-99FA-27A12DCE6F0B}" type="datetimeFigureOut">
              <a:rPr lang="es-MX" smtClean="0"/>
              <a:t>03/10/2026</a:t>
            </a:fld>
            <a:endParaRPr lang="es-MX"/>
          </a:p>
        </p:txBody>
      </p:sp>
      <p:sp>
        <p:nvSpPr>
          <p:cNvPr id="5" name="Marcador de pie de página 4">
            <a:extLst>
              <a:ext uri="{FF2B5EF4-FFF2-40B4-BE49-F238E27FC236}">
                <a16:creationId xmlns:a16="http://schemas.microsoft.com/office/drawing/2014/main" id="{2AF61EB4-9519-C09C-1DDE-27B7E83725A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AD7DE98-B357-7145-F331-7ED5CDC42586}"/>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3217907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3947258-159E-11F7-22AA-9D9CFC3D94F3}"/>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8A0DDA63-E83A-F9DE-5CF7-67CBDEFB8B9F}"/>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E8019B2C-BBD7-368E-48BC-DE4E1895A03B}"/>
              </a:ext>
            </a:extLst>
          </p:cNvPr>
          <p:cNvSpPr>
            <a:spLocks noGrp="1"/>
          </p:cNvSpPr>
          <p:nvPr>
            <p:ph type="dt" sz="half" idx="10"/>
          </p:nvPr>
        </p:nvSpPr>
        <p:spPr/>
        <p:txBody>
          <a:bodyPr/>
          <a:lstStyle/>
          <a:p>
            <a:fld id="{BE55A57F-D9AD-8A45-99FA-27A12DCE6F0B}" type="datetimeFigureOut">
              <a:rPr lang="es-MX" smtClean="0"/>
              <a:t>03/10/2026</a:t>
            </a:fld>
            <a:endParaRPr lang="es-MX"/>
          </a:p>
        </p:txBody>
      </p:sp>
      <p:sp>
        <p:nvSpPr>
          <p:cNvPr id="5" name="Marcador de pie de página 4">
            <a:extLst>
              <a:ext uri="{FF2B5EF4-FFF2-40B4-BE49-F238E27FC236}">
                <a16:creationId xmlns:a16="http://schemas.microsoft.com/office/drawing/2014/main" id="{776E40DE-778A-198D-6B0C-FEC1F8685A0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8A89F50-4192-8DB9-7CDA-CF4685B9E083}"/>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1271088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0A6187-A44F-5EA2-F272-08996FFC05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A06F0401-C8DD-E378-9972-15B55D1CF6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62056BB0-071A-FD3E-7CF4-94E1D85146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55A57F-D9AD-8A45-99FA-27A12DCE6F0B}" type="datetimeFigureOut">
              <a:rPr lang="es-MX" smtClean="0"/>
              <a:t>03/10/2026</a:t>
            </a:fld>
            <a:endParaRPr lang="es-MX"/>
          </a:p>
        </p:txBody>
      </p:sp>
      <p:sp>
        <p:nvSpPr>
          <p:cNvPr id="5" name="Marcador de pie de página 4">
            <a:extLst>
              <a:ext uri="{FF2B5EF4-FFF2-40B4-BE49-F238E27FC236}">
                <a16:creationId xmlns:a16="http://schemas.microsoft.com/office/drawing/2014/main" id="{D060800A-530D-CFF9-38F4-B9F12B4EB3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5592F3AD-B7AC-3B40-496A-283399DC8C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9777BE-3417-5741-9C06-646E5B4D83DE}" type="slidenum">
              <a:rPr lang="es-MX" smtClean="0"/>
              <a:t>‹Nº›</a:t>
            </a:fld>
            <a:endParaRPr lang="es-MX"/>
          </a:p>
        </p:txBody>
      </p:sp>
    </p:spTree>
    <p:extLst>
      <p:ext uri="{BB962C8B-B14F-4D97-AF65-F5344CB8AC3E}">
        <p14:creationId xmlns:p14="http://schemas.microsoft.com/office/powerpoint/2010/main" val="1924364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jfif"/><Relationship Id="rId4" Type="http://schemas.openxmlformats.org/officeDocument/2006/relationships/hyperlink" Target="https://www.hindustantimes.com/india-news/indias-press-freedom-ranking-slips-11-places-to-161st-on-world-press-freedom-index-report-shows-101683139709413.html?utm_source=chatgpt.co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hyperlink" Target="https://www.theguardian.com/books/2021/jun/24/lost-memoir-paints-revered-philosopher-john-locke-as-vain-lazy-and-pompous?utm_source=chatgpt.com"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jfif"/></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jfif"/></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s://expansion.mx/tendencias/2026/02/05/por-que-se-celebra-5-de-febrero-mexico-constitucion" TargetMode="External"/><Relationship Id="rId4" Type="http://schemas.openxmlformats.org/officeDocument/2006/relationships/image" Target="../media/image16.jfif"/></Relationships>
</file>

<file path=ppt/slides/_rels/slide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diputados.gob.mx/LeyesBiblio/pdf/CPEUM.pdf"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hyperlink" Target="https://www.un.org/es/about-us/universal-declaration-of-human-rights"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DF373F4D-6C88-7DCC-6C6C-EC8A5B6AAC0B}"/>
              </a:ext>
            </a:extLst>
          </p:cNvPr>
          <p:cNvSpPr txBox="1">
            <a:spLocks noChangeArrowheads="1"/>
          </p:cNvSpPr>
          <p:nvPr/>
        </p:nvSpPr>
        <p:spPr bwMode="auto">
          <a:xfrm>
            <a:off x="445019" y="4263495"/>
            <a:ext cx="11464925" cy="13271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S" sz="4400" b="1" noProof="0" dirty="0">
                <a:solidFill>
                  <a:srgbClr val="245C4F"/>
                </a:solidFill>
                <a:latin typeface="Century Gothic" panose="020B0502020202020204" pitchFamily="34" charset="0"/>
              </a:rPr>
              <a:t>Antecedentes de los Derechos Humanos </a:t>
            </a:r>
            <a:endParaRPr lang="es-MX" sz="4400" b="1" noProof="0" dirty="0">
              <a:solidFill>
                <a:srgbClr val="245C4F"/>
              </a:solidFill>
              <a:latin typeface="Century Gothic" panose="020B0502020202020204" pitchFamily="34" charset="0"/>
            </a:endParaRPr>
          </a:p>
        </p:txBody>
      </p:sp>
    </p:spTree>
    <p:extLst>
      <p:ext uri="{BB962C8B-B14F-4D97-AF65-F5344CB8AC3E}">
        <p14:creationId xmlns:p14="http://schemas.microsoft.com/office/powerpoint/2010/main" val="855228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8950A1AD-82BD-7726-B6A8-FEBD2EF5A04D}"/>
              </a:ext>
            </a:extLst>
          </p:cNvPr>
          <p:cNvSpPr txBox="1">
            <a:spLocks noChangeArrowheads="1"/>
          </p:cNvSpPr>
          <p:nvPr/>
        </p:nvSpPr>
        <p:spPr bwMode="auto">
          <a:xfrm>
            <a:off x="146254" y="3892302"/>
            <a:ext cx="11464925" cy="13271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S" sz="4000" b="1" dirty="0">
                <a:solidFill>
                  <a:schemeClr val="bg1"/>
                </a:solidFill>
              </a:rPr>
              <a:t>Unidad 1. </a:t>
            </a:r>
            <a:r>
              <a:rPr lang="es-MX" sz="4000" b="1" dirty="0">
                <a:solidFill>
                  <a:schemeClr val="bg1"/>
                </a:solidFill>
              </a:rPr>
              <a:t>Reconoce las bases teóricas básicas relacionadas con los derechos humanos en México</a:t>
            </a:r>
            <a:endParaRPr lang="es-MX" sz="4000" b="1" noProof="0" dirty="0">
              <a:solidFill>
                <a:schemeClr val="bg1"/>
              </a:solidFill>
              <a:latin typeface="Montserrat SemiBold" pitchFamily="2" charset="77"/>
            </a:endParaRPr>
          </a:p>
        </p:txBody>
      </p:sp>
      <p:sp>
        <p:nvSpPr>
          <p:cNvPr id="5" name="Marcador de contenido 2">
            <a:extLst>
              <a:ext uri="{FF2B5EF4-FFF2-40B4-BE49-F238E27FC236}">
                <a16:creationId xmlns:a16="http://schemas.microsoft.com/office/drawing/2014/main" id="{DC8C9EFE-E493-644D-2B8E-E3DC0660311F}"/>
              </a:ext>
            </a:extLst>
          </p:cNvPr>
          <p:cNvSpPr txBox="1">
            <a:spLocks noChangeArrowheads="1"/>
          </p:cNvSpPr>
          <p:nvPr/>
        </p:nvSpPr>
        <p:spPr bwMode="auto">
          <a:xfrm>
            <a:off x="363537" y="5472949"/>
            <a:ext cx="11464925"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684213" indent="-227013">
              <a:defRPr>
                <a:solidFill>
                  <a:schemeClr val="tx1"/>
                </a:solidFill>
                <a:latin typeface="Calibri" panose="020F0502020204030204" pitchFamily="34" charset="0"/>
              </a:defRPr>
            </a:lvl2pPr>
            <a:lvl3pPr marL="1141413" indent="-227013">
              <a:defRPr>
                <a:solidFill>
                  <a:schemeClr val="tx1"/>
                </a:solidFill>
                <a:latin typeface="Calibri" panose="020F0502020204030204" pitchFamily="34" charset="0"/>
              </a:defRPr>
            </a:lvl3pPr>
            <a:lvl4pPr marL="1598613" indent="-227013">
              <a:defRPr>
                <a:solidFill>
                  <a:schemeClr val="tx1"/>
                </a:solidFill>
                <a:latin typeface="Calibri" panose="020F0502020204030204" pitchFamily="34" charset="0"/>
              </a:defRPr>
            </a:lvl4pPr>
            <a:lvl5pPr marL="2055813" indent="-227013">
              <a:defRPr>
                <a:solidFill>
                  <a:schemeClr val="tx1"/>
                </a:solidFill>
                <a:latin typeface="Calibri" panose="020F0502020204030204" pitchFamily="34" charset="0"/>
              </a:defRPr>
            </a:lvl5pPr>
            <a:lvl6pPr marL="2513013" indent="-227013" defTabSz="912813" fontAlgn="base">
              <a:spcBef>
                <a:spcPct val="0"/>
              </a:spcBef>
              <a:spcAft>
                <a:spcPct val="0"/>
              </a:spcAft>
              <a:defRPr>
                <a:solidFill>
                  <a:schemeClr val="tx1"/>
                </a:solidFill>
                <a:latin typeface="Calibri" panose="020F0502020204030204" pitchFamily="34" charset="0"/>
              </a:defRPr>
            </a:lvl6pPr>
            <a:lvl7pPr marL="2970213" indent="-227013" defTabSz="912813" fontAlgn="base">
              <a:spcBef>
                <a:spcPct val="0"/>
              </a:spcBef>
              <a:spcAft>
                <a:spcPct val="0"/>
              </a:spcAft>
              <a:defRPr>
                <a:solidFill>
                  <a:schemeClr val="tx1"/>
                </a:solidFill>
                <a:latin typeface="Calibri" panose="020F0502020204030204" pitchFamily="34" charset="0"/>
              </a:defRPr>
            </a:lvl7pPr>
            <a:lvl8pPr marL="3427413" indent="-227013" defTabSz="912813" fontAlgn="base">
              <a:spcBef>
                <a:spcPct val="0"/>
              </a:spcBef>
              <a:spcAft>
                <a:spcPct val="0"/>
              </a:spcAft>
              <a:defRPr>
                <a:solidFill>
                  <a:schemeClr val="tx1"/>
                </a:solidFill>
                <a:latin typeface="Calibri" panose="020F0502020204030204" pitchFamily="34" charset="0"/>
              </a:defRPr>
            </a:lvl8pPr>
            <a:lvl9pPr marL="3884613" indent="-227013" defTabSz="912813" fontAlgn="base">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Bef>
                <a:spcPts val="1000"/>
              </a:spcBef>
              <a:buFont typeface="Arial" panose="020B0604020202020204" pitchFamily="34" charset="0"/>
              <a:buNone/>
            </a:pPr>
            <a:r>
              <a:rPr lang="es-MX" sz="2400" noProof="0" dirty="0">
                <a:solidFill>
                  <a:srgbClr val="BC945A"/>
                </a:solidFill>
                <a:latin typeface="Montserrat SemiBold" pitchFamily="2" charset="77"/>
              </a:rPr>
              <a:t>Presenta: </a:t>
            </a:r>
          </a:p>
          <a:p>
            <a:pPr algn="ctr" eaLnBrk="1" hangingPunct="1">
              <a:lnSpc>
                <a:spcPct val="90000"/>
              </a:lnSpc>
              <a:spcBef>
                <a:spcPts val="1000"/>
              </a:spcBef>
              <a:buFont typeface="Arial" panose="020B0604020202020204" pitchFamily="34" charset="0"/>
              <a:buNone/>
            </a:pPr>
            <a:r>
              <a:rPr lang="es-MX" sz="2400" noProof="0" dirty="0">
                <a:solidFill>
                  <a:srgbClr val="BC945A"/>
                </a:solidFill>
                <a:latin typeface="Montserrat SemiBold" pitchFamily="2" charset="77"/>
              </a:rPr>
              <a:t>Mtro. Daniel Alexis Lozano Ortega</a:t>
            </a:r>
          </a:p>
        </p:txBody>
      </p:sp>
    </p:spTree>
    <p:extLst>
      <p:ext uri="{BB962C8B-B14F-4D97-AF65-F5344CB8AC3E}">
        <p14:creationId xmlns:p14="http://schemas.microsoft.com/office/powerpoint/2010/main" val="2525705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B72355-4ACF-0CA5-3B28-6075CBF91C0E}"/>
              </a:ext>
            </a:extLst>
          </p:cNvPr>
          <p:cNvSpPr>
            <a:spLocks noGrp="1"/>
          </p:cNvSpPr>
          <p:nvPr>
            <p:ph type="title"/>
          </p:nvPr>
        </p:nvSpPr>
        <p:spPr>
          <a:xfrm>
            <a:off x="716849" y="1729553"/>
            <a:ext cx="9827560" cy="2982701"/>
          </a:xfrm>
        </p:spPr>
        <p:txBody>
          <a:bodyPr>
            <a:normAutofit fontScale="90000"/>
          </a:bodyPr>
          <a:lstStyle/>
          <a:p>
            <a:pPr algn="just"/>
            <a:r>
              <a:rPr lang="es-MX" sz="1800" noProof="0" dirty="0"/>
              <a:t>Soy Licenciado en Derecho por la Universidad Veracruzana, donde obtuve el grado con mención honorífica y promedio general de 9.2. Posteriormente cursé la Maestría en Derechos Humanos y Justicia Constitucional en la misma institución, también con mención honorífica y promedio de 9.0. Además</a:t>
            </a:r>
            <a:r>
              <a:rPr lang="es-MX" sz="1800" dirty="0"/>
              <a:t> soy Doctorante en Derecho por el Instituto de Investigaciones Jurídicas de la Universidad Veracruzana.</a:t>
            </a:r>
            <a:r>
              <a:rPr lang="es-MX" sz="1800" noProof="0" dirty="0"/>
              <a:t>	</a:t>
            </a:r>
            <a:br>
              <a:rPr lang="es-MX" sz="1800" noProof="0" dirty="0"/>
            </a:br>
            <a:br>
              <a:rPr lang="es-MX" sz="1800" noProof="0" dirty="0"/>
            </a:br>
            <a:r>
              <a:rPr lang="es-MX" sz="1800" noProof="0" dirty="0"/>
              <a:t>Mis principales intereses académicos se centran en el derecho público, los derechos humanos, la gobernanza y las políticas públicas, así como en el papel del derecho en el fortalecimiento de las instituciones públicas.</a:t>
            </a:r>
            <a:br>
              <a:rPr lang="es-MX" sz="1800" noProof="0" dirty="0"/>
            </a:br>
            <a:br>
              <a:rPr lang="es-MX" sz="1800" noProof="0" dirty="0"/>
            </a:br>
            <a:r>
              <a:rPr lang="es-MX" sz="1800" noProof="0" dirty="0"/>
              <a:t>En el ámbito académico, me he desempeñado como docente en la Universidad Abierta y a Distancia de México (UnADM). Asimismo, he participado como coautor en diversas publicaciones especializadas en derechos humanos, particularmente en temas relacionados con derechos de la niñez, derecho de propiedad y violencia patrimonial en contextos rurales, destacando el capítulo </a:t>
            </a:r>
            <a:r>
              <a:rPr lang="es-MX" sz="1800" i="1" noProof="0" dirty="0"/>
              <a:t>“Convencionalidad de la autorización a la enajenación de bienes de niñas, niños y adolescentes. La autonomía progresiva y el interés superior de la niñez y la adolescencia”</a:t>
            </a:r>
            <a:r>
              <a:rPr lang="es-MX" sz="1800" noProof="0" dirty="0"/>
              <a:t> (2023).(UnADM).</a:t>
            </a:r>
            <a:br>
              <a:rPr lang="es-MX" sz="1800" noProof="0" dirty="0"/>
            </a:br>
            <a:r>
              <a:rPr lang="es-MX" sz="1800" noProof="0" dirty="0"/>
              <a:t>En el servicio público, destaqué como Procurador de Protección de Niñas, Niños y Adolescentes, participando en la protección y restitución de los derechos de la niñez y adolescencia.	</a:t>
            </a:r>
            <a:br>
              <a:rPr lang="es-MX" sz="1800" noProof="0" dirty="0"/>
            </a:br>
            <a:br>
              <a:rPr lang="es-MX" sz="1800" noProof="0" dirty="0"/>
            </a:br>
            <a:r>
              <a:rPr lang="es-MX" sz="1800" noProof="0" dirty="0"/>
              <a:t>Actualmente me desempeño como abogado postulante en materia de derecho familiar y docente universitario.</a:t>
            </a:r>
            <a:br>
              <a:rPr lang="es-MX" sz="1800" noProof="0" dirty="0"/>
            </a:br>
            <a:r>
              <a:rPr lang="es-MX" sz="1800" noProof="0" dirty="0">
                <a:latin typeface="Montserrat" pitchFamily="2" charset="77"/>
              </a:rPr>
              <a:t>.</a:t>
            </a:r>
          </a:p>
        </p:txBody>
      </p:sp>
      <p:pic>
        <p:nvPicPr>
          <p:cNvPr id="4" name="Marcador de contenido 3">
            <a:extLst>
              <a:ext uri="{FF2B5EF4-FFF2-40B4-BE49-F238E27FC236}">
                <a16:creationId xmlns:a16="http://schemas.microsoft.com/office/drawing/2014/main" id="{BEC3124D-F93C-A09C-23FB-D0DF35A47D93}"/>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backgroundRemoval t="9961" b="99023" l="7813" r="94727">
                        <a14:foregroundMark x1="11719" y1="48828" x2="7910" y2="47363"/>
                        <a14:foregroundMark x1="46582" y1="87500" x2="66895" y2="93652"/>
                        <a14:foregroundMark x1="66895" y1="93652" x2="70996" y2="78906"/>
                        <a14:foregroundMark x1="70996" y1="78906" x2="90723" y2="87500"/>
                        <a14:foregroundMark x1="90723" y1="87500" x2="89453" y2="59570"/>
                        <a14:foregroundMark x1="32031" y1="87500" x2="32031" y2="87500"/>
                        <a14:foregroundMark x1="32031" y1="87500" x2="29688" y2="91016"/>
                        <a14:foregroundMark x1="46973" y1="89063" x2="67090" y2="97363"/>
                        <a14:foregroundMark x1="67090" y1="97363" x2="96582" y2="91992"/>
                        <a14:foregroundMark x1="96582" y1="91992" x2="82324" y2="85352"/>
                        <a14:foregroundMark x1="82324" y1="85352" x2="94043" y2="71973"/>
                        <a14:foregroundMark x1="94043" y1="71973" x2="94824" y2="64941"/>
                        <a14:foregroundMark x1="45801" y1="91406" x2="57813" y2="98926"/>
                        <a14:foregroundMark x1="57813" y1="98926" x2="97461" y2="91016"/>
                        <a14:foregroundMark x1="97461" y1="91016" x2="53809" y2="99512"/>
                        <a14:foregroundMark x1="53809" y1="99512" x2="78125" y2="95703"/>
                        <a14:foregroundMark x1="78125" y1="95703" x2="77539" y2="99023"/>
                      </a14:backgroundRemoval>
                    </a14:imgEffect>
                  </a14:imgLayer>
                </a14:imgProps>
              </a:ext>
            </a:extLst>
          </a:blip>
          <a:srcRect r="8169" b="7093"/>
          <a:stretch>
            <a:fillRect/>
          </a:stretch>
        </p:blipFill>
        <p:spPr>
          <a:xfrm>
            <a:off x="8597015" y="3220904"/>
            <a:ext cx="3594985" cy="3637096"/>
          </a:xfrm>
        </p:spPr>
      </p:pic>
      <p:sp>
        <p:nvSpPr>
          <p:cNvPr id="14" name="Título 1">
            <a:extLst>
              <a:ext uri="{FF2B5EF4-FFF2-40B4-BE49-F238E27FC236}">
                <a16:creationId xmlns:a16="http://schemas.microsoft.com/office/drawing/2014/main" id="{333BE15F-6A12-784B-4E92-0085F9F78DEF}"/>
              </a:ext>
            </a:extLst>
          </p:cNvPr>
          <p:cNvSpPr txBox="1">
            <a:spLocks/>
          </p:cNvSpPr>
          <p:nvPr/>
        </p:nvSpPr>
        <p:spPr>
          <a:xfrm>
            <a:off x="716849" y="2113613"/>
            <a:ext cx="9827560" cy="84900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endParaRPr lang="es-MX" sz="1800" noProof="0" dirty="0">
              <a:latin typeface="Montserrat" pitchFamily="2" charset="77"/>
            </a:endParaRPr>
          </a:p>
        </p:txBody>
      </p:sp>
      <p:sp>
        <p:nvSpPr>
          <p:cNvPr id="6" name="Título 1">
            <a:extLst>
              <a:ext uri="{FF2B5EF4-FFF2-40B4-BE49-F238E27FC236}">
                <a16:creationId xmlns:a16="http://schemas.microsoft.com/office/drawing/2014/main" id="{153EBE81-9939-BFA5-CACF-E263C2CBBC65}"/>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Tree>
    <p:extLst>
      <p:ext uri="{BB962C8B-B14F-4D97-AF65-F5344CB8AC3E}">
        <p14:creationId xmlns:p14="http://schemas.microsoft.com/office/powerpoint/2010/main" val="4124931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B72355-4ACF-0CA5-3B28-6075CBF91C0E}"/>
              </a:ext>
            </a:extLst>
          </p:cNvPr>
          <p:cNvSpPr>
            <a:spLocks noGrp="1"/>
          </p:cNvSpPr>
          <p:nvPr>
            <p:ph type="title"/>
          </p:nvPr>
        </p:nvSpPr>
        <p:spPr>
          <a:xfrm>
            <a:off x="680545" y="1237484"/>
            <a:ext cx="10930688" cy="974376"/>
          </a:xfrm>
        </p:spPr>
        <p:txBody>
          <a:bodyPr>
            <a:normAutofit/>
          </a:bodyPr>
          <a:lstStyle/>
          <a:p>
            <a:r>
              <a:rPr lang="es-MX" sz="3600" b="1" noProof="0" dirty="0">
                <a:solidFill>
                  <a:srgbClr val="BC9459"/>
                </a:solidFill>
                <a:latin typeface="Montserrat" pitchFamily="2" charset="77"/>
              </a:rPr>
              <a:t>Introducción a la asignatura </a:t>
            </a:r>
          </a:p>
        </p:txBody>
      </p:sp>
      <p:sp>
        <p:nvSpPr>
          <p:cNvPr id="9" name="Marcador de contenido 8">
            <a:extLst>
              <a:ext uri="{FF2B5EF4-FFF2-40B4-BE49-F238E27FC236}">
                <a16:creationId xmlns:a16="http://schemas.microsoft.com/office/drawing/2014/main" id="{3D9E04A6-26A1-E95A-E8B6-2A9813D2F8C5}"/>
              </a:ext>
            </a:extLst>
          </p:cNvPr>
          <p:cNvSpPr>
            <a:spLocks noGrp="1"/>
          </p:cNvSpPr>
          <p:nvPr>
            <p:ph idx="1"/>
          </p:nvPr>
        </p:nvSpPr>
        <p:spPr>
          <a:xfrm>
            <a:off x="630656" y="2211860"/>
            <a:ext cx="10930688" cy="3915677"/>
          </a:xfrm>
        </p:spPr>
        <p:txBody>
          <a:bodyPr>
            <a:normAutofit lnSpcReduction="10000"/>
          </a:bodyPr>
          <a:lstStyle/>
          <a:p>
            <a:pPr algn="just">
              <a:lnSpc>
                <a:spcPct val="100000"/>
              </a:lnSpc>
            </a:pPr>
            <a:r>
              <a:rPr lang="es-MX" sz="2000" dirty="0">
                <a:latin typeface="Montserrat" panose="00000500000000000000" pitchFamily="2" charset="0"/>
              </a:rPr>
              <a:t>El estudio de los antecedentes de los derechos humanos permite comprender que su reconocimiento es el resultado de un largo proceso histórico, político, filosófico y jurídico. A lo largo de la historia, distintas civilizaciones, movimientos sociales y corrientes de pensamiento sentaron las bases para la construcción de los derechos y libertades que hoy protegen la dignidad de todas las personas.</a:t>
            </a:r>
          </a:p>
          <a:p>
            <a:pPr algn="just">
              <a:lnSpc>
                <a:spcPct val="100000"/>
              </a:lnSpc>
            </a:pPr>
            <a:r>
              <a:rPr lang="es-MX" sz="2000" dirty="0">
                <a:latin typeface="Montserrat" panose="00000500000000000000" pitchFamily="2" charset="0"/>
              </a:rPr>
              <a:t>Conocer estos antecedentes resulta fundamental para identificar cómo evolucionaron las ideas de justicia, igualdad y libertad, así como los principales documentos e instituciones que contribuyeron a la consolidación de los derechos humanos en el ámbito nacional e internacional. Este análisis proporciona al estudiantado una perspectiva crítica sobre la importancia de los derechos humanos como fundamento del Estado constitucional de derecho y como instrumentos esenciales para la protección de la persona frente al ejercicio del poder.</a:t>
            </a:r>
          </a:p>
        </p:txBody>
      </p:sp>
      <p:sp>
        <p:nvSpPr>
          <p:cNvPr id="4" name="Título 1">
            <a:extLst>
              <a:ext uri="{FF2B5EF4-FFF2-40B4-BE49-F238E27FC236}">
                <a16:creationId xmlns:a16="http://schemas.microsoft.com/office/drawing/2014/main" id="{670442DD-6C0E-3F5F-1DE2-1F9A71EE9FE7}"/>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Tree>
    <p:extLst>
      <p:ext uri="{BB962C8B-B14F-4D97-AF65-F5344CB8AC3E}">
        <p14:creationId xmlns:p14="http://schemas.microsoft.com/office/powerpoint/2010/main" val="4227739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98ACFCCB-71AD-CA4F-335E-9336AA7EF730}"/>
              </a:ext>
            </a:extLst>
          </p:cNvPr>
          <p:cNvSpPr>
            <a:spLocks noGrp="1"/>
          </p:cNvSpPr>
          <p:nvPr>
            <p:ph type="title"/>
          </p:nvPr>
        </p:nvSpPr>
        <p:spPr>
          <a:xfrm>
            <a:off x="580767" y="1043523"/>
            <a:ext cx="10930688" cy="974376"/>
          </a:xfrm>
        </p:spPr>
        <p:txBody>
          <a:bodyPr>
            <a:normAutofit fontScale="90000"/>
          </a:bodyPr>
          <a:lstStyle/>
          <a:p>
            <a:r>
              <a:rPr lang="es-ES" sz="3600" b="1" noProof="0" dirty="0">
                <a:solidFill>
                  <a:srgbClr val="245C4F"/>
                </a:solidFill>
                <a:latin typeface="Montserrat" pitchFamily="2" charset="77"/>
              </a:rPr>
              <a:t>1.</a:t>
            </a:r>
            <a:r>
              <a:rPr lang="es-ES" sz="3600" b="1" dirty="0">
                <a:solidFill>
                  <a:srgbClr val="245C4F"/>
                </a:solidFill>
                <a:latin typeface="Century Gothic" panose="020B0502020202020204" pitchFamily="34" charset="0"/>
              </a:rPr>
              <a:t>¿De dónde vienen los derechos humanos?</a:t>
            </a:r>
            <a:r>
              <a:rPr lang="es-MX" sz="3600" b="1" dirty="0">
                <a:solidFill>
                  <a:srgbClr val="245C4F"/>
                </a:solidFill>
                <a:latin typeface="Century Gothic" panose="020B0502020202020204" pitchFamily="34" charset="0"/>
              </a:rPr>
              <a:t> </a:t>
            </a:r>
            <a:br>
              <a:rPr lang="es-MX" sz="3600" b="1" dirty="0">
                <a:latin typeface="Century Gothic" panose="020B0502020202020204" pitchFamily="34" charset="0"/>
              </a:rPr>
            </a:br>
            <a:r>
              <a:rPr lang="es-ES" sz="3600" b="1" noProof="0" dirty="0">
                <a:solidFill>
                  <a:srgbClr val="245C4F"/>
                </a:solidFill>
                <a:latin typeface="Montserrat" pitchFamily="2" charset="77"/>
              </a:rPr>
              <a:t> </a:t>
            </a:r>
            <a:endParaRPr lang="es-MX" sz="3600" b="1" noProof="0" dirty="0">
              <a:solidFill>
                <a:srgbClr val="245C4F"/>
              </a:solidFill>
              <a:latin typeface="Montserrat" pitchFamily="2" charset="77"/>
            </a:endParaRPr>
          </a:p>
        </p:txBody>
      </p:sp>
      <p:sp>
        <p:nvSpPr>
          <p:cNvPr id="5" name="Título 1">
            <a:extLst>
              <a:ext uri="{FF2B5EF4-FFF2-40B4-BE49-F238E27FC236}">
                <a16:creationId xmlns:a16="http://schemas.microsoft.com/office/drawing/2014/main" id="{5695B53D-DD4F-A1AA-9EFB-E896B07BBE44}"/>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18" name="CuadroTexto 17">
            <a:extLst>
              <a:ext uri="{FF2B5EF4-FFF2-40B4-BE49-F238E27FC236}">
                <a16:creationId xmlns:a16="http://schemas.microsoft.com/office/drawing/2014/main" id="{11E271D0-F79A-90FA-6FEA-A5E1C5DCDFC8}"/>
              </a:ext>
            </a:extLst>
          </p:cNvPr>
          <p:cNvSpPr txBox="1"/>
          <p:nvPr/>
        </p:nvSpPr>
        <p:spPr>
          <a:xfrm>
            <a:off x="728886" y="1806739"/>
            <a:ext cx="6143907" cy="4247317"/>
          </a:xfrm>
          <a:prstGeom prst="rect">
            <a:avLst/>
          </a:prstGeom>
          <a:noFill/>
        </p:spPr>
        <p:txBody>
          <a:bodyPr wrap="square">
            <a:spAutoFit/>
          </a:bodyPr>
          <a:lstStyle/>
          <a:p>
            <a:pPr algn="just"/>
            <a:r>
              <a:rPr lang="es-MX" dirty="0">
                <a:latin typeface="Century Gothic" panose="020B0502020202020204" pitchFamily="34" charset="0"/>
              </a:rPr>
              <a:t>Los derechos humanos plantean una cuestión fundamental:</a:t>
            </a:r>
          </a:p>
          <a:p>
            <a:pPr algn="just"/>
            <a:endParaRPr lang="es-MX" dirty="0">
              <a:latin typeface="Century Gothic" panose="020B0502020202020204" pitchFamily="34" charset="0"/>
            </a:endParaRPr>
          </a:p>
          <a:p>
            <a:pPr algn="ctr"/>
            <a:r>
              <a:rPr lang="es-MX" b="1" u="sng" dirty="0">
                <a:solidFill>
                  <a:srgbClr val="245C4F"/>
                </a:solidFill>
                <a:latin typeface="Century Gothic" panose="020B0502020202020204" pitchFamily="34" charset="0"/>
              </a:rPr>
              <a:t>¿Por qué todas las personas tienen derechos?</a:t>
            </a:r>
          </a:p>
          <a:p>
            <a:pPr algn="ctr"/>
            <a:endParaRPr lang="es-MX" u="sng" dirty="0">
              <a:solidFill>
                <a:srgbClr val="245C4F"/>
              </a:solidFill>
              <a:latin typeface="Century Gothic" panose="020B0502020202020204" pitchFamily="34" charset="0"/>
            </a:endParaRPr>
          </a:p>
          <a:p>
            <a:pPr algn="just"/>
            <a:r>
              <a:rPr lang="es-MX" dirty="0">
                <a:latin typeface="Century Gothic" panose="020B0502020202020204" pitchFamily="34" charset="0"/>
              </a:rPr>
              <a:t>A lo largo de la historia se han desarrollado diferentes respuestas:</a:t>
            </a:r>
          </a:p>
          <a:p>
            <a:pPr lvl="0" algn="just"/>
            <a:r>
              <a:rPr lang="es-MX" b="1" dirty="0">
                <a:solidFill>
                  <a:srgbClr val="245C4F"/>
                </a:solidFill>
                <a:latin typeface="Century Gothic" panose="020B0502020202020204" pitchFamily="34" charset="0"/>
              </a:rPr>
              <a:t>Iusnaturalismo:</a:t>
            </a:r>
            <a:r>
              <a:rPr lang="es-MX" dirty="0">
                <a:solidFill>
                  <a:srgbClr val="245C4F"/>
                </a:solidFill>
                <a:latin typeface="Century Gothic" panose="020B0502020202020204" pitchFamily="34" charset="0"/>
              </a:rPr>
              <a:t> </a:t>
            </a:r>
            <a:r>
              <a:rPr lang="es-MX" dirty="0">
                <a:latin typeface="Century Gothic" panose="020B0502020202020204" pitchFamily="34" charset="0"/>
              </a:rPr>
              <a:t>los derechos derivan de la naturaleza y dignidad de la persona y son anteriores al Estado.</a:t>
            </a:r>
          </a:p>
          <a:p>
            <a:pPr lvl="0" algn="just"/>
            <a:r>
              <a:rPr lang="es-MX" b="1" dirty="0">
                <a:solidFill>
                  <a:srgbClr val="BC9459"/>
                </a:solidFill>
                <a:latin typeface="Century Gothic" panose="020B0502020202020204" pitchFamily="34" charset="0"/>
              </a:rPr>
              <a:t>Positivismo jurídico:</a:t>
            </a:r>
            <a:r>
              <a:rPr lang="es-MX" dirty="0">
                <a:solidFill>
                  <a:srgbClr val="BC9459"/>
                </a:solidFill>
                <a:latin typeface="Century Gothic" panose="020B0502020202020204" pitchFamily="34" charset="0"/>
              </a:rPr>
              <a:t> </a:t>
            </a:r>
            <a:r>
              <a:rPr lang="es-MX" dirty="0">
                <a:latin typeface="Century Gothic" panose="020B0502020202020204" pitchFamily="34" charset="0"/>
              </a:rPr>
              <a:t>los derechos adquieren reconocimiento y protección dentro de un ordenamiento jurídico.</a:t>
            </a:r>
          </a:p>
          <a:p>
            <a:pPr lvl="0" algn="just"/>
            <a:r>
              <a:rPr lang="es-MX" b="1" dirty="0">
                <a:solidFill>
                  <a:srgbClr val="245C4F"/>
                </a:solidFill>
                <a:latin typeface="Century Gothic" panose="020B0502020202020204" pitchFamily="34" charset="0"/>
              </a:rPr>
              <a:t>Teorías contemporáneas:</a:t>
            </a:r>
            <a:r>
              <a:rPr lang="es-MX" dirty="0">
                <a:solidFill>
                  <a:srgbClr val="245C4F"/>
                </a:solidFill>
                <a:latin typeface="Century Gothic" panose="020B0502020202020204" pitchFamily="34" charset="0"/>
              </a:rPr>
              <a:t> </a:t>
            </a:r>
            <a:r>
              <a:rPr lang="es-MX" dirty="0">
                <a:latin typeface="Century Gothic" panose="020B0502020202020204" pitchFamily="34" charset="0"/>
              </a:rPr>
              <a:t>explican los derechos desde la dignidad humana, los principios jurídicos y las garantías frente al poder.</a:t>
            </a:r>
          </a:p>
        </p:txBody>
      </p:sp>
      <p:pic>
        <p:nvPicPr>
          <p:cNvPr id="6" name="Imagen 5">
            <a:extLst>
              <a:ext uri="{FF2B5EF4-FFF2-40B4-BE49-F238E27FC236}">
                <a16:creationId xmlns:a16="http://schemas.microsoft.com/office/drawing/2014/main" id="{52D26105-E4DA-927E-BD91-8B3F518AE67E}"/>
              </a:ext>
            </a:extLst>
          </p:cNvPr>
          <p:cNvPicPr>
            <a:picLocks noChangeAspect="1"/>
          </p:cNvPicPr>
          <p:nvPr/>
        </p:nvPicPr>
        <p:blipFill>
          <a:blip r:embed="rId4"/>
          <a:stretch>
            <a:fillRect/>
          </a:stretch>
        </p:blipFill>
        <p:spPr>
          <a:xfrm>
            <a:off x="7300830" y="1530711"/>
            <a:ext cx="4405224" cy="4449778"/>
          </a:xfrm>
          <a:prstGeom prst="rect">
            <a:avLst/>
          </a:prstGeom>
        </p:spPr>
      </p:pic>
    </p:spTree>
    <p:extLst>
      <p:ext uri="{BB962C8B-B14F-4D97-AF65-F5344CB8AC3E}">
        <p14:creationId xmlns:p14="http://schemas.microsoft.com/office/powerpoint/2010/main" val="323349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BBEAD45-FAFB-ADD9-BDCA-74BCB79C71FD}"/>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888ECF63-5D01-6CBA-0281-11FC31F33E69}"/>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6" name="CuadroTexto 5">
            <a:extLst>
              <a:ext uri="{FF2B5EF4-FFF2-40B4-BE49-F238E27FC236}">
                <a16:creationId xmlns:a16="http://schemas.microsoft.com/office/drawing/2014/main" id="{E4170751-1BB7-64F7-1F11-FB4250166CDC}"/>
              </a:ext>
            </a:extLst>
          </p:cNvPr>
          <p:cNvSpPr txBox="1"/>
          <p:nvPr/>
        </p:nvSpPr>
        <p:spPr>
          <a:xfrm>
            <a:off x="473691" y="2260033"/>
            <a:ext cx="6004601" cy="3108543"/>
          </a:xfrm>
          <a:prstGeom prst="rect">
            <a:avLst/>
          </a:prstGeom>
          <a:noFill/>
        </p:spPr>
        <p:txBody>
          <a:bodyPr wrap="square">
            <a:spAutoFit/>
          </a:bodyPr>
          <a:lstStyle/>
          <a:p>
            <a:pPr algn="just"/>
            <a:r>
              <a:rPr lang="es-MX" sz="1400" dirty="0">
                <a:latin typeface="Century Gothic" panose="020B0502020202020204" pitchFamily="34" charset="0"/>
              </a:rPr>
              <a:t>Los derechos humanos son derechos inherentes a todas las personas.</a:t>
            </a:r>
          </a:p>
          <a:p>
            <a:pPr algn="just"/>
            <a:r>
              <a:rPr lang="es-MX" sz="1400" dirty="0">
                <a:latin typeface="Century Gothic" panose="020B0502020202020204" pitchFamily="34" charset="0"/>
              </a:rPr>
              <a:t>Se relacionan con:</a:t>
            </a:r>
          </a:p>
          <a:p>
            <a:pPr algn="just"/>
            <a:r>
              <a:rPr lang="es-MX" sz="1400" b="1" dirty="0">
                <a:latin typeface="Century Gothic" panose="020B0502020202020204" pitchFamily="34" charset="0"/>
              </a:rPr>
              <a:t>Dignidad + libertad + igualdad + seguridad + desarrollo</a:t>
            </a:r>
            <a:endParaRPr lang="es-MX" sz="1400" dirty="0">
              <a:latin typeface="Century Gothic" panose="020B0502020202020204" pitchFamily="34" charset="0"/>
            </a:endParaRPr>
          </a:p>
          <a:p>
            <a:pPr algn="just"/>
            <a:r>
              <a:rPr lang="es-MX" sz="1400" dirty="0">
                <a:latin typeface="Century Gothic" panose="020B0502020202020204" pitchFamily="34" charset="0"/>
              </a:rPr>
              <a:t>Su finalidad es proteger a la persona frente a abusos y permitir el ejercicio efectivo de sus libertades y derechos.</a:t>
            </a:r>
          </a:p>
          <a:p>
            <a:pPr algn="just"/>
            <a:r>
              <a:rPr lang="es-MX" sz="1400" b="1" dirty="0">
                <a:latin typeface="Century Gothic" panose="020B0502020202020204" pitchFamily="34" charset="0"/>
              </a:rPr>
              <a:t>Nota para el facilitador</a:t>
            </a:r>
          </a:p>
          <a:p>
            <a:pPr algn="just"/>
            <a:r>
              <a:rPr lang="es-MX" sz="1400" dirty="0">
                <a:latin typeface="Century Gothic" panose="020B0502020202020204" pitchFamily="34" charset="0"/>
              </a:rPr>
              <a:t>Aquí conviene explicar que los derechos humanos tienen una dimensión </a:t>
            </a:r>
            <a:r>
              <a:rPr lang="es-MX" sz="1400" b="1" dirty="0">
                <a:latin typeface="Century Gothic" panose="020B0502020202020204" pitchFamily="34" charset="0"/>
              </a:rPr>
              <a:t>ética, política y jurídica</a:t>
            </a:r>
            <a:r>
              <a:rPr lang="es-MX" sz="1400" dirty="0">
                <a:latin typeface="Century Gothic" panose="020B0502020202020204" pitchFamily="34" charset="0"/>
              </a:rPr>
              <a:t>, pero en esta unidad nos interesa principalmente comprender sus fundamentos teóricos y jurídicos.</a:t>
            </a:r>
          </a:p>
          <a:p>
            <a:pPr algn="just"/>
            <a:r>
              <a:rPr lang="es-MX" sz="1400" b="1" dirty="0">
                <a:latin typeface="Century Gothic" panose="020B0502020202020204" pitchFamily="34" charset="0"/>
              </a:rPr>
              <a:t>Ejemplo</a:t>
            </a:r>
          </a:p>
          <a:p>
            <a:pPr algn="just"/>
            <a:r>
              <a:rPr lang="es-MX" sz="1400" dirty="0">
                <a:latin typeface="Century Gothic" panose="020B0502020202020204" pitchFamily="34" charset="0"/>
              </a:rPr>
              <a:t>El derecho a la libertad de expresión protege la </a:t>
            </a:r>
            <a:r>
              <a:rPr lang="es-MX" sz="1400" dirty="0"/>
              <a:t>posibilidad de expresar ideas y opiniones sin sufrir restricciones arbitrarias.</a:t>
            </a:r>
          </a:p>
        </p:txBody>
      </p:sp>
      <p:sp>
        <p:nvSpPr>
          <p:cNvPr id="14" name="Título 1">
            <a:extLst>
              <a:ext uri="{FF2B5EF4-FFF2-40B4-BE49-F238E27FC236}">
                <a16:creationId xmlns:a16="http://schemas.microsoft.com/office/drawing/2014/main" id="{0E1888EC-D0EE-DDC8-0F9E-7C022FD9938F}"/>
              </a:ext>
            </a:extLst>
          </p:cNvPr>
          <p:cNvSpPr>
            <a:spLocks noGrp="1"/>
          </p:cNvSpPr>
          <p:nvPr>
            <p:ph type="title"/>
          </p:nvPr>
        </p:nvSpPr>
        <p:spPr>
          <a:xfrm>
            <a:off x="473691" y="1125421"/>
            <a:ext cx="10930688" cy="974376"/>
          </a:xfrm>
        </p:spPr>
        <p:txBody>
          <a:bodyPr>
            <a:normAutofit fontScale="90000"/>
          </a:bodyPr>
          <a:lstStyle/>
          <a:p>
            <a:r>
              <a:rPr lang="es-ES" sz="3600" b="1" dirty="0">
                <a:solidFill>
                  <a:srgbClr val="245C4F"/>
                </a:solidFill>
                <a:latin typeface="Montserrat" pitchFamily="2" charset="77"/>
              </a:rPr>
              <a:t>2. </a:t>
            </a:r>
            <a:r>
              <a:rPr lang="es-ES" sz="3600" b="1" dirty="0">
                <a:solidFill>
                  <a:srgbClr val="245C4F"/>
                </a:solidFill>
                <a:latin typeface="Century Gothic" panose="020B0502020202020204" pitchFamily="34" charset="0"/>
              </a:rPr>
              <a:t>¿Qué son los derechos humanos?</a:t>
            </a:r>
            <a:br>
              <a:rPr lang="es-MX" sz="3600" b="1" dirty="0">
                <a:latin typeface="Century Gothic" panose="020B0502020202020204" pitchFamily="34" charset="0"/>
              </a:rPr>
            </a:br>
            <a:r>
              <a:rPr lang="es-ES" sz="3600" b="1" noProof="0" dirty="0">
                <a:solidFill>
                  <a:srgbClr val="245C4F"/>
                </a:solidFill>
                <a:latin typeface="Montserrat" pitchFamily="2" charset="77"/>
              </a:rPr>
              <a:t> </a:t>
            </a:r>
            <a:endParaRPr lang="es-MX" sz="3600" b="1" noProof="0" dirty="0">
              <a:solidFill>
                <a:srgbClr val="245C4F"/>
              </a:solidFill>
              <a:latin typeface="Montserrat" pitchFamily="2" charset="77"/>
            </a:endParaRPr>
          </a:p>
        </p:txBody>
      </p:sp>
      <p:sp>
        <p:nvSpPr>
          <p:cNvPr id="3" name="CuadroTexto 2">
            <a:extLst>
              <a:ext uri="{FF2B5EF4-FFF2-40B4-BE49-F238E27FC236}">
                <a16:creationId xmlns:a16="http://schemas.microsoft.com/office/drawing/2014/main" id="{378B3B62-D168-5A5D-CFED-2537108AEF29}"/>
              </a:ext>
            </a:extLst>
          </p:cNvPr>
          <p:cNvSpPr txBox="1"/>
          <p:nvPr/>
        </p:nvSpPr>
        <p:spPr>
          <a:xfrm>
            <a:off x="6754287" y="5097925"/>
            <a:ext cx="5373346" cy="938719"/>
          </a:xfrm>
          <a:prstGeom prst="rect">
            <a:avLst/>
          </a:prstGeom>
          <a:noFill/>
        </p:spPr>
        <p:txBody>
          <a:bodyPr wrap="square">
            <a:spAutoFit/>
          </a:bodyPr>
          <a:lstStyle/>
          <a:p>
            <a:pPr algn="just"/>
            <a:r>
              <a:rPr lang="es-MX" sz="1100" dirty="0">
                <a:latin typeface="Century Gothic" panose="020B0502020202020204" pitchFamily="34" charset="0"/>
              </a:rPr>
              <a:t>Bhardwaj, D. (2023, 4 de mayo). </a:t>
            </a:r>
            <a:r>
              <a:rPr lang="es-MX" sz="1100" i="1" dirty="0">
                <a:latin typeface="Century Gothic" panose="020B0502020202020204" pitchFamily="34" charset="0"/>
              </a:rPr>
              <a:t>India slips in World Press Freedom Index, </a:t>
            </a:r>
            <a:r>
              <a:rPr lang="es-MX" sz="1100" i="1" dirty="0" err="1">
                <a:latin typeface="Century Gothic" panose="020B0502020202020204" pitchFamily="34" charset="0"/>
              </a:rPr>
              <a:t>ranks</a:t>
            </a:r>
            <a:r>
              <a:rPr lang="es-MX" sz="1100" i="1" dirty="0">
                <a:latin typeface="Century Gothic" panose="020B0502020202020204" pitchFamily="34" charset="0"/>
              </a:rPr>
              <a:t> 161 </a:t>
            </a:r>
            <a:r>
              <a:rPr lang="es-MX" sz="1100" i="1" dirty="0" err="1">
                <a:latin typeface="Century Gothic" panose="020B0502020202020204" pitchFamily="34" charset="0"/>
              </a:rPr>
              <a:t>out</a:t>
            </a:r>
            <a:r>
              <a:rPr lang="es-MX" sz="1100" i="1" dirty="0">
                <a:latin typeface="Century Gothic" panose="020B0502020202020204" pitchFamily="34" charset="0"/>
              </a:rPr>
              <a:t> </a:t>
            </a:r>
            <a:r>
              <a:rPr lang="es-MX" sz="1100" i="1" dirty="0" err="1">
                <a:latin typeface="Century Gothic" panose="020B0502020202020204" pitchFamily="34" charset="0"/>
              </a:rPr>
              <a:t>of</a:t>
            </a:r>
            <a:r>
              <a:rPr lang="es-MX" sz="1100" i="1" dirty="0">
                <a:latin typeface="Century Gothic" panose="020B0502020202020204" pitchFamily="34" charset="0"/>
              </a:rPr>
              <a:t> 180 </a:t>
            </a:r>
            <a:r>
              <a:rPr lang="es-MX" sz="1100" i="1" dirty="0" err="1">
                <a:latin typeface="Century Gothic" panose="020B0502020202020204" pitchFamily="34" charset="0"/>
              </a:rPr>
              <a:t>countries</a:t>
            </a:r>
            <a:r>
              <a:rPr lang="es-MX" sz="1100" dirty="0">
                <a:latin typeface="Century Gothic" panose="020B0502020202020204" pitchFamily="34" charset="0"/>
              </a:rPr>
              <a:t>. </a:t>
            </a:r>
            <a:r>
              <a:rPr lang="es-MX" sz="1100" b="1" dirty="0" err="1">
                <a:latin typeface="Century Gothic" panose="020B0502020202020204" pitchFamily="34" charset="0"/>
              </a:rPr>
              <a:t>Hindustan</a:t>
            </a:r>
            <a:r>
              <a:rPr lang="es-MX" sz="1100" b="1" dirty="0">
                <a:latin typeface="Century Gothic" panose="020B0502020202020204" pitchFamily="34" charset="0"/>
              </a:rPr>
              <a:t> Times</a:t>
            </a:r>
            <a:r>
              <a:rPr lang="es-MX" sz="1100" dirty="0">
                <a:latin typeface="Century Gothic" panose="020B0502020202020204" pitchFamily="34" charset="0"/>
              </a:rPr>
              <a:t>. </a:t>
            </a:r>
            <a:r>
              <a:rPr lang="es-MX" sz="1100" dirty="0">
                <a:latin typeface="Century Gothic" panose="020B0502020202020204" pitchFamily="34" charset="0"/>
                <a:hlinkClick r:id="rId4"/>
              </a:rPr>
              <a:t>https://www.hindustantimes.com/india-news/indias-press-freedom-ranking-slips-11-places-to-161st-on-world-press-freedom-index-report-shows-101683139709413.html</a:t>
            </a:r>
            <a:endParaRPr lang="es-MX" sz="1100" dirty="0">
              <a:latin typeface="Century Gothic" panose="020B0502020202020204" pitchFamily="34" charset="0"/>
            </a:endParaRPr>
          </a:p>
        </p:txBody>
      </p:sp>
      <p:pic>
        <p:nvPicPr>
          <p:cNvPr id="7" name="Imagen 6">
            <a:extLst>
              <a:ext uri="{FF2B5EF4-FFF2-40B4-BE49-F238E27FC236}">
                <a16:creationId xmlns:a16="http://schemas.microsoft.com/office/drawing/2014/main" id="{6E35052F-A7A7-691E-D416-A678ADB38C19}"/>
              </a:ext>
            </a:extLst>
          </p:cNvPr>
          <p:cNvPicPr>
            <a:picLocks noChangeAspect="1"/>
          </p:cNvPicPr>
          <p:nvPr/>
        </p:nvPicPr>
        <p:blipFill>
          <a:blip r:embed="rId5"/>
          <a:stretch>
            <a:fillRect/>
          </a:stretch>
        </p:blipFill>
        <p:spPr>
          <a:xfrm>
            <a:off x="6855285" y="2022753"/>
            <a:ext cx="4863024" cy="2735451"/>
          </a:xfrm>
          <a:prstGeom prst="rect">
            <a:avLst/>
          </a:prstGeom>
        </p:spPr>
      </p:pic>
    </p:spTree>
    <p:extLst>
      <p:ext uri="{BB962C8B-B14F-4D97-AF65-F5344CB8AC3E}">
        <p14:creationId xmlns:p14="http://schemas.microsoft.com/office/powerpoint/2010/main" val="2790761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446A75E-4A40-984B-EDFF-5296DEBE3371}"/>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BBAB4D91-353F-5A41-950A-6EDC3E0C4C98}"/>
              </a:ext>
            </a:extLst>
          </p:cNvPr>
          <p:cNvSpPr>
            <a:spLocks noGrp="1"/>
          </p:cNvSpPr>
          <p:nvPr>
            <p:ph type="title"/>
          </p:nvPr>
        </p:nvSpPr>
        <p:spPr>
          <a:xfrm>
            <a:off x="2392175" y="1150623"/>
            <a:ext cx="10930688" cy="974376"/>
          </a:xfrm>
        </p:spPr>
        <p:txBody>
          <a:bodyPr>
            <a:normAutofit fontScale="90000"/>
          </a:bodyPr>
          <a:lstStyle/>
          <a:p>
            <a:r>
              <a:rPr lang="es-ES" sz="3600" b="1" dirty="0">
                <a:solidFill>
                  <a:srgbClr val="245C4F"/>
                </a:solidFill>
                <a:latin typeface="Montserrat" pitchFamily="2" charset="77"/>
              </a:rPr>
              <a:t>3. </a:t>
            </a:r>
            <a:r>
              <a:rPr lang="es-MX" sz="3600" b="1" dirty="0">
                <a:solidFill>
                  <a:srgbClr val="245C4F"/>
                </a:solidFill>
                <a:latin typeface="Century Gothic" panose="020B0502020202020204" pitchFamily="34" charset="0"/>
              </a:rPr>
              <a:t>El problema de la fundamentación</a:t>
            </a:r>
            <a:br>
              <a:rPr lang="es-MX" sz="3600" b="1" dirty="0">
                <a:latin typeface="Century Gothic" panose="020B0502020202020204" pitchFamily="34" charset="0"/>
              </a:rPr>
            </a:br>
            <a:endParaRPr lang="es-MX" sz="3600" b="1" noProof="0" dirty="0">
              <a:solidFill>
                <a:srgbClr val="245C4F"/>
              </a:solidFill>
              <a:latin typeface="Montserrat" pitchFamily="2" charset="77"/>
            </a:endParaRPr>
          </a:p>
        </p:txBody>
      </p:sp>
      <p:sp>
        <p:nvSpPr>
          <p:cNvPr id="5" name="Título 1">
            <a:extLst>
              <a:ext uri="{FF2B5EF4-FFF2-40B4-BE49-F238E27FC236}">
                <a16:creationId xmlns:a16="http://schemas.microsoft.com/office/drawing/2014/main" id="{B028BB5B-AD3D-A6E9-71EA-AC0F101D104E}"/>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10" name="CuadroTexto 9">
            <a:extLst>
              <a:ext uri="{FF2B5EF4-FFF2-40B4-BE49-F238E27FC236}">
                <a16:creationId xmlns:a16="http://schemas.microsoft.com/office/drawing/2014/main" id="{4E94D917-0F5D-C12C-C6B6-340F3734B930}"/>
              </a:ext>
            </a:extLst>
          </p:cNvPr>
          <p:cNvSpPr txBox="1"/>
          <p:nvPr/>
        </p:nvSpPr>
        <p:spPr>
          <a:xfrm>
            <a:off x="3146439" y="1832611"/>
            <a:ext cx="6653386" cy="584775"/>
          </a:xfrm>
          <a:prstGeom prst="rect">
            <a:avLst/>
          </a:prstGeom>
          <a:noFill/>
        </p:spPr>
        <p:txBody>
          <a:bodyPr wrap="square">
            <a:spAutoFit/>
          </a:bodyPr>
          <a:lstStyle/>
          <a:p>
            <a:pPr algn="ctr"/>
            <a:r>
              <a:rPr lang="es-MX" sz="1600" b="1" dirty="0">
                <a:latin typeface="Century Gothic" panose="020B0502020202020204" pitchFamily="34" charset="0"/>
              </a:rPr>
              <a:t>¿Por qué debemos respetar los derechos humanos?</a:t>
            </a:r>
          </a:p>
          <a:p>
            <a:pPr algn="ctr"/>
            <a:r>
              <a:rPr lang="es-MX" sz="1600" dirty="0">
                <a:latin typeface="Century Gothic" panose="020B0502020202020204" pitchFamily="34" charset="0"/>
              </a:rPr>
              <a:t>Existen diferentes respuestas:</a:t>
            </a:r>
          </a:p>
        </p:txBody>
      </p:sp>
      <p:pic>
        <p:nvPicPr>
          <p:cNvPr id="9" name="Imagen 8">
            <a:extLst>
              <a:ext uri="{FF2B5EF4-FFF2-40B4-BE49-F238E27FC236}">
                <a16:creationId xmlns:a16="http://schemas.microsoft.com/office/drawing/2014/main" id="{889E8606-E06C-C715-3042-F9D2845327CA}"/>
              </a:ext>
            </a:extLst>
          </p:cNvPr>
          <p:cNvPicPr>
            <a:picLocks noChangeAspect="1"/>
          </p:cNvPicPr>
          <p:nvPr/>
        </p:nvPicPr>
        <p:blipFill>
          <a:blip r:embed="rId4"/>
          <a:stretch>
            <a:fillRect/>
          </a:stretch>
        </p:blipFill>
        <p:spPr>
          <a:xfrm>
            <a:off x="1683348" y="2806987"/>
            <a:ext cx="8825303" cy="2194590"/>
          </a:xfrm>
          <a:prstGeom prst="rect">
            <a:avLst/>
          </a:prstGeom>
        </p:spPr>
      </p:pic>
    </p:spTree>
    <p:extLst>
      <p:ext uri="{BB962C8B-B14F-4D97-AF65-F5344CB8AC3E}">
        <p14:creationId xmlns:p14="http://schemas.microsoft.com/office/powerpoint/2010/main" val="1811477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7BBFBFD-8104-9337-7A3F-62348254D040}"/>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E9A644CA-FD6B-411E-842D-97DC96034109}"/>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6" name="CuadroTexto 5">
            <a:extLst>
              <a:ext uri="{FF2B5EF4-FFF2-40B4-BE49-F238E27FC236}">
                <a16:creationId xmlns:a16="http://schemas.microsoft.com/office/drawing/2014/main" id="{3EF10835-B6A4-575E-F49F-A6CCBF13DB51}"/>
              </a:ext>
            </a:extLst>
          </p:cNvPr>
          <p:cNvSpPr txBox="1"/>
          <p:nvPr/>
        </p:nvSpPr>
        <p:spPr>
          <a:xfrm>
            <a:off x="362920" y="3534163"/>
            <a:ext cx="6004601" cy="2308324"/>
          </a:xfrm>
          <a:prstGeom prst="rect">
            <a:avLst/>
          </a:prstGeom>
          <a:noFill/>
        </p:spPr>
        <p:txBody>
          <a:bodyPr wrap="square">
            <a:spAutoFit/>
          </a:bodyPr>
          <a:lstStyle/>
          <a:p>
            <a:pPr algn="just"/>
            <a:r>
              <a:rPr lang="es-MX" sz="1600" dirty="0">
                <a:latin typeface="Century Gothic" panose="020B0502020202020204" pitchFamily="34" charset="0"/>
              </a:rPr>
              <a:t>Los derechos tienen un fundamento anterior al Estado.</a:t>
            </a:r>
          </a:p>
          <a:p>
            <a:pPr algn="just"/>
            <a:endParaRPr lang="es-MX" sz="1600" b="1" dirty="0">
              <a:solidFill>
                <a:srgbClr val="BC9459"/>
              </a:solidFill>
              <a:latin typeface="Century Gothic" panose="020B0502020202020204" pitchFamily="34" charset="0"/>
            </a:endParaRPr>
          </a:p>
          <a:p>
            <a:pPr algn="just"/>
            <a:r>
              <a:rPr lang="es-MX" sz="1600" b="1" dirty="0">
                <a:solidFill>
                  <a:srgbClr val="BC9459"/>
                </a:solidFill>
                <a:latin typeface="Century Gothic" panose="020B0502020202020204" pitchFamily="34" charset="0"/>
              </a:rPr>
              <a:t>Se relacionan con:</a:t>
            </a:r>
          </a:p>
          <a:p>
            <a:pPr marL="285750" lvl="0" indent="-285750" algn="just">
              <a:buFont typeface="Wingdings" panose="05000000000000000000" pitchFamily="2" charset="2"/>
              <a:buChar char="q"/>
            </a:pPr>
            <a:r>
              <a:rPr lang="es-MX" sz="1600" dirty="0">
                <a:latin typeface="Century Gothic" panose="020B0502020202020204" pitchFamily="34" charset="0"/>
              </a:rPr>
              <a:t>Naturaleza humana.</a:t>
            </a:r>
          </a:p>
          <a:p>
            <a:pPr marL="285750" lvl="0" indent="-285750" algn="just">
              <a:buFont typeface="Wingdings" panose="05000000000000000000" pitchFamily="2" charset="2"/>
              <a:buChar char="q"/>
            </a:pPr>
            <a:r>
              <a:rPr lang="es-MX" sz="1600" dirty="0">
                <a:latin typeface="Century Gothic" panose="020B0502020202020204" pitchFamily="34" charset="0"/>
              </a:rPr>
              <a:t>Razón.</a:t>
            </a:r>
          </a:p>
          <a:p>
            <a:pPr marL="285750" lvl="0" indent="-285750" algn="just">
              <a:buFont typeface="Wingdings" panose="05000000000000000000" pitchFamily="2" charset="2"/>
              <a:buChar char="q"/>
            </a:pPr>
            <a:r>
              <a:rPr lang="es-MX" sz="1600" dirty="0">
                <a:latin typeface="Century Gothic" panose="020B0502020202020204" pitchFamily="34" charset="0"/>
              </a:rPr>
              <a:t>Dignidad.</a:t>
            </a:r>
          </a:p>
          <a:p>
            <a:pPr marL="285750" lvl="0" indent="-285750" algn="just">
              <a:buFont typeface="Wingdings" panose="05000000000000000000" pitchFamily="2" charset="2"/>
              <a:buChar char="q"/>
            </a:pPr>
            <a:r>
              <a:rPr lang="es-MX" sz="1600" dirty="0">
                <a:latin typeface="Century Gothic" panose="020B0502020202020204" pitchFamily="34" charset="0"/>
              </a:rPr>
              <a:t>Justicia.</a:t>
            </a:r>
          </a:p>
          <a:p>
            <a:pPr lvl="0" algn="just"/>
            <a:endParaRPr lang="es-MX" sz="1600" dirty="0">
              <a:latin typeface="Century Gothic" panose="020B0502020202020204" pitchFamily="34" charset="0"/>
            </a:endParaRPr>
          </a:p>
          <a:p>
            <a:pPr algn="just"/>
            <a:r>
              <a:rPr lang="es-MX" sz="1600" b="1" dirty="0">
                <a:latin typeface="Century Gothic" panose="020B0502020202020204" pitchFamily="34" charset="0"/>
              </a:rPr>
              <a:t>El Estado reconoce derechos que no crea originalmente</a:t>
            </a:r>
            <a:r>
              <a:rPr lang="es-MX" sz="1400" b="1" dirty="0"/>
              <a:t>.</a:t>
            </a:r>
            <a:endParaRPr lang="es-MX" sz="1400" dirty="0"/>
          </a:p>
        </p:txBody>
      </p:sp>
      <p:sp>
        <p:nvSpPr>
          <p:cNvPr id="14" name="Título 1">
            <a:extLst>
              <a:ext uri="{FF2B5EF4-FFF2-40B4-BE49-F238E27FC236}">
                <a16:creationId xmlns:a16="http://schemas.microsoft.com/office/drawing/2014/main" id="{A3BCD73B-9D44-BD3A-4C8C-ED957230C981}"/>
              </a:ext>
            </a:extLst>
          </p:cNvPr>
          <p:cNvSpPr>
            <a:spLocks noGrp="1"/>
          </p:cNvSpPr>
          <p:nvPr>
            <p:ph type="title"/>
          </p:nvPr>
        </p:nvSpPr>
        <p:spPr>
          <a:xfrm>
            <a:off x="473691" y="1125421"/>
            <a:ext cx="10930688" cy="974376"/>
          </a:xfrm>
        </p:spPr>
        <p:txBody>
          <a:bodyPr>
            <a:normAutofit fontScale="90000"/>
          </a:bodyPr>
          <a:lstStyle/>
          <a:p>
            <a:r>
              <a:rPr lang="es-ES" sz="3600" b="1" dirty="0">
                <a:solidFill>
                  <a:srgbClr val="245C4F"/>
                </a:solidFill>
                <a:latin typeface="Montserrat" pitchFamily="2" charset="77"/>
              </a:rPr>
              <a:t>4. </a:t>
            </a:r>
            <a:r>
              <a:rPr lang="es-ES" sz="3600" b="1" dirty="0">
                <a:solidFill>
                  <a:srgbClr val="245C4F"/>
                </a:solidFill>
                <a:latin typeface="Century Gothic" panose="020B0502020202020204" pitchFamily="34" charset="0"/>
              </a:rPr>
              <a:t>Iusnaturalismo </a:t>
            </a:r>
            <a:br>
              <a:rPr lang="es-MX" sz="3600" b="1" dirty="0">
                <a:latin typeface="Century Gothic" panose="020B0502020202020204" pitchFamily="34" charset="0"/>
              </a:rPr>
            </a:br>
            <a:r>
              <a:rPr lang="es-ES" sz="3600" b="1" noProof="0" dirty="0">
                <a:solidFill>
                  <a:srgbClr val="245C4F"/>
                </a:solidFill>
                <a:latin typeface="Montserrat" pitchFamily="2" charset="77"/>
              </a:rPr>
              <a:t> </a:t>
            </a:r>
            <a:endParaRPr lang="es-MX" sz="3600" b="1" noProof="0" dirty="0">
              <a:solidFill>
                <a:srgbClr val="245C4F"/>
              </a:solidFill>
              <a:latin typeface="Montserrat" pitchFamily="2" charset="77"/>
            </a:endParaRPr>
          </a:p>
        </p:txBody>
      </p:sp>
      <p:sp>
        <p:nvSpPr>
          <p:cNvPr id="9" name="CuadroTexto 8">
            <a:extLst>
              <a:ext uri="{FF2B5EF4-FFF2-40B4-BE49-F238E27FC236}">
                <a16:creationId xmlns:a16="http://schemas.microsoft.com/office/drawing/2014/main" id="{299E20BB-E4B8-6236-CE52-D2D71B45B4AB}"/>
              </a:ext>
            </a:extLst>
          </p:cNvPr>
          <p:cNvSpPr txBox="1"/>
          <p:nvPr/>
        </p:nvSpPr>
        <p:spPr>
          <a:xfrm>
            <a:off x="6896745" y="5252416"/>
            <a:ext cx="4932335" cy="707886"/>
          </a:xfrm>
          <a:prstGeom prst="rect">
            <a:avLst/>
          </a:prstGeom>
          <a:noFill/>
        </p:spPr>
        <p:txBody>
          <a:bodyPr wrap="square">
            <a:spAutoFit/>
          </a:bodyPr>
          <a:lstStyle/>
          <a:p>
            <a:pPr algn="just"/>
            <a:r>
              <a:rPr lang="es-MX" sz="1000" dirty="0">
                <a:latin typeface="Century Gothic" panose="020B0502020202020204" pitchFamily="34" charset="0"/>
              </a:rPr>
              <a:t>Flood, A. (2021, 24 de junio). </a:t>
            </a:r>
            <a:r>
              <a:rPr lang="es-MX" sz="1000" i="1" dirty="0" err="1">
                <a:latin typeface="Century Gothic" panose="020B0502020202020204" pitchFamily="34" charset="0"/>
              </a:rPr>
              <a:t>Lost</a:t>
            </a:r>
            <a:r>
              <a:rPr lang="es-MX" sz="1000" i="1" dirty="0">
                <a:latin typeface="Century Gothic" panose="020B0502020202020204" pitchFamily="34" charset="0"/>
              </a:rPr>
              <a:t> </a:t>
            </a:r>
            <a:r>
              <a:rPr lang="es-MX" sz="1000" i="1" dirty="0" err="1">
                <a:latin typeface="Century Gothic" panose="020B0502020202020204" pitchFamily="34" charset="0"/>
              </a:rPr>
              <a:t>memoir</a:t>
            </a:r>
            <a:r>
              <a:rPr lang="es-MX" sz="1000" i="1" dirty="0">
                <a:latin typeface="Century Gothic" panose="020B0502020202020204" pitchFamily="34" charset="0"/>
              </a:rPr>
              <a:t> </a:t>
            </a:r>
            <a:r>
              <a:rPr lang="es-MX" sz="1000" i="1" dirty="0" err="1">
                <a:latin typeface="Century Gothic" panose="020B0502020202020204" pitchFamily="34" charset="0"/>
              </a:rPr>
              <a:t>paints</a:t>
            </a:r>
            <a:r>
              <a:rPr lang="es-MX" sz="1000" i="1" dirty="0">
                <a:latin typeface="Century Gothic" panose="020B0502020202020204" pitchFamily="34" charset="0"/>
              </a:rPr>
              <a:t> </a:t>
            </a:r>
            <a:r>
              <a:rPr lang="es-MX" sz="1000" i="1" dirty="0" err="1">
                <a:latin typeface="Century Gothic" panose="020B0502020202020204" pitchFamily="34" charset="0"/>
              </a:rPr>
              <a:t>revered</a:t>
            </a:r>
            <a:r>
              <a:rPr lang="es-MX" sz="1000" i="1" dirty="0">
                <a:latin typeface="Century Gothic" panose="020B0502020202020204" pitchFamily="34" charset="0"/>
              </a:rPr>
              <a:t> </a:t>
            </a:r>
            <a:r>
              <a:rPr lang="es-MX" sz="1000" i="1" dirty="0" err="1">
                <a:latin typeface="Century Gothic" panose="020B0502020202020204" pitchFamily="34" charset="0"/>
              </a:rPr>
              <a:t>philosopher</a:t>
            </a:r>
            <a:r>
              <a:rPr lang="es-MX" sz="1000" i="1" dirty="0">
                <a:latin typeface="Century Gothic" panose="020B0502020202020204" pitchFamily="34" charset="0"/>
              </a:rPr>
              <a:t> John Locke as ‘</a:t>
            </a:r>
            <a:r>
              <a:rPr lang="es-MX" sz="1000" i="1" dirty="0" err="1">
                <a:latin typeface="Century Gothic" panose="020B0502020202020204" pitchFamily="34" charset="0"/>
              </a:rPr>
              <a:t>vain</a:t>
            </a:r>
            <a:r>
              <a:rPr lang="es-MX" sz="1000" i="1" dirty="0">
                <a:latin typeface="Century Gothic" panose="020B0502020202020204" pitchFamily="34" charset="0"/>
              </a:rPr>
              <a:t>, </a:t>
            </a:r>
            <a:r>
              <a:rPr lang="es-MX" sz="1000" i="1" dirty="0" err="1">
                <a:latin typeface="Century Gothic" panose="020B0502020202020204" pitchFamily="34" charset="0"/>
              </a:rPr>
              <a:t>lazy</a:t>
            </a:r>
            <a:r>
              <a:rPr lang="es-MX" sz="1000" i="1" dirty="0">
                <a:latin typeface="Century Gothic" panose="020B0502020202020204" pitchFamily="34" charset="0"/>
              </a:rPr>
              <a:t> and </a:t>
            </a:r>
            <a:r>
              <a:rPr lang="es-MX" sz="1000" i="1" dirty="0" err="1">
                <a:latin typeface="Century Gothic" panose="020B0502020202020204" pitchFamily="34" charset="0"/>
              </a:rPr>
              <a:t>pompous</a:t>
            </a:r>
            <a:r>
              <a:rPr lang="es-MX" sz="1000" i="1" dirty="0">
                <a:latin typeface="Century Gothic" panose="020B0502020202020204" pitchFamily="34" charset="0"/>
              </a:rPr>
              <a:t>’</a:t>
            </a:r>
            <a:r>
              <a:rPr lang="es-MX" sz="1000" dirty="0">
                <a:latin typeface="Century Gothic" panose="020B0502020202020204" pitchFamily="34" charset="0"/>
              </a:rPr>
              <a:t>. </a:t>
            </a:r>
            <a:r>
              <a:rPr lang="es-MX" sz="1000" b="1" dirty="0">
                <a:latin typeface="Century Gothic" panose="020B0502020202020204" pitchFamily="34" charset="0"/>
              </a:rPr>
              <a:t>The Guardian</a:t>
            </a:r>
            <a:r>
              <a:rPr lang="es-MX" sz="1000" dirty="0">
                <a:latin typeface="Century Gothic" panose="020B0502020202020204" pitchFamily="34" charset="0"/>
              </a:rPr>
              <a:t>. </a:t>
            </a:r>
            <a:r>
              <a:rPr lang="es-MX" sz="1000" dirty="0">
                <a:latin typeface="Century Gothic" panose="020B0502020202020204" pitchFamily="34" charset="0"/>
                <a:hlinkClick r:id="rId4"/>
              </a:rPr>
              <a:t>https://www.theguardian.com/books/2021/jun/24/lost-memoir-paints-revered-philosopher-john-locke-as-vain-lazy-and-pompous</a:t>
            </a:r>
            <a:endParaRPr lang="es-MX" sz="1000" dirty="0">
              <a:latin typeface="Century Gothic" panose="020B0502020202020204" pitchFamily="34" charset="0"/>
            </a:endParaRPr>
          </a:p>
        </p:txBody>
      </p:sp>
      <p:pic>
        <p:nvPicPr>
          <p:cNvPr id="11" name="Imagen 10">
            <a:extLst>
              <a:ext uri="{FF2B5EF4-FFF2-40B4-BE49-F238E27FC236}">
                <a16:creationId xmlns:a16="http://schemas.microsoft.com/office/drawing/2014/main" id="{0F6F6CCE-ED35-F607-C99B-C34FCDC6F6BA}"/>
              </a:ext>
            </a:extLst>
          </p:cNvPr>
          <p:cNvPicPr>
            <a:picLocks noChangeAspect="1"/>
          </p:cNvPicPr>
          <p:nvPr/>
        </p:nvPicPr>
        <p:blipFill>
          <a:blip r:embed="rId5"/>
          <a:stretch>
            <a:fillRect/>
          </a:stretch>
        </p:blipFill>
        <p:spPr>
          <a:xfrm>
            <a:off x="6975716" y="1612609"/>
            <a:ext cx="4635517" cy="3014508"/>
          </a:xfrm>
          <a:prstGeom prst="rect">
            <a:avLst/>
          </a:prstGeom>
        </p:spPr>
      </p:pic>
      <p:sp>
        <p:nvSpPr>
          <p:cNvPr id="13" name="CuadroTexto 12">
            <a:extLst>
              <a:ext uri="{FF2B5EF4-FFF2-40B4-BE49-F238E27FC236}">
                <a16:creationId xmlns:a16="http://schemas.microsoft.com/office/drawing/2014/main" id="{7E3F9A07-FBCC-4D69-1FC9-AC6A00A8A430}"/>
              </a:ext>
            </a:extLst>
          </p:cNvPr>
          <p:cNvSpPr txBox="1"/>
          <p:nvPr/>
        </p:nvSpPr>
        <p:spPr>
          <a:xfrm>
            <a:off x="362920" y="1886129"/>
            <a:ext cx="6098582" cy="1477328"/>
          </a:xfrm>
          <a:prstGeom prst="rect">
            <a:avLst/>
          </a:prstGeom>
          <a:noFill/>
        </p:spPr>
        <p:txBody>
          <a:bodyPr wrap="square">
            <a:spAutoFit/>
          </a:bodyPr>
          <a:lstStyle/>
          <a:p>
            <a:pPr algn="just"/>
            <a:r>
              <a:rPr lang="es-MX" dirty="0">
                <a:latin typeface="Century Gothic" panose="020B0502020202020204" pitchFamily="34" charset="0"/>
              </a:rPr>
              <a:t>El </a:t>
            </a:r>
            <a:r>
              <a:rPr lang="es-MX" b="1" dirty="0">
                <a:latin typeface="Century Gothic" panose="020B0502020202020204" pitchFamily="34" charset="0"/>
              </a:rPr>
              <a:t>iusnaturalismo</a:t>
            </a:r>
            <a:r>
              <a:rPr lang="es-MX" dirty="0">
                <a:latin typeface="Century Gothic" panose="020B0502020202020204" pitchFamily="34" charset="0"/>
              </a:rPr>
              <a:t> sostiene que existen </a:t>
            </a:r>
            <a:r>
              <a:rPr lang="es-MX" b="1" dirty="0">
                <a:latin typeface="Century Gothic" panose="020B0502020202020204" pitchFamily="34" charset="0"/>
              </a:rPr>
              <a:t>derechos y principios de justicia inherentes a la persona</a:t>
            </a:r>
            <a:r>
              <a:rPr lang="es-MX" dirty="0">
                <a:latin typeface="Century Gothic" panose="020B0502020202020204" pitchFamily="34" charset="0"/>
              </a:rPr>
              <a:t>, anteriores o superiores al derecho creado por el Estado. Por ello, una ley injusta puede considerarse contraria al derecho natural</a:t>
            </a:r>
            <a:r>
              <a:rPr lang="es-MX" dirty="0"/>
              <a:t>.</a:t>
            </a:r>
          </a:p>
        </p:txBody>
      </p:sp>
    </p:spTree>
    <p:extLst>
      <p:ext uri="{BB962C8B-B14F-4D97-AF65-F5344CB8AC3E}">
        <p14:creationId xmlns:p14="http://schemas.microsoft.com/office/powerpoint/2010/main" val="312966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1617886-08D8-F504-9533-0A983A250137}"/>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45317E37-B93A-9E69-45B8-A0EAC4758838}"/>
              </a:ext>
            </a:extLst>
          </p:cNvPr>
          <p:cNvSpPr>
            <a:spLocks noGrp="1"/>
          </p:cNvSpPr>
          <p:nvPr>
            <p:ph type="title"/>
          </p:nvPr>
        </p:nvSpPr>
        <p:spPr>
          <a:xfrm>
            <a:off x="227871" y="698841"/>
            <a:ext cx="10930688" cy="974376"/>
          </a:xfrm>
        </p:spPr>
        <p:txBody>
          <a:bodyPr>
            <a:normAutofit/>
          </a:bodyPr>
          <a:lstStyle/>
          <a:p>
            <a:r>
              <a:rPr lang="es-ES" sz="2800" b="1" noProof="0" dirty="0">
                <a:solidFill>
                  <a:srgbClr val="245C4F"/>
                </a:solidFill>
                <a:latin typeface="Montserrat" pitchFamily="2" charset="77"/>
              </a:rPr>
              <a:t>5. </a:t>
            </a:r>
            <a:r>
              <a:rPr lang="es-MX" sz="2800" b="1" dirty="0">
                <a:solidFill>
                  <a:srgbClr val="245C4F"/>
                </a:solidFill>
                <a:latin typeface="Montserrat" panose="00000500000000000000" pitchFamily="2" charset="0"/>
              </a:rPr>
              <a:t>Derechos naturales y limites al poder </a:t>
            </a:r>
            <a:endParaRPr lang="es-MX" sz="2800" b="1" noProof="0" dirty="0">
              <a:solidFill>
                <a:srgbClr val="245C4F"/>
              </a:solidFill>
              <a:latin typeface="Montserrat" pitchFamily="2" charset="77"/>
            </a:endParaRPr>
          </a:p>
        </p:txBody>
      </p:sp>
      <p:sp>
        <p:nvSpPr>
          <p:cNvPr id="5" name="Título 1">
            <a:extLst>
              <a:ext uri="{FF2B5EF4-FFF2-40B4-BE49-F238E27FC236}">
                <a16:creationId xmlns:a16="http://schemas.microsoft.com/office/drawing/2014/main" id="{188FADCD-62A7-EE13-4B79-B0BE3ED2DB8B}"/>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8" name="CuadroTexto 7">
            <a:extLst>
              <a:ext uri="{FF2B5EF4-FFF2-40B4-BE49-F238E27FC236}">
                <a16:creationId xmlns:a16="http://schemas.microsoft.com/office/drawing/2014/main" id="{9663D986-7029-FC81-FFF1-FA16E4D663E9}"/>
              </a:ext>
            </a:extLst>
          </p:cNvPr>
          <p:cNvSpPr txBox="1"/>
          <p:nvPr/>
        </p:nvSpPr>
        <p:spPr>
          <a:xfrm>
            <a:off x="227871" y="1982450"/>
            <a:ext cx="3429729" cy="4185761"/>
          </a:xfrm>
          <a:prstGeom prst="rect">
            <a:avLst/>
          </a:prstGeom>
          <a:noFill/>
        </p:spPr>
        <p:txBody>
          <a:bodyPr wrap="square">
            <a:spAutoFit/>
          </a:bodyPr>
          <a:lstStyle/>
          <a:p>
            <a:pPr algn="just"/>
            <a:r>
              <a:rPr lang="es-MX" sz="1400" b="1" dirty="0">
                <a:solidFill>
                  <a:srgbClr val="BC9459"/>
                </a:solidFill>
                <a:latin typeface="Century Gothic" panose="020B0502020202020204" pitchFamily="34" charset="0"/>
              </a:rPr>
              <a:t>5.1 Consecuencia del iusnaturalismo</a:t>
            </a:r>
          </a:p>
          <a:p>
            <a:pPr algn="just"/>
            <a:r>
              <a:rPr lang="es-MX" sz="1400" dirty="0">
                <a:latin typeface="Century Gothic" panose="020B0502020202020204" pitchFamily="34" charset="0"/>
              </a:rPr>
              <a:t>Si existen </a:t>
            </a:r>
            <a:r>
              <a:rPr lang="es-MX" sz="1400" b="1" dirty="0">
                <a:latin typeface="Century Gothic" panose="020B0502020202020204" pitchFamily="34" charset="0"/>
              </a:rPr>
              <a:t>derechos anteriores al Estado</a:t>
            </a:r>
            <a:r>
              <a:rPr lang="es-MX" sz="1400" dirty="0">
                <a:latin typeface="Century Gothic" panose="020B0502020202020204" pitchFamily="34" charset="0"/>
              </a:rPr>
              <a:t>, el poder político </a:t>
            </a:r>
            <a:r>
              <a:rPr lang="es-MX" sz="1400" b="1" dirty="0">
                <a:latin typeface="Century Gothic" panose="020B0502020202020204" pitchFamily="34" charset="0"/>
              </a:rPr>
              <a:t>tiene límites</a:t>
            </a:r>
            <a:r>
              <a:rPr lang="es-MX" sz="1400" dirty="0">
                <a:latin typeface="Century Gothic" panose="020B0502020202020204" pitchFamily="34" charset="0"/>
              </a:rPr>
              <a:t>.</a:t>
            </a:r>
          </a:p>
          <a:p>
            <a:pPr algn="just"/>
            <a:r>
              <a:rPr lang="es-MX" sz="1400" dirty="0">
                <a:latin typeface="Century Gothic" panose="020B0502020202020204" pitchFamily="34" charset="0"/>
              </a:rPr>
              <a:t>El Estado no es la fuente absoluta de los derechos; debe </a:t>
            </a:r>
            <a:r>
              <a:rPr lang="es-MX" sz="1400" b="1" dirty="0">
                <a:latin typeface="Century Gothic" panose="020B0502020202020204" pitchFamily="34" charset="0"/>
              </a:rPr>
              <a:t>reconocer y respetar los derechos inherentes a la persona</a:t>
            </a:r>
            <a:r>
              <a:rPr lang="es-MX" sz="1400" dirty="0">
                <a:latin typeface="Century Gothic" panose="020B0502020202020204" pitchFamily="34" charset="0"/>
              </a:rPr>
              <a:t>.</a:t>
            </a:r>
          </a:p>
          <a:p>
            <a:pPr algn="just"/>
            <a:r>
              <a:rPr lang="es-MX" sz="1400" b="1" dirty="0">
                <a:latin typeface="Century Gothic" panose="020B0502020202020204" pitchFamily="34" charset="0"/>
              </a:rPr>
              <a:t>Nota para el facilitador:</a:t>
            </a:r>
            <a:br>
              <a:rPr lang="es-MX" sz="1400" dirty="0">
                <a:latin typeface="Century Gothic" panose="020B0502020202020204" pitchFamily="34" charset="0"/>
              </a:rPr>
            </a:br>
            <a:r>
              <a:rPr lang="es-MX" sz="1400" dirty="0">
                <a:latin typeface="Century Gothic" panose="020B0502020202020204" pitchFamily="34" charset="0"/>
              </a:rPr>
              <a:t>Esta idea contribuyó al desarrollo del </a:t>
            </a:r>
            <a:r>
              <a:rPr lang="es-MX" sz="1400" b="1" dirty="0">
                <a:latin typeface="Century Gothic" panose="020B0502020202020204" pitchFamily="34" charset="0"/>
              </a:rPr>
              <a:t>constitucionalismo moderno</a:t>
            </a:r>
            <a:r>
              <a:rPr lang="es-MX" sz="1400" dirty="0">
                <a:latin typeface="Century Gothic" panose="020B0502020202020204" pitchFamily="34" charset="0"/>
              </a:rPr>
              <a:t>, donde la Constitución también funciona como un instrumento para </a:t>
            </a:r>
            <a:r>
              <a:rPr lang="es-MX" sz="1400" b="1" dirty="0">
                <a:latin typeface="Century Gothic" panose="020B0502020202020204" pitchFamily="34" charset="0"/>
              </a:rPr>
              <a:t>limitar el ejercicio del poder público</a:t>
            </a:r>
            <a:r>
              <a:rPr lang="es-MX" sz="1400" dirty="0">
                <a:latin typeface="Century Gothic" panose="020B0502020202020204" pitchFamily="34" charset="0"/>
              </a:rPr>
              <a:t>.</a:t>
            </a:r>
          </a:p>
          <a:p>
            <a:pPr algn="just"/>
            <a:r>
              <a:rPr lang="es-MX" sz="1400" b="1" dirty="0">
                <a:latin typeface="Century Gothic" panose="020B0502020202020204" pitchFamily="34" charset="0"/>
              </a:rPr>
              <a:t>Ejemplo:</a:t>
            </a:r>
            <a:br>
              <a:rPr lang="es-MX" sz="1400" dirty="0">
                <a:latin typeface="Century Gothic" panose="020B0502020202020204" pitchFamily="34" charset="0"/>
              </a:rPr>
            </a:br>
            <a:r>
              <a:rPr lang="es-MX" sz="1400" dirty="0">
                <a:latin typeface="Century Gothic" panose="020B0502020202020204" pitchFamily="34" charset="0"/>
              </a:rPr>
              <a:t>El gobierno no puede justificar cualquier actuación únicamente por tener autoridad. </a:t>
            </a:r>
            <a:r>
              <a:rPr lang="es-MX" sz="1400" b="1" dirty="0">
                <a:latin typeface="Century Gothic" panose="020B0502020202020204" pitchFamily="34" charset="0"/>
              </a:rPr>
              <a:t>La existencia de derechos establece límites a esa autoridad.</a:t>
            </a:r>
            <a:endParaRPr lang="es-MX" sz="1400" dirty="0">
              <a:latin typeface="Century Gothic" panose="020B0502020202020204" pitchFamily="34" charset="0"/>
            </a:endParaRPr>
          </a:p>
        </p:txBody>
      </p:sp>
      <p:pic>
        <p:nvPicPr>
          <p:cNvPr id="3" name="Imagen 2">
            <a:extLst>
              <a:ext uri="{FF2B5EF4-FFF2-40B4-BE49-F238E27FC236}">
                <a16:creationId xmlns:a16="http://schemas.microsoft.com/office/drawing/2014/main" id="{DC5A49CC-FDE6-0221-78F8-F1AFF1078707}"/>
              </a:ext>
            </a:extLst>
          </p:cNvPr>
          <p:cNvPicPr>
            <a:picLocks noChangeAspect="1"/>
          </p:cNvPicPr>
          <p:nvPr/>
        </p:nvPicPr>
        <p:blipFill>
          <a:blip r:embed="rId4"/>
          <a:srcRect l="9876" r="7837"/>
          <a:stretch>
            <a:fillRect/>
          </a:stretch>
        </p:blipFill>
        <p:spPr>
          <a:xfrm>
            <a:off x="4809641" y="1673217"/>
            <a:ext cx="6097508" cy="4041888"/>
          </a:xfrm>
          <a:prstGeom prst="rect">
            <a:avLst/>
          </a:prstGeom>
        </p:spPr>
      </p:pic>
    </p:spTree>
    <p:extLst>
      <p:ext uri="{BB962C8B-B14F-4D97-AF65-F5344CB8AC3E}">
        <p14:creationId xmlns:p14="http://schemas.microsoft.com/office/powerpoint/2010/main" val="551615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4705E46-1A6F-13B3-79F2-22FB92E2DB70}"/>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4212BB40-88FA-C898-7416-5343F93533AD}"/>
              </a:ext>
            </a:extLst>
          </p:cNvPr>
          <p:cNvSpPr>
            <a:spLocks noGrp="1"/>
          </p:cNvSpPr>
          <p:nvPr>
            <p:ph type="title"/>
          </p:nvPr>
        </p:nvSpPr>
        <p:spPr>
          <a:xfrm>
            <a:off x="146390" y="618010"/>
            <a:ext cx="10930688" cy="974376"/>
          </a:xfrm>
        </p:spPr>
        <p:txBody>
          <a:bodyPr>
            <a:normAutofit/>
          </a:bodyPr>
          <a:lstStyle/>
          <a:p>
            <a:r>
              <a:rPr lang="es-ES" sz="3600" b="1" dirty="0">
                <a:solidFill>
                  <a:srgbClr val="245C4F"/>
                </a:solidFill>
                <a:latin typeface="Montserrat" pitchFamily="2" charset="77"/>
              </a:rPr>
              <a:t>9. Positivismo jurídico </a:t>
            </a:r>
            <a:endParaRPr lang="es-MX" sz="3600" b="1" noProof="0" dirty="0">
              <a:solidFill>
                <a:srgbClr val="245C4F"/>
              </a:solidFill>
              <a:latin typeface="Montserrat" pitchFamily="2" charset="77"/>
            </a:endParaRPr>
          </a:p>
        </p:txBody>
      </p:sp>
      <p:sp>
        <p:nvSpPr>
          <p:cNvPr id="5" name="Título 1">
            <a:extLst>
              <a:ext uri="{FF2B5EF4-FFF2-40B4-BE49-F238E27FC236}">
                <a16:creationId xmlns:a16="http://schemas.microsoft.com/office/drawing/2014/main" id="{8C224761-A12F-7D4E-A541-1DABE6C46211}"/>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3" name="CuadroTexto 2">
            <a:extLst>
              <a:ext uri="{FF2B5EF4-FFF2-40B4-BE49-F238E27FC236}">
                <a16:creationId xmlns:a16="http://schemas.microsoft.com/office/drawing/2014/main" id="{D05D8E24-E098-427E-10CC-BEE7A47DD73B}"/>
              </a:ext>
            </a:extLst>
          </p:cNvPr>
          <p:cNvSpPr txBox="1"/>
          <p:nvPr/>
        </p:nvSpPr>
        <p:spPr>
          <a:xfrm>
            <a:off x="1836548" y="2000728"/>
            <a:ext cx="8717797" cy="3139321"/>
          </a:xfrm>
          <a:prstGeom prst="rect">
            <a:avLst/>
          </a:prstGeom>
          <a:noFill/>
        </p:spPr>
        <p:txBody>
          <a:bodyPr wrap="square">
            <a:spAutoFit/>
          </a:bodyPr>
          <a:lstStyle/>
          <a:p>
            <a:pPr algn="just">
              <a:buNone/>
            </a:pPr>
            <a:r>
              <a:rPr lang="es-MX" dirty="0">
                <a:latin typeface="Century Gothic" panose="020B0502020202020204" pitchFamily="34" charset="0"/>
              </a:rPr>
              <a:t>El positivismo jurídico sostiene que el derecho debe estudiarse como un sistema de normas creadas y reconocidas mediante procedimientos jurídicos, sin hacer depender su validez de criterios morales externos.</a:t>
            </a:r>
          </a:p>
          <a:p>
            <a:pPr algn="just">
              <a:buNone/>
            </a:pPr>
            <a:endParaRPr lang="es-MX" dirty="0">
              <a:latin typeface="Century Gothic" panose="020B0502020202020204" pitchFamily="34" charset="0"/>
            </a:endParaRPr>
          </a:p>
          <a:p>
            <a:pPr algn="just">
              <a:buNone/>
            </a:pPr>
            <a:r>
              <a:rPr lang="es-MX" dirty="0">
                <a:latin typeface="Century Gothic" panose="020B0502020202020204" pitchFamily="34" charset="0"/>
              </a:rPr>
              <a:t>Para Hans Kelsen, el derecho constituye un orden normativo en el que las normas obtienen su validez dentro de una estructura jerárquica. Su propuesta busca estudiar el derecho de manera autónoma, diferenciándolo de la moral, la política y otras disciplinas.</a:t>
            </a:r>
          </a:p>
          <a:p>
            <a:pPr algn="just">
              <a:buNone/>
            </a:pPr>
            <a:endParaRPr lang="es-MX" dirty="0">
              <a:latin typeface="Century Gothic" panose="020B0502020202020204" pitchFamily="34" charset="0"/>
            </a:endParaRPr>
          </a:p>
          <a:p>
            <a:pPr algn="just">
              <a:buNone/>
            </a:pPr>
            <a:r>
              <a:rPr lang="es-MX" dirty="0">
                <a:latin typeface="Century Gothic" panose="020B0502020202020204" pitchFamily="34" charset="0"/>
              </a:rPr>
              <a:t>Para el positivismo jurídico, una cuestión central es determinar por qué una norma es jurídicamente válida, no si esa norma es moralmente justa.</a:t>
            </a:r>
          </a:p>
        </p:txBody>
      </p:sp>
    </p:spTree>
    <p:extLst>
      <p:ext uri="{BB962C8B-B14F-4D97-AF65-F5344CB8AC3E}">
        <p14:creationId xmlns:p14="http://schemas.microsoft.com/office/powerpoint/2010/main" val="3331212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9FC8965-AB3C-5E47-BC2F-D56FF0D5D595}"/>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D05578B3-EEAF-EBA2-DF40-1CA4F614FFAF}"/>
              </a:ext>
            </a:extLst>
          </p:cNvPr>
          <p:cNvSpPr>
            <a:spLocks noGrp="1"/>
          </p:cNvSpPr>
          <p:nvPr>
            <p:ph type="title"/>
          </p:nvPr>
        </p:nvSpPr>
        <p:spPr>
          <a:xfrm>
            <a:off x="146390" y="618010"/>
            <a:ext cx="10930688" cy="974376"/>
          </a:xfrm>
        </p:spPr>
        <p:txBody>
          <a:bodyPr>
            <a:normAutofit/>
          </a:bodyPr>
          <a:lstStyle/>
          <a:p>
            <a:r>
              <a:rPr lang="es-ES" sz="3600" b="1" dirty="0">
                <a:solidFill>
                  <a:srgbClr val="245C4F"/>
                </a:solidFill>
                <a:latin typeface="Montserrat" pitchFamily="2" charset="77"/>
              </a:rPr>
              <a:t>9. Positivismo jurídico </a:t>
            </a:r>
            <a:endParaRPr lang="es-MX" sz="3600" b="1" noProof="0" dirty="0">
              <a:solidFill>
                <a:srgbClr val="245C4F"/>
              </a:solidFill>
              <a:latin typeface="Montserrat" pitchFamily="2" charset="77"/>
            </a:endParaRPr>
          </a:p>
        </p:txBody>
      </p:sp>
      <p:sp>
        <p:nvSpPr>
          <p:cNvPr id="5" name="Título 1">
            <a:extLst>
              <a:ext uri="{FF2B5EF4-FFF2-40B4-BE49-F238E27FC236}">
                <a16:creationId xmlns:a16="http://schemas.microsoft.com/office/drawing/2014/main" id="{2F918983-E275-DA30-B4C0-B6B877DF1395}"/>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pic>
        <p:nvPicPr>
          <p:cNvPr id="8" name="Imagen 7">
            <a:extLst>
              <a:ext uri="{FF2B5EF4-FFF2-40B4-BE49-F238E27FC236}">
                <a16:creationId xmlns:a16="http://schemas.microsoft.com/office/drawing/2014/main" id="{E0A14DE4-79FA-9028-C11C-48978568E06F}"/>
              </a:ext>
            </a:extLst>
          </p:cNvPr>
          <p:cNvPicPr>
            <a:picLocks noChangeAspect="1"/>
          </p:cNvPicPr>
          <p:nvPr/>
        </p:nvPicPr>
        <p:blipFill>
          <a:blip r:embed="rId4"/>
          <a:stretch>
            <a:fillRect/>
          </a:stretch>
        </p:blipFill>
        <p:spPr>
          <a:xfrm>
            <a:off x="2414953" y="1373063"/>
            <a:ext cx="7025898" cy="4679357"/>
          </a:xfrm>
          <a:prstGeom prst="rect">
            <a:avLst/>
          </a:prstGeom>
        </p:spPr>
      </p:pic>
    </p:spTree>
    <p:extLst>
      <p:ext uri="{BB962C8B-B14F-4D97-AF65-F5344CB8AC3E}">
        <p14:creationId xmlns:p14="http://schemas.microsoft.com/office/powerpoint/2010/main" val="3262188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88F031-FBE4-1EE8-8888-05D36C1ABAB1}"/>
            </a:ext>
          </a:extLst>
        </p:cNvPr>
        <p:cNvGrpSpPr/>
        <p:nvPr/>
      </p:nvGrpSpPr>
      <p:grpSpPr>
        <a:xfrm>
          <a:off x="0" y="0"/>
          <a:ext cx="0" cy="0"/>
          <a:chOff x="0" y="0"/>
          <a:chExt cx="0" cy="0"/>
        </a:xfrm>
      </p:grpSpPr>
      <p:sp useBgFill="1">
        <p:nvSpPr>
          <p:cNvPr id="19" name="Rectangle 10">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ítulo 1">
            <a:extLst>
              <a:ext uri="{FF2B5EF4-FFF2-40B4-BE49-F238E27FC236}">
                <a16:creationId xmlns:a16="http://schemas.microsoft.com/office/drawing/2014/main" id="{E9F04B16-5783-FC4E-F114-8B2E9A616C59}"/>
              </a:ext>
            </a:extLst>
          </p:cNvPr>
          <p:cNvSpPr>
            <a:spLocks noGrp="1"/>
          </p:cNvSpPr>
          <p:nvPr>
            <p:ph type="title"/>
          </p:nvPr>
        </p:nvSpPr>
        <p:spPr>
          <a:xfrm>
            <a:off x="1113810" y="2960716"/>
            <a:ext cx="4036334" cy="2387600"/>
          </a:xfrm>
        </p:spPr>
        <p:txBody>
          <a:bodyPr vert="horz" lIns="91440" tIns="45720" rIns="91440" bIns="45720" rtlCol="0">
            <a:normAutofit/>
          </a:bodyPr>
          <a:lstStyle/>
          <a:p>
            <a:r>
              <a:rPr lang="en-US" sz="5400" b="1" kern="1200" dirty="0">
                <a:solidFill>
                  <a:schemeClr val="tx1"/>
                </a:solidFill>
                <a:latin typeface="+mj-lt"/>
                <a:ea typeface="+mj-ea"/>
                <a:cs typeface="+mj-cs"/>
              </a:rPr>
              <a:t>9. </a:t>
            </a:r>
            <a:r>
              <a:rPr lang="en-US" sz="5400" b="1" kern="1200" dirty="0" err="1">
                <a:solidFill>
                  <a:schemeClr val="tx1"/>
                </a:solidFill>
                <a:latin typeface="+mj-lt"/>
                <a:ea typeface="+mj-ea"/>
                <a:cs typeface="+mj-cs"/>
              </a:rPr>
              <a:t>Pirámide</a:t>
            </a:r>
            <a:r>
              <a:rPr lang="en-US" sz="5400" b="1" kern="1200" dirty="0">
                <a:solidFill>
                  <a:schemeClr val="tx1"/>
                </a:solidFill>
                <a:latin typeface="+mj-lt"/>
                <a:ea typeface="+mj-ea"/>
                <a:cs typeface="+mj-cs"/>
              </a:rPr>
              <a:t> de Kelsen </a:t>
            </a:r>
            <a:r>
              <a:rPr lang="en-US" sz="5400" b="1" kern="1200" dirty="0" err="1">
                <a:solidFill>
                  <a:schemeClr val="tx1"/>
                </a:solidFill>
                <a:latin typeface="+mj-lt"/>
                <a:ea typeface="+mj-ea"/>
                <a:cs typeface="+mj-cs"/>
              </a:rPr>
              <a:t>en</a:t>
            </a:r>
            <a:r>
              <a:rPr lang="en-US" sz="5400" b="1" kern="1200" dirty="0">
                <a:solidFill>
                  <a:schemeClr val="tx1"/>
                </a:solidFill>
                <a:latin typeface="+mj-lt"/>
                <a:ea typeface="+mj-ea"/>
                <a:cs typeface="+mj-cs"/>
              </a:rPr>
              <a:t> la </a:t>
            </a:r>
            <a:r>
              <a:rPr lang="en-US" sz="5400" b="1" kern="1200" dirty="0" err="1">
                <a:solidFill>
                  <a:schemeClr val="tx1"/>
                </a:solidFill>
                <a:latin typeface="+mj-lt"/>
                <a:ea typeface="+mj-ea"/>
                <a:cs typeface="+mj-cs"/>
              </a:rPr>
              <a:t>actualidad</a:t>
            </a:r>
            <a:r>
              <a:rPr lang="en-US" sz="5400" b="1" kern="1200" dirty="0">
                <a:solidFill>
                  <a:schemeClr val="tx1"/>
                </a:solidFill>
                <a:latin typeface="+mj-lt"/>
                <a:ea typeface="+mj-ea"/>
                <a:cs typeface="+mj-cs"/>
              </a:rPr>
              <a:t> </a:t>
            </a:r>
            <a:endParaRPr lang="en-US" sz="5400" b="1" kern="1200" noProof="0" dirty="0">
              <a:solidFill>
                <a:schemeClr val="tx1"/>
              </a:solidFill>
              <a:latin typeface="+mj-lt"/>
              <a:ea typeface="+mj-ea"/>
              <a:cs typeface="+mj-cs"/>
            </a:endParaRPr>
          </a:p>
        </p:txBody>
      </p:sp>
      <p:sp>
        <p:nvSpPr>
          <p:cNvPr id="5" name="Título 1">
            <a:extLst>
              <a:ext uri="{FF2B5EF4-FFF2-40B4-BE49-F238E27FC236}">
                <a16:creationId xmlns:a16="http://schemas.microsoft.com/office/drawing/2014/main" id="{D2D54768-5868-60A2-1550-E2371A12EF55}"/>
              </a:ext>
            </a:extLst>
          </p:cNvPr>
          <p:cNvSpPr txBox="1">
            <a:spLocks/>
          </p:cNvSpPr>
          <p:nvPr/>
        </p:nvSpPr>
        <p:spPr>
          <a:xfrm>
            <a:off x="1113809" y="953037"/>
            <a:ext cx="4036333" cy="170984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spcBef>
                <a:spcPts val="1000"/>
              </a:spcBef>
            </a:pPr>
            <a:r>
              <a:rPr lang="en-US" sz="2000" kern="1200" noProof="0">
                <a:solidFill>
                  <a:schemeClr val="tx1"/>
                </a:solidFill>
                <a:latin typeface="+mn-lt"/>
                <a:ea typeface="+mn-ea"/>
                <a:cs typeface="+mn-cs"/>
              </a:rPr>
              <a:t>Antecedentes de los Derechos Humanos</a:t>
            </a:r>
          </a:p>
        </p:txBody>
      </p:sp>
      <p:grpSp>
        <p:nvGrpSpPr>
          <p:cNvPr id="21" name="Group 1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42AB370A-A444-4E02-93D2-7A4D1A6FA086}"/>
              </a:ext>
            </a:extLst>
          </p:cNvPr>
          <p:cNvPicPr>
            <a:picLocks noChangeAspect="1"/>
          </p:cNvPicPr>
          <p:nvPr/>
        </p:nvPicPr>
        <p:blipFill>
          <a:blip r:embed="rId3"/>
          <a:stretch>
            <a:fillRect/>
          </a:stretch>
        </p:blipFill>
        <p:spPr>
          <a:xfrm>
            <a:off x="5922492" y="1551983"/>
            <a:ext cx="5536001" cy="3695280"/>
          </a:xfrm>
          <a:prstGeom prst="rect">
            <a:avLst/>
          </a:prstGeom>
        </p:spPr>
      </p:pic>
    </p:spTree>
    <p:extLst>
      <p:ext uri="{BB962C8B-B14F-4D97-AF65-F5344CB8AC3E}">
        <p14:creationId xmlns:p14="http://schemas.microsoft.com/office/powerpoint/2010/main" val="3790946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CAFE66B-4DF4-3D9D-E1AB-90D126F9FE5D}"/>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A6F6FE4D-DBB9-6987-AA61-832E3160BD0A}"/>
              </a:ext>
            </a:extLst>
          </p:cNvPr>
          <p:cNvSpPr>
            <a:spLocks noGrp="1"/>
          </p:cNvSpPr>
          <p:nvPr>
            <p:ph type="title"/>
          </p:nvPr>
        </p:nvSpPr>
        <p:spPr>
          <a:xfrm>
            <a:off x="2741820" y="753812"/>
            <a:ext cx="10930688" cy="974376"/>
          </a:xfrm>
        </p:spPr>
        <p:txBody>
          <a:bodyPr>
            <a:normAutofit/>
          </a:bodyPr>
          <a:lstStyle/>
          <a:p>
            <a:r>
              <a:rPr lang="es-MX" sz="2800" b="1" noProof="0" dirty="0">
                <a:solidFill>
                  <a:srgbClr val="245C4F"/>
                </a:solidFill>
                <a:latin typeface="Montserrat" pitchFamily="2" charset="77"/>
              </a:rPr>
              <a:t>10. </a:t>
            </a:r>
            <a:r>
              <a:rPr lang="es-MX" sz="2800" b="1" dirty="0">
                <a:solidFill>
                  <a:srgbClr val="245C4F"/>
                </a:solidFill>
                <a:latin typeface="Montserrat" panose="00000500000000000000" pitchFamily="2" charset="0"/>
              </a:rPr>
              <a:t>Iusnaturalismo Vs. Positivismo </a:t>
            </a:r>
            <a:br>
              <a:rPr lang="es-MX" sz="2800" b="1" dirty="0">
                <a:latin typeface="Montserrat" panose="00000500000000000000" pitchFamily="2" charset="0"/>
              </a:rPr>
            </a:br>
            <a:endParaRPr lang="es-MX" sz="2800" b="1" noProof="0" dirty="0">
              <a:solidFill>
                <a:srgbClr val="245C4F"/>
              </a:solidFill>
              <a:latin typeface="Montserrat" pitchFamily="2" charset="77"/>
            </a:endParaRPr>
          </a:p>
        </p:txBody>
      </p:sp>
      <p:sp>
        <p:nvSpPr>
          <p:cNvPr id="13" name="Título 1">
            <a:extLst>
              <a:ext uri="{FF2B5EF4-FFF2-40B4-BE49-F238E27FC236}">
                <a16:creationId xmlns:a16="http://schemas.microsoft.com/office/drawing/2014/main" id="{D87B5D8F-C69A-0562-F764-2AE4DF7B7EDA}"/>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pic>
        <p:nvPicPr>
          <p:cNvPr id="5" name="Imagen 4">
            <a:extLst>
              <a:ext uri="{FF2B5EF4-FFF2-40B4-BE49-F238E27FC236}">
                <a16:creationId xmlns:a16="http://schemas.microsoft.com/office/drawing/2014/main" id="{B2C4BA52-3FAE-FDED-CA62-8BA225E509B5}"/>
              </a:ext>
            </a:extLst>
          </p:cNvPr>
          <p:cNvPicPr>
            <a:picLocks noChangeAspect="1"/>
          </p:cNvPicPr>
          <p:nvPr/>
        </p:nvPicPr>
        <p:blipFill>
          <a:blip r:embed="rId3"/>
          <a:stretch>
            <a:fillRect/>
          </a:stretch>
        </p:blipFill>
        <p:spPr>
          <a:xfrm>
            <a:off x="2465041" y="1251508"/>
            <a:ext cx="7361695" cy="4852680"/>
          </a:xfrm>
          <a:prstGeom prst="rect">
            <a:avLst/>
          </a:prstGeom>
        </p:spPr>
      </p:pic>
    </p:spTree>
    <p:extLst>
      <p:ext uri="{BB962C8B-B14F-4D97-AF65-F5344CB8AC3E}">
        <p14:creationId xmlns:p14="http://schemas.microsoft.com/office/powerpoint/2010/main" val="3251687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5636DEA-E3CA-C44C-DAF2-F376D9D2A3B3}"/>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BF5CA0E1-7480-0AA0-D439-E8E8A6686A45}"/>
              </a:ext>
            </a:extLst>
          </p:cNvPr>
          <p:cNvSpPr>
            <a:spLocks noGrp="1"/>
          </p:cNvSpPr>
          <p:nvPr>
            <p:ph type="title"/>
          </p:nvPr>
        </p:nvSpPr>
        <p:spPr>
          <a:xfrm>
            <a:off x="1022888" y="835615"/>
            <a:ext cx="10930688" cy="974376"/>
          </a:xfrm>
        </p:spPr>
        <p:txBody>
          <a:bodyPr>
            <a:normAutofit/>
          </a:bodyPr>
          <a:lstStyle/>
          <a:p>
            <a:r>
              <a:rPr lang="es-MX" sz="2800" b="1" noProof="0" dirty="0">
                <a:solidFill>
                  <a:srgbClr val="245C4F"/>
                </a:solidFill>
                <a:latin typeface="Montserrat" pitchFamily="2" charset="77"/>
              </a:rPr>
              <a:t>11. Dignidad Humana</a:t>
            </a:r>
            <a:br>
              <a:rPr lang="es-MX" sz="2800" b="1" dirty="0">
                <a:latin typeface="Montserrat" panose="00000500000000000000" pitchFamily="2" charset="0"/>
              </a:rPr>
            </a:br>
            <a:endParaRPr lang="es-MX" sz="2800" b="1" noProof="0" dirty="0">
              <a:solidFill>
                <a:srgbClr val="245C4F"/>
              </a:solidFill>
              <a:latin typeface="Montserrat" pitchFamily="2" charset="77"/>
            </a:endParaRPr>
          </a:p>
        </p:txBody>
      </p:sp>
      <p:sp>
        <p:nvSpPr>
          <p:cNvPr id="13" name="Título 1">
            <a:extLst>
              <a:ext uri="{FF2B5EF4-FFF2-40B4-BE49-F238E27FC236}">
                <a16:creationId xmlns:a16="http://schemas.microsoft.com/office/drawing/2014/main" id="{D13269F5-E9C2-6DF0-A9B8-427B25858328}"/>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3" name="CuadroTexto 2">
            <a:extLst>
              <a:ext uri="{FF2B5EF4-FFF2-40B4-BE49-F238E27FC236}">
                <a16:creationId xmlns:a16="http://schemas.microsoft.com/office/drawing/2014/main" id="{091E0AF5-A5A6-58F3-0B41-7A2B1F4456E0}"/>
              </a:ext>
            </a:extLst>
          </p:cNvPr>
          <p:cNvSpPr txBox="1"/>
          <p:nvPr/>
        </p:nvSpPr>
        <p:spPr>
          <a:xfrm>
            <a:off x="1022888" y="1432339"/>
            <a:ext cx="9593450" cy="4524315"/>
          </a:xfrm>
          <a:prstGeom prst="rect">
            <a:avLst/>
          </a:prstGeom>
          <a:noFill/>
        </p:spPr>
        <p:txBody>
          <a:bodyPr wrap="square">
            <a:spAutoFit/>
          </a:bodyPr>
          <a:lstStyle/>
          <a:p>
            <a:pPr algn="just">
              <a:buNone/>
            </a:pPr>
            <a:r>
              <a:rPr lang="es-MX" dirty="0">
                <a:latin typeface="Century Gothic" panose="020B0502020202020204" pitchFamily="34" charset="0"/>
              </a:rPr>
              <a:t>La </a:t>
            </a:r>
            <a:r>
              <a:rPr lang="es-MX" b="1" dirty="0">
                <a:latin typeface="Century Gothic" panose="020B0502020202020204" pitchFamily="34" charset="0"/>
              </a:rPr>
              <a:t>dignidad humana</a:t>
            </a:r>
            <a:r>
              <a:rPr lang="es-MX" dirty="0">
                <a:latin typeface="Century Gothic" panose="020B0502020202020204" pitchFamily="34" charset="0"/>
              </a:rPr>
              <a:t> parte de reconocer que toda persona posee un </a:t>
            </a:r>
            <a:r>
              <a:rPr lang="es-MX" b="1" dirty="0">
                <a:latin typeface="Century Gothic" panose="020B0502020202020204" pitchFamily="34" charset="0"/>
              </a:rPr>
              <a:t>valor propio e inherente</a:t>
            </a:r>
            <a:r>
              <a:rPr lang="es-MX" dirty="0">
                <a:latin typeface="Century Gothic" panose="020B0502020202020204" pitchFamily="34" charset="0"/>
              </a:rPr>
              <a:t> que debe ser respetado. Por ello, ninguna persona puede ser reducida a un objeto, instrumento o medio para alcanzar determinados fines.</a:t>
            </a:r>
          </a:p>
          <a:p>
            <a:pPr algn="just">
              <a:buNone/>
            </a:pPr>
            <a:endParaRPr lang="es-MX" dirty="0">
              <a:latin typeface="Century Gothic" panose="020B0502020202020204" pitchFamily="34" charset="0"/>
            </a:endParaRPr>
          </a:p>
          <a:p>
            <a:pPr algn="just">
              <a:buNone/>
            </a:pPr>
            <a:r>
              <a:rPr lang="es-MX" dirty="0">
                <a:latin typeface="Century Gothic" panose="020B0502020202020204" pitchFamily="34" charset="0"/>
              </a:rPr>
              <a:t>Considerar a la persona como un </a:t>
            </a:r>
            <a:r>
              <a:rPr lang="es-MX" b="1" dirty="0">
                <a:latin typeface="Century Gothic" panose="020B0502020202020204" pitchFamily="34" charset="0"/>
              </a:rPr>
              <a:t>fin en sí misma</a:t>
            </a:r>
            <a:r>
              <a:rPr lang="es-MX" dirty="0">
                <a:latin typeface="Century Gothic" panose="020B0502020202020204" pitchFamily="34" charset="0"/>
              </a:rPr>
              <a:t> significa reconocer su capacidad de autonomía, libertad y decisión, así como la obligación de las autoridades de respetar su integridad y sus derechos.</a:t>
            </a:r>
          </a:p>
          <a:p>
            <a:pPr algn="just">
              <a:buNone/>
            </a:pPr>
            <a:endParaRPr lang="es-MX" dirty="0">
              <a:latin typeface="Century Gothic" panose="020B0502020202020204" pitchFamily="34" charset="0"/>
            </a:endParaRPr>
          </a:p>
          <a:p>
            <a:pPr algn="just">
              <a:buNone/>
            </a:pPr>
            <a:r>
              <a:rPr lang="es-MX" dirty="0">
                <a:latin typeface="Century Gothic" panose="020B0502020202020204" pitchFamily="34" charset="0"/>
              </a:rPr>
              <a:t>En el constitucionalismo contemporáneo, la dignidad se relaciona estrechamente con la protección de los derechos humanos, porque constituye una base para exigir que el ejercicio del poder público tenga </a:t>
            </a:r>
            <a:r>
              <a:rPr lang="es-MX" b="1" dirty="0">
                <a:latin typeface="Century Gothic" panose="020B0502020202020204" pitchFamily="34" charset="0"/>
              </a:rPr>
              <a:t>límites y justificación jurídica</a:t>
            </a:r>
            <a:r>
              <a:rPr lang="es-MX" dirty="0">
                <a:latin typeface="Century Gothic" panose="020B0502020202020204" pitchFamily="34" charset="0"/>
              </a:rPr>
              <a:t>.</a:t>
            </a:r>
          </a:p>
          <a:p>
            <a:pPr algn="just">
              <a:buNone/>
            </a:pPr>
            <a:endParaRPr lang="es-MX" dirty="0">
              <a:latin typeface="Century Gothic" panose="020B0502020202020204" pitchFamily="34" charset="0"/>
            </a:endParaRPr>
          </a:p>
          <a:p>
            <a:pPr algn="just">
              <a:buNone/>
            </a:pPr>
            <a:r>
              <a:rPr lang="es-MX" b="1" dirty="0">
                <a:latin typeface="Century Gothic" panose="020B0502020202020204" pitchFamily="34" charset="0"/>
              </a:rPr>
              <a:t>Ejemplo:</a:t>
            </a:r>
            <a:r>
              <a:rPr lang="es-MX" dirty="0">
                <a:latin typeface="Century Gothic" panose="020B0502020202020204" pitchFamily="34" charset="0"/>
              </a:rPr>
              <a:t> una autoridad no puede someter a una persona a tratos degradantes, humillantes o arbitrarios argumentando simplemente que tiene facultades para hacerlo. Toda intervención estatal que afecte derechos debe estar </a:t>
            </a:r>
            <a:r>
              <a:rPr lang="es-MX" b="1" dirty="0">
                <a:latin typeface="Century Gothic" panose="020B0502020202020204" pitchFamily="34" charset="0"/>
              </a:rPr>
              <a:t>fundada, motivada y jurídicamente justificada</a:t>
            </a:r>
            <a:r>
              <a:rPr lang="es-MX" dirty="0">
                <a:latin typeface="Century Gothic" panose="020B0502020202020204" pitchFamily="34" charset="0"/>
              </a:rPr>
              <a:t>.</a:t>
            </a:r>
          </a:p>
        </p:txBody>
      </p:sp>
    </p:spTree>
    <p:extLst>
      <p:ext uri="{BB962C8B-B14F-4D97-AF65-F5344CB8AC3E}">
        <p14:creationId xmlns:p14="http://schemas.microsoft.com/office/powerpoint/2010/main" val="2796749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FD5B988-389C-8DD6-37DC-4D9EC235FB11}"/>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48259522-7C75-91EC-122A-73E6DADCCAF0}"/>
              </a:ext>
            </a:extLst>
          </p:cNvPr>
          <p:cNvSpPr>
            <a:spLocks noGrp="1"/>
          </p:cNvSpPr>
          <p:nvPr>
            <p:ph type="title"/>
          </p:nvPr>
        </p:nvSpPr>
        <p:spPr>
          <a:xfrm>
            <a:off x="1022888" y="792858"/>
            <a:ext cx="10930688" cy="974376"/>
          </a:xfrm>
        </p:spPr>
        <p:txBody>
          <a:bodyPr>
            <a:normAutofit/>
          </a:bodyPr>
          <a:lstStyle/>
          <a:p>
            <a:r>
              <a:rPr lang="es-MX" sz="2800" b="1" noProof="0" dirty="0">
                <a:solidFill>
                  <a:srgbClr val="245C4F"/>
                </a:solidFill>
                <a:latin typeface="Montserrat" pitchFamily="2" charset="77"/>
              </a:rPr>
              <a:t>11. </a:t>
            </a:r>
            <a:r>
              <a:rPr lang="es-MX" sz="2800" b="1" dirty="0">
                <a:solidFill>
                  <a:srgbClr val="245C4F"/>
                </a:solidFill>
                <a:latin typeface="Montserrat" panose="00000500000000000000" pitchFamily="2" charset="0"/>
              </a:rPr>
              <a:t>Dignidad Humana</a:t>
            </a:r>
            <a:br>
              <a:rPr lang="es-MX" sz="2800" b="1" dirty="0">
                <a:latin typeface="Montserrat" panose="00000500000000000000" pitchFamily="2" charset="0"/>
              </a:rPr>
            </a:br>
            <a:endParaRPr lang="es-MX" sz="2800" b="1" noProof="0" dirty="0">
              <a:solidFill>
                <a:srgbClr val="245C4F"/>
              </a:solidFill>
              <a:latin typeface="Montserrat" pitchFamily="2" charset="77"/>
            </a:endParaRPr>
          </a:p>
        </p:txBody>
      </p:sp>
      <p:sp>
        <p:nvSpPr>
          <p:cNvPr id="13" name="Título 1">
            <a:extLst>
              <a:ext uri="{FF2B5EF4-FFF2-40B4-BE49-F238E27FC236}">
                <a16:creationId xmlns:a16="http://schemas.microsoft.com/office/drawing/2014/main" id="{00FF1D48-1237-9B37-11CD-8A43CB08B749}"/>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6" name="CuadroTexto 5">
            <a:extLst>
              <a:ext uri="{FF2B5EF4-FFF2-40B4-BE49-F238E27FC236}">
                <a16:creationId xmlns:a16="http://schemas.microsoft.com/office/drawing/2014/main" id="{1F0D7A0E-332F-40CC-93F3-32E1C6D259CE}"/>
              </a:ext>
            </a:extLst>
          </p:cNvPr>
          <p:cNvSpPr txBox="1"/>
          <p:nvPr/>
        </p:nvSpPr>
        <p:spPr>
          <a:xfrm>
            <a:off x="530698" y="1280046"/>
            <a:ext cx="6540284" cy="4524315"/>
          </a:xfrm>
          <a:prstGeom prst="rect">
            <a:avLst/>
          </a:prstGeom>
          <a:noFill/>
        </p:spPr>
        <p:txBody>
          <a:bodyPr wrap="square">
            <a:spAutoFit/>
          </a:bodyPr>
          <a:lstStyle/>
          <a:p>
            <a:pPr algn="just">
              <a:buNone/>
            </a:pPr>
            <a:r>
              <a:rPr lang="es-MX" dirty="0">
                <a:latin typeface="Century Gothic" panose="020B0502020202020204" pitchFamily="34" charset="0"/>
              </a:rPr>
              <a:t>La persona posee un valor propio que exige respeto.</a:t>
            </a:r>
          </a:p>
          <a:p>
            <a:pPr algn="just">
              <a:buNone/>
            </a:pPr>
            <a:r>
              <a:rPr lang="es-MX" dirty="0">
                <a:latin typeface="Century Gothic" panose="020B0502020202020204" pitchFamily="34" charset="0"/>
              </a:rPr>
              <a:t>Implica reconocer:</a:t>
            </a:r>
          </a:p>
          <a:p>
            <a:pPr algn="just">
              <a:buNone/>
            </a:pPr>
            <a:endParaRPr lang="es-MX" dirty="0">
              <a:latin typeface="Century Gothic" panose="020B0502020202020204" pitchFamily="34" charset="0"/>
            </a:endParaRPr>
          </a:p>
          <a:p>
            <a:pPr algn="just">
              <a:buNone/>
            </a:pPr>
            <a:r>
              <a:rPr lang="es-MX" b="1" dirty="0">
                <a:latin typeface="Century Gothic" panose="020B0502020202020204" pitchFamily="34" charset="0"/>
              </a:rPr>
              <a:t>Persona ≠ objeto</a:t>
            </a:r>
          </a:p>
          <a:p>
            <a:pPr algn="just">
              <a:buNone/>
            </a:pPr>
            <a:endParaRPr lang="es-MX" dirty="0">
              <a:latin typeface="Century Gothic" panose="020B0502020202020204" pitchFamily="34" charset="0"/>
            </a:endParaRPr>
          </a:p>
          <a:p>
            <a:pPr algn="just">
              <a:buNone/>
            </a:pPr>
            <a:r>
              <a:rPr lang="es-MX" dirty="0">
                <a:latin typeface="Century Gothic" panose="020B0502020202020204" pitchFamily="34" charset="0"/>
              </a:rPr>
              <a:t>La persona debe ser considerada como un </a:t>
            </a:r>
            <a:r>
              <a:rPr lang="es-MX" b="1" dirty="0">
                <a:latin typeface="Century Gothic" panose="020B0502020202020204" pitchFamily="34" charset="0"/>
              </a:rPr>
              <a:t>fin en sí misma</a:t>
            </a:r>
            <a:r>
              <a:rPr lang="es-MX" dirty="0">
                <a:latin typeface="Century Gothic" panose="020B0502020202020204" pitchFamily="34" charset="0"/>
              </a:rPr>
              <a:t>.</a:t>
            </a:r>
          </a:p>
          <a:p>
            <a:pPr algn="just">
              <a:buNone/>
            </a:pPr>
            <a:endParaRPr lang="es-MX" dirty="0">
              <a:latin typeface="Century Gothic" panose="020B0502020202020204" pitchFamily="34" charset="0"/>
            </a:endParaRPr>
          </a:p>
          <a:p>
            <a:pPr algn="just">
              <a:buNone/>
            </a:pPr>
            <a:r>
              <a:rPr lang="es-MX" dirty="0">
                <a:latin typeface="Century Gothic" panose="020B0502020202020204" pitchFamily="34" charset="0"/>
              </a:rPr>
              <a:t>La dignidad se convirtió en uno de los conceptos centrales del constitucionalismo contemporáneo y de los derechos humanos.</a:t>
            </a:r>
          </a:p>
          <a:p>
            <a:pPr algn="just">
              <a:buNone/>
            </a:pPr>
            <a:r>
              <a:rPr lang="es-MX" b="1" dirty="0">
                <a:latin typeface="Century Gothic" panose="020B0502020202020204" pitchFamily="34" charset="0"/>
              </a:rPr>
              <a:t>Ejemplo</a:t>
            </a:r>
          </a:p>
          <a:p>
            <a:pPr algn="just">
              <a:buNone/>
            </a:pPr>
            <a:r>
              <a:rPr lang="es-MX" dirty="0">
                <a:latin typeface="Century Gothic" panose="020B0502020202020204" pitchFamily="34" charset="0"/>
              </a:rPr>
              <a:t>Una autoridad no puede tratar a una persona como un simple objeto de control, castigo o utilización.</a:t>
            </a:r>
          </a:p>
          <a:p>
            <a:pPr algn="just">
              <a:buNone/>
            </a:pPr>
            <a:r>
              <a:rPr lang="es-MX" dirty="0">
                <a:latin typeface="Century Gothic" panose="020B0502020202020204" pitchFamily="34" charset="0"/>
              </a:rPr>
              <a:t>La dignidad exige justificar jurídicamente cualquier intervención estatal sobre la persona.</a:t>
            </a:r>
          </a:p>
        </p:txBody>
      </p:sp>
      <p:pic>
        <p:nvPicPr>
          <p:cNvPr id="9" name="Imagen 8">
            <a:extLst>
              <a:ext uri="{FF2B5EF4-FFF2-40B4-BE49-F238E27FC236}">
                <a16:creationId xmlns:a16="http://schemas.microsoft.com/office/drawing/2014/main" id="{9C4FAFDE-5EFB-7646-1668-273393380C1E}"/>
              </a:ext>
            </a:extLst>
          </p:cNvPr>
          <p:cNvPicPr>
            <a:picLocks noChangeAspect="1"/>
          </p:cNvPicPr>
          <p:nvPr/>
        </p:nvPicPr>
        <p:blipFill>
          <a:blip r:embed="rId3"/>
          <a:stretch>
            <a:fillRect/>
          </a:stretch>
        </p:blipFill>
        <p:spPr>
          <a:xfrm>
            <a:off x="7614152" y="1546836"/>
            <a:ext cx="4339424" cy="2892949"/>
          </a:xfrm>
          <a:prstGeom prst="rect">
            <a:avLst/>
          </a:prstGeom>
        </p:spPr>
      </p:pic>
      <p:sp>
        <p:nvSpPr>
          <p:cNvPr id="11" name="CuadroTexto 10">
            <a:extLst>
              <a:ext uri="{FF2B5EF4-FFF2-40B4-BE49-F238E27FC236}">
                <a16:creationId xmlns:a16="http://schemas.microsoft.com/office/drawing/2014/main" id="{E67D5F5D-0ECE-2842-0E7C-075FD74CD3C3}"/>
              </a:ext>
            </a:extLst>
          </p:cNvPr>
          <p:cNvSpPr txBox="1"/>
          <p:nvPr/>
        </p:nvSpPr>
        <p:spPr>
          <a:xfrm>
            <a:off x="7706036" y="4793653"/>
            <a:ext cx="4053195" cy="400110"/>
          </a:xfrm>
          <a:prstGeom prst="rect">
            <a:avLst/>
          </a:prstGeom>
          <a:noFill/>
        </p:spPr>
        <p:txBody>
          <a:bodyPr wrap="square">
            <a:spAutoFit/>
          </a:bodyPr>
          <a:lstStyle/>
          <a:p>
            <a:pPr algn="just"/>
            <a:r>
              <a:rPr lang="es-MX" sz="1000" b="1" dirty="0">
                <a:latin typeface="Century Gothic" panose="020B0502020202020204" pitchFamily="34" charset="0"/>
              </a:rPr>
              <a:t>Nota.</a:t>
            </a:r>
            <a:r>
              <a:rPr lang="es-MX" sz="1000" dirty="0">
                <a:latin typeface="Century Gothic" panose="020B0502020202020204" pitchFamily="34" charset="0"/>
              </a:rPr>
              <a:t> Imagen generada con inteligencia artificial mediante </a:t>
            </a:r>
            <a:r>
              <a:rPr lang="es-MX" sz="1000" dirty="0" err="1">
                <a:latin typeface="Century Gothic" panose="020B0502020202020204" pitchFamily="34" charset="0"/>
              </a:rPr>
              <a:t>ChatGPT</a:t>
            </a:r>
            <a:r>
              <a:rPr lang="es-MX" sz="1000" dirty="0">
                <a:latin typeface="Century Gothic" panose="020B0502020202020204" pitchFamily="34" charset="0"/>
              </a:rPr>
              <a:t> (</a:t>
            </a:r>
            <a:r>
              <a:rPr lang="es-MX" sz="1000" dirty="0" err="1">
                <a:latin typeface="Century Gothic" panose="020B0502020202020204" pitchFamily="34" charset="0"/>
              </a:rPr>
              <a:t>OpenAI</a:t>
            </a:r>
            <a:r>
              <a:rPr lang="es-MX" sz="1000" dirty="0">
                <a:latin typeface="Century Gothic" panose="020B0502020202020204" pitchFamily="34" charset="0"/>
              </a:rPr>
              <a:t>, 2026).</a:t>
            </a:r>
          </a:p>
        </p:txBody>
      </p:sp>
    </p:spTree>
    <p:extLst>
      <p:ext uri="{BB962C8B-B14F-4D97-AF65-F5344CB8AC3E}">
        <p14:creationId xmlns:p14="http://schemas.microsoft.com/office/powerpoint/2010/main" val="1118953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44F8708-E421-A793-3D92-0DE4CBFC2840}"/>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085E860C-26F2-981A-CE97-497D671FE789}"/>
              </a:ext>
            </a:extLst>
          </p:cNvPr>
          <p:cNvSpPr>
            <a:spLocks noGrp="1"/>
          </p:cNvSpPr>
          <p:nvPr>
            <p:ph type="title"/>
          </p:nvPr>
        </p:nvSpPr>
        <p:spPr>
          <a:xfrm>
            <a:off x="680545" y="913198"/>
            <a:ext cx="10930688" cy="974376"/>
          </a:xfrm>
        </p:spPr>
        <p:txBody>
          <a:bodyPr>
            <a:normAutofit fontScale="90000"/>
          </a:bodyPr>
          <a:lstStyle/>
          <a:p>
            <a:r>
              <a:rPr lang="es-MX" sz="3600" b="1" dirty="0">
                <a:solidFill>
                  <a:srgbClr val="245C4F"/>
                </a:solidFill>
                <a:latin typeface="Montserrat" pitchFamily="2" charset="77"/>
              </a:rPr>
              <a:t>12. </a:t>
            </a:r>
            <a:r>
              <a:rPr lang="es-MX" sz="3600" b="1" dirty="0">
                <a:solidFill>
                  <a:srgbClr val="245C4F"/>
                </a:solidFill>
              </a:rPr>
              <a:t>Fundamentos teóricos de los Derechos Humanos </a:t>
            </a:r>
            <a:br>
              <a:rPr lang="es-MX" sz="3600" b="1" dirty="0"/>
            </a:br>
            <a:endParaRPr lang="es-MX" sz="3600" b="1" noProof="0" dirty="0">
              <a:solidFill>
                <a:srgbClr val="245C4F"/>
              </a:solidFill>
              <a:latin typeface="Montserrat" pitchFamily="2" charset="77"/>
            </a:endParaRPr>
          </a:p>
        </p:txBody>
      </p:sp>
      <p:sp>
        <p:nvSpPr>
          <p:cNvPr id="5" name="Título 1">
            <a:extLst>
              <a:ext uri="{FF2B5EF4-FFF2-40B4-BE49-F238E27FC236}">
                <a16:creationId xmlns:a16="http://schemas.microsoft.com/office/drawing/2014/main" id="{18C2B339-94DC-E874-30BB-12D090BFFB4D}"/>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3" name="CuadroTexto 2">
            <a:extLst>
              <a:ext uri="{FF2B5EF4-FFF2-40B4-BE49-F238E27FC236}">
                <a16:creationId xmlns:a16="http://schemas.microsoft.com/office/drawing/2014/main" id="{F477BAF7-9B3A-8377-BB61-C9EABE7F2805}"/>
              </a:ext>
            </a:extLst>
          </p:cNvPr>
          <p:cNvSpPr txBox="1"/>
          <p:nvPr/>
        </p:nvSpPr>
        <p:spPr>
          <a:xfrm>
            <a:off x="993618" y="1512819"/>
            <a:ext cx="10180659" cy="3539430"/>
          </a:xfrm>
          <a:prstGeom prst="rect">
            <a:avLst/>
          </a:prstGeom>
          <a:noFill/>
        </p:spPr>
        <p:txBody>
          <a:bodyPr wrap="square">
            <a:spAutoFit/>
          </a:bodyPr>
          <a:lstStyle/>
          <a:p>
            <a:pPr algn="ctr"/>
            <a:r>
              <a:rPr lang="es-MX" sz="1400" b="1" dirty="0">
                <a:solidFill>
                  <a:srgbClr val="BC9459"/>
                </a:solidFill>
                <a:latin typeface="Century Gothic" panose="020B0502020202020204" pitchFamily="34" charset="0"/>
              </a:rPr>
              <a:t>Teoría de los derechos fundamentales y garantismo</a:t>
            </a:r>
          </a:p>
          <a:p>
            <a:pPr algn="just"/>
            <a:endParaRPr lang="es-MX" sz="1400" b="1" dirty="0">
              <a:latin typeface="Century Gothic" panose="020B0502020202020204" pitchFamily="34" charset="0"/>
            </a:endParaRPr>
          </a:p>
          <a:p>
            <a:pPr algn="just"/>
            <a:r>
              <a:rPr lang="es-MX" sz="1400" b="1" dirty="0">
                <a:latin typeface="Century Gothic" panose="020B0502020202020204" pitchFamily="34" charset="0"/>
              </a:rPr>
              <a:t>Robert Alexy</a:t>
            </a:r>
            <a:r>
              <a:rPr lang="es-MX" sz="1400" dirty="0">
                <a:latin typeface="Century Gothic" panose="020B0502020202020204" pitchFamily="34" charset="0"/>
              </a:rPr>
              <a:t> considera que los derechos fundamentales pueden funcionar como </a:t>
            </a:r>
            <a:r>
              <a:rPr lang="es-MX" sz="1400" b="1" dirty="0">
                <a:latin typeface="Century Gothic" panose="020B0502020202020204" pitchFamily="34" charset="0"/>
              </a:rPr>
              <a:t>principios jurídicos</a:t>
            </a:r>
            <a:r>
              <a:rPr lang="es-MX" sz="1400" dirty="0">
                <a:latin typeface="Century Gothic" panose="020B0502020202020204" pitchFamily="34" charset="0"/>
              </a:rPr>
              <a:t> que deben realizarse en la mayor medida posible. Cuando dos derechos entran en conflicto, es necesario analizar las circunstancias del caso y </a:t>
            </a:r>
            <a:r>
              <a:rPr lang="es-MX" sz="1400" b="1" dirty="0">
                <a:latin typeface="Century Gothic" panose="020B0502020202020204" pitchFamily="34" charset="0"/>
              </a:rPr>
              <a:t>ponderar</a:t>
            </a:r>
            <a:r>
              <a:rPr lang="es-MX" sz="1400" dirty="0">
                <a:latin typeface="Century Gothic" panose="020B0502020202020204" pitchFamily="34" charset="0"/>
              </a:rPr>
              <a:t> los principios involucrados.</a:t>
            </a:r>
          </a:p>
          <a:p>
            <a:pPr algn="just"/>
            <a:endParaRPr lang="es-MX" sz="1400" dirty="0">
              <a:latin typeface="Century Gothic" panose="020B0502020202020204" pitchFamily="34" charset="0"/>
            </a:endParaRPr>
          </a:p>
          <a:p>
            <a:pPr algn="just"/>
            <a:r>
              <a:rPr lang="es-MX" sz="1400" b="1" dirty="0">
                <a:latin typeface="Century Gothic" panose="020B0502020202020204" pitchFamily="34" charset="0"/>
              </a:rPr>
              <a:t>Ejemplo:</a:t>
            </a:r>
            <a:r>
              <a:rPr lang="es-MX" sz="1400" dirty="0">
                <a:latin typeface="Century Gothic" panose="020B0502020202020204" pitchFamily="34" charset="0"/>
              </a:rPr>
              <a:t> una publicación en redes sociales puede involucrar la </a:t>
            </a:r>
            <a:r>
              <a:rPr lang="es-MX" sz="1400" b="1" dirty="0">
                <a:latin typeface="Century Gothic" panose="020B0502020202020204" pitchFamily="34" charset="0"/>
              </a:rPr>
              <a:t>libertad de expresión</a:t>
            </a:r>
            <a:r>
              <a:rPr lang="es-MX" sz="1400" dirty="0">
                <a:latin typeface="Century Gothic" panose="020B0502020202020204" pitchFamily="34" charset="0"/>
              </a:rPr>
              <a:t>, pero también afectar el </a:t>
            </a:r>
            <a:r>
              <a:rPr lang="es-MX" sz="1400" b="1" dirty="0">
                <a:latin typeface="Century Gothic" panose="020B0502020202020204" pitchFamily="34" charset="0"/>
              </a:rPr>
              <a:t>derecho al honor o la privacidad</a:t>
            </a:r>
            <a:r>
              <a:rPr lang="es-MX" sz="1400" dirty="0">
                <a:latin typeface="Century Gothic" panose="020B0502020202020204" pitchFamily="34" charset="0"/>
              </a:rPr>
              <a:t>. El juez debe determinar cómo proteger ambos derechos en el caso concreto.</a:t>
            </a:r>
          </a:p>
          <a:p>
            <a:pPr algn="just"/>
            <a:r>
              <a:rPr lang="es-MX" sz="1400" b="1" dirty="0">
                <a:latin typeface="Century Gothic" panose="020B0502020202020204" pitchFamily="34" charset="0"/>
              </a:rPr>
              <a:t>Luigi Ferrajoli</a:t>
            </a:r>
            <a:r>
              <a:rPr lang="es-MX" sz="1400" dirty="0">
                <a:latin typeface="Century Gothic" panose="020B0502020202020204" pitchFamily="34" charset="0"/>
              </a:rPr>
              <a:t> señala que reconocer un derecho no es suficiente: deben existir </a:t>
            </a:r>
            <a:r>
              <a:rPr lang="es-MX" sz="1400" b="1" dirty="0">
                <a:latin typeface="Century Gothic" panose="020B0502020202020204" pitchFamily="34" charset="0"/>
              </a:rPr>
              <a:t>garantías jurídicas</a:t>
            </a:r>
            <a:r>
              <a:rPr lang="es-MX" sz="1400" dirty="0">
                <a:latin typeface="Century Gothic" panose="020B0502020202020204" pitchFamily="34" charset="0"/>
              </a:rPr>
              <a:t> que permitan protegerlo frente al poder y reparar sus violaciones.</a:t>
            </a:r>
          </a:p>
          <a:p>
            <a:pPr algn="just"/>
            <a:endParaRPr lang="es-MX" sz="1400" dirty="0">
              <a:latin typeface="Century Gothic" panose="020B0502020202020204" pitchFamily="34" charset="0"/>
            </a:endParaRPr>
          </a:p>
          <a:p>
            <a:pPr algn="just"/>
            <a:r>
              <a:rPr lang="es-MX" sz="1400" b="1" dirty="0">
                <a:latin typeface="Century Gothic" panose="020B0502020202020204" pitchFamily="34" charset="0"/>
              </a:rPr>
              <a:t>Ejemplo:</a:t>
            </a:r>
            <a:r>
              <a:rPr lang="es-MX" sz="1400" dirty="0">
                <a:latin typeface="Century Gothic" panose="020B0502020202020204" pitchFamily="34" charset="0"/>
              </a:rPr>
              <a:t> reconocer la libertad personal requiere mecanismos que permitan cuestionar una </a:t>
            </a:r>
            <a:r>
              <a:rPr lang="es-MX" sz="1400" b="1" dirty="0">
                <a:latin typeface="Century Gothic" panose="020B0502020202020204" pitchFamily="34" charset="0"/>
              </a:rPr>
              <a:t>detención arbitraria</a:t>
            </a:r>
            <a:r>
              <a:rPr lang="es-MX" sz="1400" dirty="0">
                <a:latin typeface="Century Gothic" panose="020B0502020202020204" pitchFamily="34" charset="0"/>
              </a:rPr>
              <a:t>, como el juicio de amparo.</a:t>
            </a:r>
          </a:p>
          <a:p>
            <a:pPr algn="just"/>
            <a:endParaRPr lang="es-MX" sz="1400" dirty="0">
              <a:latin typeface="Century Gothic" panose="020B0502020202020204" pitchFamily="34" charset="0"/>
            </a:endParaRPr>
          </a:p>
          <a:p>
            <a:pPr algn="just"/>
            <a:r>
              <a:rPr lang="es-MX" sz="1400" b="1" dirty="0">
                <a:latin typeface="Century Gothic" panose="020B0502020202020204" pitchFamily="34" charset="0"/>
              </a:rPr>
              <a:t>Idea clave:</a:t>
            </a:r>
            <a:r>
              <a:rPr lang="es-MX" sz="1400" dirty="0">
                <a:latin typeface="Century Gothic" panose="020B0502020202020204" pitchFamily="34" charset="0"/>
              </a:rPr>
              <a:t> Los derechos humanos deben estar </a:t>
            </a:r>
            <a:r>
              <a:rPr lang="es-MX" sz="1400" b="1" dirty="0">
                <a:latin typeface="Century Gothic" panose="020B0502020202020204" pitchFamily="34" charset="0"/>
              </a:rPr>
              <a:t>reconocidos, protegidos y acompañados de mecanismos que permitan hacerlos efectivos</a:t>
            </a:r>
            <a:r>
              <a:rPr lang="es-MX" sz="1400" dirty="0">
                <a:latin typeface="Century Gothic" panose="020B0502020202020204" pitchFamily="34" charset="0"/>
              </a:rPr>
              <a:t>.</a:t>
            </a:r>
          </a:p>
        </p:txBody>
      </p:sp>
    </p:spTree>
    <p:extLst>
      <p:ext uri="{BB962C8B-B14F-4D97-AF65-F5344CB8AC3E}">
        <p14:creationId xmlns:p14="http://schemas.microsoft.com/office/powerpoint/2010/main" val="3699136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5149E3-6C0E-12DB-E610-08C32DA178D0}"/>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44F5C612-4DD0-5300-25EB-00B8ACB2736A}"/>
              </a:ext>
            </a:extLst>
          </p:cNvPr>
          <p:cNvSpPr>
            <a:spLocks noGrp="1"/>
          </p:cNvSpPr>
          <p:nvPr>
            <p:ph type="title"/>
          </p:nvPr>
        </p:nvSpPr>
        <p:spPr>
          <a:xfrm>
            <a:off x="876693" y="741391"/>
            <a:ext cx="3455821" cy="1616203"/>
          </a:xfrm>
        </p:spPr>
        <p:txBody>
          <a:bodyPr vert="horz" lIns="91440" tIns="45720" rIns="91440" bIns="45720" rtlCol="0" anchor="b">
            <a:normAutofit/>
          </a:bodyPr>
          <a:lstStyle/>
          <a:p>
            <a:r>
              <a:rPr lang="en-US" sz="2700" b="1" kern="1200">
                <a:solidFill>
                  <a:schemeClr val="tx1"/>
                </a:solidFill>
                <a:latin typeface="+mj-lt"/>
                <a:ea typeface="+mj-ea"/>
                <a:cs typeface="+mj-cs"/>
              </a:rPr>
              <a:t>12. Fundamentos teóricos de los Derechos Humanos </a:t>
            </a:r>
            <a:br>
              <a:rPr lang="en-US" sz="2700" b="1" kern="1200">
                <a:solidFill>
                  <a:schemeClr val="tx1"/>
                </a:solidFill>
                <a:latin typeface="+mj-lt"/>
                <a:ea typeface="+mj-ea"/>
                <a:cs typeface="+mj-cs"/>
              </a:rPr>
            </a:br>
            <a:endParaRPr lang="en-US" sz="2700" b="1" kern="1200" noProof="0">
              <a:solidFill>
                <a:schemeClr val="tx1"/>
              </a:solidFill>
              <a:latin typeface="+mj-lt"/>
              <a:ea typeface="+mj-ea"/>
              <a:cs typeface="+mj-cs"/>
            </a:endParaRPr>
          </a:p>
        </p:txBody>
      </p:sp>
      <p:sp>
        <p:nvSpPr>
          <p:cNvPr id="5" name="Título 1">
            <a:extLst>
              <a:ext uri="{FF2B5EF4-FFF2-40B4-BE49-F238E27FC236}">
                <a16:creationId xmlns:a16="http://schemas.microsoft.com/office/drawing/2014/main" id="{9FD35A25-97CE-75A0-1A8B-7D70602E6F4A}"/>
              </a:ext>
            </a:extLst>
          </p:cNvPr>
          <p:cNvSpPr txBox="1">
            <a:spLocks/>
          </p:cNvSpPr>
          <p:nvPr/>
        </p:nvSpPr>
        <p:spPr>
          <a:xfrm>
            <a:off x="876693" y="2533476"/>
            <a:ext cx="3455821" cy="344783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228600" fontAlgn="base">
              <a:spcAft>
                <a:spcPts val="600"/>
              </a:spcAft>
              <a:buFont typeface="Arial" panose="020B0604020202020204" pitchFamily="34" charset="0"/>
              <a:buChar char="•"/>
            </a:pPr>
            <a:r>
              <a:rPr lang="en-US" sz="2000" noProof="0">
                <a:latin typeface="+mn-lt"/>
                <a:ea typeface="+mn-ea"/>
                <a:cs typeface="+mn-cs"/>
              </a:rPr>
              <a:t>Antecedentes de los Derechos Humanos</a:t>
            </a:r>
          </a:p>
        </p:txBody>
      </p:sp>
      <p:pic>
        <p:nvPicPr>
          <p:cNvPr id="6" name="Imagen 5">
            <a:extLst>
              <a:ext uri="{FF2B5EF4-FFF2-40B4-BE49-F238E27FC236}">
                <a16:creationId xmlns:a16="http://schemas.microsoft.com/office/drawing/2014/main" id="{5118B3E4-1C6A-5CD1-7D9E-F93C10938071}"/>
              </a:ext>
            </a:extLst>
          </p:cNvPr>
          <p:cNvPicPr>
            <a:picLocks noChangeAspect="1"/>
          </p:cNvPicPr>
          <p:nvPr/>
        </p:nvPicPr>
        <p:blipFill>
          <a:blip r:embed="rId3"/>
          <a:stretch>
            <a:fillRect/>
          </a:stretch>
        </p:blipFill>
        <p:spPr>
          <a:xfrm>
            <a:off x="5087789" y="741391"/>
            <a:ext cx="6189112" cy="5384528"/>
          </a:xfrm>
          <a:prstGeom prst="rect">
            <a:avLst/>
          </a:prstGeom>
        </p:spPr>
      </p:pic>
      <p:grpSp>
        <p:nvGrpSpPr>
          <p:cNvPr id="15" name="Group 10">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6" name="Rectangle 11">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2">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45593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BF584A6-08D7-22B0-71FB-3657E6C16110}"/>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EBD768AE-DFD3-F102-381E-226C0DED848A}"/>
              </a:ext>
            </a:extLst>
          </p:cNvPr>
          <p:cNvSpPr>
            <a:spLocks noGrp="1"/>
          </p:cNvSpPr>
          <p:nvPr>
            <p:ph type="title"/>
          </p:nvPr>
        </p:nvSpPr>
        <p:spPr>
          <a:xfrm>
            <a:off x="630656" y="985626"/>
            <a:ext cx="10930688" cy="974376"/>
          </a:xfrm>
        </p:spPr>
        <p:txBody>
          <a:bodyPr>
            <a:normAutofit fontScale="90000"/>
          </a:bodyPr>
          <a:lstStyle/>
          <a:p>
            <a:pPr algn="just"/>
            <a:r>
              <a:rPr lang="es-MX" sz="2700" b="1">
                <a:solidFill>
                  <a:srgbClr val="245C4F"/>
                </a:solidFill>
                <a:latin typeface="Montserrat" pitchFamily="2" charset="77"/>
              </a:rPr>
              <a:t>1</a:t>
            </a:r>
            <a:r>
              <a:rPr lang="es-MX" sz="2700" b="1" dirty="0">
                <a:solidFill>
                  <a:srgbClr val="245C4F"/>
                </a:solidFill>
                <a:latin typeface="Montserrat" pitchFamily="2" charset="77"/>
              </a:rPr>
              <a:t>3</a:t>
            </a:r>
            <a:r>
              <a:rPr lang="es-MX" sz="2700" b="1">
                <a:solidFill>
                  <a:srgbClr val="245C4F"/>
                </a:solidFill>
                <a:latin typeface="Montserrat" pitchFamily="2" charset="77"/>
              </a:rPr>
              <a:t>. </a:t>
            </a:r>
            <a:r>
              <a:rPr lang="es-MX" sz="2700" b="1" dirty="0">
                <a:solidFill>
                  <a:srgbClr val="245C4F"/>
                </a:solidFill>
                <a:latin typeface="Montserrat" panose="00000500000000000000" pitchFamily="2" charset="0"/>
              </a:rPr>
              <a:t>La Constitución Política de los Estados Unidos Mexicanos</a:t>
            </a:r>
            <a:br>
              <a:rPr lang="es-MX" sz="3600" b="1" dirty="0"/>
            </a:br>
            <a:endParaRPr lang="es-MX" sz="3600" b="1" noProof="0" dirty="0">
              <a:solidFill>
                <a:srgbClr val="245C4F"/>
              </a:solidFill>
              <a:latin typeface="Montserrat" pitchFamily="2" charset="77"/>
            </a:endParaRPr>
          </a:p>
        </p:txBody>
      </p:sp>
      <p:sp>
        <p:nvSpPr>
          <p:cNvPr id="5" name="Título 1">
            <a:extLst>
              <a:ext uri="{FF2B5EF4-FFF2-40B4-BE49-F238E27FC236}">
                <a16:creationId xmlns:a16="http://schemas.microsoft.com/office/drawing/2014/main" id="{3D0D8F23-A592-0370-5BDF-6A64C63CE477}"/>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6" name="CuadroTexto 5">
            <a:extLst>
              <a:ext uri="{FF2B5EF4-FFF2-40B4-BE49-F238E27FC236}">
                <a16:creationId xmlns:a16="http://schemas.microsoft.com/office/drawing/2014/main" id="{C6668893-C1BD-98DA-CD1E-4750CC4C079B}"/>
              </a:ext>
            </a:extLst>
          </p:cNvPr>
          <p:cNvSpPr txBox="1"/>
          <p:nvPr/>
        </p:nvSpPr>
        <p:spPr>
          <a:xfrm>
            <a:off x="5668815" y="1960002"/>
            <a:ext cx="6097508" cy="3539430"/>
          </a:xfrm>
          <a:prstGeom prst="rect">
            <a:avLst/>
          </a:prstGeom>
          <a:noFill/>
        </p:spPr>
        <p:txBody>
          <a:bodyPr wrap="square">
            <a:spAutoFit/>
          </a:bodyPr>
          <a:lstStyle/>
          <a:p>
            <a:pPr algn="just"/>
            <a:r>
              <a:rPr lang="es-MX" sz="1400" dirty="0">
                <a:latin typeface="Century Gothic" panose="020B0502020202020204" pitchFamily="34" charset="0"/>
              </a:rPr>
              <a:t>La Constitución Política de los Estados Unidos Mexicanos constituye el principal marco jurídico para el reconocimiento y protección de los derechos humanos en México. Desde una perspectiva teórica, la Constitución no solo establece normas, sino que limita el ejercicio del poder y reconoce derechos que deben ser respetados por las autoridades.</a:t>
            </a:r>
          </a:p>
          <a:p>
            <a:pPr algn="just"/>
            <a:endParaRPr lang="es-MX" sz="1400" dirty="0">
              <a:latin typeface="Century Gothic" panose="020B0502020202020204" pitchFamily="34" charset="0"/>
            </a:endParaRPr>
          </a:p>
          <a:p>
            <a:pPr algn="just"/>
            <a:r>
              <a:rPr lang="es-MX" sz="1400" b="1" dirty="0">
                <a:solidFill>
                  <a:srgbClr val="BC9459"/>
                </a:solidFill>
                <a:latin typeface="Century Gothic" panose="020B0502020202020204" pitchFamily="34" charset="0"/>
              </a:rPr>
              <a:t>El artículo 1.º constitucional establece que todas las personas gozarán de los derechos humanos reconocidos en la Constitución y en los tratados internacionales de los que México sea parte</a:t>
            </a:r>
            <a:r>
              <a:rPr lang="es-MX" sz="1400" dirty="0">
                <a:latin typeface="Century Gothic" panose="020B0502020202020204" pitchFamily="34" charset="0"/>
              </a:rPr>
              <a:t>. Asimismo, señala que todas las autoridades tienen la obligación de promover, respetar, proteger y garantizar los derechos humanos.</a:t>
            </a:r>
          </a:p>
          <a:p>
            <a:pPr algn="just"/>
            <a:r>
              <a:rPr lang="es-MX" sz="1400" dirty="0">
                <a:latin typeface="Century Gothic" panose="020B0502020202020204" pitchFamily="34" charset="0"/>
              </a:rPr>
              <a:t>Esto permite relacionar las bases teóricas estudiadas: el reconocimiento de la dignidad humana como fundamento, la incorporación de los derechos al ordenamiento jurídico y la existencia de garantías para hacerlos efectivos.</a:t>
            </a:r>
          </a:p>
        </p:txBody>
      </p:sp>
      <p:pic>
        <p:nvPicPr>
          <p:cNvPr id="8" name="Imagen 7">
            <a:extLst>
              <a:ext uri="{FF2B5EF4-FFF2-40B4-BE49-F238E27FC236}">
                <a16:creationId xmlns:a16="http://schemas.microsoft.com/office/drawing/2014/main" id="{77A9C11C-2917-5DAA-8CCC-AFF417840BA7}"/>
              </a:ext>
            </a:extLst>
          </p:cNvPr>
          <p:cNvPicPr>
            <a:picLocks noChangeAspect="1"/>
          </p:cNvPicPr>
          <p:nvPr/>
        </p:nvPicPr>
        <p:blipFill>
          <a:blip r:embed="rId4"/>
          <a:stretch>
            <a:fillRect/>
          </a:stretch>
        </p:blipFill>
        <p:spPr>
          <a:xfrm>
            <a:off x="425677" y="2047537"/>
            <a:ext cx="4901802" cy="2565276"/>
          </a:xfrm>
          <a:prstGeom prst="rect">
            <a:avLst/>
          </a:prstGeom>
        </p:spPr>
      </p:pic>
      <p:sp>
        <p:nvSpPr>
          <p:cNvPr id="10" name="CuadroTexto 9">
            <a:extLst>
              <a:ext uri="{FF2B5EF4-FFF2-40B4-BE49-F238E27FC236}">
                <a16:creationId xmlns:a16="http://schemas.microsoft.com/office/drawing/2014/main" id="{37847606-70F6-2280-3581-F2A45B8DB9F2}"/>
              </a:ext>
            </a:extLst>
          </p:cNvPr>
          <p:cNvSpPr txBox="1"/>
          <p:nvPr/>
        </p:nvSpPr>
        <p:spPr>
          <a:xfrm>
            <a:off x="425677" y="5059088"/>
            <a:ext cx="5096937" cy="707886"/>
          </a:xfrm>
          <a:prstGeom prst="rect">
            <a:avLst/>
          </a:prstGeom>
          <a:noFill/>
        </p:spPr>
        <p:txBody>
          <a:bodyPr wrap="square">
            <a:spAutoFit/>
          </a:bodyPr>
          <a:lstStyle/>
          <a:p>
            <a:pPr algn="just"/>
            <a:r>
              <a:rPr lang="es-MX" sz="1000" dirty="0">
                <a:latin typeface="Montserrat" panose="00000500000000000000" pitchFamily="2" charset="0"/>
              </a:rPr>
              <a:t>Expansión Digital. (2026, 5 de febrero). </a:t>
            </a:r>
            <a:r>
              <a:rPr lang="es-MX" sz="1000" i="1" dirty="0">
                <a:latin typeface="Montserrat" panose="00000500000000000000" pitchFamily="2" charset="0"/>
              </a:rPr>
              <a:t>¿Por qué se celebra el 5 de febrero en México el día de la Constitución?</a:t>
            </a:r>
            <a:r>
              <a:rPr lang="es-MX" sz="1000" dirty="0">
                <a:latin typeface="Montserrat" panose="00000500000000000000" pitchFamily="2" charset="0"/>
              </a:rPr>
              <a:t> Expansión. </a:t>
            </a:r>
            <a:r>
              <a:rPr lang="es-MX" sz="1000" dirty="0">
                <a:latin typeface="Montserrat" panose="00000500000000000000" pitchFamily="2" charset="0"/>
                <a:hlinkClick r:id="rId5"/>
              </a:rPr>
              <a:t>https://expansion.mx/tendencias/2026/02/05/por-que-se-celebra-5-de-febrero-mexico-constitucion</a:t>
            </a:r>
            <a:endParaRPr lang="es-MX" sz="1000" dirty="0">
              <a:latin typeface="Montserrat" panose="00000500000000000000" pitchFamily="2" charset="0"/>
            </a:endParaRPr>
          </a:p>
        </p:txBody>
      </p:sp>
    </p:spTree>
    <p:extLst>
      <p:ext uri="{BB962C8B-B14F-4D97-AF65-F5344CB8AC3E}">
        <p14:creationId xmlns:p14="http://schemas.microsoft.com/office/powerpoint/2010/main" val="3216285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DCC169D-4AAC-22A9-FDA8-866B8A68381D}"/>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398EB869-2861-9428-0364-5867855ADDE9}"/>
              </a:ext>
            </a:extLst>
          </p:cNvPr>
          <p:cNvSpPr>
            <a:spLocks noGrp="1"/>
          </p:cNvSpPr>
          <p:nvPr>
            <p:ph type="title"/>
          </p:nvPr>
        </p:nvSpPr>
        <p:spPr>
          <a:xfrm>
            <a:off x="674467" y="734510"/>
            <a:ext cx="8521372" cy="974376"/>
          </a:xfrm>
        </p:spPr>
        <p:txBody>
          <a:bodyPr>
            <a:normAutofit/>
          </a:bodyPr>
          <a:lstStyle/>
          <a:p>
            <a:r>
              <a:rPr lang="es-MX" sz="3600" b="1" dirty="0">
                <a:solidFill>
                  <a:srgbClr val="245C4F"/>
                </a:solidFill>
                <a:latin typeface="Montserrat" pitchFamily="2" charset="77"/>
              </a:rPr>
              <a:t>Conclusiones</a:t>
            </a:r>
            <a:endParaRPr lang="es-MX" sz="3600" b="1" noProof="0" dirty="0">
              <a:solidFill>
                <a:srgbClr val="245C4F"/>
              </a:solidFill>
              <a:latin typeface="Montserrat" pitchFamily="2" charset="77"/>
            </a:endParaRPr>
          </a:p>
        </p:txBody>
      </p:sp>
      <p:sp>
        <p:nvSpPr>
          <p:cNvPr id="6" name="Marcador de contenido 5">
            <a:extLst>
              <a:ext uri="{FF2B5EF4-FFF2-40B4-BE49-F238E27FC236}">
                <a16:creationId xmlns:a16="http://schemas.microsoft.com/office/drawing/2014/main" id="{99A80811-DA41-B581-B4D5-1F975AA1F365}"/>
              </a:ext>
            </a:extLst>
          </p:cNvPr>
          <p:cNvSpPr>
            <a:spLocks noGrp="1"/>
          </p:cNvSpPr>
          <p:nvPr>
            <p:ph idx="1"/>
          </p:nvPr>
        </p:nvSpPr>
        <p:spPr>
          <a:xfrm>
            <a:off x="436120" y="1473139"/>
            <a:ext cx="10515600" cy="3619955"/>
          </a:xfrm>
        </p:spPr>
        <p:txBody>
          <a:bodyPr>
            <a:noAutofit/>
          </a:bodyPr>
          <a:lstStyle/>
          <a:p>
            <a:pPr algn="just"/>
            <a:r>
              <a:rPr lang="es-MX" sz="1600" dirty="0">
                <a:latin typeface="Century Gothic" panose="020B0502020202020204" pitchFamily="34" charset="0"/>
              </a:rPr>
              <a:t>Los derechos humanos pueden comprenderse desde diversas teorías jurídicas y filosóficas que explican su origen, fundamento, reconocimiento y protección. Estas perspectivas permiten entender que los derechos humanos no constituyen únicamente un conjunto de normas, sino que también responden a una concepción de la persona, su dignidad y su relación con el poder.</a:t>
            </a:r>
          </a:p>
          <a:p>
            <a:pPr algn="just"/>
            <a:r>
              <a:rPr lang="es-MX" sz="1600" dirty="0">
                <a:latin typeface="Century Gothic" panose="020B0502020202020204" pitchFamily="34" charset="0"/>
              </a:rPr>
              <a:t>El iusnaturalismo sostiene que los derechos tienen un fundamento inherente a la persona y anterior al reconocimiento estatal. El positivismo jurídico, por su parte, permite analizar la manera en que los derechos adquieren reconocimiento y protección dentro de un determinado ordenamiento jurídico.</a:t>
            </a:r>
          </a:p>
          <a:p>
            <a:pPr algn="just"/>
            <a:r>
              <a:rPr lang="es-MX" sz="1600" dirty="0">
                <a:latin typeface="Century Gothic" panose="020B0502020202020204" pitchFamily="34" charset="0"/>
              </a:rPr>
              <a:t>Las teorías contemporáneas complementan este análisis. Robert Alexy permite comprender los derechos fundamentales como principios que pueden entrar en conflicto y cuya aplicación requiere considerar las circunstancias del caso concreto. Luigi Ferrajoli destaca que el reconocimiento de un derecho debe acompañarse de garantías jurídicas que permitan protegerlo frente al ejercicio arbitrario del poder.</a:t>
            </a:r>
          </a:p>
          <a:p>
            <a:pPr algn="just"/>
            <a:r>
              <a:rPr lang="es-MX" sz="1600" dirty="0">
                <a:latin typeface="Century Gothic" panose="020B0502020202020204" pitchFamily="34" charset="0"/>
              </a:rPr>
              <a:t>En México, estas perspectivas encuentran expresión en el sistema constitucional de derechos humanos, particularmente a partir del artículo 1.º constitucional, que establece obligaciones para todas las autoridades en materia de promoción, respeto, protección y garantía de los derechos humanos.</a:t>
            </a:r>
          </a:p>
        </p:txBody>
      </p:sp>
      <p:sp>
        <p:nvSpPr>
          <p:cNvPr id="5" name="Título 1">
            <a:extLst>
              <a:ext uri="{FF2B5EF4-FFF2-40B4-BE49-F238E27FC236}">
                <a16:creationId xmlns:a16="http://schemas.microsoft.com/office/drawing/2014/main" id="{8BC8E68C-68C6-76D0-6C9D-6CBE8FEA5A73}"/>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Tree>
    <p:extLst>
      <p:ext uri="{BB962C8B-B14F-4D97-AF65-F5344CB8AC3E}">
        <p14:creationId xmlns:p14="http://schemas.microsoft.com/office/powerpoint/2010/main" val="3640947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A74908F-EFE9-2634-CC91-CDC049043804}"/>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5676AA59-7AFC-5C29-5062-8E8DBE631892}"/>
              </a:ext>
            </a:extLst>
          </p:cNvPr>
          <p:cNvSpPr>
            <a:spLocks noGrp="1"/>
          </p:cNvSpPr>
          <p:nvPr>
            <p:ph type="title"/>
          </p:nvPr>
        </p:nvSpPr>
        <p:spPr>
          <a:xfrm>
            <a:off x="674467" y="1041971"/>
            <a:ext cx="8521372" cy="974376"/>
          </a:xfrm>
        </p:spPr>
        <p:txBody>
          <a:bodyPr>
            <a:normAutofit/>
          </a:bodyPr>
          <a:lstStyle/>
          <a:p>
            <a:r>
              <a:rPr lang="es-MX" sz="3600" b="1" noProof="0" dirty="0">
                <a:solidFill>
                  <a:srgbClr val="245C4F"/>
                </a:solidFill>
                <a:latin typeface="Montserrat" pitchFamily="2" charset="77"/>
              </a:rPr>
              <a:t>Referencias</a:t>
            </a:r>
          </a:p>
        </p:txBody>
      </p:sp>
      <p:sp>
        <p:nvSpPr>
          <p:cNvPr id="6" name="Marcador de contenido 5">
            <a:extLst>
              <a:ext uri="{FF2B5EF4-FFF2-40B4-BE49-F238E27FC236}">
                <a16:creationId xmlns:a16="http://schemas.microsoft.com/office/drawing/2014/main" id="{F575F7A2-0F98-E8DB-1014-1D509D50F588}"/>
              </a:ext>
            </a:extLst>
          </p:cNvPr>
          <p:cNvSpPr>
            <a:spLocks noGrp="1"/>
          </p:cNvSpPr>
          <p:nvPr>
            <p:ph idx="1"/>
          </p:nvPr>
        </p:nvSpPr>
        <p:spPr>
          <a:xfrm>
            <a:off x="469513" y="1881435"/>
            <a:ext cx="10515600" cy="4351338"/>
          </a:xfrm>
        </p:spPr>
        <p:txBody>
          <a:bodyPr>
            <a:normAutofit fontScale="55000" lnSpcReduction="20000"/>
          </a:bodyPr>
          <a:lstStyle/>
          <a:p>
            <a:pPr algn="just"/>
            <a:r>
              <a:rPr lang="es-MX" sz="3200" dirty="0">
                <a:latin typeface="Century Gothic" panose="020B0502020202020204" pitchFamily="34" charset="0"/>
              </a:rPr>
              <a:t>Alexy, R. (2007). </a:t>
            </a:r>
            <a:r>
              <a:rPr lang="es-MX" sz="3200" i="1" dirty="0">
                <a:latin typeface="Century Gothic" panose="020B0502020202020204" pitchFamily="34" charset="0"/>
              </a:rPr>
              <a:t>Teoría de los derechos fundamentales</a:t>
            </a:r>
            <a:r>
              <a:rPr lang="es-MX" sz="3200" dirty="0">
                <a:latin typeface="Century Gothic" panose="020B0502020202020204" pitchFamily="34" charset="0"/>
              </a:rPr>
              <a:t> (2.ª ed.). Centro de Estudios Políticos y Constitucionales.</a:t>
            </a:r>
          </a:p>
          <a:p>
            <a:pPr algn="just"/>
            <a:r>
              <a:rPr lang="es-MX" sz="3200" dirty="0">
                <a:latin typeface="Century Gothic" panose="020B0502020202020204" pitchFamily="34" charset="0"/>
              </a:rPr>
              <a:t>Ferrajoli, L. (2009). </a:t>
            </a:r>
            <a:r>
              <a:rPr lang="es-MX" sz="3200" i="1" dirty="0">
                <a:latin typeface="Century Gothic" panose="020B0502020202020204" pitchFamily="34" charset="0"/>
              </a:rPr>
              <a:t>Derechos y garantías: La ley del más débil</a:t>
            </a:r>
            <a:r>
              <a:rPr lang="es-MX" sz="3200" dirty="0">
                <a:latin typeface="Century Gothic" panose="020B0502020202020204" pitchFamily="34" charset="0"/>
              </a:rPr>
              <a:t> (7.ª ed.). Trotta.</a:t>
            </a:r>
          </a:p>
          <a:p>
            <a:pPr algn="just"/>
            <a:r>
              <a:rPr lang="es-MX" sz="3200" dirty="0">
                <a:latin typeface="Century Gothic" panose="020B0502020202020204" pitchFamily="34" charset="0"/>
              </a:rPr>
              <a:t>Ferrajoli, L. (2011). </a:t>
            </a:r>
            <a:r>
              <a:rPr lang="es-MX" sz="3200" i="1" dirty="0">
                <a:latin typeface="Century Gothic" panose="020B0502020202020204" pitchFamily="34" charset="0"/>
              </a:rPr>
              <a:t>Principia iuris: Teoría del derecho y de la democracia. Vol. 1. Teoría del derecho</a:t>
            </a:r>
            <a:r>
              <a:rPr lang="es-MX" sz="3200" dirty="0">
                <a:latin typeface="Century Gothic" panose="020B0502020202020204" pitchFamily="34" charset="0"/>
              </a:rPr>
              <a:t>. Trotta.</a:t>
            </a:r>
          </a:p>
          <a:p>
            <a:pPr algn="just"/>
            <a:r>
              <a:rPr lang="es-MX" sz="3200" dirty="0">
                <a:latin typeface="Century Gothic" panose="020B0502020202020204" pitchFamily="34" charset="0"/>
              </a:rPr>
              <a:t>Kelsen, H. (2011). </a:t>
            </a:r>
            <a:r>
              <a:rPr lang="es-MX" sz="3200" i="1" dirty="0">
                <a:latin typeface="Century Gothic" panose="020B0502020202020204" pitchFamily="34" charset="0"/>
              </a:rPr>
              <a:t>Teoría pura del derecho</a:t>
            </a:r>
            <a:r>
              <a:rPr lang="es-MX" sz="3200" dirty="0">
                <a:latin typeface="Century Gothic" panose="020B0502020202020204" pitchFamily="34" charset="0"/>
              </a:rPr>
              <a:t> (16.ª ed.). Porrúa.</a:t>
            </a:r>
          </a:p>
          <a:p>
            <a:pPr algn="just"/>
            <a:r>
              <a:rPr lang="es-MX" sz="3200" dirty="0">
                <a:latin typeface="Century Gothic" panose="020B0502020202020204" pitchFamily="34" charset="0"/>
              </a:rPr>
              <a:t>Locke, J. (2006). </a:t>
            </a:r>
            <a:r>
              <a:rPr lang="es-MX" sz="3200" i="1" dirty="0">
                <a:latin typeface="Century Gothic" panose="020B0502020202020204" pitchFamily="34" charset="0"/>
              </a:rPr>
              <a:t>Segundo tratado sobre el gobierno civil</a:t>
            </a:r>
            <a:r>
              <a:rPr lang="es-MX" sz="3200" dirty="0">
                <a:latin typeface="Century Gothic" panose="020B0502020202020204" pitchFamily="34" charset="0"/>
              </a:rPr>
              <a:t>. Tecnos.</a:t>
            </a:r>
          </a:p>
          <a:p>
            <a:pPr algn="just"/>
            <a:r>
              <a:rPr lang="es-MX" sz="3200" dirty="0">
                <a:latin typeface="Century Gothic" panose="020B0502020202020204" pitchFamily="34" charset="0"/>
              </a:rPr>
              <a:t>Nino, C. S. (2007). </a:t>
            </a:r>
            <a:r>
              <a:rPr lang="es-MX" sz="3200" i="1" dirty="0">
                <a:latin typeface="Century Gothic" panose="020B0502020202020204" pitchFamily="34" charset="0"/>
              </a:rPr>
              <a:t>Introducción al análisis del derecho</a:t>
            </a:r>
            <a:r>
              <a:rPr lang="es-MX" sz="3200" dirty="0">
                <a:latin typeface="Century Gothic" panose="020B0502020202020204" pitchFamily="34" charset="0"/>
              </a:rPr>
              <a:t> (2.ª ed.). Astrea.</a:t>
            </a:r>
          </a:p>
          <a:p>
            <a:pPr algn="just"/>
            <a:r>
              <a:rPr lang="es-MX" sz="3200" b="1" dirty="0">
                <a:latin typeface="Century Gothic" panose="020B0502020202020204" pitchFamily="34" charset="0"/>
              </a:rPr>
              <a:t>Fuentes jurídicas</a:t>
            </a:r>
          </a:p>
          <a:p>
            <a:pPr algn="just"/>
            <a:r>
              <a:rPr lang="es-MX" sz="3200" dirty="0">
                <a:latin typeface="Century Gothic" panose="020B0502020202020204" pitchFamily="34" charset="0"/>
              </a:rPr>
              <a:t>Cámara de Diputados del H. Congreso de la Unión. (2026). </a:t>
            </a:r>
            <a:r>
              <a:rPr lang="es-MX" sz="3200" i="1" dirty="0">
                <a:latin typeface="Century Gothic" panose="020B0502020202020204" pitchFamily="34" charset="0"/>
              </a:rPr>
              <a:t>Constitución Política de los Estados Unidos Mexicanos</a:t>
            </a:r>
            <a:r>
              <a:rPr lang="es-MX" sz="3200" dirty="0">
                <a:latin typeface="Century Gothic" panose="020B0502020202020204" pitchFamily="34" charset="0"/>
              </a:rPr>
              <a:t>. </a:t>
            </a:r>
            <a:r>
              <a:rPr lang="es-MX" sz="3200" dirty="0">
                <a:latin typeface="Century Gothic" panose="020B0502020202020204" pitchFamily="34" charset="0"/>
                <a:hlinkClick r:id="rId3"/>
              </a:rPr>
              <a:t>https://www.diputados.gob.mx/LeyesBiblio/pdf/CPEUM.pdf</a:t>
            </a:r>
            <a:endParaRPr lang="es-MX" sz="3200" dirty="0">
              <a:latin typeface="Century Gothic" panose="020B0502020202020204" pitchFamily="34" charset="0"/>
            </a:endParaRPr>
          </a:p>
          <a:p>
            <a:pPr algn="just"/>
            <a:r>
              <a:rPr lang="es-MX" sz="3200" dirty="0">
                <a:latin typeface="Century Gothic" panose="020B0502020202020204" pitchFamily="34" charset="0"/>
              </a:rPr>
              <a:t>Suprema Corte de Justicia de la Nación. (2011). </a:t>
            </a:r>
            <a:r>
              <a:rPr lang="es-MX" sz="3200" i="1" dirty="0">
                <a:latin typeface="Century Gothic" panose="020B0502020202020204" pitchFamily="34" charset="0"/>
              </a:rPr>
              <a:t>Reformas constitucionales en materia de derechos humanos</a:t>
            </a:r>
            <a:r>
              <a:rPr lang="es-MX" sz="3200" dirty="0">
                <a:latin typeface="Century Gothic" panose="020B0502020202020204" pitchFamily="34" charset="0"/>
              </a:rPr>
              <a:t>. Suprema Corte de Justicia de la Nación.</a:t>
            </a:r>
          </a:p>
          <a:p>
            <a:pPr algn="just"/>
            <a:r>
              <a:rPr lang="es-MX" sz="3200" dirty="0">
                <a:latin typeface="Century Gothic" panose="020B0502020202020204" pitchFamily="34" charset="0"/>
              </a:rPr>
              <a:t>Organización de las Naciones Unidas. (1948). </a:t>
            </a:r>
            <a:r>
              <a:rPr lang="es-MX" sz="3200" i="1" dirty="0">
                <a:latin typeface="Century Gothic" panose="020B0502020202020204" pitchFamily="34" charset="0"/>
              </a:rPr>
              <a:t>Declaración Universal de los Derechos Humanos</a:t>
            </a:r>
            <a:r>
              <a:rPr lang="es-MX" sz="3200" dirty="0">
                <a:latin typeface="Century Gothic" panose="020B0502020202020204" pitchFamily="34" charset="0"/>
              </a:rPr>
              <a:t>. </a:t>
            </a:r>
            <a:r>
              <a:rPr lang="es-MX" sz="3200" dirty="0">
                <a:latin typeface="Century Gothic" panose="020B0502020202020204" pitchFamily="34" charset="0"/>
                <a:hlinkClick r:id="rId4"/>
              </a:rPr>
              <a:t>https://www.un.org/es/about-us/universal-declaration-of-human-rights</a:t>
            </a:r>
            <a:endParaRPr lang="es-MX" sz="3200" dirty="0">
              <a:latin typeface="Century Gothic" panose="020B0502020202020204" pitchFamily="34" charset="0"/>
            </a:endParaRPr>
          </a:p>
          <a:p>
            <a:pPr marL="0" indent="0">
              <a:buNone/>
            </a:pPr>
            <a:endParaRPr lang="es-MX" noProof="0" dirty="0"/>
          </a:p>
        </p:txBody>
      </p:sp>
      <p:sp>
        <p:nvSpPr>
          <p:cNvPr id="5" name="Título 1">
            <a:extLst>
              <a:ext uri="{FF2B5EF4-FFF2-40B4-BE49-F238E27FC236}">
                <a16:creationId xmlns:a16="http://schemas.microsoft.com/office/drawing/2014/main" id="{3D3D23A3-FC94-D5F7-94BB-F609D0426A18}"/>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Tree>
    <p:extLst>
      <p:ext uri="{BB962C8B-B14F-4D97-AF65-F5344CB8AC3E}">
        <p14:creationId xmlns:p14="http://schemas.microsoft.com/office/powerpoint/2010/main" val="1072034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Marcador de texto 1">
            <a:extLst>
              <a:ext uri="{FF2B5EF4-FFF2-40B4-BE49-F238E27FC236}">
                <a16:creationId xmlns:a16="http://schemas.microsoft.com/office/drawing/2014/main" id="{74122129-FC8A-B799-371B-7E035F9C36B1}"/>
              </a:ext>
            </a:extLst>
          </p:cNvPr>
          <p:cNvSpPr txBox="1">
            <a:spLocks/>
          </p:cNvSpPr>
          <p:nvPr/>
        </p:nvSpPr>
        <p:spPr>
          <a:xfrm>
            <a:off x="0" y="4247292"/>
            <a:ext cx="12192000" cy="9017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77">
              <a:buNone/>
              <a:defRPr/>
            </a:pPr>
            <a:r>
              <a:rPr lang="es-MX" sz="4000" b="1" noProof="0" dirty="0">
                <a:solidFill>
                  <a:srgbClr val="245C4F"/>
                </a:solidFill>
                <a:latin typeface="Montserrat" pitchFamily="2" charset="77"/>
              </a:rPr>
              <a:t>Gracias</a:t>
            </a:r>
          </a:p>
          <a:p>
            <a:pPr defTabSz="914377">
              <a:defRPr/>
            </a:pPr>
            <a:endParaRPr lang="es-MX" noProof="0" dirty="0"/>
          </a:p>
        </p:txBody>
      </p:sp>
    </p:spTree>
    <p:extLst>
      <p:ext uri="{BB962C8B-B14F-4D97-AF65-F5344CB8AC3E}">
        <p14:creationId xmlns:p14="http://schemas.microsoft.com/office/powerpoint/2010/main" val="354541923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2071</TotalTime>
  <Words>2565</Words>
  <Application>Microsoft Office PowerPoint</Application>
  <PresentationFormat>Panorámica</PresentationFormat>
  <Paragraphs>151</Paragraphs>
  <Slides>21</Slides>
  <Notes>12</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21</vt:i4>
      </vt:variant>
    </vt:vector>
  </HeadingPairs>
  <TitlesOfParts>
    <vt:vector size="30" baseType="lpstr">
      <vt:lpstr>Aptos</vt:lpstr>
      <vt:lpstr>Aptos Display</vt:lpstr>
      <vt:lpstr>Arial</vt:lpstr>
      <vt:lpstr>Century Gothic</vt:lpstr>
      <vt:lpstr>Montserrat</vt:lpstr>
      <vt:lpstr>Montserrat Medium</vt:lpstr>
      <vt:lpstr>Montserrat SemiBold</vt:lpstr>
      <vt:lpstr>Wingdings</vt:lpstr>
      <vt:lpstr>Tema de Office</vt:lpstr>
      <vt:lpstr>Presentación de PowerPoint</vt:lpstr>
      <vt:lpstr>Presentación de PowerPoint</vt:lpstr>
      <vt:lpstr>Soy Licenciado en Derecho por la Universidad Veracruzana, donde obtuve el grado con mención honorífica y promedio general de 9.2. Posteriormente cursé la Maestría en Derechos Humanos y Justicia Constitucional en la misma institución, también con mención honorífica y promedio de 9.0. Además soy Doctorante en Derecho por el Instituto de Investigaciones Jurídicas de la Universidad Veracruzana.   Mis principales intereses académicos se centran en el derecho público, los derechos humanos, la gobernanza y las políticas públicas, así como en el papel del derecho en el fortalecimiento de las instituciones públicas.  En el ámbito académico, me he desempeñado como docente en la Universidad Abierta y a Distancia de México (UnADM). Asimismo, he participado como coautor en diversas publicaciones especializadas en derechos humanos, particularmente en temas relacionados con derechos de la niñez, derecho de propiedad y violencia patrimonial en contextos rurales, destacando el capítulo “Convencionalidad de la autorización a la enajenación de bienes de niñas, niños y adolescentes. La autonomía progresiva y el interés superior de la niñez y la adolescencia” (2023).(UnADM). En el servicio público, destaqué como Procurador de Protección de Niñas, Niños y Adolescentes, participando en la protección y restitución de los derechos de la niñez y adolescencia.   Actualmente me desempeño como abogado postulante en materia de derecho familiar y docente universitario. .</vt:lpstr>
      <vt:lpstr>Introducción a la asignatura </vt:lpstr>
      <vt:lpstr>1.¿De dónde vienen los derechos humanos?   </vt:lpstr>
      <vt:lpstr>2. ¿Qué son los derechos humanos?  </vt:lpstr>
      <vt:lpstr>3. El problema de la fundamentación </vt:lpstr>
      <vt:lpstr>4. Iusnaturalismo   </vt:lpstr>
      <vt:lpstr>5. Derechos naturales y limites al poder </vt:lpstr>
      <vt:lpstr>9. Positivismo jurídico </vt:lpstr>
      <vt:lpstr>9. Positivismo jurídico </vt:lpstr>
      <vt:lpstr>9. Pirámide de Kelsen en la actualidad </vt:lpstr>
      <vt:lpstr>10. Iusnaturalismo Vs. Positivismo  </vt:lpstr>
      <vt:lpstr>11. Dignidad Humana </vt:lpstr>
      <vt:lpstr>11. Dignidad Humana </vt:lpstr>
      <vt:lpstr>12. Fundamentos teóricos de los Derechos Humanos  </vt:lpstr>
      <vt:lpstr>12. Fundamentos teóricos de los Derechos Humanos  </vt:lpstr>
      <vt:lpstr>13. La Constitución Política de los Estados Unidos Mexicanos </vt:lpstr>
      <vt:lpstr>Conclusiones</vt:lpstr>
      <vt:lpstr>Referencias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Antecedetes de los Derechos Humanos</dc:title>
  <dc:creator>Mtro. Daniel Alexis Lozano Ortega</dc:creator>
  <cp:keywords>Derecho - UnADM</cp:keywords>
  <cp:lastModifiedBy>LOZANO ORTEGA DANIEL ALEXIS</cp:lastModifiedBy>
  <cp:revision>31</cp:revision>
  <dcterms:created xsi:type="dcterms:W3CDTF">2024-03-22T19:16:03Z</dcterms:created>
  <dcterms:modified xsi:type="dcterms:W3CDTF">2026-10-03T19:47:09Z</dcterms:modified>
</cp:coreProperties>
</file>