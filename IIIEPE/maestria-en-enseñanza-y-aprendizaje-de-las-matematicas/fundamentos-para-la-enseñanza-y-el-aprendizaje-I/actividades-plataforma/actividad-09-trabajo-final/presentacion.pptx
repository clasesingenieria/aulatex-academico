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6911975" cy="4319588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4AEE82-D862-4297-A417-B4EE921335AD}" type="datetimeFigureOut">
              <a:rPr lang="es-MX" smtClean="0"/>
              <a:t>13/10/2026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F3DE6D-ED7C-4916-8C8D-8DC6F0221D5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8509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Fuente: https://evaposgrados.iiiepe.edu.mx/aula/mod/assign/view.php?id=47651</a:t>
            </a:r>
          </a:p>
          <a:p>
            <a:r>
              <a:rPr lang="es-MX"/>
              <a:t>Referencias:</a:t>
            </a:r>
          </a:p>
          <a:p>
            <a:r>
              <a:rPr lang="es-MX"/>
              <a:t>Bronfenbrenner, U. (1987). La ecología del desarrollo humano. Paidós.
Colegio Nacional de Educación Profesional Técnica. (2025). Perfil de
egreso: Profesional Técnico-Bachiller en Mecatrónica. Modelo Académico
2025. Secretaría Académica.
https://www.conalep.edu.mx/sites/default/files/micrositios/perfil_egreso_2025/ElectyElectro/PE25_Mecatr%C3%B3nica.pdf
Secretaría de Educación Pública. (2022a). Plan de Estudio para la
educación preescolar, primaria y secundaria. SEP.
Secretaría de Educación Pública. (2022b). Sugerencias metodológicas para
el desarrollo de los proyectos educativos [Extracto de Avance del
contenido para el libro del docente. Primer grado, material en proceso
de edición, pp. 64–82, 23–24]. SEP.
Secretaría de Educación Pública. (2024). Programa de estudio para la
educación secundaria: Programa sintético de la Fase 6. SEP.
Tong, P., &amp; An, I. S. (2024). Review of studies applying
Bronfenbrenner’s bioecological theory in international and intercultural
education research. Frontiers in Psychology, 14, Article 1233925.
https://doi.org/10.3389/fpsyg.2023.1233925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F3DE6D-ED7C-4916-8C8D-8DC6F0221D5A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77207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Fuente: https://evaposgrados.iiiepe.edu.mx/aula/mod/assign/view.php?id=47651</a:t>
            </a:r>
          </a:p>
          <a:p>
            <a:r>
              <a:rPr lang="es-MX"/>
              <a:t>Referencias:</a:t>
            </a:r>
          </a:p>
          <a:p>
            <a:r>
              <a:rPr lang="es-MX"/>
              <a:t>Bronfenbrenner, U. (1987). La ecología del desarrollo humano. Paidós.
Colegio Nacional de Educación Profesional Técnica. (2025). Perfil de
egreso: Profesional Técnico-Bachiller en Mecatrónica. Modelo Académico
2025. Secretaría Académica.
https://www.conalep.edu.mx/sites/default/files/micrositios/perfil_egreso_2025/ElectyElectro/PE25_Mecatr%C3%B3nica.pdf
Secretaría de Educación Pública. (2022a). Plan de Estudio para la
educación preescolar, primaria y secundaria. SEP.
Secretaría de Educación Pública. (2022b). Sugerencias metodológicas para
el desarrollo de los proyectos educativos [Extracto de Avance del
contenido para el libro del docente. Primer grado, material en proceso
de edición, pp. 64–82, 23–24]. SEP.
Secretaría de Educación Pública. (2024). Programa de estudio para la
educación secundaria: Programa sintético de la Fase 6. SEP.
Tong, P., &amp; An, I. S. (2024). Review of studies applying
Bronfenbrenner’s bioecological theory in international and intercultural
education research. Frontiers in Psychology, 14, Article 1233925.
https://doi.org/10.3389/fpsyg.2023.1233925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F3DE6D-ED7C-4916-8C8D-8DC6F0221D5A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760233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Fuente: https://evaposgrados.iiiepe.edu.mx/aula/mod/assign/view.php?id=47651</a:t>
            </a:r>
          </a:p>
          <a:p>
            <a:r>
              <a:rPr lang="es-MX"/>
              <a:t>Referencias:</a:t>
            </a:r>
          </a:p>
          <a:p>
            <a:r>
              <a:rPr lang="es-MX"/>
              <a:t>Bronfenbrenner, U. (1987). La ecología del desarrollo humano. Paidós.
Colegio Nacional de Educación Profesional Técnica. (2025). Perfil de
egreso: Profesional Técnico-Bachiller en Mecatrónica. Modelo Académico
2025. Secretaría Académica.
https://www.conalep.edu.mx/sites/default/files/micrositios/perfil_egreso_2025/ElectyElectro/PE25_Mecatr%C3%B3nica.pdf
Secretaría de Educación Pública. (2022a). Plan de Estudio para la
educación preescolar, primaria y secundaria. SEP.
Secretaría de Educación Pública. (2022b). Sugerencias metodológicas para
el desarrollo de los proyectos educativos [Extracto de Avance del
contenido para el libro del docente. Primer grado, material en proceso
de edición, pp. 64–82, 23–24]. SEP.
Secretaría de Educación Pública. (2024). Programa de estudio para la
educación secundaria: Programa sintético de la Fase 6. SEP.
Tong, P., &amp; An, I. S. (2024). Review of studies applying
Bronfenbrenner’s bioecological theory in international and intercultural
education research. Frontiers in Psychology, 14, Article 1233925.
https://doi.org/10.3389/fpsyg.2023.1233925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F3DE6D-ED7C-4916-8C8D-8DC6F0221D5A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5843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Fuente: https://evaposgrados.iiiepe.edu.mx/aula/mod/assign/view.php?id=47651</a:t>
            </a:r>
          </a:p>
          <a:p>
            <a:r>
              <a:rPr lang="es-MX"/>
              <a:t>Referencias:</a:t>
            </a:r>
          </a:p>
          <a:p>
            <a:r>
              <a:rPr lang="es-MX"/>
              <a:t>Bronfenbrenner, U. (1987). La ecología del desarrollo humano. Paidós.
Colegio Nacional de Educación Profesional Técnica. (2025). Perfil de
egreso: Profesional Técnico-Bachiller en Mecatrónica. Modelo Académico
2025. Secretaría Académica.
https://www.conalep.edu.mx/sites/default/files/micrositios/perfil_egreso_2025/ElectyElectro/PE25_Mecatr%C3%B3nica.pdf
Secretaría de Educación Pública. (2022a). Plan de Estudio para la
educación preescolar, primaria y secundaria. SEP.
Secretaría de Educación Pública. (2022b). Sugerencias metodológicas para
el desarrollo de los proyectos educativos [Extracto de Avance del
contenido para el libro del docente. Primer grado, material en proceso
de edición, pp. 64–82, 23–24]. SEP.
Secretaría de Educación Pública. (2024). Programa de estudio para la
educación secundaria: Programa sintético de la Fase 6. SEP.
Tong, P., &amp; An, I. S. (2024). Review of studies applying
Bronfenbrenner’s bioecological theory in international and intercultural
education research. Frontiers in Psychology, 14, Article 1233925.
https://doi.org/10.3389/fpsyg.2023.1233925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F3DE6D-ED7C-4916-8C8D-8DC6F0221D5A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756638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Fuente: https://evaposgrados.iiiepe.edu.mx/aula/mod/assign/view.php?id=47651</a:t>
            </a:r>
          </a:p>
          <a:p>
            <a:r>
              <a:rPr lang="es-MX"/>
              <a:t>Referencias:</a:t>
            </a:r>
          </a:p>
          <a:p>
            <a:r>
              <a:rPr lang="es-MX"/>
              <a:t>Bronfenbrenner, U. (1987). La ecología del desarrollo humano. Paidós.
Colegio Nacional de Educación Profesional Técnica. (2025). Perfil de
egreso: Profesional Técnico-Bachiller en Mecatrónica. Modelo Académico
2025. Secretaría Académica.
https://www.conalep.edu.mx/sites/default/files/micrositios/perfil_egreso_2025/ElectyElectro/PE25_Mecatr%C3%B3nica.pdf
Secretaría de Educación Pública. (2022a). Plan de Estudio para la
educación preescolar, primaria y secundaria. SEP.
Secretaría de Educación Pública. (2022b). Sugerencias metodológicas para
el desarrollo de los proyectos educativos [Extracto de Avance del
contenido para el libro del docente. Primer grado, material en proceso
de edición, pp. 64–82, 23–24]. SEP.
Secretaría de Educación Pública. (2024). Programa de estudio para la
educación secundaria: Programa sintético de la Fase 6. SEP.
Tong, P., &amp; An, I. S. (2024). Review of studies applying
Bronfenbrenner’s bioecological theory in international and intercultural
education research. Frontiers in Psychology, 14, Article 1233925.
https://doi.org/10.3389/fpsyg.2023.1233925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F3DE6D-ED7C-4916-8C8D-8DC6F0221D5A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040569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Fuente: https://evaposgrados.iiiepe.edu.mx/aula/mod/assign/view.php?id=47651</a:t>
            </a:r>
          </a:p>
          <a:p>
            <a:r>
              <a:rPr lang="es-MX"/>
              <a:t>Referencias:</a:t>
            </a:r>
          </a:p>
          <a:p>
            <a:r>
              <a:rPr lang="es-MX"/>
              <a:t>Bronfenbrenner, U. (1987). La ecología del desarrollo humano. Paidós.
Colegio Nacional de Educación Profesional Técnica. (2025). Perfil de
egreso: Profesional Técnico-Bachiller en Mecatrónica. Modelo Académico
2025. Secretaría Académica.
https://www.conalep.edu.mx/sites/default/files/micrositios/perfil_egreso_2025/ElectyElectro/PE25_Mecatr%C3%B3nica.pdf
Secretaría de Educación Pública. (2022a). Plan de Estudio para la
educación preescolar, primaria y secundaria. SEP.
Secretaría de Educación Pública. (2022b). Sugerencias metodológicas para
el desarrollo de los proyectos educativos [Extracto de Avance del
contenido para el libro del docente. Primer grado, material en proceso
de edición, pp. 64–82, 23–24]. SEP.
Secretaría de Educación Pública. (2024). Programa de estudio para la
educación secundaria: Programa sintético de la Fase 6. SEP.
Tong, P., &amp; An, I. S. (2024). Review of studies applying
Bronfenbrenner’s bioecological theory in international and intercultural
education research. Frontiers in Psychology, 14, Article 1233925.
https://doi.org/10.3389/fpsyg.2023.1233925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F3DE6D-ED7C-4916-8C8D-8DC6F0221D5A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7831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Fuente: https://evaposgrados.iiiepe.edu.mx/aula/mod/assign/view.php?id=47651</a:t>
            </a:r>
          </a:p>
          <a:p>
            <a:r>
              <a:rPr lang="es-MX"/>
              <a:t>Referencias:</a:t>
            </a:r>
          </a:p>
          <a:p>
            <a:r>
              <a:rPr lang="es-MX"/>
              <a:t>Bronfenbrenner, U. (1987). La ecología del desarrollo humano. Paidós.
Colegio Nacional de Educación Profesional Técnica. (2025). Perfil de
egreso: Profesional Técnico-Bachiller en Mecatrónica. Modelo Académico
2025. Secretaría Académica.
https://www.conalep.edu.mx/sites/default/files/micrositios/perfil_egreso_2025/ElectyElectro/PE25_Mecatr%C3%B3nica.pdf
Secretaría de Educación Pública. (2022a). Plan de Estudio para la
educación preescolar, primaria y secundaria. SEP.
Secretaría de Educación Pública. (2022b). Sugerencias metodológicas para
el desarrollo de los proyectos educativos [Extracto de Avance del
contenido para el libro del docente. Primer grado, material en proceso
de edición, pp. 64–82, 23–24]. SEP.
Secretaría de Educación Pública. (2024). Programa de estudio para la
educación secundaria: Programa sintético de la Fase 6. SEP.
Tong, P., &amp; An, I. S. (2024). Review of studies applying
Bronfenbrenner’s bioecological theory in international and intercultural
education research. Frontiers in Psychology, 14, Article 1233925.
https://doi.org/10.3389/fpsyg.2023.1233925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F3DE6D-ED7C-4916-8C8D-8DC6F0221D5A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952707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Fuente: https://evaposgrados.iiiepe.edu.mx/aula/mod/assign/view.php?id=47651</a:t>
            </a:r>
          </a:p>
          <a:p>
            <a:r>
              <a:rPr lang="es-MX"/>
              <a:t>Referencias:</a:t>
            </a:r>
          </a:p>
          <a:p>
            <a:r>
              <a:rPr lang="es-MX"/>
              <a:t>Bronfenbrenner, U. (1987). La ecología del desarrollo humano. Paidós.
Colegio Nacional de Educación Profesional Técnica. (2025). Perfil de
egreso: Profesional Técnico-Bachiller en Mecatrónica. Modelo Académico
2025. Secretaría Académica.
https://www.conalep.edu.mx/sites/default/files/micrositios/perfil_egreso_2025/ElectyElectro/PE25_Mecatr%C3%B3nica.pdf
Secretaría de Educación Pública. (2022a). Plan de Estudio para la
educación preescolar, primaria y secundaria. SEP.
Secretaría de Educación Pública. (2022b). Sugerencias metodológicas para
el desarrollo de los proyectos educativos [Extracto de Avance del
contenido para el libro del docente. Primer grado, material en proceso
de edición, pp. 64–82, 23–24]. SEP.
Secretaría de Educación Pública. (2024). Programa de estudio para la
educación secundaria: Programa sintético de la Fase 6. SEP.
Tong, P., &amp; An, I. S. (2024). Review of studies applying
Bronfenbrenner’s bioecological theory in international and intercultural
education research. Frontiers in Psychology, 14, Article 1233925.
https://doi.org/10.3389/fpsyg.2023.1233925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F3DE6D-ED7C-4916-8C8D-8DC6F0221D5A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50898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Fuente: https://evaposgrados.iiiepe.edu.mx/aula/mod/assign/view.php?id=47651</a:t>
            </a:r>
          </a:p>
          <a:p>
            <a:r>
              <a:rPr lang="es-MX"/>
              <a:t>Referencias:</a:t>
            </a:r>
          </a:p>
          <a:p>
            <a:r>
              <a:rPr lang="es-MX"/>
              <a:t>Bronfenbrenner, U. (1987). La ecología del desarrollo humano. Paidós.
Colegio Nacional de Educación Profesional Técnica. (2025). Perfil de
egreso: Profesional Técnico-Bachiller en Mecatrónica. Modelo Académico
2025. Secretaría Académica.
https://www.conalep.edu.mx/sites/default/files/micrositios/perfil_egreso_2025/ElectyElectro/PE25_Mecatr%C3%B3nica.pdf
Secretaría de Educación Pública. (2022a). Plan de Estudio para la
educación preescolar, primaria y secundaria. SEP.
Secretaría de Educación Pública. (2022b). Sugerencias metodológicas para
el desarrollo de los proyectos educativos [Extracto de Avance del
contenido para el libro del docente. Primer grado, material en proceso
de edición, pp. 64–82, 23–24]. SEP.
Secretaría de Educación Pública. (2024). Programa de estudio para la
educación secundaria: Programa sintético de la Fase 6. SEP.
Tong, P., &amp; An, I. S. (2024). Review of studies applying
Bronfenbrenner’s bioecological theory in international and intercultural
education research. Frontiers in Psychology, 14, Article 1233925.
https://doi.org/10.3389/fpsyg.2023.1233925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F3DE6D-ED7C-4916-8C8D-8DC6F0221D5A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085791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Fuente: https://evaposgrados.iiiepe.edu.mx/aula/mod/assign/view.php?id=47651</a:t>
            </a:r>
          </a:p>
          <a:p>
            <a:r>
              <a:rPr lang="es-MX"/>
              <a:t>Referencias:</a:t>
            </a:r>
          </a:p>
          <a:p>
            <a:r>
              <a:rPr lang="es-MX"/>
              <a:t>Bronfenbrenner, U. (1987). La ecología del desarrollo humano. Paidós.
Colegio Nacional de Educación Profesional Técnica. (2025). Perfil de
egreso: Profesional Técnico-Bachiller en Mecatrónica. Modelo Académico
2025. Secretaría Académica.
https://www.conalep.edu.mx/sites/default/files/micrositios/perfil_egreso_2025/ElectyElectro/PE25_Mecatr%C3%B3nica.pdf
Secretaría de Educación Pública. (2022a). Plan de Estudio para la
educación preescolar, primaria y secundaria. SEP.
Secretaría de Educación Pública. (2022b). Sugerencias metodológicas para
el desarrollo de los proyectos educativos [Extracto de Avance del
contenido para el libro del docente. Primer grado, material en proceso
de edición, pp. 64–82, 23–24]. SEP.
Secretaría de Educación Pública. (2024). Programa de estudio para la
educación secundaria: Programa sintético de la Fase 6. SEP.
Tong, P., &amp; An, I. S. (2024). Review of studies applying
Bronfenbrenner’s bioecological theory in international and intercultural
education research. Frontiers in Psychology, 14, Article 1233925.
https://doi.org/10.3389/fpsyg.2023.1233925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F3DE6D-ED7C-4916-8C8D-8DC6F0221D5A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775668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Fuente: https://evaposgrados.iiiepe.edu.mx/aula/mod/assign/view.php?id=47651</a:t>
            </a:r>
          </a:p>
          <a:p>
            <a:r>
              <a:rPr lang="es-MX"/>
              <a:t>Referencias:</a:t>
            </a:r>
          </a:p>
          <a:p>
            <a:r>
              <a:rPr lang="es-MX"/>
              <a:t>Bronfenbrenner, U. (1987). La ecología del desarrollo humano. Paidós.
Colegio Nacional de Educación Profesional Técnica. (2025). Perfil de
egreso: Profesional Técnico-Bachiller en Mecatrónica. Modelo Académico
2025. Secretaría Académica.
https://www.conalep.edu.mx/sites/default/files/micrositios/perfil_egreso_2025/ElectyElectro/PE25_Mecatr%C3%B3nica.pdf
Secretaría de Educación Pública. (2022a). Plan de Estudio para la
educación preescolar, primaria y secundaria. SEP.
Secretaría de Educación Pública. (2022b). Sugerencias metodológicas para
el desarrollo de los proyectos educativos [Extracto de Avance del
contenido para el libro del docente. Primer grado, material en proceso
de edición, pp. 64–82, 23–24]. SEP.
Secretaría de Educación Pública. (2024). Programa de estudio para la
educación secundaria: Programa sintético de la Fase 6. SEP.
Tong, P., &amp; An, I. S. (2024). Review of studies applying
Bronfenbrenner’s bioecological theory in international and intercultural
education research. Frontiers in Psychology, 14, Article 1233925.
https://doi.org/10.3389/fpsyg.2023.1233925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F3DE6D-ED7C-4916-8C8D-8DC6F0221D5A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06843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Fuente: https://evaposgrados.iiiepe.edu.mx/aula/mod/assign/view.php?id=47651</a:t>
            </a:r>
          </a:p>
          <a:p>
            <a:r>
              <a:rPr lang="es-MX"/>
              <a:t>Referencias:</a:t>
            </a:r>
          </a:p>
          <a:p>
            <a:r>
              <a:rPr lang="es-MX"/>
              <a:t>Bronfenbrenner, U. (1987). La ecología del desarrollo humano. Paidós.
Colegio Nacional de Educación Profesional Técnica. (2025). Perfil de
egreso: Profesional Técnico-Bachiller en Mecatrónica. Modelo Académico
2025. Secretaría Académica.
https://www.conalep.edu.mx/sites/default/files/micrositios/perfil_egreso_2025/ElectyElectro/PE25_Mecatr%C3%B3nica.pdf
Secretaría de Educación Pública. (2022a). Plan de Estudio para la
educación preescolar, primaria y secundaria. SEP.
Secretaría de Educación Pública. (2022b). Sugerencias metodológicas para
el desarrollo de los proyectos educativos [Extracto de Avance del
contenido para el libro del docente. Primer grado, material en proceso
de edición, pp. 64–82, 23–24]. SEP.
Secretaría de Educación Pública. (2024). Programa de estudio para la
educación secundaria: Programa sintético de la Fase 6. SEP.
Tong, P., &amp; An, I. S. (2024). Review of studies applying
Bronfenbrenner’s bioecological theory in international and intercultural
education research. Frontiers in Psychology, 14, Article 1233925.
https://doi.org/10.3389/fpsyg.2023.1233925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F3DE6D-ED7C-4916-8C8D-8DC6F0221D5A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448153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Fuente: https://evaposgrados.iiiepe.edu.mx/aula/mod/assign/view.php?id=47651</a:t>
            </a:r>
          </a:p>
          <a:p>
            <a:r>
              <a:rPr lang="es-MX"/>
              <a:t>Referencias:</a:t>
            </a:r>
          </a:p>
          <a:p>
            <a:r>
              <a:rPr lang="es-MX"/>
              <a:t>Bronfenbrenner, U. (1987). La ecología del desarrollo humano. Paidós.
Colegio Nacional de Educación Profesional Técnica. (2025). Perfil de
egreso: Profesional Técnico-Bachiller en Mecatrónica. Modelo Académico
2025. Secretaría Académica.
https://www.conalep.edu.mx/sites/default/files/micrositios/perfil_egreso_2025/ElectyElectro/PE25_Mecatr%C3%B3nica.pdf
Secretaría de Educación Pública. (2022a). Plan de Estudio para la
educación preescolar, primaria y secundaria. SEP.
Secretaría de Educación Pública. (2022b). Sugerencias metodológicas para
el desarrollo de los proyectos educativos [Extracto de Avance del
contenido para el libro del docente. Primer grado, material en proceso
de edición, pp. 64–82, 23–24]. SEP.
Secretaría de Educación Pública. (2024). Programa de estudio para la
educación secundaria: Programa sintético de la Fase 6. SEP.
Tong, P., &amp; An, I. S. (2024). Review of studies applying
Bronfenbrenner’s bioecological theory in international and intercultural
education research. Frontiers in Psychology, 14, Article 1233925.
https://doi.org/10.3389/fpsyg.2023.1233925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F3DE6D-ED7C-4916-8C8D-8DC6F0221D5A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43605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D1ECBE-B393-79A7-9A8C-9C7816D7BC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3998" y="706933"/>
            <a:ext cx="5183981" cy="1503857"/>
          </a:xfrm>
        </p:spPr>
        <p:txBody>
          <a:bodyPr anchor="b"/>
          <a:lstStyle>
            <a:lvl1pPr algn="ctr">
              <a:defRPr sz="2142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8768B9-6F07-BB6B-2F98-E474098365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3998" y="2268784"/>
            <a:ext cx="5183981" cy="1042900"/>
          </a:xfrm>
        </p:spPr>
        <p:txBody>
          <a:bodyPr/>
          <a:lstStyle>
            <a:lvl1pPr marL="0" indent="0" algn="ctr">
              <a:buNone/>
              <a:defRPr sz="857"/>
            </a:lvl1pPr>
            <a:lvl2pPr marL="163262" indent="0" algn="ctr">
              <a:buNone/>
              <a:defRPr sz="714"/>
            </a:lvl2pPr>
            <a:lvl3pPr marL="326523" indent="0" algn="ctr">
              <a:buNone/>
              <a:defRPr sz="642"/>
            </a:lvl3pPr>
            <a:lvl4pPr marL="489785" indent="0" algn="ctr">
              <a:buNone/>
              <a:defRPr sz="571"/>
            </a:lvl4pPr>
            <a:lvl5pPr marL="653047" indent="0" algn="ctr">
              <a:buNone/>
              <a:defRPr sz="571"/>
            </a:lvl5pPr>
            <a:lvl6pPr marL="816308" indent="0" algn="ctr">
              <a:buNone/>
              <a:defRPr sz="571"/>
            </a:lvl6pPr>
            <a:lvl7pPr marL="979570" indent="0" algn="ctr">
              <a:buNone/>
              <a:defRPr sz="571"/>
            </a:lvl7pPr>
            <a:lvl8pPr marL="1142832" indent="0" algn="ctr">
              <a:buNone/>
              <a:defRPr sz="571"/>
            </a:lvl8pPr>
            <a:lvl9pPr marL="1306093" indent="0" algn="ctr">
              <a:buNone/>
              <a:defRPr sz="571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E96330-D9F4-992F-B8E2-1C65312B1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D8D8-B8A3-4A91-BF0A-3D20337D3EC7}" type="datetimeFigureOut">
              <a:rPr lang="es-MX" smtClean="0"/>
              <a:t>13/10/2026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6829BE-F8F0-1416-9D5C-89852B4F6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EC09C5-0D93-6FB6-C5BE-3658F624D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A7D05-3D2A-487C-9383-1FF830A56D8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48330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7A29F-DF94-58C2-1099-6458F4258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C4FC95-1645-C898-15FB-11B81E29A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FB5BE6-7711-9D14-747C-CB0A7B590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D8D8-B8A3-4A91-BF0A-3D20337D3EC7}" type="datetimeFigureOut">
              <a:rPr lang="es-MX" smtClean="0"/>
              <a:t>13/10/2026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3B0BA8-21B1-AB1D-8DF1-A5E6D11CC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B66B33-365B-9526-9D18-4CD0AE483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A7D05-3D2A-487C-9383-1FF830A56D8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49466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FFCD5F-C9DE-935B-106C-9F8308575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599" y="1076899"/>
            <a:ext cx="5961578" cy="1796828"/>
          </a:xfrm>
        </p:spPr>
        <p:txBody>
          <a:bodyPr anchor="b"/>
          <a:lstStyle>
            <a:lvl1pPr>
              <a:defRPr sz="2142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9E19D2-5223-273D-2A80-8C4F05F69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599" y="2890725"/>
            <a:ext cx="5961578" cy="944910"/>
          </a:xfrm>
        </p:spPr>
        <p:txBody>
          <a:bodyPr/>
          <a:lstStyle>
            <a:lvl1pPr marL="0" indent="0">
              <a:buNone/>
              <a:defRPr sz="857">
                <a:solidFill>
                  <a:schemeClr val="tx1">
                    <a:tint val="82000"/>
                  </a:schemeClr>
                </a:solidFill>
              </a:defRPr>
            </a:lvl1pPr>
            <a:lvl2pPr marL="163262" indent="0">
              <a:buNone/>
              <a:defRPr sz="714">
                <a:solidFill>
                  <a:schemeClr val="tx1">
                    <a:tint val="82000"/>
                  </a:schemeClr>
                </a:solidFill>
              </a:defRPr>
            </a:lvl2pPr>
            <a:lvl3pPr marL="326523" indent="0">
              <a:buNone/>
              <a:defRPr sz="642">
                <a:solidFill>
                  <a:schemeClr val="tx1">
                    <a:tint val="82000"/>
                  </a:schemeClr>
                </a:solidFill>
              </a:defRPr>
            </a:lvl3pPr>
            <a:lvl4pPr marL="489785" indent="0">
              <a:buNone/>
              <a:defRPr sz="571">
                <a:solidFill>
                  <a:schemeClr val="tx1">
                    <a:tint val="82000"/>
                  </a:schemeClr>
                </a:solidFill>
              </a:defRPr>
            </a:lvl4pPr>
            <a:lvl5pPr marL="653047" indent="0">
              <a:buNone/>
              <a:defRPr sz="571">
                <a:solidFill>
                  <a:schemeClr val="tx1">
                    <a:tint val="82000"/>
                  </a:schemeClr>
                </a:solidFill>
              </a:defRPr>
            </a:lvl5pPr>
            <a:lvl6pPr marL="816308" indent="0">
              <a:buNone/>
              <a:defRPr sz="571">
                <a:solidFill>
                  <a:schemeClr val="tx1">
                    <a:tint val="82000"/>
                  </a:schemeClr>
                </a:solidFill>
              </a:defRPr>
            </a:lvl6pPr>
            <a:lvl7pPr marL="979570" indent="0">
              <a:buNone/>
              <a:defRPr sz="571">
                <a:solidFill>
                  <a:schemeClr val="tx1">
                    <a:tint val="82000"/>
                  </a:schemeClr>
                </a:solidFill>
              </a:defRPr>
            </a:lvl7pPr>
            <a:lvl8pPr marL="1142832" indent="0">
              <a:buNone/>
              <a:defRPr sz="571">
                <a:solidFill>
                  <a:schemeClr val="tx1">
                    <a:tint val="82000"/>
                  </a:schemeClr>
                </a:solidFill>
              </a:defRPr>
            </a:lvl8pPr>
            <a:lvl9pPr marL="1306093" indent="0">
              <a:buNone/>
              <a:defRPr sz="57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99668D-E5F0-7CC3-BF35-B18C9AE27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D8D8-B8A3-4A91-BF0A-3D20337D3EC7}" type="datetimeFigureOut">
              <a:rPr lang="es-MX" smtClean="0"/>
              <a:t>13/10/2026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5A2389-D524-0FE5-DD1C-6F9608182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B9F848-AD22-2232-6F09-35F56DFB2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A7D05-3D2A-487C-9383-1FF830A56D8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15803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50AD82-5C47-A336-58C7-03C13EFD4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66D7BD-87AD-37B8-42A3-06062956C1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5198" y="1149890"/>
            <a:ext cx="2937589" cy="274073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B0746D-8FDD-9FB5-4264-63313F5A4D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9189" y="1149890"/>
            <a:ext cx="2937589" cy="274073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B1B94D7-8D12-E146-764C-C565DE8AB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D8D8-B8A3-4A91-BF0A-3D20337D3EC7}" type="datetimeFigureOut">
              <a:rPr lang="es-MX" smtClean="0"/>
              <a:t>13/10/2026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74F8F4D-F3D0-2C3B-F692-A0CB084D0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B9C7152-322A-EF55-6E05-B8F193E52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A7D05-3D2A-487C-9383-1FF830A56D8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7031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37999-FA4D-81CB-5C34-8B271263E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099" y="229979"/>
            <a:ext cx="5961578" cy="83492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8303667-61ED-E9AD-DB49-CF72D0177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6100" y="1058899"/>
            <a:ext cx="2924089" cy="518950"/>
          </a:xfrm>
        </p:spPr>
        <p:txBody>
          <a:bodyPr anchor="b"/>
          <a:lstStyle>
            <a:lvl1pPr marL="0" indent="0">
              <a:buNone/>
              <a:defRPr sz="857" b="1"/>
            </a:lvl1pPr>
            <a:lvl2pPr marL="163262" indent="0">
              <a:buNone/>
              <a:defRPr sz="714" b="1"/>
            </a:lvl2pPr>
            <a:lvl3pPr marL="326523" indent="0">
              <a:buNone/>
              <a:defRPr sz="642" b="1"/>
            </a:lvl3pPr>
            <a:lvl4pPr marL="489785" indent="0">
              <a:buNone/>
              <a:defRPr sz="571" b="1"/>
            </a:lvl4pPr>
            <a:lvl5pPr marL="653047" indent="0">
              <a:buNone/>
              <a:defRPr sz="571" b="1"/>
            </a:lvl5pPr>
            <a:lvl6pPr marL="816308" indent="0">
              <a:buNone/>
              <a:defRPr sz="571" b="1"/>
            </a:lvl6pPr>
            <a:lvl7pPr marL="979570" indent="0">
              <a:buNone/>
              <a:defRPr sz="571" b="1"/>
            </a:lvl7pPr>
            <a:lvl8pPr marL="1142832" indent="0">
              <a:buNone/>
              <a:defRPr sz="571" b="1"/>
            </a:lvl8pPr>
            <a:lvl9pPr marL="1306093" indent="0">
              <a:buNone/>
              <a:defRPr sz="571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19E7235-24E6-894E-B810-1E9FF8FD2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6100" y="1577849"/>
            <a:ext cx="2924089" cy="23207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199A64B-2997-4DC5-3797-D50B075162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99187" y="1058899"/>
            <a:ext cx="2938490" cy="518950"/>
          </a:xfrm>
        </p:spPr>
        <p:txBody>
          <a:bodyPr anchor="b"/>
          <a:lstStyle>
            <a:lvl1pPr marL="0" indent="0">
              <a:buNone/>
              <a:defRPr sz="857" b="1"/>
            </a:lvl1pPr>
            <a:lvl2pPr marL="163262" indent="0">
              <a:buNone/>
              <a:defRPr sz="714" b="1"/>
            </a:lvl2pPr>
            <a:lvl3pPr marL="326523" indent="0">
              <a:buNone/>
              <a:defRPr sz="642" b="1"/>
            </a:lvl3pPr>
            <a:lvl4pPr marL="489785" indent="0">
              <a:buNone/>
              <a:defRPr sz="571" b="1"/>
            </a:lvl4pPr>
            <a:lvl5pPr marL="653047" indent="0">
              <a:buNone/>
              <a:defRPr sz="571" b="1"/>
            </a:lvl5pPr>
            <a:lvl6pPr marL="816308" indent="0">
              <a:buNone/>
              <a:defRPr sz="571" b="1"/>
            </a:lvl6pPr>
            <a:lvl7pPr marL="979570" indent="0">
              <a:buNone/>
              <a:defRPr sz="571" b="1"/>
            </a:lvl7pPr>
            <a:lvl8pPr marL="1142832" indent="0">
              <a:buNone/>
              <a:defRPr sz="571" b="1"/>
            </a:lvl8pPr>
            <a:lvl9pPr marL="1306093" indent="0">
              <a:buNone/>
              <a:defRPr sz="571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BA37CB9-2167-397D-AC48-775CDCD588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99187" y="1577849"/>
            <a:ext cx="2938490" cy="23207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0CA0F65-9040-94A1-CA19-B6ADF4D6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D8D8-B8A3-4A91-BF0A-3D20337D3EC7}" type="datetimeFigureOut">
              <a:rPr lang="es-MX" smtClean="0"/>
              <a:t>13/10/2026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31E9AC7-4D77-FF27-CFB9-6BE127074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7B2427C-2722-4249-CB9D-2044F413D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A7D05-3D2A-487C-9383-1FF830A56D8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99638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9D163-7CAA-AE50-7601-82FB5AE72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77AEB09-C393-5D29-4378-F238F9AEC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D8D8-B8A3-4A91-BF0A-3D20337D3EC7}" type="datetimeFigureOut">
              <a:rPr lang="es-MX" smtClean="0"/>
              <a:t>13/10/2026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6AEEF5A-9DE3-114E-B511-F7BA43D2F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CCFF9E1-B0A5-6555-E266-45E0D6C28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A7D05-3D2A-487C-9383-1FF830A56D8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5098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69D9526-818F-9A70-E2EF-154383380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D8D8-B8A3-4A91-BF0A-3D20337D3EC7}" type="datetimeFigureOut">
              <a:rPr lang="es-MX" smtClean="0"/>
              <a:t>13/10/2026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F601579-F19D-E166-03AE-F3B91FF9B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23FA2AE-67E4-9558-0077-89A1B3F04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A7D05-3D2A-487C-9383-1FF830A56D8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74327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4E6F9E-970C-56B2-F047-2AFF643BC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099" y="287972"/>
            <a:ext cx="2229292" cy="1007904"/>
          </a:xfrm>
        </p:spPr>
        <p:txBody>
          <a:bodyPr anchor="b"/>
          <a:lstStyle>
            <a:lvl1pPr>
              <a:defRPr sz="1143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E7446C-8627-C825-BCF9-B35E83D5C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8491" y="621942"/>
            <a:ext cx="3499187" cy="3069707"/>
          </a:xfrm>
        </p:spPr>
        <p:txBody>
          <a:bodyPr/>
          <a:lstStyle>
            <a:lvl1pPr>
              <a:defRPr sz="1143"/>
            </a:lvl1pPr>
            <a:lvl2pPr>
              <a:defRPr sz="1000"/>
            </a:lvl2pPr>
            <a:lvl3pPr>
              <a:defRPr sz="857"/>
            </a:lvl3pPr>
            <a:lvl4pPr>
              <a:defRPr sz="714"/>
            </a:lvl4pPr>
            <a:lvl5pPr>
              <a:defRPr sz="714"/>
            </a:lvl5pPr>
            <a:lvl6pPr>
              <a:defRPr sz="714"/>
            </a:lvl6pPr>
            <a:lvl7pPr>
              <a:defRPr sz="714"/>
            </a:lvl7pPr>
            <a:lvl8pPr>
              <a:defRPr sz="714"/>
            </a:lvl8pPr>
            <a:lvl9pPr>
              <a:defRPr sz="71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32A39A3-F22B-485B-46A0-F2F3240BAA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6099" y="1295877"/>
            <a:ext cx="2229292" cy="2400771"/>
          </a:xfrm>
        </p:spPr>
        <p:txBody>
          <a:bodyPr/>
          <a:lstStyle>
            <a:lvl1pPr marL="0" indent="0">
              <a:buNone/>
              <a:defRPr sz="571"/>
            </a:lvl1pPr>
            <a:lvl2pPr marL="163262" indent="0">
              <a:buNone/>
              <a:defRPr sz="500"/>
            </a:lvl2pPr>
            <a:lvl3pPr marL="326523" indent="0">
              <a:buNone/>
              <a:defRPr sz="428"/>
            </a:lvl3pPr>
            <a:lvl4pPr marL="489785" indent="0">
              <a:buNone/>
              <a:defRPr sz="357"/>
            </a:lvl4pPr>
            <a:lvl5pPr marL="653047" indent="0">
              <a:buNone/>
              <a:defRPr sz="357"/>
            </a:lvl5pPr>
            <a:lvl6pPr marL="816308" indent="0">
              <a:buNone/>
              <a:defRPr sz="357"/>
            </a:lvl6pPr>
            <a:lvl7pPr marL="979570" indent="0">
              <a:buNone/>
              <a:defRPr sz="357"/>
            </a:lvl7pPr>
            <a:lvl8pPr marL="1142832" indent="0">
              <a:buNone/>
              <a:defRPr sz="357"/>
            </a:lvl8pPr>
            <a:lvl9pPr marL="1306093" indent="0">
              <a:buNone/>
              <a:defRPr sz="35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1A9BDFC-7FC4-8D5D-750E-ECB956786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D8D8-B8A3-4A91-BF0A-3D20337D3EC7}" type="datetimeFigureOut">
              <a:rPr lang="es-MX" smtClean="0"/>
              <a:t>13/10/2026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ED4F5CE-9C2A-BEA4-A586-AB1E26C47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C76822C-E00E-4F58-28B1-F4AF30090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A7D05-3D2A-487C-9383-1FF830A56D8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33317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01D067-61AD-19D0-71B7-6D4DEC507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099" y="287972"/>
            <a:ext cx="2229292" cy="1007904"/>
          </a:xfrm>
        </p:spPr>
        <p:txBody>
          <a:bodyPr anchor="b"/>
          <a:lstStyle>
            <a:lvl1pPr>
              <a:defRPr sz="1143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3D9819A-8EBC-388A-FEC6-27DFA3BE9B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38491" y="621942"/>
            <a:ext cx="3499187" cy="3069707"/>
          </a:xfrm>
        </p:spPr>
        <p:txBody>
          <a:bodyPr/>
          <a:lstStyle>
            <a:lvl1pPr marL="0" indent="0">
              <a:buNone/>
              <a:defRPr sz="1143"/>
            </a:lvl1pPr>
            <a:lvl2pPr marL="163262" indent="0">
              <a:buNone/>
              <a:defRPr sz="1000"/>
            </a:lvl2pPr>
            <a:lvl3pPr marL="326523" indent="0">
              <a:buNone/>
              <a:defRPr sz="857"/>
            </a:lvl3pPr>
            <a:lvl4pPr marL="489785" indent="0">
              <a:buNone/>
              <a:defRPr sz="714"/>
            </a:lvl4pPr>
            <a:lvl5pPr marL="653047" indent="0">
              <a:buNone/>
              <a:defRPr sz="714"/>
            </a:lvl5pPr>
            <a:lvl6pPr marL="816308" indent="0">
              <a:buNone/>
              <a:defRPr sz="714"/>
            </a:lvl6pPr>
            <a:lvl7pPr marL="979570" indent="0">
              <a:buNone/>
              <a:defRPr sz="714"/>
            </a:lvl7pPr>
            <a:lvl8pPr marL="1142832" indent="0">
              <a:buNone/>
              <a:defRPr sz="714"/>
            </a:lvl8pPr>
            <a:lvl9pPr marL="1306093" indent="0">
              <a:buNone/>
              <a:defRPr sz="714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DF80DE-1761-77B2-15CB-B49A96628B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6099" y="1295877"/>
            <a:ext cx="2229292" cy="2400771"/>
          </a:xfrm>
        </p:spPr>
        <p:txBody>
          <a:bodyPr/>
          <a:lstStyle>
            <a:lvl1pPr marL="0" indent="0">
              <a:buNone/>
              <a:defRPr sz="571"/>
            </a:lvl1pPr>
            <a:lvl2pPr marL="163262" indent="0">
              <a:buNone/>
              <a:defRPr sz="500"/>
            </a:lvl2pPr>
            <a:lvl3pPr marL="326523" indent="0">
              <a:buNone/>
              <a:defRPr sz="428"/>
            </a:lvl3pPr>
            <a:lvl4pPr marL="489785" indent="0">
              <a:buNone/>
              <a:defRPr sz="357"/>
            </a:lvl4pPr>
            <a:lvl5pPr marL="653047" indent="0">
              <a:buNone/>
              <a:defRPr sz="357"/>
            </a:lvl5pPr>
            <a:lvl6pPr marL="816308" indent="0">
              <a:buNone/>
              <a:defRPr sz="357"/>
            </a:lvl6pPr>
            <a:lvl7pPr marL="979570" indent="0">
              <a:buNone/>
              <a:defRPr sz="357"/>
            </a:lvl7pPr>
            <a:lvl8pPr marL="1142832" indent="0">
              <a:buNone/>
              <a:defRPr sz="357"/>
            </a:lvl8pPr>
            <a:lvl9pPr marL="1306093" indent="0">
              <a:buNone/>
              <a:defRPr sz="35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4502905-ED3F-F795-93A9-1ECD23ED5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D8D8-B8A3-4A91-BF0A-3D20337D3EC7}" type="datetimeFigureOut">
              <a:rPr lang="es-MX" smtClean="0"/>
              <a:t>13/10/2026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ED7853A-A21F-60A2-E1C8-6AA123411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5791520-8EE4-0498-FC92-12ED46FE4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A7D05-3D2A-487C-9383-1FF830A56D8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99544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0CE6FE-6DDD-AAC9-E16E-43CF615B2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45BA91E-80D8-70E7-CC41-70C369838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2E01C5-EE35-7094-4C5C-03EE5FEA9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D8D8-B8A3-4A91-BF0A-3D20337D3EC7}" type="datetimeFigureOut">
              <a:rPr lang="es-MX" smtClean="0"/>
              <a:t>13/10/2026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53446D-7E78-8E0C-CA7B-E95082B62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41D837-B58A-253C-4CD0-141A36BD0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A7D05-3D2A-487C-9383-1FF830A56D8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22894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2F5BFE8-F1F6-0592-4883-F50905B537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46383" y="229978"/>
            <a:ext cx="1490395" cy="366065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8710D81-1212-7179-0D28-8DDBDE9F1F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5198" y="229978"/>
            <a:ext cx="4384784" cy="366065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0E9A71-D899-FED1-A90A-0551F9F6C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D8D8-B8A3-4A91-BF0A-3D20337D3EC7}" type="datetimeFigureOut">
              <a:rPr lang="es-MX" smtClean="0"/>
              <a:t>13/10/2026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CE80E1-B5E8-9579-9D94-52DD28ADB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03A7A-CDCF-5B8B-3AB6-967C5C67E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A7D05-3D2A-487C-9383-1FF830A56D8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76533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1CEEB96-8966-FBC6-6321-0D074EB02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199" y="229979"/>
            <a:ext cx="5961578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DA4492D-EF1A-FEDC-9C26-7336F2F13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5199" y="1149890"/>
            <a:ext cx="5961578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6DF56B-0C4D-1E51-17A3-68BFBABBD6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5198" y="4003619"/>
            <a:ext cx="1555194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B2D8D8-B8A3-4A91-BF0A-3D20337D3EC7}" type="datetimeFigureOut">
              <a:rPr lang="es-MX" smtClean="0"/>
              <a:t>13/10/2026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AE892B-3580-8B06-FCB3-066CB1FB1D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89592" y="4003619"/>
            <a:ext cx="2332792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B3D0E2-4750-11ED-8E52-1DD1CFC70A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81583" y="4003619"/>
            <a:ext cx="1555194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0A7D05-3D2A-487C-9383-1FF830A56D8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45260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26523" rtl="0" eaLnBrk="1" latinLnBrk="0" hangingPunct="1">
        <a:lnSpc>
          <a:spcPct val="90000"/>
        </a:lnSpc>
        <a:spcBef>
          <a:spcPct val="0"/>
        </a:spcBef>
        <a:buNone/>
        <a:defRPr sz="157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1631" indent="-81631" algn="l" defTabSz="326523" rtl="0" eaLnBrk="1" latinLnBrk="0" hangingPunct="1">
        <a:lnSpc>
          <a:spcPct val="90000"/>
        </a:lnSpc>
        <a:spcBef>
          <a:spcPts val="357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44893" indent="-81631" algn="l" defTabSz="326523" rtl="0" eaLnBrk="1" latinLnBrk="0" hangingPunct="1">
        <a:lnSpc>
          <a:spcPct val="90000"/>
        </a:lnSpc>
        <a:spcBef>
          <a:spcPts val="178"/>
        </a:spcBef>
        <a:buFont typeface="Arial" panose="020B0604020202020204" pitchFamily="34" charset="0"/>
        <a:buChar char="•"/>
        <a:defRPr sz="857" kern="1200">
          <a:solidFill>
            <a:schemeClr val="tx1"/>
          </a:solidFill>
          <a:latin typeface="+mn-lt"/>
          <a:ea typeface="+mn-ea"/>
          <a:cs typeface="+mn-cs"/>
        </a:defRPr>
      </a:lvl2pPr>
      <a:lvl3pPr marL="408154" indent="-81631" algn="l" defTabSz="326523" rtl="0" eaLnBrk="1" latinLnBrk="0" hangingPunct="1">
        <a:lnSpc>
          <a:spcPct val="90000"/>
        </a:lnSpc>
        <a:spcBef>
          <a:spcPts val="178"/>
        </a:spcBef>
        <a:buFont typeface="Arial" panose="020B0604020202020204" pitchFamily="34" charset="0"/>
        <a:buChar char="•"/>
        <a:defRPr sz="714" kern="1200">
          <a:solidFill>
            <a:schemeClr val="tx1"/>
          </a:solidFill>
          <a:latin typeface="+mn-lt"/>
          <a:ea typeface="+mn-ea"/>
          <a:cs typeface="+mn-cs"/>
        </a:defRPr>
      </a:lvl3pPr>
      <a:lvl4pPr marL="571416" indent="-81631" algn="l" defTabSz="326523" rtl="0" eaLnBrk="1" latinLnBrk="0" hangingPunct="1">
        <a:lnSpc>
          <a:spcPct val="90000"/>
        </a:lnSpc>
        <a:spcBef>
          <a:spcPts val="178"/>
        </a:spcBef>
        <a:buFont typeface="Arial" panose="020B0604020202020204" pitchFamily="34" charset="0"/>
        <a:buChar char="•"/>
        <a:defRPr sz="642" kern="1200">
          <a:solidFill>
            <a:schemeClr val="tx1"/>
          </a:solidFill>
          <a:latin typeface="+mn-lt"/>
          <a:ea typeface="+mn-ea"/>
          <a:cs typeface="+mn-cs"/>
        </a:defRPr>
      </a:lvl4pPr>
      <a:lvl5pPr marL="734678" indent="-81631" algn="l" defTabSz="326523" rtl="0" eaLnBrk="1" latinLnBrk="0" hangingPunct="1">
        <a:lnSpc>
          <a:spcPct val="90000"/>
        </a:lnSpc>
        <a:spcBef>
          <a:spcPts val="178"/>
        </a:spcBef>
        <a:buFont typeface="Arial" panose="020B0604020202020204" pitchFamily="34" charset="0"/>
        <a:buChar char="•"/>
        <a:defRPr sz="642" kern="1200">
          <a:solidFill>
            <a:schemeClr val="tx1"/>
          </a:solidFill>
          <a:latin typeface="+mn-lt"/>
          <a:ea typeface="+mn-ea"/>
          <a:cs typeface="+mn-cs"/>
        </a:defRPr>
      </a:lvl5pPr>
      <a:lvl6pPr marL="897939" indent="-81631" algn="l" defTabSz="326523" rtl="0" eaLnBrk="1" latinLnBrk="0" hangingPunct="1">
        <a:lnSpc>
          <a:spcPct val="90000"/>
        </a:lnSpc>
        <a:spcBef>
          <a:spcPts val="178"/>
        </a:spcBef>
        <a:buFont typeface="Arial" panose="020B0604020202020204" pitchFamily="34" charset="0"/>
        <a:buChar char="•"/>
        <a:defRPr sz="642" kern="1200">
          <a:solidFill>
            <a:schemeClr val="tx1"/>
          </a:solidFill>
          <a:latin typeface="+mn-lt"/>
          <a:ea typeface="+mn-ea"/>
          <a:cs typeface="+mn-cs"/>
        </a:defRPr>
      </a:lvl6pPr>
      <a:lvl7pPr marL="1061201" indent="-81631" algn="l" defTabSz="326523" rtl="0" eaLnBrk="1" latinLnBrk="0" hangingPunct="1">
        <a:lnSpc>
          <a:spcPct val="90000"/>
        </a:lnSpc>
        <a:spcBef>
          <a:spcPts val="178"/>
        </a:spcBef>
        <a:buFont typeface="Arial" panose="020B0604020202020204" pitchFamily="34" charset="0"/>
        <a:buChar char="•"/>
        <a:defRPr sz="642" kern="1200">
          <a:solidFill>
            <a:schemeClr val="tx1"/>
          </a:solidFill>
          <a:latin typeface="+mn-lt"/>
          <a:ea typeface="+mn-ea"/>
          <a:cs typeface="+mn-cs"/>
        </a:defRPr>
      </a:lvl7pPr>
      <a:lvl8pPr marL="1224463" indent="-81631" algn="l" defTabSz="326523" rtl="0" eaLnBrk="1" latinLnBrk="0" hangingPunct="1">
        <a:lnSpc>
          <a:spcPct val="90000"/>
        </a:lnSpc>
        <a:spcBef>
          <a:spcPts val="178"/>
        </a:spcBef>
        <a:buFont typeface="Arial" panose="020B0604020202020204" pitchFamily="34" charset="0"/>
        <a:buChar char="•"/>
        <a:defRPr sz="642" kern="1200">
          <a:solidFill>
            <a:schemeClr val="tx1"/>
          </a:solidFill>
          <a:latin typeface="+mn-lt"/>
          <a:ea typeface="+mn-ea"/>
          <a:cs typeface="+mn-cs"/>
        </a:defRPr>
      </a:lvl8pPr>
      <a:lvl9pPr marL="1387725" indent="-81631" algn="l" defTabSz="326523" rtl="0" eaLnBrk="1" latinLnBrk="0" hangingPunct="1">
        <a:lnSpc>
          <a:spcPct val="90000"/>
        </a:lnSpc>
        <a:spcBef>
          <a:spcPts val="178"/>
        </a:spcBef>
        <a:buFont typeface="Arial" panose="020B0604020202020204" pitchFamily="34" charset="0"/>
        <a:buChar char="•"/>
        <a:defRPr sz="64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326523" rtl="0" eaLnBrk="1" latinLnBrk="0" hangingPunct="1">
        <a:defRPr sz="642" kern="1200">
          <a:solidFill>
            <a:schemeClr val="tx1"/>
          </a:solidFill>
          <a:latin typeface="+mn-lt"/>
          <a:ea typeface="+mn-ea"/>
          <a:cs typeface="+mn-cs"/>
        </a:defRPr>
      </a:lvl1pPr>
      <a:lvl2pPr marL="163262" algn="l" defTabSz="326523" rtl="0" eaLnBrk="1" latinLnBrk="0" hangingPunct="1">
        <a:defRPr sz="642" kern="1200">
          <a:solidFill>
            <a:schemeClr val="tx1"/>
          </a:solidFill>
          <a:latin typeface="+mn-lt"/>
          <a:ea typeface="+mn-ea"/>
          <a:cs typeface="+mn-cs"/>
        </a:defRPr>
      </a:lvl2pPr>
      <a:lvl3pPr marL="326523" algn="l" defTabSz="326523" rtl="0" eaLnBrk="1" latinLnBrk="0" hangingPunct="1">
        <a:defRPr sz="642" kern="1200">
          <a:solidFill>
            <a:schemeClr val="tx1"/>
          </a:solidFill>
          <a:latin typeface="+mn-lt"/>
          <a:ea typeface="+mn-ea"/>
          <a:cs typeface="+mn-cs"/>
        </a:defRPr>
      </a:lvl3pPr>
      <a:lvl4pPr marL="489785" algn="l" defTabSz="326523" rtl="0" eaLnBrk="1" latinLnBrk="0" hangingPunct="1">
        <a:defRPr sz="642" kern="1200">
          <a:solidFill>
            <a:schemeClr val="tx1"/>
          </a:solidFill>
          <a:latin typeface="+mn-lt"/>
          <a:ea typeface="+mn-ea"/>
          <a:cs typeface="+mn-cs"/>
        </a:defRPr>
      </a:lvl4pPr>
      <a:lvl5pPr marL="653047" algn="l" defTabSz="326523" rtl="0" eaLnBrk="1" latinLnBrk="0" hangingPunct="1">
        <a:defRPr sz="642" kern="1200">
          <a:solidFill>
            <a:schemeClr val="tx1"/>
          </a:solidFill>
          <a:latin typeface="+mn-lt"/>
          <a:ea typeface="+mn-ea"/>
          <a:cs typeface="+mn-cs"/>
        </a:defRPr>
      </a:lvl5pPr>
      <a:lvl6pPr marL="816308" algn="l" defTabSz="326523" rtl="0" eaLnBrk="1" latinLnBrk="0" hangingPunct="1">
        <a:defRPr sz="642" kern="1200">
          <a:solidFill>
            <a:schemeClr val="tx1"/>
          </a:solidFill>
          <a:latin typeface="+mn-lt"/>
          <a:ea typeface="+mn-ea"/>
          <a:cs typeface="+mn-cs"/>
        </a:defRPr>
      </a:lvl6pPr>
      <a:lvl7pPr marL="979570" algn="l" defTabSz="326523" rtl="0" eaLnBrk="1" latinLnBrk="0" hangingPunct="1">
        <a:defRPr sz="642" kern="1200">
          <a:solidFill>
            <a:schemeClr val="tx1"/>
          </a:solidFill>
          <a:latin typeface="+mn-lt"/>
          <a:ea typeface="+mn-ea"/>
          <a:cs typeface="+mn-cs"/>
        </a:defRPr>
      </a:lvl7pPr>
      <a:lvl8pPr marL="1142832" algn="l" defTabSz="326523" rtl="0" eaLnBrk="1" latinLnBrk="0" hangingPunct="1">
        <a:defRPr sz="642" kern="1200">
          <a:solidFill>
            <a:schemeClr val="tx1"/>
          </a:solidFill>
          <a:latin typeface="+mn-lt"/>
          <a:ea typeface="+mn-ea"/>
          <a:cs typeface="+mn-cs"/>
        </a:defRPr>
      </a:lvl8pPr>
      <a:lvl9pPr marL="1306093" algn="l" defTabSz="326523" rtl="0" eaLnBrk="1" latinLnBrk="0" hangingPunct="1">
        <a:defRPr sz="64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CFE4F81-D5E5-F7D3-1065-457A08088657}"/>
              </a:ext>
            </a:extLst>
          </p:cNvPr>
          <p:cNvSpPr/>
          <p:nvPr/>
        </p:nvSpPr>
        <p:spPr>
          <a:xfrm>
            <a:off x="0" y="0"/>
            <a:ext cx="3873500" cy="4320032"/>
          </a:xfrm>
          <a:prstGeom prst="rect">
            <a:avLst/>
          </a:prstGeom>
          <a:solidFill>
            <a:srgbClr val="16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1C07FF0-BA98-2739-A27B-D0866BAD6DF4}"/>
              </a:ext>
            </a:extLst>
          </p:cNvPr>
          <p:cNvSpPr/>
          <p:nvPr/>
        </p:nvSpPr>
        <p:spPr>
          <a:xfrm>
            <a:off x="3873500" y="0"/>
            <a:ext cx="3038475" cy="4320032"/>
          </a:xfrm>
          <a:prstGeom prst="rect">
            <a:avLst/>
          </a:prstGeom>
          <a:solidFill>
            <a:srgbClr val="1F6F9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B04D115-7A94-DCBA-2F6E-7C3FE38CF85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00" y="152400"/>
            <a:ext cx="1460500" cy="5842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B1A16A2-B65E-9230-CC05-33C1E121D2FE}"/>
              </a:ext>
            </a:extLst>
          </p:cNvPr>
          <p:cNvSpPr txBox="1"/>
          <p:nvPr/>
        </p:nvSpPr>
        <p:spPr>
          <a:xfrm>
            <a:off x="304800" y="1041400"/>
            <a:ext cx="33401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2400" b="1">
                <a:solidFill>
                  <a:srgbClr val="FFFFFF"/>
                </a:solidFill>
                <a:latin typeface="Arial" panose="020B0604020202020204" pitchFamily="34" charset="0"/>
              </a:rPr>
              <a:t>Calibrar para decidir en la formación técnica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14ABAE6-3CFA-6AEC-189D-52A544A42C27}"/>
              </a:ext>
            </a:extLst>
          </p:cNvPr>
          <p:cNvSpPr txBox="1"/>
          <p:nvPr/>
        </p:nvSpPr>
        <p:spPr>
          <a:xfrm>
            <a:off x="304800" y="2768600"/>
            <a:ext cx="330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700">
                <a:solidFill>
                  <a:srgbClr val="20B7A8"/>
                </a:solidFill>
                <a:latin typeface="Arial" panose="020B0604020202020204" pitchFamily="34" charset="0"/>
              </a:rPr>
              <a:t>Trabajo final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615DE32-AC99-F01B-EF61-9C071497FC08}"/>
              </a:ext>
            </a:extLst>
          </p:cNvPr>
          <p:cNvSpPr txBox="1"/>
          <p:nvPr/>
        </p:nvSpPr>
        <p:spPr>
          <a:xfrm>
            <a:off x="304800" y="3416300"/>
            <a:ext cx="3302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200">
                <a:solidFill>
                  <a:srgbClr val="FFFFFF"/>
                </a:solidFill>
                <a:latin typeface="Arial" panose="020B0604020202020204" pitchFamily="34" charset="0"/>
              </a:rPr>
              <a:t>Mtro. Martín Jonathan de la Cruz Muñoz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93497DA-E982-B127-0B5E-C2E68C331190}"/>
              </a:ext>
            </a:extLst>
          </p:cNvPr>
          <p:cNvSpPr txBox="1"/>
          <p:nvPr/>
        </p:nvSpPr>
        <p:spPr>
          <a:xfrm>
            <a:off x="304800" y="39243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100">
                <a:solidFill>
                  <a:srgbClr val="FFFFFF"/>
                </a:solidFill>
                <a:latin typeface="Arial" panose="020B0604020202020204" pitchFamily="34" charset="0"/>
              </a:rPr>
              <a:t>Matrícula 00874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C2403AC-8474-AB6A-A44F-254AF2146F9F}"/>
              </a:ext>
            </a:extLst>
          </p:cNvPr>
          <p:cNvSpPr txBox="1"/>
          <p:nvPr/>
        </p:nvSpPr>
        <p:spPr>
          <a:xfrm>
            <a:off x="4165600" y="939800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2400" b="1">
                <a:solidFill>
                  <a:srgbClr val="FFFFFF"/>
                </a:solidFill>
                <a:latin typeface="Arial" panose="020B0604020202020204" pitchFamily="34" charset="0"/>
              </a:rPr>
              <a:t>IIIEPE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3F4DD6F-046B-3507-8370-F32B91FB44F3}"/>
              </a:ext>
            </a:extLst>
          </p:cNvPr>
          <p:cNvSpPr txBox="1"/>
          <p:nvPr/>
        </p:nvSpPr>
        <p:spPr>
          <a:xfrm>
            <a:off x="4165600" y="1498600"/>
            <a:ext cx="2413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500">
                <a:solidFill>
                  <a:srgbClr val="FFFFFF"/>
                </a:solidFill>
                <a:latin typeface="Arial" panose="020B0604020202020204" pitchFamily="34" charset="0"/>
              </a:rPr>
              <a:t>Maestría en Aprendizaje y Enseñanza de las Matemáticas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27E6E31-08B1-CD15-2CEC-D758EFB8E7BF}"/>
              </a:ext>
            </a:extLst>
          </p:cNvPr>
          <p:cNvSpPr txBox="1"/>
          <p:nvPr/>
        </p:nvSpPr>
        <p:spPr>
          <a:xfrm>
            <a:off x="4165600" y="2654300"/>
            <a:ext cx="2413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300">
                <a:solidFill>
                  <a:srgbClr val="FFFFFF"/>
                </a:solidFill>
                <a:latin typeface="Arial" panose="020B0604020202020204" pitchFamily="34" charset="0"/>
              </a:rPr>
              <a:t>Fundamentos para la enseñanza y el aprendizaje I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B33CC40-E9BE-2337-12FF-362E070407AF}"/>
              </a:ext>
            </a:extLst>
          </p:cNvPr>
          <p:cNvSpPr txBox="1"/>
          <p:nvPr/>
        </p:nvSpPr>
        <p:spPr>
          <a:xfrm>
            <a:off x="4165600" y="3721100"/>
            <a:ext cx="2413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100">
                <a:solidFill>
                  <a:srgbClr val="FFFFFF"/>
                </a:solidFill>
                <a:latin typeface="Arial" panose="020B0604020202020204" pitchFamily="34" charset="0"/>
              </a:rPr>
              <a:t>13 de octubre de 2026</a:t>
            </a:r>
          </a:p>
          <a:p>
            <a:r>
              <a:rPr lang="es-MX" sz="1100">
                <a:solidFill>
                  <a:srgbClr val="FFFFFF"/>
                </a:solidFill>
                <a:latin typeface="Arial" panose="020B0604020202020204" pitchFamily="34" charset="0"/>
              </a:rPr>
              <a:t>Monterrey, Nuevo León</a:t>
            </a:r>
          </a:p>
        </p:txBody>
      </p:sp>
    </p:spTree>
    <p:extLst>
      <p:ext uri="{BB962C8B-B14F-4D97-AF65-F5344CB8AC3E}">
        <p14:creationId xmlns:p14="http://schemas.microsoft.com/office/powerpoint/2010/main" val="2928505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57652C2-FC45-066A-C134-EBB59F41B24E}"/>
              </a:ext>
            </a:extLst>
          </p:cNvPr>
          <p:cNvSpPr/>
          <p:nvPr/>
        </p:nvSpPr>
        <p:spPr>
          <a:xfrm>
            <a:off x="0" y="0"/>
            <a:ext cx="6911975" cy="508000"/>
          </a:xfrm>
          <a:prstGeom prst="rect">
            <a:avLst/>
          </a:prstGeom>
          <a:solidFill>
            <a:srgbClr val="16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08ADDCF-5970-F14D-241B-35E46B5FD101}"/>
              </a:ext>
            </a:extLst>
          </p:cNvPr>
          <p:cNvSpPr/>
          <p:nvPr/>
        </p:nvSpPr>
        <p:spPr>
          <a:xfrm>
            <a:off x="0" y="508000"/>
            <a:ext cx="6911975" cy="25400"/>
          </a:xfrm>
          <a:prstGeom prst="rect">
            <a:avLst/>
          </a:prstGeom>
          <a:solidFill>
            <a:srgbClr val="F28C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6B7D3B6-A70D-8E1A-9A83-EF7EF87726F6}"/>
              </a:ext>
            </a:extLst>
          </p:cNvPr>
          <p:cNvSpPr txBox="1"/>
          <p:nvPr/>
        </p:nvSpPr>
        <p:spPr>
          <a:xfrm>
            <a:off x="215900" y="101600"/>
            <a:ext cx="5168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b="1">
                <a:solidFill>
                  <a:srgbClr val="FFFFFF"/>
                </a:solidFill>
                <a:latin typeface="Arial" panose="020B0604020202020204" pitchFamily="34" charset="0"/>
              </a:rPr>
              <a:t>Descripción general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6C70D0B-1CB9-80EF-8F9A-FBE78108B2E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0400" y="101600"/>
            <a:ext cx="914400" cy="3683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66235BD0-AD75-4BD2-8312-BC9001E0BB34}"/>
              </a:ext>
            </a:extLst>
          </p:cNvPr>
          <p:cNvSpPr txBox="1"/>
          <p:nvPr/>
        </p:nvSpPr>
        <p:spPr>
          <a:xfrm>
            <a:off x="393700" y="965200"/>
            <a:ext cx="6121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1E2A32"/>
                </a:solidFill>
                <a:latin typeface="Arial" panose="020B0604020202020204" pitchFamily="34" charset="0"/>
              </a:rPr>
              <a:t>Proyecto por realizar en preparatoria técnica de mantenimiento y mecatrónica.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147CACF-76CE-BE8D-AAE6-C237729E567B}"/>
              </a:ext>
            </a:extLst>
          </p:cNvPr>
          <p:cNvSpPr txBox="1"/>
          <p:nvPr/>
        </p:nvSpPr>
        <p:spPr>
          <a:xfrm>
            <a:off x="190500" y="965200"/>
            <a:ext cx="177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20B7A8"/>
                </a:solidFill>
                <a:latin typeface="Arial" panose="020B0604020202020204" pitchFamily="34" charset="0"/>
              </a:rPr>
              <a:t>▸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657ECB8-29AC-6A27-E941-961B0187E295}"/>
              </a:ext>
            </a:extLst>
          </p:cNvPr>
          <p:cNvSpPr txBox="1"/>
          <p:nvPr/>
        </p:nvSpPr>
        <p:spPr>
          <a:xfrm>
            <a:off x="393700" y="1955800"/>
            <a:ext cx="6121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1E2A32"/>
                </a:solidFill>
                <a:latin typeface="Arial" panose="020B0604020202020204" pitchFamily="34" charset="0"/>
              </a:rPr>
              <a:t>Adaptable a Ingeniería Mecánica, de Sistemas e Industrial.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7D09B18-D9B6-ADBF-EABC-C129AFBE581D}"/>
              </a:ext>
            </a:extLst>
          </p:cNvPr>
          <p:cNvSpPr txBox="1"/>
          <p:nvPr/>
        </p:nvSpPr>
        <p:spPr>
          <a:xfrm>
            <a:off x="190500" y="1955800"/>
            <a:ext cx="177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20B7A8"/>
                </a:solidFill>
                <a:latin typeface="Arial" panose="020B0604020202020204" pitchFamily="34" charset="0"/>
              </a:rPr>
              <a:t>▸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6604DE9-919F-D4F3-A021-61FBCBC2EC6B}"/>
              </a:ext>
            </a:extLst>
          </p:cNvPr>
          <p:cNvSpPr txBox="1"/>
          <p:nvPr/>
        </p:nvSpPr>
        <p:spPr>
          <a:xfrm>
            <a:off x="393700" y="2946400"/>
            <a:ext cx="6121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1E2A32"/>
                </a:solidFill>
                <a:latin typeface="Arial" panose="020B0604020202020204" pitchFamily="34" charset="0"/>
              </a:rPr>
              <a:t>Propósito: justificar un modelo de medición e interpretar sus límites.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2285A2D-CEC1-B37E-6A57-1A89620B0160}"/>
              </a:ext>
            </a:extLst>
          </p:cNvPr>
          <p:cNvSpPr txBox="1"/>
          <p:nvPr/>
        </p:nvSpPr>
        <p:spPr>
          <a:xfrm>
            <a:off x="190500" y="2946400"/>
            <a:ext cx="177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20B7A8"/>
                </a:solidFill>
                <a:latin typeface="Arial" panose="020B0604020202020204" pitchFamily="34" charset="0"/>
              </a:rPr>
              <a:t>▸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02F4280-768A-9A1A-78D6-0303874FE01C}"/>
              </a:ext>
            </a:extLst>
          </p:cNvPr>
          <p:cNvSpPr/>
          <p:nvPr/>
        </p:nvSpPr>
        <p:spPr>
          <a:xfrm>
            <a:off x="0" y="4089400"/>
            <a:ext cx="6911975" cy="228600"/>
          </a:xfrm>
          <a:prstGeom prst="rect">
            <a:avLst/>
          </a:prstGeom>
          <a:solidFill>
            <a:srgbClr val="16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9DD605E-E218-79B3-11A2-D0A3186E599F}"/>
              </a:ext>
            </a:extLst>
          </p:cNvPr>
          <p:cNvSpPr txBox="1"/>
          <p:nvPr/>
        </p:nvSpPr>
        <p:spPr>
          <a:xfrm>
            <a:off x="190500" y="4127500"/>
            <a:ext cx="533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800">
                <a:solidFill>
                  <a:srgbClr val="FFFFFF"/>
                </a:solidFill>
                <a:latin typeface="Arial" panose="020B0604020202020204" pitchFamily="34" charset="0"/>
              </a:rPr>
              <a:t>M. de la Cruz Muñoz · MAEM · 00874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479D443-2411-7DF2-D58A-B05E22F72FAF}"/>
              </a:ext>
            </a:extLst>
          </p:cNvPr>
          <p:cNvSpPr txBox="1"/>
          <p:nvPr/>
        </p:nvSpPr>
        <p:spPr>
          <a:xfrm>
            <a:off x="6159500" y="4127500"/>
            <a:ext cx="571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800">
                <a:solidFill>
                  <a:srgbClr val="FFFFFF"/>
                </a:solidFill>
                <a:latin typeface="Arial" panose="020B0604020202020204" pitchFamily="34" charset="0"/>
              </a:rPr>
              <a:t>2 / 15</a:t>
            </a:r>
          </a:p>
        </p:txBody>
      </p:sp>
    </p:spTree>
    <p:extLst>
      <p:ext uri="{BB962C8B-B14F-4D97-AF65-F5344CB8AC3E}">
        <p14:creationId xmlns:p14="http://schemas.microsoft.com/office/powerpoint/2010/main" val="80633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A70C88A-09BF-F970-DDEE-87F489ADF971}"/>
              </a:ext>
            </a:extLst>
          </p:cNvPr>
          <p:cNvSpPr/>
          <p:nvPr/>
        </p:nvSpPr>
        <p:spPr>
          <a:xfrm>
            <a:off x="0" y="0"/>
            <a:ext cx="6911975" cy="508000"/>
          </a:xfrm>
          <a:prstGeom prst="rect">
            <a:avLst/>
          </a:prstGeom>
          <a:solidFill>
            <a:srgbClr val="16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0DCFFA6-E60C-CFED-0D73-56FE5561E1B4}"/>
              </a:ext>
            </a:extLst>
          </p:cNvPr>
          <p:cNvSpPr/>
          <p:nvPr/>
        </p:nvSpPr>
        <p:spPr>
          <a:xfrm>
            <a:off x="0" y="508000"/>
            <a:ext cx="6911975" cy="25400"/>
          </a:xfrm>
          <a:prstGeom prst="rect">
            <a:avLst/>
          </a:prstGeom>
          <a:solidFill>
            <a:srgbClr val="F28C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2469AFB-393C-33C9-AA5B-47D179890D79}"/>
              </a:ext>
            </a:extLst>
          </p:cNvPr>
          <p:cNvSpPr txBox="1"/>
          <p:nvPr/>
        </p:nvSpPr>
        <p:spPr>
          <a:xfrm>
            <a:off x="215900" y="101600"/>
            <a:ext cx="5168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b="1">
                <a:solidFill>
                  <a:srgbClr val="FFFFFF"/>
                </a:solidFill>
                <a:latin typeface="Arial" panose="020B0604020202020204" pitchFamily="34" charset="0"/>
              </a:rPr>
              <a:t>Necesidad educativa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4B90E3F-428B-EC8F-4E3B-170F28AFBFE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0400" y="101600"/>
            <a:ext cx="914400" cy="3683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52C6C8F-318A-32D3-3C3C-C2B316BDB9F5}"/>
              </a:ext>
            </a:extLst>
          </p:cNvPr>
          <p:cNvSpPr txBox="1"/>
          <p:nvPr/>
        </p:nvSpPr>
        <p:spPr>
          <a:xfrm>
            <a:off x="393700" y="965200"/>
            <a:ext cx="6121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1E2A32"/>
                </a:solidFill>
                <a:latin typeface="Arial" panose="020B0604020202020204" pitchFamily="34" charset="0"/>
              </a:rPr>
              <a:t>Hipótesis: ejecutar un procedimiento puede ocultar dificultades de interpretación.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52AB528-D86C-653F-3BEF-880674A2DDEE}"/>
              </a:ext>
            </a:extLst>
          </p:cNvPr>
          <p:cNvSpPr txBox="1"/>
          <p:nvPr/>
        </p:nvSpPr>
        <p:spPr>
          <a:xfrm>
            <a:off x="190500" y="965200"/>
            <a:ext cx="177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20B7A8"/>
                </a:solidFill>
                <a:latin typeface="Arial" panose="020B0604020202020204" pitchFamily="34" charset="0"/>
              </a:rPr>
              <a:t>▸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564A17C-E33D-72CE-5B10-DE62FBF92F5C}"/>
              </a:ext>
            </a:extLst>
          </p:cNvPr>
          <p:cNvSpPr txBox="1"/>
          <p:nvPr/>
        </p:nvSpPr>
        <p:spPr>
          <a:xfrm>
            <a:off x="393700" y="1955800"/>
            <a:ext cx="6121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1E2A32"/>
                </a:solidFill>
                <a:latin typeface="Arial" panose="020B0604020202020204" pitchFamily="34" charset="0"/>
              </a:rPr>
              <a:t>Pregunta: ¿cuándo podemos confiar en una lectura para decidir?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D6D1329-6D2F-2288-2E8D-A39F39AC4E43}"/>
              </a:ext>
            </a:extLst>
          </p:cNvPr>
          <p:cNvSpPr txBox="1"/>
          <p:nvPr/>
        </p:nvSpPr>
        <p:spPr>
          <a:xfrm>
            <a:off x="190500" y="1955800"/>
            <a:ext cx="177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20B7A8"/>
                </a:solidFill>
                <a:latin typeface="Arial" panose="020B0604020202020204" pitchFamily="34" charset="0"/>
              </a:rPr>
              <a:t>▸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51012DD-F65B-2F61-2BBB-9841320948E3}"/>
              </a:ext>
            </a:extLst>
          </p:cNvPr>
          <p:cNvSpPr txBox="1"/>
          <p:nvPr/>
        </p:nvSpPr>
        <p:spPr>
          <a:xfrm>
            <a:off x="393700" y="2946400"/>
            <a:ext cx="6121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1E2A32"/>
                </a:solidFill>
                <a:latin typeface="Arial" panose="020B0604020202020204" pitchFamily="34" charset="0"/>
              </a:rPr>
              <a:t>El diagnóstico del grupo debe contrastar esa necesidad; no se supone demostrada.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D923DE2-A697-9E67-311D-31A6D369C908}"/>
              </a:ext>
            </a:extLst>
          </p:cNvPr>
          <p:cNvSpPr txBox="1"/>
          <p:nvPr/>
        </p:nvSpPr>
        <p:spPr>
          <a:xfrm>
            <a:off x="190500" y="2946400"/>
            <a:ext cx="177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20B7A8"/>
                </a:solidFill>
                <a:latin typeface="Arial" panose="020B0604020202020204" pitchFamily="34" charset="0"/>
              </a:rPr>
              <a:t>▸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9B1171C-E1BE-4127-79D4-9CEABB315EBC}"/>
              </a:ext>
            </a:extLst>
          </p:cNvPr>
          <p:cNvSpPr/>
          <p:nvPr/>
        </p:nvSpPr>
        <p:spPr>
          <a:xfrm>
            <a:off x="0" y="4089400"/>
            <a:ext cx="6911975" cy="228600"/>
          </a:xfrm>
          <a:prstGeom prst="rect">
            <a:avLst/>
          </a:prstGeom>
          <a:solidFill>
            <a:srgbClr val="16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1B822C9-CDC4-8D60-FCE5-5C45CF131979}"/>
              </a:ext>
            </a:extLst>
          </p:cNvPr>
          <p:cNvSpPr txBox="1"/>
          <p:nvPr/>
        </p:nvSpPr>
        <p:spPr>
          <a:xfrm>
            <a:off x="190500" y="4127500"/>
            <a:ext cx="533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800">
                <a:solidFill>
                  <a:srgbClr val="FFFFFF"/>
                </a:solidFill>
                <a:latin typeface="Arial" panose="020B0604020202020204" pitchFamily="34" charset="0"/>
              </a:rPr>
              <a:t>M. de la Cruz Muñoz · MAEM · 00874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50E6AA6-296C-686D-FA91-C5FEBCE2BF26}"/>
              </a:ext>
            </a:extLst>
          </p:cNvPr>
          <p:cNvSpPr txBox="1"/>
          <p:nvPr/>
        </p:nvSpPr>
        <p:spPr>
          <a:xfrm>
            <a:off x="6159500" y="4127500"/>
            <a:ext cx="571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800">
                <a:solidFill>
                  <a:srgbClr val="FFFFFF"/>
                </a:solidFill>
                <a:latin typeface="Arial" panose="020B0604020202020204" pitchFamily="34" charset="0"/>
              </a:rPr>
              <a:t>3 / 15</a:t>
            </a:r>
          </a:p>
        </p:txBody>
      </p:sp>
    </p:spTree>
    <p:extLst>
      <p:ext uri="{BB962C8B-B14F-4D97-AF65-F5344CB8AC3E}">
        <p14:creationId xmlns:p14="http://schemas.microsoft.com/office/powerpoint/2010/main" val="908125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7507992-03F9-88EB-2179-6493007FD9B6}"/>
              </a:ext>
            </a:extLst>
          </p:cNvPr>
          <p:cNvSpPr/>
          <p:nvPr/>
        </p:nvSpPr>
        <p:spPr>
          <a:xfrm>
            <a:off x="0" y="0"/>
            <a:ext cx="6911975" cy="508000"/>
          </a:xfrm>
          <a:prstGeom prst="rect">
            <a:avLst/>
          </a:prstGeom>
          <a:solidFill>
            <a:srgbClr val="16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41D2553-0FC9-EDDD-98CD-124087A8288D}"/>
              </a:ext>
            </a:extLst>
          </p:cNvPr>
          <p:cNvSpPr/>
          <p:nvPr/>
        </p:nvSpPr>
        <p:spPr>
          <a:xfrm>
            <a:off x="0" y="508000"/>
            <a:ext cx="6911975" cy="25400"/>
          </a:xfrm>
          <a:prstGeom prst="rect">
            <a:avLst/>
          </a:prstGeom>
          <a:solidFill>
            <a:srgbClr val="F28C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867AEDB-C779-B10A-909D-43BB941AD7EF}"/>
              </a:ext>
            </a:extLst>
          </p:cNvPr>
          <p:cNvSpPr txBox="1"/>
          <p:nvPr/>
        </p:nvSpPr>
        <p:spPr>
          <a:xfrm>
            <a:off x="215900" y="101600"/>
            <a:ext cx="5168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b="1">
                <a:solidFill>
                  <a:srgbClr val="FFFFFF"/>
                </a:solidFill>
                <a:latin typeface="Arial" panose="020B0604020202020204" pitchFamily="34" charset="0"/>
              </a:rPr>
              <a:t>Contenidos matemáticos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B0C8388-8778-A254-CA4C-0E794F5153E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0400" y="101600"/>
            <a:ext cx="914400" cy="3683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BC91801-DC86-78AF-B029-91B6EC64CDD4}"/>
              </a:ext>
            </a:extLst>
          </p:cNvPr>
          <p:cNvSpPr txBox="1"/>
          <p:nvPr/>
        </p:nvSpPr>
        <p:spPr>
          <a:xfrm>
            <a:off x="393700" y="965200"/>
            <a:ext cx="6121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1E2A32"/>
                </a:solidFill>
                <a:latin typeface="Arial" panose="020B0604020202020204" pitchFamily="34" charset="0"/>
              </a:rPr>
              <a:t>Proporcionalidad y funciones lineales.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8D7F232-46D5-6C4E-5761-17E0BAEAA917}"/>
              </a:ext>
            </a:extLst>
          </p:cNvPr>
          <p:cNvSpPr txBox="1"/>
          <p:nvPr/>
        </p:nvSpPr>
        <p:spPr>
          <a:xfrm>
            <a:off x="190500" y="965200"/>
            <a:ext cx="177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20B7A8"/>
                </a:solidFill>
                <a:latin typeface="Arial" panose="020B0604020202020204" pitchFamily="34" charset="0"/>
              </a:rPr>
              <a:t>▸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3E8C95C-8B65-4004-F9BD-010D82FB3D25}"/>
              </a:ext>
            </a:extLst>
          </p:cNvPr>
          <p:cNvSpPr txBox="1"/>
          <p:nvPr/>
        </p:nvSpPr>
        <p:spPr>
          <a:xfrm>
            <a:off x="393700" y="1955800"/>
            <a:ext cx="6121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1E2A32"/>
                </a:solidFill>
                <a:latin typeface="Arial" panose="020B0604020202020204" pitchFamily="34" charset="0"/>
              </a:rPr>
              <a:t>Representación tabular, gráfica y algebraica.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3B27873-D46D-F15E-0E24-C4AF7B58865E}"/>
              </a:ext>
            </a:extLst>
          </p:cNvPr>
          <p:cNvSpPr txBox="1"/>
          <p:nvPr/>
        </p:nvSpPr>
        <p:spPr>
          <a:xfrm>
            <a:off x="190500" y="1955800"/>
            <a:ext cx="177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20B7A8"/>
                </a:solidFill>
                <a:latin typeface="Arial" panose="020B0604020202020204" pitchFamily="34" charset="0"/>
              </a:rPr>
              <a:t>▸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C57F8E8-450D-BE17-2843-08C52E9FABF2}"/>
              </a:ext>
            </a:extLst>
          </p:cNvPr>
          <p:cNvSpPr txBox="1"/>
          <p:nvPr/>
        </p:nvSpPr>
        <p:spPr>
          <a:xfrm>
            <a:off x="393700" y="2946400"/>
            <a:ext cx="6121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1E2A32"/>
                </a:solidFill>
                <a:latin typeface="Arial" panose="020B0604020202020204" pitchFamily="34" charset="0"/>
              </a:rPr>
              <a:t>Medidas centrales, dispersión, error y unidades.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532F1D1-57BA-74AC-6613-DD60FD969216}"/>
              </a:ext>
            </a:extLst>
          </p:cNvPr>
          <p:cNvSpPr txBox="1"/>
          <p:nvPr/>
        </p:nvSpPr>
        <p:spPr>
          <a:xfrm>
            <a:off x="190500" y="2946400"/>
            <a:ext cx="177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20B7A8"/>
                </a:solidFill>
                <a:latin typeface="Arial" panose="020B0604020202020204" pitchFamily="34" charset="0"/>
              </a:rPr>
              <a:t>▸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66B5898-32A9-FEED-719E-0F73FA88AC63}"/>
              </a:ext>
            </a:extLst>
          </p:cNvPr>
          <p:cNvSpPr/>
          <p:nvPr/>
        </p:nvSpPr>
        <p:spPr>
          <a:xfrm>
            <a:off x="0" y="4089400"/>
            <a:ext cx="6911975" cy="228600"/>
          </a:xfrm>
          <a:prstGeom prst="rect">
            <a:avLst/>
          </a:prstGeom>
          <a:solidFill>
            <a:srgbClr val="16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260BDB6-B9D9-CDA2-DC1B-952D6584DD34}"/>
              </a:ext>
            </a:extLst>
          </p:cNvPr>
          <p:cNvSpPr txBox="1"/>
          <p:nvPr/>
        </p:nvSpPr>
        <p:spPr>
          <a:xfrm>
            <a:off x="190500" y="4127500"/>
            <a:ext cx="533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800">
                <a:solidFill>
                  <a:srgbClr val="FFFFFF"/>
                </a:solidFill>
                <a:latin typeface="Arial" panose="020B0604020202020204" pitchFamily="34" charset="0"/>
              </a:rPr>
              <a:t>M. de la Cruz Muñoz · MAEM · 00874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826078E-1982-AE3A-680F-39D3E170BB53}"/>
              </a:ext>
            </a:extLst>
          </p:cNvPr>
          <p:cNvSpPr txBox="1"/>
          <p:nvPr/>
        </p:nvSpPr>
        <p:spPr>
          <a:xfrm>
            <a:off x="6159500" y="4127500"/>
            <a:ext cx="571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800">
                <a:solidFill>
                  <a:srgbClr val="FFFFFF"/>
                </a:solidFill>
                <a:latin typeface="Arial" panose="020B0604020202020204" pitchFamily="34" charset="0"/>
              </a:rPr>
              <a:t>4 / 15</a:t>
            </a:r>
          </a:p>
        </p:txBody>
      </p:sp>
    </p:spTree>
    <p:extLst>
      <p:ext uri="{BB962C8B-B14F-4D97-AF65-F5344CB8AC3E}">
        <p14:creationId xmlns:p14="http://schemas.microsoft.com/office/powerpoint/2010/main" val="2351006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8D4D12E-60A3-92F3-F260-4050C7346D60}"/>
              </a:ext>
            </a:extLst>
          </p:cNvPr>
          <p:cNvSpPr/>
          <p:nvPr/>
        </p:nvSpPr>
        <p:spPr>
          <a:xfrm>
            <a:off x="0" y="0"/>
            <a:ext cx="6911975" cy="508000"/>
          </a:xfrm>
          <a:prstGeom prst="rect">
            <a:avLst/>
          </a:prstGeom>
          <a:solidFill>
            <a:srgbClr val="16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6A2F24E-68C8-6CFE-CA0A-172350BF5B88}"/>
              </a:ext>
            </a:extLst>
          </p:cNvPr>
          <p:cNvSpPr/>
          <p:nvPr/>
        </p:nvSpPr>
        <p:spPr>
          <a:xfrm>
            <a:off x="0" y="508000"/>
            <a:ext cx="6911975" cy="25400"/>
          </a:xfrm>
          <a:prstGeom prst="rect">
            <a:avLst/>
          </a:prstGeom>
          <a:solidFill>
            <a:srgbClr val="F28C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72266B3-F1C4-BB54-5989-2CCCDDD7AAB8}"/>
              </a:ext>
            </a:extLst>
          </p:cNvPr>
          <p:cNvSpPr txBox="1"/>
          <p:nvPr/>
        </p:nvSpPr>
        <p:spPr>
          <a:xfrm>
            <a:off x="215900" y="101600"/>
            <a:ext cx="5168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b="1">
                <a:solidFill>
                  <a:srgbClr val="FFFFFF"/>
                </a:solidFill>
                <a:latin typeface="Arial" panose="020B0604020202020204" pitchFamily="34" charset="0"/>
              </a:rPr>
              <a:t>Saberes y pensamiento científico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D1E32CE-FF1B-2DD7-278E-2A8D4D90A81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0400" y="101600"/>
            <a:ext cx="914400" cy="3683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B65E83C-740B-5C78-3DEC-AFAA590D52B6}"/>
              </a:ext>
            </a:extLst>
          </p:cNvPr>
          <p:cNvSpPr txBox="1"/>
          <p:nvPr/>
        </p:nvSpPr>
        <p:spPr>
          <a:xfrm>
            <a:off x="393700" y="965200"/>
            <a:ext cx="6121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1E2A32"/>
                </a:solidFill>
                <a:latin typeface="Arial" panose="020B0604020202020204" pitchFamily="34" charset="0"/>
              </a:rPr>
              <a:t>Resolver: definir variables y elegir un procedimiento.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18D21C8-6B1F-357B-D75C-D81FE97E8923}"/>
              </a:ext>
            </a:extLst>
          </p:cNvPr>
          <p:cNvSpPr txBox="1"/>
          <p:nvPr/>
        </p:nvSpPr>
        <p:spPr>
          <a:xfrm>
            <a:off x="190500" y="965200"/>
            <a:ext cx="177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20B7A8"/>
                </a:solidFill>
                <a:latin typeface="Arial" panose="020B0604020202020204" pitchFamily="34" charset="0"/>
              </a:rPr>
              <a:t>▸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B82D8B7-5A5E-9102-56CC-F5543D355044}"/>
              </a:ext>
            </a:extLst>
          </p:cNvPr>
          <p:cNvSpPr txBox="1"/>
          <p:nvPr/>
        </p:nvSpPr>
        <p:spPr>
          <a:xfrm>
            <a:off x="393700" y="1955800"/>
            <a:ext cx="6121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1E2A32"/>
                </a:solidFill>
                <a:latin typeface="Arial" panose="020B0604020202020204" pitchFamily="34" charset="0"/>
              </a:rPr>
              <a:t>Argumentar: justificar modelo y supuestos.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3A1BAAE-A90D-7356-2FAC-5C87E027A31D}"/>
              </a:ext>
            </a:extLst>
          </p:cNvPr>
          <p:cNvSpPr txBox="1"/>
          <p:nvPr/>
        </p:nvSpPr>
        <p:spPr>
          <a:xfrm>
            <a:off x="190500" y="1955800"/>
            <a:ext cx="177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20B7A8"/>
                </a:solidFill>
                <a:latin typeface="Arial" panose="020B0604020202020204" pitchFamily="34" charset="0"/>
              </a:rPr>
              <a:t>▸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C18A64F-F46F-D49F-406E-099C4E960919}"/>
              </a:ext>
            </a:extLst>
          </p:cNvPr>
          <p:cNvSpPr txBox="1"/>
          <p:nvPr/>
        </p:nvSpPr>
        <p:spPr>
          <a:xfrm>
            <a:off x="393700" y="2946400"/>
            <a:ext cx="6121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1E2A32"/>
                </a:solidFill>
                <a:latin typeface="Arial" panose="020B0604020202020204" pitchFamily="34" charset="0"/>
              </a:rPr>
              <a:t>Representar: conectar datos, gráfica y expresión con una situación.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60E2800-CD68-CFDC-E13D-0A7DACF151FC}"/>
              </a:ext>
            </a:extLst>
          </p:cNvPr>
          <p:cNvSpPr txBox="1"/>
          <p:nvPr/>
        </p:nvSpPr>
        <p:spPr>
          <a:xfrm>
            <a:off x="190500" y="2946400"/>
            <a:ext cx="177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20B7A8"/>
                </a:solidFill>
                <a:latin typeface="Arial" panose="020B0604020202020204" pitchFamily="34" charset="0"/>
              </a:rPr>
              <a:t>▸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D4E09C2-7115-A8FC-A3A5-25EDE02B2358}"/>
              </a:ext>
            </a:extLst>
          </p:cNvPr>
          <p:cNvSpPr/>
          <p:nvPr/>
        </p:nvSpPr>
        <p:spPr>
          <a:xfrm>
            <a:off x="0" y="4089400"/>
            <a:ext cx="6911975" cy="228600"/>
          </a:xfrm>
          <a:prstGeom prst="rect">
            <a:avLst/>
          </a:prstGeom>
          <a:solidFill>
            <a:srgbClr val="16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D217CB7-4F2B-0BA1-44C8-34C090133489}"/>
              </a:ext>
            </a:extLst>
          </p:cNvPr>
          <p:cNvSpPr txBox="1"/>
          <p:nvPr/>
        </p:nvSpPr>
        <p:spPr>
          <a:xfrm>
            <a:off x="190500" y="4127500"/>
            <a:ext cx="533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800">
                <a:solidFill>
                  <a:srgbClr val="FFFFFF"/>
                </a:solidFill>
                <a:latin typeface="Arial" panose="020B0604020202020204" pitchFamily="34" charset="0"/>
              </a:rPr>
              <a:t>M. de la Cruz Muñoz · MAEM · 00874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9597B7F-BBD7-E441-63FB-B31CCE560C83}"/>
              </a:ext>
            </a:extLst>
          </p:cNvPr>
          <p:cNvSpPr txBox="1"/>
          <p:nvPr/>
        </p:nvSpPr>
        <p:spPr>
          <a:xfrm>
            <a:off x="6159500" y="4127500"/>
            <a:ext cx="571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800">
                <a:solidFill>
                  <a:srgbClr val="FFFFFF"/>
                </a:solidFill>
                <a:latin typeface="Arial" panose="020B0604020202020204" pitchFamily="34" charset="0"/>
              </a:rPr>
              <a:t>5 / 15</a:t>
            </a:r>
          </a:p>
        </p:txBody>
      </p:sp>
    </p:spTree>
    <p:extLst>
      <p:ext uri="{BB962C8B-B14F-4D97-AF65-F5344CB8AC3E}">
        <p14:creationId xmlns:p14="http://schemas.microsoft.com/office/powerpoint/2010/main" val="2271492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C9F3794-64AF-6A5D-F443-8AA310ACBD62}"/>
              </a:ext>
            </a:extLst>
          </p:cNvPr>
          <p:cNvSpPr/>
          <p:nvPr/>
        </p:nvSpPr>
        <p:spPr>
          <a:xfrm>
            <a:off x="0" y="0"/>
            <a:ext cx="6911975" cy="508000"/>
          </a:xfrm>
          <a:prstGeom prst="rect">
            <a:avLst/>
          </a:prstGeom>
          <a:solidFill>
            <a:srgbClr val="16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0E9D111-96A9-62EB-7BF4-F62DC5CC65FC}"/>
              </a:ext>
            </a:extLst>
          </p:cNvPr>
          <p:cNvSpPr/>
          <p:nvPr/>
        </p:nvSpPr>
        <p:spPr>
          <a:xfrm>
            <a:off x="0" y="508000"/>
            <a:ext cx="6911975" cy="25400"/>
          </a:xfrm>
          <a:prstGeom prst="rect">
            <a:avLst/>
          </a:prstGeom>
          <a:solidFill>
            <a:srgbClr val="F28C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94052C8-C8EF-20C2-9D98-90405BEA3FC8}"/>
              </a:ext>
            </a:extLst>
          </p:cNvPr>
          <p:cNvSpPr txBox="1"/>
          <p:nvPr/>
        </p:nvSpPr>
        <p:spPr>
          <a:xfrm>
            <a:off x="215900" y="101600"/>
            <a:ext cx="5168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b="1">
                <a:solidFill>
                  <a:srgbClr val="FFFFFF"/>
                </a:solidFill>
                <a:latin typeface="Arial" panose="020B0604020202020204" pitchFamily="34" charset="0"/>
              </a:rPr>
              <a:t>Metodología sociocrítica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2EEA912-2AEE-0388-12ED-AA3B6E15C1F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0400" y="101600"/>
            <a:ext cx="914400" cy="3683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4D8FDA9-6668-F18F-A700-F818EB0D2192}"/>
              </a:ext>
            </a:extLst>
          </p:cNvPr>
          <p:cNvSpPr txBox="1"/>
          <p:nvPr/>
        </p:nvSpPr>
        <p:spPr>
          <a:xfrm>
            <a:off x="393700" y="965200"/>
            <a:ext cx="6121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1E2A32"/>
                </a:solidFill>
                <a:latin typeface="Arial" panose="020B0604020202020204" pitchFamily="34" charset="0"/>
              </a:rPr>
              <a:t>Aprendizaje basado en indagación con STEAM como enfoque.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7E6764A-829F-4BCD-2068-E3C2B59F2795}"/>
              </a:ext>
            </a:extLst>
          </p:cNvPr>
          <p:cNvSpPr txBox="1"/>
          <p:nvPr/>
        </p:nvSpPr>
        <p:spPr>
          <a:xfrm>
            <a:off x="190500" y="965200"/>
            <a:ext cx="177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20B7A8"/>
                </a:solidFill>
                <a:latin typeface="Arial" panose="020B0604020202020204" pitchFamily="34" charset="0"/>
              </a:rPr>
              <a:t>▸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E6A8C5E-5B87-30FB-938A-E735D21DE520}"/>
              </a:ext>
            </a:extLst>
          </p:cNvPr>
          <p:cNvSpPr txBox="1"/>
          <p:nvPr/>
        </p:nvSpPr>
        <p:spPr>
          <a:xfrm>
            <a:off x="393700" y="1955800"/>
            <a:ext cx="6121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1E2A32"/>
                </a:solidFill>
                <a:latin typeface="Arial" panose="020B0604020202020204" pitchFamily="34" charset="0"/>
              </a:rPr>
              <a:t>La pregunta exige diseñar una prueba, registrar y contrastar.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EC05EFB-FC66-84C6-5471-883FD846A938}"/>
              </a:ext>
            </a:extLst>
          </p:cNvPr>
          <p:cNvSpPr txBox="1"/>
          <p:nvPr/>
        </p:nvSpPr>
        <p:spPr>
          <a:xfrm>
            <a:off x="190500" y="1955800"/>
            <a:ext cx="177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20B7A8"/>
                </a:solidFill>
                <a:latin typeface="Arial" panose="020B0604020202020204" pitchFamily="34" charset="0"/>
              </a:rPr>
              <a:t>▸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FF227A6-44AB-B0B3-87D2-C1A37102EC83}"/>
              </a:ext>
            </a:extLst>
          </p:cNvPr>
          <p:cNvSpPr txBox="1"/>
          <p:nvPr/>
        </p:nvSpPr>
        <p:spPr>
          <a:xfrm>
            <a:off x="393700" y="2946400"/>
            <a:ext cx="6121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1E2A32"/>
                </a:solidFill>
                <a:latin typeface="Arial" panose="020B0604020202020204" pitchFamily="34" charset="0"/>
              </a:rPr>
              <a:t>Cada disciplina aporta una función; la tecnología no se añade como decoración.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9D7DAE3-47DD-113F-1106-86E8A653FAFE}"/>
              </a:ext>
            </a:extLst>
          </p:cNvPr>
          <p:cNvSpPr txBox="1"/>
          <p:nvPr/>
        </p:nvSpPr>
        <p:spPr>
          <a:xfrm>
            <a:off x="190500" y="2946400"/>
            <a:ext cx="177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20B7A8"/>
                </a:solidFill>
                <a:latin typeface="Arial" panose="020B0604020202020204" pitchFamily="34" charset="0"/>
              </a:rPr>
              <a:t>▸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4251DB7-FBE5-D097-4090-020B5A57BA0F}"/>
              </a:ext>
            </a:extLst>
          </p:cNvPr>
          <p:cNvSpPr/>
          <p:nvPr/>
        </p:nvSpPr>
        <p:spPr>
          <a:xfrm>
            <a:off x="0" y="4089400"/>
            <a:ext cx="6911975" cy="228600"/>
          </a:xfrm>
          <a:prstGeom prst="rect">
            <a:avLst/>
          </a:prstGeom>
          <a:solidFill>
            <a:srgbClr val="16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A3866C8-2BDE-B5D2-8C0D-7E46EEBD5D13}"/>
              </a:ext>
            </a:extLst>
          </p:cNvPr>
          <p:cNvSpPr txBox="1"/>
          <p:nvPr/>
        </p:nvSpPr>
        <p:spPr>
          <a:xfrm>
            <a:off x="190500" y="4127500"/>
            <a:ext cx="533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800">
                <a:solidFill>
                  <a:srgbClr val="FFFFFF"/>
                </a:solidFill>
                <a:latin typeface="Arial" panose="020B0604020202020204" pitchFamily="34" charset="0"/>
              </a:rPr>
              <a:t>M. de la Cruz Muñoz · MAEM · 00874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ED36EEB-D13D-0B61-FC06-0889B71C6315}"/>
              </a:ext>
            </a:extLst>
          </p:cNvPr>
          <p:cNvSpPr txBox="1"/>
          <p:nvPr/>
        </p:nvSpPr>
        <p:spPr>
          <a:xfrm>
            <a:off x="6159500" y="4127500"/>
            <a:ext cx="571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800">
                <a:solidFill>
                  <a:srgbClr val="FFFFFF"/>
                </a:solidFill>
                <a:latin typeface="Arial" panose="020B0604020202020204" pitchFamily="34" charset="0"/>
              </a:rPr>
              <a:t>6 / 15</a:t>
            </a:r>
          </a:p>
        </p:txBody>
      </p:sp>
    </p:spTree>
    <p:extLst>
      <p:ext uri="{BB962C8B-B14F-4D97-AF65-F5344CB8AC3E}">
        <p14:creationId xmlns:p14="http://schemas.microsoft.com/office/powerpoint/2010/main" val="801882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5C4D0EC-F8B2-4EF6-55AC-BF4EEAE3D863}"/>
              </a:ext>
            </a:extLst>
          </p:cNvPr>
          <p:cNvSpPr/>
          <p:nvPr/>
        </p:nvSpPr>
        <p:spPr>
          <a:xfrm>
            <a:off x="0" y="0"/>
            <a:ext cx="6911975" cy="508000"/>
          </a:xfrm>
          <a:prstGeom prst="rect">
            <a:avLst/>
          </a:prstGeom>
          <a:solidFill>
            <a:srgbClr val="16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4032AFE-000C-ACAA-732F-0BA10C132847}"/>
              </a:ext>
            </a:extLst>
          </p:cNvPr>
          <p:cNvSpPr/>
          <p:nvPr/>
        </p:nvSpPr>
        <p:spPr>
          <a:xfrm>
            <a:off x="0" y="508000"/>
            <a:ext cx="6911975" cy="25400"/>
          </a:xfrm>
          <a:prstGeom prst="rect">
            <a:avLst/>
          </a:prstGeom>
          <a:solidFill>
            <a:srgbClr val="F28C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39107F0-306D-25C2-E4F4-23BB3C53E194}"/>
              </a:ext>
            </a:extLst>
          </p:cNvPr>
          <p:cNvSpPr txBox="1"/>
          <p:nvPr/>
        </p:nvSpPr>
        <p:spPr>
          <a:xfrm>
            <a:off x="215900" y="101600"/>
            <a:ext cx="5168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b="1">
                <a:solidFill>
                  <a:srgbClr val="FFFFFF"/>
                </a:solidFill>
                <a:latin typeface="Arial" panose="020B0604020202020204" pitchFamily="34" charset="0"/>
              </a:rPr>
              <a:t>Actividades y organización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16DEB82-13BD-015F-242A-39E7B0BA0C5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0400" y="101600"/>
            <a:ext cx="914400" cy="368300"/>
          </a:xfrm>
          <a:prstGeom prst="rect">
            <a:avLst/>
          </a:prstGeom>
        </p:spPr>
      </p:pic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16C4529C-99A4-A5BE-0D42-0C36A0D104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491629"/>
              </p:ext>
            </p:extLst>
          </p:nvPr>
        </p:nvGraphicFramePr>
        <p:xfrm>
          <a:off x="304799" y="825500"/>
          <a:ext cx="6299200" cy="292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9733">
                  <a:extLst>
                    <a:ext uri="{9D8B030D-6E8A-4147-A177-3AD203B41FA5}">
                      <a16:colId xmlns:a16="http://schemas.microsoft.com/office/drawing/2014/main" val="2591394835"/>
                    </a:ext>
                  </a:extLst>
                </a:gridCol>
                <a:gridCol w="2099733">
                  <a:extLst>
                    <a:ext uri="{9D8B030D-6E8A-4147-A177-3AD203B41FA5}">
                      <a16:colId xmlns:a16="http://schemas.microsoft.com/office/drawing/2014/main" val="2003217947"/>
                    </a:ext>
                  </a:extLst>
                </a:gridCol>
                <a:gridCol w="2099733">
                  <a:extLst>
                    <a:ext uri="{9D8B030D-6E8A-4147-A177-3AD203B41FA5}">
                      <a16:colId xmlns:a16="http://schemas.microsoft.com/office/drawing/2014/main" val="730876831"/>
                    </a:ext>
                  </a:extLst>
                </a:gridCol>
              </a:tblGrid>
              <a:tr h="486833">
                <a:tc>
                  <a:txBody>
                    <a:bodyPr/>
                    <a:lstStyle/>
                    <a:p>
                      <a:r>
                        <a:rPr lang="es-MX" sz="12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Fase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16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Actividad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16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Evidencia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163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796347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r>
                        <a:rPr lang="es-MX" sz="1200">
                          <a:solidFill>
                            <a:srgbClr val="1E2A32"/>
                          </a:solidFill>
                          <a:latin typeface="Arial" panose="020B0604020202020204" pitchFamily="34" charset="0"/>
                        </a:rPr>
                        <a:t>Inicio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>
                          <a:solidFill>
                            <a:srgbClr val="1E2A32"/>
                          </a:solidFill>
                          <a:latin typeface="Arial" panose="020B0604020202020204" pitchFamily="34" charset="0"/>
                        </a:rPr>
                        <a:t>Pregunta y diagnóstico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>
                          <a:solidFill>
                            <a:srgbClr val="1E2A32"/>
                          </a:solidFill>
                          <a:latin typeface="Arial" panose="020B0604020202020204" pitchFamily="34" charset="0"/>
                        </a:rPr>
                        <a:t>Predicción individual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585007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r>
                        <a:rPr lang="es-MX" sz="1200">
                          <a:solidFill>
                            <a:srgbClr val="1E2A32"/>
                          </a:solidFill>
                          <a:latin typeface="Arial" panose="020B0604020202020204" pitchFamily="34" charset="0"/>
                        </a:rPr>
                        <a:t>Indagación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>
                          <a:solidFill>
                            <a:srgbClr val="1E2A32"/>
                          </a:solidFill>
                          <a:latin typeface="Arial" panose="020B0604020202020204" pitchFamily="34" charset="0"/>
                        </a:rPr>
                        <a:t>Referencias y repeticiones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>
                          <a:solidFill>
                            <a:srgbClr val="1E2A32"/>
                          </a:solidFill>
                          <a:latin typeface="Arial" panose="020B0604020202020204" pitchFamily="34" charset="0"/>
                        </a:rPr>
                        <a:t>Registro y condiciones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874667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r>
                        <a:rPr lang="es-MX" sz="1200">
                          <a:solidFill>
                            <a:srgbClr val="1E2A32"/>
                          </a:solidFill>
                          <a:latin typeface="Arial" panose="020B0604020202020204" pitchFamily="34" charset="0"/>
                        </a:rPr>
                        <a:t>Modelación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>
                          <a:solidFill>
                            <a:srgbClr val="1E2A32"/>
                          </a:solidFill>
                          <a:latin typeface="Arial" panose="020B0604020202020204" pitchFamily="34" charset="0"/>
                        </a:rPr>
                        <a:t>Tabla, gráfica y ecuación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>
                          <a:solidFill>
                            <a:srgbClr val="1E2A32"/>
                          </a:solidFill>
                          <a:latin typeface="Arial" panose="020B0604020202020204" pitchFamily="34" charset="0"/>
                        </a:rPr>
                        <a:t>Modelo con límites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8435989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r>
                        <a:rPr lang="es-MX" sz="1200">
                          <a:solidFill>
                            <a:srgbClr val="1E2A32"/>
                          </a:solidFill>
                          <a:latin typeface="Arial" panose="020B0604020202020204" pitchFamily="34" charset="0"/>
                        </a:rPr>
                        <a:t>Comunicación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>
                          <a:solidFill>
                            <a:srgbClr val="1E2A32"/>
                          </a:solidFill>
                          <a:latin typeface="Arial" panose="020B0604020202020204" pitchFamily="34" charset="0"/>
                        </a:rPr>
                        <a:t>Recomendación y contraste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>
                          <a:solidFill>
                            <a:srgbClr val="1E2A32"/>
                          </a:solidFill>
                          <a:latin typeface="Arial" panose="020B0604020202020204" pitchFamily="34" charset="0"/>
                        </a:rPr>
                        <a:t>Argumento público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294033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r>
                        <a:rPr lang="es-MX" sz="1200">
                          <a:solidFill>
                            <a:srgbClr val="1E2A32"/>
                          </a:solidFill>
                          <a:latin typeface="Arial" panose="020B0604020202020204" pitchFamily="34" charset="0"/>
                        </a:rPr>
                        <a:t>Revisión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>
                          <a:solidFill>
                            <a:srgbClr val="1E2A32"/>
                          </a:solidFill>
                          <a:latin typeface="Arial" panose="020B0604020202020204" pitchFamily="34" charset="0"/>
                        </a:rPr>
                        <a:t>Devolución y transferencia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>
                          <a:solidFill>
                            <a:srgbClr val="1E2A32"/>
                          </a:solidFill>
                          <a:latin typeface="Arial" panose="020B0604020202020204" pitchFamily="34" charset="0"/>
                        </a:rPr>
                        <a:t>Versión corregida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707025"/>
                  </a:ext>
                </a:extLst>
              </a:tr>
            </a:tbl>
          </a:graphicData>
        </a:graphic>
      </p:graphicFrame>
      <p:sp>
        <p:nvSpPr>
          <p:cNvPr id="8" name="Rectángulo 7">
            <a:extLst>
              <a:ext uri="{FF2B5EF4-FFF2-40B4-BE49-F238E27FC236}">
                <a16:creationId xmlns:a16="http://schemas.microsoft.com/office/drawing/2014/main" id="{42876C9A-A937-64B6-3844-8A6726AC7CFE}"/>
              </a:ext>
            </a:extLst>
          </p:cNvPr>
          <p:cNvSpPr/>
          <p:nvPr/>
        </p:nvSpPr>
        <p:spPr>
          <a:xfrm>
            <a:off x="0" y="4089400"/>
            <a:ext cx="6911975" cy="228600"/>
          </a:xfrm>
          <a:prstGeom prst="rect">
            <a:avLst/>
          </a:prstGeom>
          <a:solidFill>
            <a:srgbClr val="16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3CFF5B5-9101-022E-7BCA-6980CB96649C}"/>
              </a:ext>
            </a:extLst>
          </p:cNvPr>
          <p:cNvSpPr txBox="1"/>
          <p:nvPr/>
        </p:nvSpPr>
        <p:spPr>
          <a:xfrm>
            <a:off x="190500" y="4127500"/>
            <a:ext cx="533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800">
                <a:solidFill>
                  <a:srgbClr val="FFFFFF"/>
                </a:solidFill>
                <a:latin typeface="Arial" panose="020B0604020202020204" pitchFamily="34" charset="0"/>
              </a:rPr>
              <a:t>M. de la Cruz Muñoz · MAEM · 00874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F0A1842-DBFA-2FE3-D4EF-689649946BA9}"/>
              </a:ext>
            </a:extLst>
          </p:cNvPr>
          <p:cNvSpPr txBox="1"/>
          <p:nvPr/>
        </p:nvSpPr>
        <p:spPr>
          <a:xfrm>
            <a:off x="6159500" y="4127500"/>
            <a:ext cx="571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800">
                <a:solidFill>
                  <a:srgbClr val="FFFFFF"/>
                </a:solidFill>
                <a:latin typeface="Arial" panose="020B0604020202020204" pitchFamily="34" charset="0"/>
              </a:rPr>
              <a:t>7 / 15</a:t>
            </a:r>
          </a:p>
        </p:txBody>
      </p:sp>
    </p:spTree>
    <p:extLst>
      <p:ext uri="{BB962C8B-B14F-4D97-AF65-F5344CB8AC3E}">
        <p14:creationId xmlns:p14="http://schemas.microsoft.com/office/powerpoint/2010/main" val="3132468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C4FE87C-E3B3-A08F-7A1F-09D0A20040AE}"/>
              </a:ext>
            </a:extLst>
          </p:cNvPr>
          <p:cNvSpPr/>
          <p:nvPr/>
        </p:nvSpPr>
        <p:spPr>
          <a:xfrm>
            <a:off x="0" y="0"/>
            <a:ext cx="6911975" cy="508000"/>
          </a:xfrm>
          <a:prstGeom prst="rect">
            <a:avLst/>
          </a:prstGeom>
          <a:solidFill>
            <a:srgbClr val="16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AE9F73B-998B-49BA-E0CD-3E6FBA46AB90}"/>
              </a:ext>
            </a:extLst>
          </p:cNvPr>
          <p:cNvSpPr/>
          <p:nvPr/>
        </p:nvSpPr>
        <p:spPr>
          <a:xfrm>
            <a:off x="0" y="508000"/>
            <a:ext cx="6911975" cy="25400"/>
          </a:xfrm>
          <a:prstGeom prst="rect">
            <a:avLst/>
          </a:prstGeom>
          <a:solidFill>
            <a:srgbClr val="F28C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753F94C-9878-4800-4749-DF3247100D4D}"/>
              </a:ext>
            </a:extLst>
          </p:cNvPr>
          <p:cNvSpPr txBox="1"/>
          <p:nvPr/>
        </p:nvSpPr>
        <p:spPr>
          <a:xfrm>
            <a:off x="215900" y="101600"/>
            <a:ext cx="5168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b="1">
                <a:solidFill>
                  <a:srgbClr val="FFFFFF"/>
                </a:solidFill>
                <a:latin typeface="Arial" panose="020B0604020202020204" pitchFamily="34" charset="0"/>
              </a:rPr>
              <a:t>Ejemplo matemático simulado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0DC6B8E-615E-6793-8EE4-39FF034A132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0400" y="101600"/>
            <a:ext cx="914400" cy="368300"/>
          </a:xfrm>
          <a:prstGeom prst="rect">
            <a:avLst/>
          </a:prstGeom>
        </p:spPr>
      </p:pic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4179AC21-6E3F-2030-D9AF-A153B31E43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220661"/>
              </p:ext>
            </p:extLst>
          </p:nvPr>
        </p:nvGraphicFramePr>
        <p:xfrm>
          <a:off x="292100" y="825500"/>
          <a:ext cx="1968500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6167">
                  <a:extLst>
                    <a:ext uri="{9D8B030D-6E8A-4147-A177-3AD203B41FA5}">
                      <a16:colId xmlns:a16="http://schemas.microsoft.com/office/drawing/2014/main" val="2429760871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3280678499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618353058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r>
                        <a:rPr lang="es-MX" sz="12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x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16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y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16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y − x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163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338772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r>
                        <a:rPr lang="es-MX" sz="1200">
                          <a:solidFill>
                            <a:srgbClr val="1E2A32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>
                          <a:solidFill>
                            <a:srgbClr val="1E2A32"/>
                          </a:solidFill>
                          <a:latin typeface="Arial" panose="020B0604020202020204" pitchFamily="34" charset="0"/>
                        </a:rPr>
                        <a:t>0.2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>
                          <a:solidFill>
                            <a:srgbClr val="1E2A32"/>
                          </a:solidFill>
                          <a:latin typeface="Arial" panose="020B0604020202020204" pitchFamily="34" charset="0"/>
                        </a:rPr>
                        <a:t>0.2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873149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r>
                        <a:rPr lang="es-MX" sz="1200">
                          <a:solidFill>
                            <a:srgbClr val="1E2A32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>
                          <a:solidFill>
                            <a:srgbClr val="1E2A32"/>
                          </a:solidFill>
                          <a:latin typeface="Arial" panose="020B0604020202020204" pitchFamily="34" charset="0"/>
                        </a:rPr>
                        <a:t>2.3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>
                          <a:solidFill>
                            <a:srgbClr val="1E2A32"/>
                          </a:solidFill>
                          <a:latin typeface="Arial" panose="020B0604020202020204" pitchFamily="34" charset="0"/>
                        </a:rPr>
                        <a:t>0.3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008618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r>
                        <a:rPr lang="es-MX" sz="1200">
                          <a:solidFill>
                            <a:srgbClr val="1E2A32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>
                          <a:solidFill>
                            <a:srgbClr val="1E2A32"/>
                          </a:solidFill>
                          <a:latin typeface="Arial" panose="020B0604020202020204" pitchFamily="34" charset="0"/>
                        </a:rPr>
                        <a:t>4.4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>
                          <a:solidFill>
                            <a:srgbClr val="1E2A32"/>
                          </a:solidFill>
                          <a:latin typeface="Arial" panose="020B0604020202020204" pitchFamily="34" charset="0"/>
                        </a:rPr>
                        <a:t>0.4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969596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r>
                        <a:rPr lang="es-MX" sz="1200">
                          <a:solidFill>
                            <a:srgbClr val="1E2A32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>
                          <a:solidFill>
                            <a:srgbClr val="1E2A32"/>
                          </a:solidFill>
                          <a:latin typeface="Arial" panose="020B0604020202020204" pitchFamily="34" charset="0"/>
                        </a:rPr>
                        <a:t>6.5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>
                          <a:solidFill>
                            <a:srgbClr val="1E2A32"/>
                          </a:solidFill>
                          <a:latin typeface="Arial" panose="020B0604020202020204" pitchFamily="34" charset="0"/>
                        </a:rPr>
                        <a:t>0.5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28414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r>
                        <a:rPr lang="es-MX" sz="1200">
                          <a:solidFill>
                            <a:srgbClr val="1E2A32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>
                          <a:solidFill>
                            <a:srgbClr val="1E2A32"/>
                          </a:solidFill>
                          <a:latin typeface="Arial" panose="020B0604020202020204" pitchFamily="34" charset="0"/>
                        </a:rPr>
                        <a:t>8.6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>
                          <a:solidFill>
                            <a:srgbClr val="1E2A32"/>
                          </a:solidFill>
                          <a:latin typeface="Arial" panose="020B0604020202020204" pitchFamily="34" charset="0"/>
                        </a:rPr>
                        <a:t>0.6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549462"/>
                  </a:ext>
                </a:extLst>
              </a:tr>
            </a:tbl>
          </a:graphicData>
        </a:graphic>
      </p:graphicFrame>
      <p:pic>
        <p:nvPicPr>
          <p:cNvPr id="9" name="Imagen 8">
            <a:extLst>
              <a:ext uri="{FF2B5EF4-FFF2-40B4-BE49-F238E27FC236}">
                <a16:creationId xmlns:a16="http://schemas.microsoft.com/office/drawing/2014/main" id="{0D460DF2-9638-9819-CA99-E1ED570AD59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500" y="838200"/>
            <a:ext cx="4102100" cy="2525776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79F8C548-1139-FD81-4A2E-080FA025EAE7}"/>
              </a:ext>
            </a:extLst>
          </p:cNvPr>
          <p:cNvSpPr txBox="1"/>
          <p:nvPr/>
        </p:nvSpPr>
        <p:spPr>
          <a:xfrm>
            <a:off x="304800" y="3492500"/>
            <a:ext cx="6286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300">
                <a:solidFill>
                  <a:srgbClr val="1E2A32"/>
                </a:solidFill>
                <a:latin typeface="Arial" panose="020B0604020202020204" pitchFamily="34" charset="0"/>
              </a:rPr>
              <a:t>Datos didácticos construidos. Corrección: x = (y − 0.2)/1.05.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12B957A-CF4E-BCE2-64C7-A311861DC6A5}"/>
              </a:ext>
            </a:extLst>
          </p:cNvPr>
          <p:cNvSpPr/>
          <p:nvPr/>
        </p:nvSpPr>
        <p:spPr>
          <a:xfrm>
            <a:off x="0" y="4089400"/>
            <a:ext cx="6911975" cy="228600"/>
          </a:xfrm>
          <a:prstGeom prst="rect">
            <a:avLst/>
          </a:prstGeom>
          <a:solidFill>
            <a:srgbClr val="16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F917F98-0414-AC94-9EF4-A8A4810E55AA}"/>
              </a:ext>
            </a:extLst>
          </p:cNvPr>
          <p:cNvSpPr txBox="1"/>
          <p:nvPr/>
        </p:nvSpPr>
        <p:spPr>
          <a:xfrm>
            <a:off x="190500" y="4127500"/>
            <a:ext cx="533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800">
                <a:solidFill>
                  <a:srgbClr val="FFFFFF"/>
                </a:solidFill>
                <a:latin typeface="Arial" panose="020B0604020202020204" pitchFamily="34" charset="0"/>
              </a:rPr>
              <a:t>M. de la Cruz Muñoz · MAEM · 00874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26B6E33-EAD3-5656-0848-6767FCE5F9D0}"/>
              </a:ext>
            </a:extLst>
          </p:cNvPr>
          <p:cNvSpPr txBox="1"/>
          <p:nvPr/>
        </p:nvSpPr>
        <p:spPr>
          <a:xfrm>
            <a:off x="6159500" y="4127500"/>
            <a:ext cx="571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800">
                <a:solidFill>
                  <a:srgbClr val="FFFFFF"/>
                </a:solidFill>
                <a:latin typeface="Arial" panose="020B0604020202020204" pitchFamily="34" charset="0"/>
              </a:rPr>
              <a:t>8 / 15</a:t>
            </a:r>
          </a:p>
        </p:txBody>
      </p:sp>
    </p:spTree>
    <p:extLst>
      <p:ext uri="{BB962C8B-B14F-4D97-AF65-F5344CB8AC3E}">
        <p14:creationId xmlns:p14="http://schemas.microsoft.com/office/powerpoint/2010/main" val="1723884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10B31EA-D466-6756-687A-53D2AFC4CF0B}"/>
              </a:ext>
            </a:extLst>
          </p:cNvPr>
          <p:cNvSpPr/>
          <p:nvPr/>
        </p:nvSpPr>
        <p:spPr>
          <a:xfrm>
            <a:off x="0" y="0"/>
            <a:ext cx="6911975" cy="508000"/>
          </a:xfrm>
          <a:prstGeom prst="rect">
            <a:avLst/>
          </a:prstGeom>
          <a:solidFill>
            <a:srgbClr val="16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3BAA1CA-9E13-C098-209A-45D61B55953D}"/>
              </a:ext>
            </a:extLst>
          </p:cNvPr>
          <p:cNvSpPr/>
          <p:nvPr/>
        </p:nvSpPr>
        <p:spPr>
          <a:xfrm>
            <a:off x="0" y="508000"/>
            <a:ext cx="6911975" cy="25400"/>
          </a:xfrm>
          <a:prstGeom prst="rect">
            <a:avLst/>
          </a:prstGeom>
          <a:solidFill>
            <a:srgbClr val="F28C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3C5431F-99A8-20D6-8199-6B488BDA2EF9}"/>
              </a:ext>
            </a:extLst>
          </p:cNvPr>
          <p:cNvSpPr txBox="1"/>
          <p:nvPr/>
        </p:nvSpPr>
        <p:spPr>
          <a:xfrm>
            <a:off x="215900" y="101600"/>
            <a:ext cx="5168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b="1">
                <a:solidFill>
                  <a:srgbClr val="FFFFFF"/>
                </a:solidFill>
                <a:latin typeface="Arial" panose="020B0604020202020204" pitchFamily="34" charset="0"/>
              </a:rPr>
              <a:t>Microsistema y mesosistema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B616EA3-0324-CE7F-8D8D-A2D2D388403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0400" y="101600"/>
            <a:ext cx="914400" cy="3683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149C016-1DEE-2B45-11E1-38C58B4CD72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00" y="825500"/>
            <a:ext cx="3302000" cy="230466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5B9BB9A-8C69-5FAE-5C6F-64FFDC5C6F03}"/>
              </a:ext>
            </a:extLst>
          </p:cNvPr>
          <p:cNvSpPr txBox="1"/>
          <p:nvPr/>
        </p:nvSpPr>
        <p:spPr>
          <a:xfrm>
            <a:off x="3860800" y="990600"/>
            <a:ext cx="2717800" cy="16158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500">
                <a:solidFill>
                  <a:srgbClr val="1E2A32"/>
                </a:solidFill>
                <a:latin typeface="Arial" panose="020B0604020202020204" pitchFamily="34" charset="0"/>
              </a:rPr>
              <a:t>Micro: interacciones directas.</a:t>
            </a:r>
          </a:p>
          <a:p>
            <a:endParaRPr lang="es-MX" sz="1500">
              <a:solidFill>
                <a:srgbClr val="1E2A32"/>
              </a:solidFill>
              <a:latin typeface="Arial" panose="020B0604020202020204" pitchFamily="34" charset="0"/>
            </a:endParaRPr>
          </a:p>
          <a:p>
            <a:r>
              <a:rPr lang="es-MX" sz="1500">
                <a:solidFill>
                  <a:srgbClr val="1E2A32"/>
                </a:solidFill>
                <a:latin typeface="Arial" panose="020B0604020202020204" pitchFamily="34" charset="0"/>
              </a:rPr>
              <a:t>Meso: vínculos entre entornos.</a:t>
            </a:r>
          </a:p>
          <a:p>
            <a:endParaRPr lang="es-MX" sz="1500">
              <a:solidFill>
                <a:srgbClr val="1E2A32"/>
              </a:solidFill>
              <a:latin typeface="Arial" panose="020B0604020202020204" pitchFamily="34" charset="0"/>
            </a:endParaRPr>
          </a:p>
          <a:p>
            <a:r>
              <a:rPr lang="es-MX" sz="1500">
                <a:solidFill>
                  <a:srgbClr val="1E2A32"/>
                </a:solidFill>
                <a:latin typeface="Arial" panose="020B0604020202020204" pitchFamily="34" charset="0"/>
              </a:rPr>
              <a:t>Los sistemas se relacionan con procesos y cambios en el tiempo.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F5DEB0E-AF1C-1741-E6AF-3F20F699DCAE}"/>
              </a:ext>
            </a:extLst>
          </p:cNvPr>
          <p:cNvSpPr/>
          <p:nvPr/>
        </p:nvSpPr>
        <p:spPr>
          <a:xfrm>
            <a:off x="0" y="4089400"/>
            <a:ext cx="6911975" cy="228600"/>
          </a:xfrm>
          <a:prstGeom prst="rect">
            <a:avLst/>
          </a:prstGeom>
          <a:solidFill>
            <a:srgbClr val="16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B224F54-60F4-E0A1-37FD-A8C8538C2599}"/>
              </a:ext>
            </a:extLst>
          </p:cNvPr>
          <p:cNvSpPr txBox="1"/>
          <p:nvPr/>
        </p:nvSpPr>
        <p:spPr>
          <a:xfrm>
            <a:off x="190500" y="4127500"/>
            <a:ext cx="533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800">
                <a:solidFill>
                  <a:srgbClr val="FFFFFF"/>
                </a:solidFill>
                <a:latin typeface="Arial" panose="020B0604020202020204" pitchFamily="34" charset="0"/>
              </a:rPr>
              <a:t>M. de la Cruz Muñoz · MAEM · 00874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00CA2AF-459B-C92A-CE02-775C3259DE3E}"/>
              </a:ext>
            </a:extLst>
          </p:cNvPr>
          <p:cNvSpPr txBox="1"/>
          <p:nvPr/>
        </p:nvSpPr>
        <p:spPr>
          <a:xfrm>
            <a:off x="6159500" y="4127500"/>
            <a:ext cx="571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800">
                <a:solidFill>
                  <a:srgbClr val="FFFFFF"/>
                </a:solidFill>
                <a:latin typeface="Arial" panose="020B0604020202020204" pitchFamily="34" charset="0"/>
              </a:rPr>
              <a:t>9 / 15</a:t>
            </a:r>
          </a:p>
        </p:txBody>
      </p:sp>
    </p:spTree>
    <p:extLst>
      <p:ext uri="{BB962C8B-B14F-4D97-AF65-F5344CB8AC3E}">
        <p14:creationId xmlns:p14="http://schemas.microsoft.com/office/powerpoint/2010/main" val="2294549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D77A0B4-BD8E-8CBC-C353-884C0A17AB77}"/>
              </a:ext>
            </a:extLst>
          </p:cNvPr>
          <p:cNvSpPr/>
          <p:nvPr/>
        </p:nvSpPr>
        <p:spPr>
          <a:xfrm>
            <a:off x="0" y="0"/>
            <a:ext cx="6911975" cy="508000"/>
          </a:xfrm>
          <a:prstGeom prst="rect">
            <a:avLst/>
          </a:prstGeom>
          <a:solidFill>
            <a:srgbClr val="16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448C177-D103-A580-F28D-F7A2748A2E5E}"/>
              </a:ext>
            </a:extLst>
          </p:cNvPr>
          <p:cNvSpPr/>
          <p:nvPr/>
        </p:nvSpPr>
        <p:spPr>
          <a:xfrm>
            <a:off x="0" y="508000"/>
            <a:ext cx="6911975" cy="25400"/>
          </a:xfrm>
          <a:prstGeom prst="rect">
            <a:avLst/>
          </a:prstGeom>
          <a:solidFill>
            <a:srgbClr val="F28C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987CCFA-4BBA-3627-FE92-E1C9B051DA9F}"/>
              </a:ext>
            </a:extLst>
          </p:cNvPr>
          <p:cNvSpPr txBox="1"/>
          <p:nvPr/>
        </p:nvSpPr>
        <p:spPr>
          <a:xfrm>
            <a:off x="215900" y="101600"/>
            <a:ext cx="5168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b="1">
                <a:solidFill>
                  <a:srgbClr val="FFFFFF"/>
                </a:solidFill>
                <a:latin typeface="Arial" panose="020B0604020202020204" pitchFamily="34" charset="0"/>
              </a:rPr>
              <a:t>Exosistema y macrosistema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56E2749-7D85-7712-C495-EBDAA5F66E5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0400" y="101600"/>
            <a:ext cx="914400" cy="3683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B979B24-F70C-890D-5291-D0987F86EF3D}"/>
              </a:ext>
            </a:extLst>
          </p:cNvPr>
          <p:cNvSpPr txBox="1"/>
          <p:nvPr/>
        </p:nvSpPr>
        <p:spPr>
          <a:xfrm>
            <a:off x="393700" y="965200"/>
            <a:ext cx="6121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1E2A32"/>
                </a:solidFill>
                <a:latin typeface="Arial" panose="020B0604020202020204" pitchFamily="34" charset="0"/>
              </a:rPr>
              <a:t>Exosistema: equipos, horarios y decisiones institucionales.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DDD42F6-8B99-C7D2-3629-9F6F35882C60}"/>
              </a:ext>
            </a:extLst>
          </p:cNvPr>
          <p:cNvSpPr txBox="1"/>
          <p:nvPr/>
        </p:nvSpPr>
        <p:spPr>
          <a:xfrm>
            <a:off x="190500" y="965200"/>
            <a:ext cx="177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20B7A8"/>
                </a:solidFill>
                <a:latin typeface="Arial" panose="020B0604020202020204" pitchFamily="34" charset="0"/>
              </a:rPr>
              <a:t>▸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7267595-4803-CAD7-6E84-64D786BDD3FF}"/>
              </a:ext>
            </a:extLst>
          </p:cNvPr>
          <p:cNvSpPr txBox="1"/>
          <p:nvPr/>
        </p:nvSpPr>
        <p:spPr>
          <a:xfrm>
            <a:off x="393700" y="1955800"/>
            <a:ext cx="6121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1E2A32"/>
                </a:solidFill>
                <a:latin typeface="Arial" panose="020B0604020202020204" pitchFamily="34" charset="0"/>
              </a:rPr>
              <a:t>Macrosistema: expectativas culturales sobre matemáticas, tecnología y género.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FFDD930-586E-4927-9EF4-90348A2CF43F}"/>
              </a:ext>
            </a:extLst>
          </p:cNvPr>
          <p:cNvSpPr txBox="1"/>
          <p:nvPr/>
        </p:nvSpPr>
        <p:spPr>
          <a:xfrm>
            <a:off x="190500" y="1955800"/>
            <a:ext cx="177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20B7A8"/>
                </a:solidFill>
                <a:latin typeface="Arial" panose="020B0604020202020204" pitchFamily="34" charset="0"/>
              </a:rPr>
              <a:t>▸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557AF15-3C73-2F94-47E4-8D53BA52A213}"/>
              </a:ext>
            </a:extLst>
          </p:cNvPr>
          <p:cNvSpPr txBox="1"/>
          <p:nvPr/>
        </p:nvSpPr>
        <p:spPr>
          <a:xfrm>
            <a:off x="393700" y="2946400"/>
            <a:ext cx="6121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1E2A32"/>
                </a:solidFill>
                <a:latin typeface="Arial" panose="020B0604020202020204" pitchFamily="34" charset="0"/>
              </a:rPr>
              <a:t>Decisión: alternativas accesibles y distribución equitativa de herramientas.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0635983-0D88-A87E-962A-BBD0D007E556}"/>
              </a:ext>
            </a:extLst>
          </p:cNvPr>
          <p:cNvSpPr txBox="1"/>
          <p:nvPr/>
        </p:nvSpPr>
        <p:spPr>
          <a:xfrm>
            <a:off x="190500" y="2946400"/>
            <a:ext cx="177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20B7A8"/>
                </a:solidFill>
                <a:latin typeface="Arial" panose="020B0604020202020204" pitchFamily="34" charset="0"/>
              </a:rPr>
              <a:t>▸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83F21EF-1CA1-DB4C-3CDC-910A50345D31}"/>
              </a:ext>
            </a:extLst>
          </p:cNvPr>
          <p:cNvSpPr/>
          <p:nvPr/>
        </p:nvSpPr>
        <p:spPr>
          <a:xfrm>
            <a:off x="0" y="4089400"/>
            <a:ext cx="6911975" cy="228600"/>
          </a:xfrm>
          <a:prstGeom prst="rect">
            <a:avLst/>
          </a:prstGeom>
          <a:solidFill>
            <a:srgbClr val="16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1EECDBB-670C-339A-4F03-CFEEAE090ECA}"/>
              </a:ext>
            </a:extLst>
          </p:cNvPr>
          <p:cNvSpPr txBox="1"/>
          <p:nvPr/>
        </p:nvSpPr>
        <p:spPr>
          <a:xfrm>
            <a:off x="190500" y="4127500"/>
            <a:ext cx="533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800">
                <a:solidFill>
                  <a:srgbClr val="FFFFFF"/>
                </a:solidFill>
                <a:latin typeface="Arial" panose="020B0604020202020204" pitchFamily="34" charset="0"/>
              </a:rPr>
              <a:t>M. de la Cruz Muñoz · MAEM · 00874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67CDB1A-DB6C-BB9F-3631-6BFC6CCB960F}"/>
              </a:ext>
            </a:extLst>
          </p:cNvPr>
          <p:cNvSpPr txBox="1"/>
          <p:nvPr/>
        </p:nvSpPr>
        <p:spPr>
          <a:xfrm>
            <a:off x="6159500" y="4127500"/>
            <a:ext cx="571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800">
                <a:solidFill>
                  <a:srgbClr val="FFFFFF"/>
                </a:solidFill>
                <a:latin typeface="Arial" panose="020B0604020202020204" pitchFamily="34" charset="0"/>
              </a:rPr>
              <a:t>10 / 15</a:t>
            </a:r>
          </a:p>
        </p:txBody>
      </p:sp>
    </p:spTree>
    <p:extLst>
      <p:ext uri="{BB962C8B-B14F-4D97-AF65-F5344CB8AC3E}">
        <p14:creationId xmlns:p14="http://schemas.microsoft.com/office/powerpoint/2010/main" val="4161350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AB9B7B8-329A-AA58-777B-EED588E21773}"/>
              </a:ext>
            </a:extLst>
          </p:cNvPr>
          <p:cNvSpPr/>
          <p:nvPr/>
        </p:nvSpPr>
        <p:spPr>
          <a:xfrm>
            <a:off x="0" y="0"/>
            <a:ext cx="6911975" cy="508000"/>
          </a:xfrm>
          <a:prstGeom prst="rect">
            <a:avLst/>
          </a:prstGeom>
          <a:solidFill>
            <a:srgbClr val="16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6E892FA-C972-3057-A86E-C2E3B0F0B10B}"/>
              </a:ext>
            </a:extLst>
          </p:cNvPr>
          <p:cNvSpPr/>
          <p:nvPr/>
        </p:nvSpPr>
        <p:spPr>
          <a:xfrm>
            <a:off x="0" y="508000"/>
            <a:ext cx="6911975" cy="25400"/>
          </a:xfrm>
          <a:prstGeom prst="rect">
            <a:avLst/>
          </a:prstGeom>
          <a:solidFill>
            <a:srgbClr val="F28C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DBAD8A6-C430-4F50-59BF-D287883E6794}"/>
              </a:ext>
            </a:extLst>
          </p:cNvPr>
          <p:cNvSpPr txBox="1"/>
          <p:nvPr/>
        </p:nvSpPr>
        <p:spPr>
          <a:xfrm>
            <a:off x="215900" y="101600"/>
            <a:ext cx="5168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b="1">
                <a:solidFill>
                  <a:srgbClr val="FFFFFF"/>
                </a:solidFill>
                <a:latin typeface="Arial" panose="020B0604020202020204" pitchFamily="34" charset="0"/>
              </a:rPr>
              <a:t>Cronosistema y procesos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3A39BB7-EB98-2EBD-E58F-ACA54599B30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0400" y="101600"/>
            <a:ext cx="914400" cy="3683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6F8E2A52-D45F-6DE0-0B22-82656CFBC88F}"/>
              </a:ext>
            </a:extLst>
          </p:cNvPr>
          <p:cNvSpPr txBox="1"/>
          <p:nvPr/>
        </p:nvSpPr>
        <p:spPr>
          <a:xfrm>
            <a:off x="393700" y="965200"/>
            <a:ext cx="6121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1E2A32"/>
                </a:solidFill>
                <a:latin typeface="Arial" panose="020B0604020202020204" pitchFamily="34" charset="0"/>
              </a:rPr>
              <a:t>Comparar predicción inicial, explicación revisada y transferencia posterior.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E050A7E-B7C7-00E5-7001-D134ADECF756}"/>
              </a:ext>
            </a:extLst>
          </p:cNvPr>
          <p:cNvSpPr txBox="1"/>
          <p:nvPr/>
        </p:nvSpPr>
        <p:spPr>
          <a:xfrm>
            <a:off x="190500" y="965200"/>
            <a:ext cx="177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20B7A8"/>
                </a:solidFill>
                <a:latin typeface="Arial" panose="020B0604020202020204" pitchFamily="34" charset="0"/>
              </a:rPr>
              <a:t>▸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5CB20A1-D058-7B58-7782-4C6A26645BFC}"/>
              </a:ext>
            </a:extLst>
          </p:cNvPr>
          <p:cNvSpPr txBox="1"/>
          <p:nvPr/>
        </p:nvSpPr>
        <p:spPr>
          <a:xfrm>
            <a:off x="393700" y="1955800"/>
            <a:ext cx="6121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1E2A32"/>
                </a:solidFill>
                <a:latin typeface="Arial" panose="020B0604020202020204" pitchFamily="34" charset="0"/>
              </a:rPr>
              <a:t>Analizar proceso, persona, contexto y tiempo.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42AE503-BFD7-AC43-1B9D-079E3957D317}"/>
              </a:ext>
            </a:extLst>
          </p:cNvPr>
          <p:cNvSpPr txBox="1"/>
          <p:nvPr/>
        </p:nvSpPr>
        <p:spPr>
          <a:xfrm>
            <a:off x="190500" y="1955800"/>
            <a:ext cx="177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20B7A8"/>
                </a:solidFill>
                <a:latin typeface="Arial" panose="020B0604020202020204" pitchFamily="34" charset="0"/>
              </a:rPr>
              <a:t>▸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82325B6-B6DD-4160-578E-F6381928543F}"/>
              </a:ext>
            </a:extLst>
          </p:cNvPr>
          <p:cNvSpPr txBox="1"/>
          <p:nvPr/>
        </p:nvSpPr>
        <p:spPr>
          <a:xfrm>
            <a:off x="393700" y="2946400"/>
            <a:ext cx="6121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1E2A32"/>
                </a:solidFill>
                <a:latin typeface="Arial" panose="020B0604020202020204" pitchFamily="34" charset="0"/>
              </a:rPr>
              <a:t>La teoría orienta preguntas; no demuestra causas sin evidencia.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81F8FD5-CF44-5024-6959-746874961591}"/>
              </a:ext>
            </a:extLst>
          </p:cNvPr>
          <p:cNvSpPr txBox="1"/>
          <p:nvPr/>
        </p:nvSpPr>
        <p:spPr>
          <a:xfrm>
            <a:off x="190500" y="2946400"/>
            <a:ext cx="177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20B7A8"/>
                </a:solidFill>
                <a:latin typeface="Arial" panose="020B0604020202020204" pitchFamily="34" charset="0"/>
              </a:rPr>
              <a:t>▸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F3236D0-62DE-950A-2660-AEAEE4BFFB85}"/>
              </a:ext>
            </a:extLst>
          </p:cNvPr>
          <p:cNvSpPr/>
          <p:nvPr/>
        </p:nvSpPr>
        <p:spPr>
          <a:xfrm>
            <a:off x="0" y="4089400"/>
            <a:ext cx="6911975" cy="228600"/>
          </a:xfrm>
          <a:prstGeom prst="rect">
            <a:avLst/>
          </a:prstGeom>
          <a:solidFill>
            <a:srgbClr val="16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677490C-BCFA-838C-80DE-CDA8086BB880}"/>
              </a:ext>
            </a:extLst>
          </p:cNvPr>
          <p:cNvSpPr txBox="1"/>
          <p:nvPr/>
        </p:nvSpPr>
        <p:spPr>
          <a:xfrm>
            <a:off x="190500" y="4127500"/>
            <a:ext cx="533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800">
                <a:solidFill>
                  <a:srgbClr val="FFFFFF"/>
                </a:solidFill>
                <a:latin typeface="Arial" panose="020B0604020202020204" pitchFamily="34" charset="0"/>
              </a:rPr>
              <a:t>M. de la Cruz Muñoz · MAEM · 00874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B8F1219-3AB0-8431-72BB-81FF47323965}"/>
              </a:ext>
            </a:extLst>
          </p:cNvPr>
          <p:cNvSpPr txBox="1"/>
          <p:nvPr/>
        </p:nvSpPr>
        <p:spPr>
          <a:xfrm>
            <a:off x="6159500" y="4127500"/>
            <a:ext cx="571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800">
                <a:solidFill>
                  <a:srgbClr val="FFFFFF"/>
                </a:solidFill>
                <a:latin typeface="Arial" panose="020B0604020202020204" pitchFamily="34" charset="0"/>
              </a:rPr>
              <a:t>11 / 15</a:t>
            </a:r>
          </a:p>
        </p:txBody>
      </p:sp>
    </p:spTree>
    <p:extLst>
      <p:ext uri="{BB962C8B-B14F-4D97-AF65-F5344CB8AC3E}">
        <p14:creationId xmlns:p14="http://schemas.microsoft.com/office/powerpoint/2010/main" val="4082849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3D48511-6907-FCC0-834B-AB14F04AFC42}"/>
              </a:ext>
            </a:extLst>
          </p:cNvPr>
          <p:cNvSpPr/>
          <p:nvPr/>
        </p:nvSpPr>
        <p:spPr>
          <a:xfrm>
            <a:off x="0" y="0"/>
            <a:ext cx="6911975" cy="508000"/>
          </a:xfrm>
          <a:prstGeom prst="rect">
            <a:avLst/>
          </a:prstGeom>
          <a:solidFill>
            <a:srgbClr val="16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77321FA-74D3-F62F-B615-D658E503E9CA}"/>
              </a:ext>
            </a:extLst>
          </p:cNvPr>
          <p:cNvSpPr/>
          <p:nvPr/>
        </p:nvSpPr>
        <p:spPr>
          <a:xfrm>
            <a:off x="0" y="508000"/>
            <a:ext cx="6911975" cy="25400"/>
          </a:xfrm>
          <a:prstGeom prst="rect">
            <a:avLst/>
          </a:prstGeom>
          <a:solidFill>
            <a:srgbClr val="F28C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81DED8E-8AE3-8642-E683-C44B7CA6C08C}"/>
              </a:ext>
            </a:extLst>
          </p:cNvPr>
          <p:cNvSpPr txBox="1"/>
          <p:nvPr/>
        </p:nvSpPr>
        <p:spPr>
          <a:xfrm>
            <a:off x="215900" y="101600"/>
            <a:ext cx="5168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b="1">
                <a:solidFill>
                  <a:srgbClr val="FFFFFF"/>
                </a:solidFill>
                <a:latin typeface="Arial" panose="020B0604020202020204" pitchFamily="34" charset="0"/>
              </a:rPr>
              <a:t>Evaluación formativa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1F32A5E-4C9A-6779-9F9B-2C6BBB264A8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0400" y="101600"/>
            <a:ext cx="914400" cy="368300"/>
          </a:xfrm>
          <a:prstGeom prst="rect">
            <a:avLst/>
          </a:prstGeom>
        </p:spPr>
      </p:pic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B4744FC9-09D0-4C28-BC2D-AC50070E5D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570433"/>
              </p:ext>
            </p:extLst>
          </p:nvPr>
        </p:nvGraphicFramePr>
        <p:xfrm>
          <a:off x="304799" y="825500"/>
          <a:ext cx="6299200" cy="292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9733">
                  <a:extLst>
                    <a:ext uri="{9D8B030D-6E8A-4147-A177-3AD203B41FA5}">
                      <a16:colId xmlns:a16="http://schemas.microsoft.com/office/drawing/2014/main" val="2690196912"/>
                    </a:ext>
                  </a:extLst>
                </a:gridCol>
                <a:gridCol w="2099733">
                  <a:extLst>
                    <a:ext uri="{9D8B030D-6E8A-4147-A177-3AD203B41FA5}">
                      <a16:colId xmlns:a16="http://schemas.microsoft.com/office/drawing/2014/main" val="2737515455"/>
                    </a:ext>
                  </a:extLst>
                </a:gridCol>
                <a:gridCol w="2099733">
                  <a:extLst>
                    <a:ext uri="{9D8B030D-6E8A-4147-A177-3AD203B41FA5}">
                      <a16:colId xmlns:a16="http://schemas.microsoft.com/office/drawing/2014/main" val="1468459542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r>
                        <a:rPr lang="es-MX" sz="12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Criterio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16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Evidencia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16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Retroalimentación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163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702190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r>
                        <a:rPr lang="es-MX" sz="1200">
                          <a:solidFill>
                            <a:srgbClr val="1E2A32"/>
                          </a:solidFill>
                          <a:latin typeface="Arial" panose="020B0604020202020204" pitchFamily="34" charset="0"/>
                        </a:rPr>
                        <a:t>Modelación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>
                          <a:solidFill>
                            <a:srgbClr val="1E2A32"/>
                          </a:solidFill>
                          <a:latin typeface="Arial" panose="020B0604020202020204" pitchFamily="34" charset="0"/>
                        </a:rPr>
                        <a:t>Variables y relación explicadas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>
                          <a:solidFill>
                            <a:srgbClr val="1E2A32"/>
                          </a:solidFill>
                          <a:latin typeface="Arial" panose="020B0604020202020204" pitchFamily="34" charset="0"/>
                        </a:rPr>
                        <a:t>Contrastar el valor inicial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832164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r>
                        <a:rPr lang="es-MX" sz="1200">
                          <a:solidFill>
                            <a:srgbClr val="1E2A32"/>
                          </a:solidFill>
                          <a:latin typeface="Arial" panose="020B0604020202020204" pitchFamily="34" charset="0"/>
                        </a:rPr>
                        <a:t>Registro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>
                          <a:solidFill>
                            <a:srgbClr val="1E2A32"/>
                          </a:solidFill>
                          <a:latin typeface="Arial" panose="020B0604020202020204" pitchFamily="34" charset="0"/>
                        </a:rPr>
                        <a:t>Lecturas y condiciones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>
                          <a:solidFill>
                            <a:srgbClr val="1E2A32"/>
                          </a:solidFill>
                          <a:latin typeface="Arial" panose="020B0604020202020204" pitchFamily="34" charset="0"/>
                        </a:rPr>
                        <a:t>Revisar una fila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396177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r>
                        <a:rPr lang="es-MX" sz="1200">
                          <a:solidFill>
                            <a:srgbClr val="1E2A32"/>
                          </a:solidFill>
                          <a:latin typeface="Arial" panose="020B0604020202020204" pitchFamily="34" charset="0"/>
                        </a:rPr>
                        <a:t>Argumentación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>
                          <a:solidFill>
                            <a:srgbClr val="1E2A32"/>
                          </a:solidFill>
                          <a:latin typeface="Arial" panose="020B0604020202020204" pitchFamily="34" charset="0"/>
                        </a:rPr>
                        <a:t>Decisión con límites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>
                          <a:solidFill>
                            <a:srgbClr val="1E2A32"/>
                          </a:solidFill>
                          <a:latin typeface="Arial" panose="020B0604020202020204" pitchFamily="34" charset="0"/>
                        </a:rPr>
                        <a:t>Pedir un caso de transferencia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74002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r>
                        <a:rPr lang="es-MX" sz="1200">
                          <a:solidFill>
                            <a:srgbClr val="1E2A32"/>
                          </a:solidFill>
                          <a:latin typeface="Arial" panose="020B0604020202020204" pitchFamily="34" charset="0"/>
                        </a:rPr>
                        <a:t>Revisión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>
                          <a:solidFill>
                            <a:srgbClr val="1E2A32"/>
                          </a:solidFill>
                          <a:latin typeface="Arial" panose="020B0604020202020204" pitchFamily="34" charset="0"/>
                        </a:rPr>
                        <a:t>Cambio entre versiones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>
                          <a:solidFill>
                            <a:srgbClr val="1E2A32"/>
                          </a:solidFill>
                          <a:latin typeface="Arial" panose="020B0604020202020204" pitchFamily="34" charset="0"/>
                        </a:rPr>
                        <a:t>Explicación individual</a:t>
                      </a:r>
                    </a:p>
                  </a:txBody>
                  <a:tcPr marL="76200" marR="76200" marT="63500" marB="635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576681"/>
                  </a:ext>
                </a:extLst>
              </a:tr>
            </a:tbl>
          </a:graphicData>
        </a:graphic>
      </p:graphicFrame>
      <p:sp>
        <p:nvSpPr>
          <p:cNvPr id="8" name="Rectángulo 7">
            <a:extLst>
              <a:ext uri="{FF2B5EF4-FFF2-40B4-BE49-F238E27FC236}">
                <a16:creationId xmlns:a16="http://schemas.microsoft.com/office/drawing/2014/main" id="{BE7145B0-D8FC-B74C-E3CA-B35948335AAF}"/>
              </a:ext>
            </a:extLst>
          </p:cNvPr>
          <p:cNvSpPr/>
          <p:nvPr/>
        </p:nvSpPr>
        <p:spPr>
          <a:xfrm>
            <a:off x="0" y="4089400"/>
            <a:ext cx="6911975" cy="228600"/>
          </a:xfrm>
          <a:prstGeom prst="rect">
            <a:avLst/>
          </a:prstGeom>
          <a:solidFill>
            <a:srgbClr val="16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A177A81-E48A-91B6-0E73-8347AAF1F02F}"/>
              </a:ext>
            </a:extLst>
          </p:cNvPr>
          <p:cNvSpPr txBox="1"/>
          <p:nvPr/>
        </p:nvSpPr>
        <p:spPr>
          <a:xfrm>
            <a:off x="190500" y="4127500"/>
            <a:ext cx="533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800">
                <a:solidFill>
                  <a:srgbClr val="FFFFFF"/>
                </a:solidFill>
                <a:latin typeface="Arial" panose="020B0604020202020204" pitchFamily="34" charset="0"/>
              </a:rPr>
              <a:t>M. de la Cruz Muñoz · MAEM · 00874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A0989D7-F094-1C37-E36A-7CD28C74A938}"/>
              </a:ext>
            </a:extLst>
          </p:cNvPr>
          <p:cNvSpPr txBox="1"/>
          <p:nvPr/>
        </p:nvSpPr>
        <p:spPr>
          <a:xfrm>
            <a:off x="6159500" y="4127500"/>
            <a:ext cx="571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800">
                <a:solidFill>
                  <a:srgbClr val="FFFFFF"/>
                </a:solidFill>
                <a:latin typeface="Arial" panose="020B0604020202020204" pitchFamily="34" charset="0"/>
              </a:rPr>
              <a:t>12 / 15</a:t>
            </a:r>
          </a:p>
        </p:txBody>
      </p:sp>
    </p:spTree>
    <p:extLst>
      <p:ext uri="{BB962C8B-B14F-4D97-AF65-F5344CB8AC3E}">
        <p14:creationId xmlns:p14="http://schemas.microsoft.com/office/powerpoint/2010/main" val="1631469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403CC8F-6A88-26CA-F1FD-A79AB8A15442}"/>
              </a:ext>
            </a:extLst>
          </p:cNvPr>
          <p:cNvSpPr/>
          <p:nvPr/>
        </p:nvSpPr>
        <p:spPr>
          <a:xfrm>
            <a:off x="0" y="0"/>
            <a:ext cx="6911975" cy="508000"/>
          </a:xfrm>
          <a:prstGeom prst="rect">
            <a:avLst/>
          </a:prstGeom>
          <a:solidFill>
            <a:srgbClr val="16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1374F41-364E-4932-6AD0-97985AE052E6}"/>
              </a:ext>
            </a:extLst>
          </p:cNvPr>
          <p:cNvSpPr/>
          <p:nvPr/>
        </p:nvSpPr>
        <p:spPr>
          <a:xfrm>
            <a:off x="0" y="508000"/>
            <a:ext cx="6911975" cy="25400"/>
          </a:xfrm>
          <a:prstGeom prst="rect">
            <a:avLst/>
          </a:prstGeom>
          <a:solidFill>
            <a:srgbClr val="F28C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BA42178-EE29-D02F-A568-E0D47FAB08AA}"/>
              </a:ext>
            </a:extLst>
          </p:cNvPr>
          <p:cNvSpPr txBox="1"/>
          <p:nvPr/>
        </p:nvSpPr>
        <p:spPr>
          <a:xfrm>
            <a:off x="215900" y="101600"/>
            <a:ext cx="5168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b="1">
                <a:solidFill>
                  <a:srgbClr val="FFFFFF"/>
                </a:solidFill>
                <a:latin typeface="Arial" panose="020B0604020202020204" pitchFamily="34" charset="0"/>
              </a:rPr>
              <a:t>Impacto esperado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4C7E99A-3F84-28AF-9DC4-2653F32EBBD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0400" y="101600"/>
            <a:ext cx="914400" cy="3683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3393156-9301-A4C0-09AF-17022203024B}"/>
              </a:ext>
            </a:extLst>
          </p:cNvPr>
          <p:cNvSpPr txBox="1"/>
          <p:nvPr/>
        </p:nvSpPr>
        <p:spPr>
          <a:xfrm>
            <a:off x="393700" y="965200"/>
            <a:ext cx="6121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1E2A32"/>
                </a:solidFill>
                <a:latin typeface="Arial" panose="020B0604020202020204" pitchFamily="34" charset="0"/>
              </a:rPr>
              <a:t>Distinguir relaciones proporcionales y lineales e interpretar sesgos.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4A7F3CA-D729-BA0F-2EE7-91C823C55448}"/>
              </a:ext>
            </a:extLst>
          </p:cNvPr>
          <p:cNvSpPr txBox="1"/>
          <p:nvPr/>
        </p:nvSpPr>
        <p:spPr>
          <a:xfrm>
            <a:off x="190500" y="965200"/>
            <a:ext cx="177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20B7A8"/>
                </a:solidFill>
                <a:latin typeface="Arial" panose="020B0604020202020204" pitchFamily="34" charset="0"/>
              </a:rPr>
              <a:t>▸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51A2E0B-0311-F066-41F7-5C96B68C6945}"/>
              </a:ext>
            </a:extLst>
          </p:cNvPr>
          <p:cNvSpPr txBox="1"/>
          <p:nvPr/>
        </p:nvSpPr>
        <p:spPr>
          <a:xfrm>
            <a:off x="393700" y="1955800"/>
            <a:ext cx="6121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1E2A32"/>
                </a:solidFill>
                <a:latin typeface="Arial" panose="020B0604020202020204" pitchFamily="34" charset="0"/>
              </a:rPr>
              <a:t>Comunicar una decisión con límites y evidencia.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CAF8CDC-D62A-850E-4F3E-A73D4F12B323}"/>
              </a:ext>
            </a:extLst>
          </p:cNvPr>
          <p:cNvSpPr txBox="1"/>
          <p:nvPr/>
        </p:nvSpPr>
        <p:spPr>
          <a:xfrm>
            <a:off x="190500" y="1955800"/>
            <a:ext cx="177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20B7A8"/>
                </a:solidFill>
                <a:latin typeface="Arial" panose="020B0604020202020204" pitchFamily="34" charset="0"/>
              </a:rPr>
              <a:t>▸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741EA13-1570-B338-7AEE-249C00F471F2}"/>
              </a:ext>
            </a:extLst>
          </p:cNvPr>
          <p:cNvSpPr txBox="1"/>
          <p:nvPr/>
        </p:nvSpPr>
        <p:spPr>
          <a:xfrm>
            <a:off x="393700" y="2946400"/>
            <a:ext cx="6121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1E2A32"/>
                </a:solidFill>
                <a:latin typeface="Arial" panose="020B0604020202020204" pitchFamily="34" charset="0"/>
              </a:rPr>
              <a:t>Participar y revisar en colaboración; resultados pendientes de aplicación.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0DFBF90-33E7-4CE0-A650-6E70C43627D7}"/>
              </a:ext>
            </a:extLst>
          </p:cNvPr>
          <p:cNvSpPr txBox="1"/>
          <p:nvPr/>
        </p:nvSpPr>
        <p:spPr>
          <a:xfrm>
            <a:off x="190500" y="2946400"/>
            <a:ext cx="177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20B7A8"/>
                </a:solidFill>
                <a:latin typeface="Arial" panose="020B0604020202020204" pitchFamily="34" charset="0"/>
              </a:rPr>
              <a:t>▸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620B184-0DD1-0CD7-726E-DC41A8C4A765}"/>
              </a:ext>
            </a:extLst>
          </p:cNvPr>
          <p:cNvSpPr/>
          <p:nvPr/>
        </p:nvSpPr>
        <p:spPr>
          <a:xfrm>
            <a:off x="0" y="4089400"/>
            <a:ext cx="6911975" cy="228600"/>
          </a:xfrm>
          <a:prstGeom prst="rect">
            <a:avLst/>
          </a:prstGeom>
          <a:solidFill>
            <a:srgbClr val="16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EBBEAF7-E5DB-C90B-BF2B-82FF27D1DA4B}"/>
              </a:ext>
            </a:extLst>
          </p:cNvPr>
          <p:cNvSpPr txBox="1"/>
          <p:nvPr/>
        </p:nvSpPr>
        <p:spPr>
          <a:xfrm>
            <a:off x="190500" y="4127500"/>
            <a:ext cx="533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800">
                <a:solidFill>
                  <a:srgbClr val="FFFFFF"/>
                </a:solidFill>
                <a:latin typeface="Arial" panose="020B0604020202020204" pitchFamily="34" charset="0"/>
              </a:rPr>
              <a:t>M. de la Cruz Muñoz · MAEM · 00874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038A62D-9F66-AEED-7DA9-BBAFA2C27043}"/>
              </a:ext>
            </a:extLst>
          </p:cNvPr>
          <p:cNvSpPr txBox="1"/>
          <p:nvPr/>
        </p:nvSpPr>
        <p:spPr>
          <a:xfrm>
            <a:off x="6159500" y="4127500"/>
            <a:ext cx="571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800">
                <a:solidFill>
                  <a:srgbClr val="FFFFFF"/>
                </a:solidFill>
                <a:latin typeface="Arial" panose="020B0604020202020204" pitchFamily="34" charset="0"/>
              </a:rPr>
              <a:t>13 / 15</a:t>
            </a:r>
          </a:p>
        </p:txBody>
      </p:sp>
    </p:spTree>
    <p:extLst>
      <p:ext uri="{BB962C8B-B14F-4D97-AF65-F5344CB8AC3E}">
        <p14:creationId xmlns:p14="http://schemas.microsoft.com/office/powerpoint/2010/main" val="3075759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70434C9-D1C7-4EB9-EA63-1C1EC7221894}"/>
              </a:ext>
            </a:extLst>
          </p:cNvPr>
          <p:cNvSpPr/>
          <p:nvPr/>
        </p:nvSpPr>
        <p:spPr>
          <a:xfrm>
            <a:off x="0" y="0"/>
            <a:ext cx="6911975" cy="508000"/>
          </a:xfrm>
          <a:prstGeom prst="rect">
            <a:avLst/>
          </a:prstGeom>
          <a:solidFill>
            <a:srgbClr val="16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AAA492C-0671-BD7F-414B-974FADA1D11C}"/>
              </a:ext>
            </a:extLst>
          </p:cNvPr>
          <p:cNvSpPr/>
          <p:nvPr/>
        </p:nvSpPr>
        <p:spPr>
          <a:xfrm>
            <a:off x="0" y="508000"/>
            <a:ext cx="6911975" cy="25400"/>
          </a:xfrm>
          <a:prstGeom prst="rect">
            <a:avLst/>
          </a:prstGeom>
          <a:solidFill>
            <a:srgbClr val="F28C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A9FBE23-72A1-61E6-14E9-5AAB554314CB}"/>
              </a:ext>
            </a:extLst>
          </p:cNvPr>
          <p:cNvSpPr txBox="1"/>
          <p:nvPr/>
        </p:nvSpPr>
        <p:spPr>
          <a:xfrm>
            <a:off x="215900" y="101600"/>
            <a:ext cx="5168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b="1">
                <a:solidFill>
                  <a:srgbClr val="FFFFFF"/>
                </a:solidFill>
                <a:latin typeface="Arial" panose="020B0604020202020204" pitchFamily="34" charset="0"/>
              </a:rPr>
              <a:t>Reflexión final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846E7D1-0CA2-2E20-8A19-AC788CC79D7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0400" y="101600"/>
            <a:ext cx="914400" cy="3683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F113C6A6-62F9-BF27-0110-D27532C86606}"/>
              </a:ext>
            </a:extLst>
          </p:cNvPr>
          <p:cNvSpPr txBox="1"/>
          <p:nvPr/>
        </p:nvSpPr>
        <p:spPr>
          <a:xfrm>
            <a:off x="393700" y="965200"/>
            <a:ext cx="6121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1E2A32"/>
                </a:solidFill>
                <a:latin typeface="Arial" panose="020B0604020202020204" pitchFamily="34" charset="0"/>
              </a:rPr>
              <a:t>El aprendizaje se concibe como construcción acompañada de relaciones.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B43BF86-B595-186D-15BA-94316EBFDA7B}"/>
              </a:ext>
            </a:extLst>
          </p:cNvPr>
          <p:cNvSpPr txBox="1"/>
          <p:nvPr/>
        </p:nvSpPr>
        <p:spPr>
          <a:xfrm>
            <a:off x="190500" y="965200"/>
            <a:ext cx="177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20B7A8"/>
                </a:solidFill>
                <a:latin typeface="Arial" panose="020B0604020202020204" pitchFamily="34" charset="0"/>
              </a:rPr>
              <a:t>▸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7B6ABAA-7A44-5EA1-233F-0DBE22A8ACAB}"/>
              </a:ext>
            </a:extLst>
          </p:cNvPr>
          <p:cNvSpPr txBox="1"/>
          <p:nvPr/>
        </p:nvSpPr>
        <p:spPr>
          <a:xfrm>
            <a:off x="393700" y="1955800"/>
            <a:ext cx="6121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1E2A32"/>
                </a:solidFill>
                <a:latin typeface="Arial" panose="020B0604020202020204" pitchFamily="34" charset="0"/>
              </a:rPr>
              <a:t>La indagación sociocrítica conecta problema, contenido y participación.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E7C3376-7D82-B8CD-5F51-6FC6EBD6FF4D}"/>
              </a:ext>
            </a:extLst>
          </p:cNvPr>
          <p:cNvSpPr txBox="1"/>
          <p:nvPr/>
        </p:nvSpPr>
        <p:spPr>
          <a:xfrm>
            <a:off x="190500" y="1955800"/>
            <a:ext cx="177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20B7A8"/>
                </a:solidFill>
                <a:latin typeface="Arial" panose="020B0604020202020204" pitchFamily="34" charset="0"/>
              </a:rPr>
              <a:t>▸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9BC0184-2479-DBE9-4C09-4335F850D852}"/>
              </a:ext>
            </a:extLst>
          </p:cNvPr>
          <p:cNvSpPr txBox="1"/>
          <p:nvPr/>
        </p:nvSpPr>
        <p:spPr>
          <a:xfrm>
            <a:off x="393700" y="2946400"/>
            <a:ext cx="6121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1E2A32"/>
                </a:solidFill>
                <a:latin typeface="Arial" panose="020B0604020202020204" pitchFamily="34" charset="0"/>
              </a:rPr>
              <a:t>Mi base industrial aporta rigor; la perspectiva humanista reconoce a la persona y su contexto.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2964AE0-6C68-EE51-73C2-A3D50C286A48}"/>
              </a:ext>
            </a:extLst>
          </p:cNvPr>
          <p:cNvSpPr txBox="1"/>
          <p:nvPr/>
        </p:nvSpPr>
        <p:spPr>
          <a:xfrm>
            <a:off x="190500" y="2946400"/>
            <a:ext cx="177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>
                <a:solidFill>
                  <a:srgbClr val="20B7A8"/>
                </a:solidFill>
                <a:latin typeface="Arial" panose="020B0604020202020204" pitchFamily="34" charset="0"/>
              </a:rPr>
              <a:t>▸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71657EB-8F18-27D9-D8DF-6B031A869B14}"/>
              </a:ext>
            </a:extLst>
          </p:cNvPr>
          <p:cNvSpPr/>
          <p:nvPr/>
        </p:nvSpPr>
        <p:spPr>
          <a:xfrm>
            <a:off x="0" y="4089400"/>
            <a:ext cx="6911975" cy="228600"/>
          </a:xfrm>
          <a:prstGeom prst="rect">
            <a:avLst/>
          </a:prstGeom>
          <a:solidFill>
            <a:srgbClr val="16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7FBE77D-1D02-FA43-5598-CE0C633614C8}"/>
              </a:ext>
            </a:extLst>
          </p:cNvPr>
          <p:cNvSpPr txBox="1"/>
          <p:nvPr/>
        </p:nvSpPr>
        <p:spPr>
          <a:xfrm>
            <a:off x="190500" y="4127500"/>
            <a:ext cx="533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800">
                <a:solidFill>
                  <a:srgbClr val="FFFFFF"/>
                </a:solidFill>
                <a:latin typeface="Arial" panose="020B0604020202020204" pitchFamily="34" charset="0"/>
              </a:rPr>
              <a:t>M. de la Cruz Muñoz · MAEM · 00874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94F1E2E-4C3C-EDD1-96BD-B9C310349EA6}"/>
              </a:ext>
            </a:extLst>
          </p:cNvPr>
          <p:cNvSpPr txBox="1"/>
          <p:nvPr/>
        </p:nvSpPr>
        <p:spPr>
          <a:xfrm>
            <a:off x="6159500" y="4127500"/>
            <a:ext cx="571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800">
                <a:solidFill>
                  <a:srgbClr val="FFFFFF"/>
                </a:solidFill>
                <a:latin typeface="Arial" panose="020B0604020202020204" pitchFamily="34" charset="0"/>
              </a:rPr>
              <a:t>14 / 15</a:t>
            </a:r>
          </a:p>
        </p:txBody>
      </p:sp>
    </p:spTree>
    <p:extLst>
      <p:ext uri="{BB962C8B-B14F-4D97-AF65-F5344CB8AC3E}">
        <p14:creationId xmlns:p14="http://schemas.microsoft.com/office/powerpoint/2010/main" val="3382914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95BD617-8DF0-880C-579C-F7A0D983FE7E}"/>
              </a:ext>
            </a:extLst>
          </p:cNvPr>
          <p:cNvSpPr/>
          <p:nvPr/>
        </p:nvSpPr>
        <p:spPr>
          <a:xfrm>
            <a:off x="0" y="0"/>
            <a:ext cx="6911975" cy="508000"/>
          </a:xfrm>
          <a:prstGeom prst="rect">
            <a:avLst/>
          </a:prstGeom>
          <a:solidFill>
            <a:srgbClr val="16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0EF737E-A9BA-E71A-DDB3-7FF14C02BA00}"/>
              </a:ext>
            </a:extLst>
          </p:cNvPr>
          <p:cNvSpPr/>
          <p:nvPr/>
        </p:nvSpPr>
        <p:spPr>
          <a:xfrm>
            <a:off x="0" y="508000"/>
            <a:ext cx="6911975" cy="25400"/>
          </a:xfrm>
          <a:prstGeom prst="rect">
            <a:avLst/>
          </a:prstGeom>
          <a:solidFill>
            <a:srgbClr val="F28C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96ABE3B-B832-A871-DD7D-5FA661D3108E}"/>
              </a:ext>
            </a:extLst>
          </p:cNvPr>
          <p:cNvSpPr txBox="1"/>
          <p:nvPr/>
        </p:nvSpPr>
        <p:spPr>
          <a:xfrm>
            <a:off x="215900" y="1016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b="1">
                <a:solidFill>
                  <a:srgbClr val="FFFFFF"/>
                </a:solidFill>
                <a:latin typeface="Arial" panose="020B0604020202020204" pitchFamily="34" charset="0"/>
              </a:rPr>
              <a:t>Referencias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4537861-89A1-E979-E9B1-0A1A3F6CB941}"/>
              </a:ext>
            </a:extLst>
          </p:cNvPr>
          <p:cNvSpPr txBox="1"/>
          <p:nvPr/>
        </p:nvSpPr>
        <p:spPr>
          <a:xfrm>
            <a:off x="304800" y="736600"/>
            <a:ext cx="6299200" cy="32316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000">
                <a:solidFill>
                  <a:srgbClr val="1E2A32"/>
                </a:solidFill>
                <a:latin typeface="Arial" panose="020B0604020202020204" pitchFamily="34" charset="0"/>
              </a:rPr>
              <a:t>Bronfenbrenner, U. (1987). La ecología del desarrollo humano. Paidós.
Colegio Nacional de Educación Profesional Técnica. (2025). Perfil de
egreso: Profesional Técnico-Bachiller en Mecatrónica. Modelo Académico
2025. Secretaría Académica.
Secretaría de Educación Pública. (2022a). Plan de Estudio para la
educación preescolar, primaria y secundaria. SEP.
Secretaría de Educación Pública. (2022b). Sugerencias metodológicas para
el desarrollo de los proyectos educativos [Extracto de Avance del
contenido para el libro del docente. Primer grado, material en proceso
de edición, pp. 64–82, 23–24]. SEP.
Secretaría de Educación Pública. (2024). Programa de estudio para la
educación secundaria: Programa sintético de la Fase 6. SEP.
Tong, P., &amp; An, I. S. (2024). Review of studies applying
Bronfenbrenner’s bioecological theory in international and intercultural
education research. Frontiers in Psychology, 14, Article 1233925.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1692C81-8A00-3603-9542-A93ADC46502A}"/>
              </a:ext>
            </a:extLst>
          </p:cNvPr>
          <p:cNvSpPr/>
          <p:nvPr/>
        </p:nvSpPr>
        <p:spPr>
          <a:xfrm>
            <a:off x="0" y="4089400"/>
            <a:ext cx="6911975" cy="228600"/>
          </a:xfrm>
          <a:prstGeom prst="rect">
            <a:avLst/>
          </a:prstGeom>
          <a:solidFill>
            <a:srgbClr val="16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761A72A-7A16-A9A8-3151-614EBDF1CBA1}"/>
              </a:ext>
            </a:extLst>
          </p:cNvPr>
          <p:cNvSpPr txBox="1"/>
          <p:nvPr/>
        </p:nvSpPr>
        <p:spPr>
          <a:xfrm>
            <a:off x="190500" y="4127500"/>
            <a:ext cx="533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800">
                <a:solidFill>
                  <a:srgbClr val="FFFFFF"/>
                </a:solidFill>
                <a:latin typeface="Arial" panose="020B0604020202020204" pitchFamily="34" charset="0"/>
              </a:rPr>
              <a:t>M. de la Cruz Muñoz · MAEM · 00874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BB418B7-44E8-69D1-8982-209228EC6650}"/>
              </a:ext>
            </a:extLst>
          </p:cNvPr>
          <p:cNvSpPr txBox="1"/>
          <p:nvPr/>
        </p:nvSpPr>
        <p:spPr>
          <a:xfrm>
            <a:off x="6159500" y="4127500"/>
            <a:ext cx="571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800">
                <a:solidFill>
                  <a:srgbClr val="FFFFFF"/>
                </a:solidFill>
                <a:latin typeface="Arial" panose="020B0604020202020204" pitchFamily="34" charset="0"/>
              </a:rPr>
              <a:t>15 / 15</a:t>
            </a:r>
          </a:p>
        </p:txBody>
      </p:sp>
    </p:spTree>
    <p:extLst>
      <p:ext uri="{BB962C8B-B14F-4D97-AF65-F5344CB8AC3E}">
        <p14:creationId xmlns:p14="http://schemas.microsoft.com/office/powerpoint/2010/main" val="39054936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4344</Words>
  <Application>Microsoft Office PowerPoint</Application>
  <PresentationFormat>Personalizado</PresentationFormat>
  <Paragraphs>215</Paragraphs>
  <Slides>15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Sysx</dc:creator>
  <cp:lastModifiedBy>Jonathan Sysx</cp:lastModifiedBy>
  <cp:revision>1</cp:revision>
  <dcterms:created xsi:type="dcterms:W3CDTF">2026-10-14T03:14:17Z</dcterms:created>
  <dcterms:modified xsi:type="dcterms:W3CDTF">2026-10-14T03:14:17Z</dcterms:modified>
</cp:coreProperties>
</file>