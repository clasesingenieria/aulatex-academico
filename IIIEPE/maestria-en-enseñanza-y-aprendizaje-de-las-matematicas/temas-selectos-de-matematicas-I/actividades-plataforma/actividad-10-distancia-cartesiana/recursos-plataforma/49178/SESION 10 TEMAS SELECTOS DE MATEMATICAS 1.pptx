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77" r:id="rId4"/>
    <p:sldId id="281" r:id="rId5"/>
    <p:sldId id="273" r:id="rId6"/>
    <p:sldId id="283" r:id="rId7"/>
    <p:sldId id="278" r:id="rId8"/>
    <p:sldId id="279" r:id="rId9"/>
    <p:sldId id="276" r:id="rId10"/>
    <p:sldId id="280" r:id="rId11"/>
    <p:sldId id="270" r:id="rId12"/>
  </p:sldIdLst>
  <p:sldSz cx="18288000" cy="10287000"/>
  <p:notesSz cx="6858000" cy="9144000"/>
  <p:embeddedFontLst>
    <p:embeddedFont>
      <p:font typeface="Calibri" panose="020F0502020204030204" pitchFamily="34" charset="0"/>
      <p:regular r:id="rId13"/>
      <p:bold r:id="rId14"/>
      <p:italic r:id="rId15"/>
      <p:boldItalic r:id="rId16"/>
    </p:embeddedFont>
    <p:embeddedFont>
      <p:font typeface="Century Gothic" panose="020B0502020202020204" pitchFamily="34"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FD4443E-F989-4FC4-A0C8-D5A2AF1F390B}" styleName="Estilo oscuro 1 - Énfasis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Estilo oscuro 1 - Énfasis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autoAdjust="0"/>
    <p:restoredTop sz="94586" autoAdjust="0"/>
  </p:normalViewPr>
  <p:slideViewPr>
    <p:cSldViewPr>
      <p:cViewPr>
        <p:scale>
          <a:sx n="70" d="100"/>
          <a:sy n="70" d="100"/>
        </p:scale>
        <p:origin x="304"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751F"/>
        </a:solidFill>
        <a:effectLst/>
      </p:bgPr>
    </p:bg>
    <p:spTree>
      <p:nvGrpSpPr>
        <p:cNvPr id="1" name=""/>
        <p:cNvGrpSpPr/>
        <p:nvPr/>
      </p:nvGrpSpPr>
      <p:grpSpPr>
        <a:xfrm>
          <a:off x="0" y="0"/>
          <a:ext cx="0" cy="0"/>
          <a:chOff x="0" y="0"/>
          <a:chExt cx="0" cy="0"/>
        </a:xfrm>
      </p:grpSpPr>
      <p:sp>
        <p:nvSpPr>
          <p:cNvPr id="2" name="Freeform 2"/>
          <p:cNvSpPr/>
          <p:nvPr/>
        </p:nvSpPr>
        <p:spPr>
          <a:xfrm>
            <a:off x="3493371" y="3773222"/>
            <a:ext cx="11301259" cy="2740555"/>
          </a:xfrm>
          <a:custGeom>
            <a:avLst/>
            <a:gdLst/>
            <a:ahLst/>
            <a:cxnLst/>
            <a:rect l="l" t="t" r="r" b="b"/>
            <a:pathLst>
              <a:path w="11301259" h="2740555">
                <a:moveTo>
                  <a:pt x="0" y="0"/>
                </a:moveTo>
                <a:lnTo>
                  <a:pt x="11301258" y="0"/>
                </a:lnTo>
                <a:lnTo>
                  <a:pt x="11301258" y="2740556"/>
                </a:lnTo>
                <a:lnTo>
                  <a:pt x="0" y="2740556"/>
                </a:lnTo>
                <a:lnTo>
                  <a:pt x="0" y="0"/>
                </a:lnTo>
                <a:close/>
              </a:path>
            </a:pathLst>
          </a:custGeom>
          <a:blipFill>
            <a:blip r:embed="rId2"/>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751F"/>
        </a:solidFill>
        <a:effectLst/>
      </p:bgPr>
    </p:bg>
    <p:spTree>
      <p:nvGrpSpPr>
        <p:cNvPr id="1" name=""/>
        <p:cNvGrpSpPr/>
        <p:nvPr/>
      </p:nvGrpSpPr>
      <p:grpSpPr>
        <a:xfrm>
          <a:off x="0" y="0"/>
          <a:ext cx="0" cy="0"/>
          <a:chOff x="0" y="0"/>
          <a:chExt cx="0" cy="0"/>
        </a:xfrm>
      </p:grpSpPr>
      <p:grpSp>
        <p:nvGrpSpPr>
          <p:cNvPr id="2" name="Group 2"/>
          <p:cNvGrpSpPr/>
          <p:nvPr/>
        </p:nvGrpSpPr>
        <p:grpSpPr>
          <a:xfrm>
            <a:off x="6655450" y="1538868"/>
            <a:ext cx="5190742" cy="2754257"/>
            <a:chOff x="0" y="0"/>
            <a:chExt cx="1367109" cy="725401"/>
          </a:xfrm>
        </p:grpSpPr>
        <p:sp>
          <p:nvSpPr>
            <p:cNvPr id="3" name="Freeform 3"/>
            <p:cNvSpPr/>
            <p:nvPr/>
          </p:nvSpPr>
          <p:spPr>
            <a:xfrm>
              <a:off x="0" y="0"/>
              <a:ext cx="1367109" cy="725401"/>
            </a:xfrm>
            <a:custGeom>
              <a:avLst/>
              <a:gdLst/>
              <a:ahLst/>
              <a:cxnLst/>
              <a:rect l="l" t="t" r="r" b="b"/>
              <a:pathLst>
                <a:path w="1367109" h="725401">
                  <a:moveTo>
                    <a:pt x="0" y="0"/>
                  </a:moveTo>
                  <a:lnTo>
                    <a:pt x="1367109" y="0"/>
                  </a:lnTo>
                  <a:lnTo>
                    <a:pt x="1367109" y="725401"/>
                  </a:lnTo>
                  <a:lnTo>
                    <a:pt x="0" y="725401"/>
                  </a:lnTo>
                  <a:close/>
                </a:path>
              </a:pathLst>
            </a:custGeom>
            <a:solidFill>
              <a:srgbClr val="8E9081"/>
            </a:solidFill>
          </p:spPr>
        </p:sp>
        <p:sp>
          <p:nvSpPr>
            <p:cNvPr id="4" name="TextBox 4"/>
            <p:cNvSpPr txBox="1"/>
            <p:nvPr/>
          </p:nvSpPr>
          <p:spPr>
            <a:xfrm>
              <a:off x="0" y="-47625"/>
              <a:ext cx="1367109" cy="77302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9684427" y="0"/>
            <a:ext cx="8603573" cy="10287000"/>
            <a:chOff x="0" y="0"/>
            <a:chExt cx="8603361" cy="10286746"/>
          </a:xfrm>
        </p:grpSpPr>
        <p:sp>
          <p:nvSpPr>
            <p:cNvPr id="6" name="Freeform 6"/>
            <p:cNvSpPr/>
            <p:nvPr/>
          </p:nvSpPr>
          <p:spPr>
            <a:xfrm>
              <a:off x="-50" y="-127"/>
              <a:ext cx="8603411" cy="10286873"/>
            </a:xfrm>
            <a:custGeom>
              <a:avLst/>
              <a:gdLst/>
              <a:ahLst/>
              <a:cxnLst/>
              <a:rect l="l" t="t" r="r" b="b"/>
              <a:pathLst>
                <a:path w="8603411" h="10286873">
                  <a:moveTo>
                    <a:pt x="8603411" y="10251440"/>
                  </a:moveTo>
                  <a:cubicBezTo>
                    <a:pt x="8603411" y="10284587"/>
                    <a:pt x="8592743" y="10286873"/>
                    <a:pt x="8564930" y="10286873"/>
                  </a:cubicBezTo>
                  <a:cubicBezTo>
                    <a:pt x="5710351" y="10286238"/>
                    <a:pt x="2855899" y="10286238"/>
                    <a:pt x="1320" y="10286238"/>
                  </a:cubicBezTo>
                  <a:cubicBezTo>
                    <a:pt x="-2744" y="10272395"/>
                    <a:pt x="3606" y="10259822"/>
                    <a:pt x="6527" y="10246995"/>
                  </a:cubicBezTo>
                  <a:cubicBezTo>
                    <a:pt x="132003" y="9685401"/>
                    <a:pt x="257606" y="9123934"/>
                    <a:pt x="383463" y="8562467"/>
                  </a:cubicBezTo>
                  <a:cubicBezTo>
                    <a:pt x="562914" y="7761986"/>
                    <a:pt x="742746" y="6961632"/>
                    <a:pt x="922070" y="6161151"/>
                  </a:cubicBezTo>
                  <a:cubicBezTo>
                    <a:pt x="1143558" y="5172583"/>
                    <a:pt x="1364538" y="4184015"/>
                    <a:pt x="1585899" y="3195574"/>
                  </a:cubicBezTo>
                  <a:cubicBezTo>
                    <a:pt x="1810816" y="2191385"/>
                    <a:pt x="2035860" y="1187323"/>
                    <a:pt x="2261412" y="183261"/>
                  </a:cubicBezTo>
                  <a:cubicBezTo>
                    <a:pt x="2275128" y="122174"/>
                    <a:pt x="2283891" y="59690"/>
                    <a:pt x="2306116" y="635"/>
                  </a:cubicBezTo>
                  <a:cubicBezTo>
                    <a:pt x="4392472" y="635"/>
                    <a:pt x="6478828" y="635"/>
                    <a:pt x="8565184" y="0"/>
                  </a:cubicBezTo>
                  <a:cubicBezTo>
                    <a:pt x="8593505" y="0"/>
                    <a:pt x="8603157" y="3429"/>
                    <a:pt x="8603157" y="35814"/>
                  </a:cubicBezTo>
                  <a:cubicBezTo>
                    <a:pt x="8602395" y="3441065"/>
                    <a:pt x="8602395" y="6846316"/>
                    <a:pt x="8603411" y="10251440"/>
                  </a:cubicBezTo>
                  <a:close/>
                </a:path>
              </a:pathLst>
            </a:custGeom>
            <a:blipFill>
              <a:blip r:embed="rId2"/>
              <a:stretch>
                <a:fillRect l="-2385" r="-2385"/>
              </a:stretch>
            </a:blipFill>
          </p:spPr>
        </p:sp>
      </p:grpSp>
      <p:grpSp>
        <p:nvGrpSpPr>
          <p:cNvPr id="7" name="Group 7"/>
          <p:cNvGrpSpPr/>
          <p:nvPr/>
        </p:nvGrpSpPr>
        <p:grpSpPr>
          <a:xfrm>
            <a:off x="5524779" y="403052"/>
            <a:ext cx="3274575" cy="972005"/>
            <a:chOff x="0" y="0"/>
            <a:chExt cx="862440" cy="256001"/>
          </a:xfrm>
        </p:grpSpPr>
        <p:sp>
          <p:nvSpPr>
            <p:cNvPr id="8" name="Freeform 8"/>
            <p:cNvSpPr/>
            <p:nvPr/>
          </p:nvSpPr>
          <p:spPr>
            <a:xfrm>
              <a:off x="0" y="0"/>
              <a:ext cx="862440" cy="256001"/>
            </a:xfrm>
            <a:custGeom>
              <a:avLst/>
              <a:gdLst/>
              <a:ahLst/>
              <a:cxnLst/>
              <a:rect l="l" t="t" r="r" b="b"/>
              <a:pathLst>
                <a:path w="862440" h="256001">
                  <a:moveTo>
                    <a:pt x="0" y="0"/>
                  </a:moveTo>
                  <a:lnTo>
                    <a:pt x="862440" y="0"/>
                  </a:lnTo>
                  <a:lnTo>
                    <a:pt x="862440" y="256001"/>
                  </a:lnTo>
                  <a:lnTo>
                    <a:pt x="0" y="256001"/>
                  </a:lnTo>
                  <a:close/>
                </a:path>
              </a:pathLst>
            </a:custGeom>
            <a:solidFill>
              <a:srgbClr val="8E9081"/>
            </a:solidFill>
          </p:spPr>
        </p:sp>
        <p:sp>
          <p:nvSpPr>
            <p:cNvPr id="9" name="TextBox 9"/>
            <p:cNvSpPr txBox="1"/>
            <p:nvPr/>
          </p:nvSpPr>
          <p:spPr>
            <a:xfrm>
              <a:off x="0" y="-47625"/>
              <a:ext cx="862440" cy="303626"/>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235025" y="-238116"/>
            <a:ext cx="1263725" cy="10831193"/>
            <a:chOff x="0" y="0"/>
            <a:chExt cx="332833" cy="2852660"/>
          </a:xfrm>
        </p:grpSpPr>
        <p:sp>
          <p:nvSpPr>
            <p:cNvPr id="11" name="Freeform 11"/>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FFFF"/>
            </a:solidFill>
          </p:spPr>
        </p:sp>
        <p:sp>
          <p:nvSpPr>
            <p:cNvPr id="12" name="TextBox 12"/>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82625" y="-85716"/>
            <a:ext cx="1263725" cy="10831193"/>
            <a:chOff x="0" y="0"/>
            <a:chExt cx="332833" cy="2852660"/>
          </a:xfrm>
        </p:grpSpPr>
        <p:sp>
          <p:nvSpPr>
            <p:cNvPr id="14" name="Freeform 14"/>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FFFF"/>
            </a:solidFill>
          </p:spPr>
        </p:sp>
        <p:sp>
          <p:nvSpPr>
            <p:cNvPr id="15" name="TextBox 15"/>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16" name="Freeform 16"/>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3"/>
            <a:stretch>
              <a:fillRect/>
            </a:stretch>
          </a:blipFill>
        </p:spPr>
      </p:sp>
      <p:sp>
        <p:nvSpPr>
          <p:cNvPr id="17" name="TextBox 17"/>
          <p:cNvSpPr txBox="1"/>
          <p:nvPr/>
        </p:nvSpPr>
        <p:spPr>
          <a:xfrm>
            <a:off x="1524000" y="4664889"/>
            <a:ext cx="17002125" cy="4439870"/>
          </a:xfrm>
          <a:prstGeom prst="rect">
            <a:avLst/>
          </a:prstGeom>
        </p:spPr>
        <p:txBody>
          <a:bodyPr wrap="square" lIns="0" tIns="0" rIns="0" bIns="0" rtlCol="0" anchor="t">
            <a:spAutoFit/>
          </a:bodyPr>
          <a:lstStyle/>
          <a:p>
            <a:pPr algn="l">
              <a:lnSpc>
                <a:spcPts val="6800"/>
              </a:lnSpc>
            </a:pPr>
            <a:r>
              <a:rPr lang="en-US" sz="8800" b="1" spc="-374" dirty="0" err="1">
                <a:solidFill>
                  <a:schemeClr val="bg1"/>
                </a:solidFill>
                <a:latin typeface="Century Gothic" panose="020B0502020202020204" pitchFamily="34" charset="0"/>
                <a:ea typeface="Heading Now 71-78"/>
                <a:cs typeface="Heading Now 71-78"/>
                <a:sym typeface="Heading Now 71-78"/>
              </a:rPr>
              <a:t>Temas</a:t>
            </a:r>
            <a:r>
              <a:rPr lang="en-US" sz="8800" b="1" spc="-374" dirty="0">
                <a:solidFill>
                  <a:schemeClr val="bg1"/>
                </a:solidFill>
                <a:latin typeface="Century Gothic" panose="020B0502020202020204" pitchFamily="34" charset="0"/>
                <a:ea typeface="Heading Now 71-78"/>
                <a:cs typeface="Heading Now 71-78"/>
                <a:sym typeface="Heading Now 71-78"/>
              </a:rPr>
              <a:t> </a:t>
            </a:r>
          </a:p>
          <a:p>
            <a:pPr algn="l">
              <a:lnSpc>
                <a:spcPts val="6800"/>
              </a:lnSpc>
            </a:pPr>
            <a:endParaRPr lang="en-US" sz="8800" b="1" spc="-374" dirty="0">
              <a:solidFill>
                <a:schemeClr val="bg1"/>
              </a:solidFill>
              <a:latin typeface="Century Gothic" panose="020B0502020202020204" pitchFamily="34" charset="0"/>
              <a:ea typeface="Heading Now 71-78"/>
              <a:cs typeface="Heading Now 71-78"/>
              <a:sym typeface="Heading Now 71-78"/>
            </a:endParaRPr>
          </a:p>
          <a:p>
            <a:pPr algn="l">
              <a:lnSpc>
                <a:spcPts val="6800"/>
              </a:lnSpc>
            </a:pPr>
            <a:r>
              <a:rPr lang="en-US" sz="8800" b="1" spc="-374" dirty="0" err="1">
                <a:solidFill>
                  <a:schemeClr val="bg1"/>
                </a:solidFill>
                <a:latin typeface="Century Gothic" panose="020B0502020202020204" pitchFamily="34" charset="0"/>
                <a:ea typeface="Heading Now 71-78"/>
                <a:cs typeface="Heading Now 71-78"/>
                <a:sym typeface="Heading Now 71-78"/>
              </a:rPr>
              <a:t>Selectos</a:t>
            </a:r>
            <a:r>
              <a:rPr lang="en-US" sz="8800" b="1" spc="-374" dirty="0">
                <a:solidFill>
                  <a:schemeClr val="bg1"/>
                </a:solidFill>
                <a:latin typeface="Century Gothic" panose="020B0502020202020204" pitchFamily="34" charset="0"/>
                <a:ea typeface="Heading Now 71-78"/>
                <a:cs typeface="Heading Now 71-78"/>
                <a:sym typeface="Heading Now 71-78"/>
              </a:rPr>
              <a:t> de </a:t>
            </a:r>
          </a:p>
          <a:p>
            <a:pPr algn="l">
              <a:lnSpc>
                <a:spcPts val="6800"/>
              </a:lnSpc>
            </a:pPr>
            <a:endParaRPr lang="en-US" sz="8800" b="1" spc="-374" dirty="0">
              <a:solidFill>
                <a:schemeClr val="bg1"/>
              </a:solidFill>
              <a:latin typeface="Century Gothic" panose="020B0502020202020204" pitchFamily="34" charset="0"/>
              <a:ea typeface="Heading Now 71-78"/>
              <a:cs typeface="Heading Now 71-78"/>
              <a:sym typeface="Heading Now 71-78"/>
            </a:endParaRPr>
          </a:p>
          <a:p>
            <a:pPr algn="l">
              <a:lnSpc>
                <a:spcPts val="6800"/>
              </a:lnSpc>
            </a:pPr>
            <a:r>
              <a:rPr lang="en-US" sz="8800" b="1" spc="-374" dirty="0" err="1">
                <a:solidFill>
                  <a:schemeClr val="bg1"/>
                </a:solidFill>
                <a:latin typeface="Century Gothic" panose="020B0502020202020204" pitchFamily="34" charset="0"/>
                <a:ea typeface="Heading Now 71-78"/>
                <a:cs typeface="Heading Now 71-78"/>
                <a:sym typeface="Heading Now 71-78"/>
              </a:rPr>
              <a:t>Matemáticas</a:t>
            </a:r>
            <a:r>
              <a:rPr lang="en-US" sz="8800" b="1" spc="-374" dirty="0">
                <a:solidFill>
                  <a:schemeClr val="bg1"/>
                </a:solidFill>
                <a:latin typeface="Century Gothic" panose="020B0502020202020204" pitchFamily="34" charset="0"/>
                <a:ea typeface="Heading Now 71-78"/>
                <a:cs typeface="Heading Now 71-78"/>
                <a:sym typeface="Heading Now 71-78"/>
              </a:rPr>
              <a:t> 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3" name="Rectángulo 2">
            <a:extLst>
              <a:ext uri="{FF2B5EF4-FFF2-40B4-BE49-F238E27FC236}">
                <a16:creationId xmlns:a16="http://schemas.microsoft.com/office/drawing/2014/main" id="{C8D8716D-6ABE-7365-1A77-C5DD53AA1916}"/>
              </a:ext>
            </a:extLst>
          </p:cNvPr>
          <p:cNvSpPr/>
          <p:nvPr/>
        </p:nvSpPr>
        <p:spPr>
          <a:xfrm>
            <a:off x="2743200" y="3676650"/>
            <a:ext cx="14097000" cy="13716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s-MX" sz="2400" dirty="0">
                <a:latin typeface="Century Gothic" panose="020B0502020202020204" pitchFamily="34" charset="0"/>
              </a:rPr>
              <a:t>CONTENIDO: Medición y cálculo en diferentes contextos.</a:t>
            </a:r>
          </a:p>
        </p:txBody>
      </p:sp>
      <p:sp>
        <p:nvSpPr>
          <p:cNvPr id="4" name="Rectángulo 3">
            <a:extLst>
              <a:ext uri="{FF2B5EF4-FFF2-40B4-BE49-F238E27FC236}">
                <a16:creationId xmlns:a16="http://schemas.microsoft.com/office/drawing/2014/main" id="{BB84B7BB-1577-45C5-272C-ECBAC480D863}"/>
              </a:ext>
            </a:extLst>
          </p:cNvPr>
          <p:cNvSpPr/>
          <p:nvPr/>
        </p:nvSpPr>
        <p:spPr>
          <a:xfrm>
            <a:off x="2743200" y="5276850"/>
            <a:ext cx="14097000" cy="352425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s-MX" sz="2800" dirty="0">
                <a:effectLst/>
                <a:latin typeface="Century Gothic" panose="020B0502020202020204" pitchFamily="34" charset="0"/>
              </a:rPr>
              <a:t>Introduce la idea de distancia entre dos puntos como la longitud del segmento que los une. </a:t>
            </a:r>
            <a:endParaRPr lang="es-MX" sz="2800" dirty="0">
              <a:latin typeface="Century Gothic" panose="020B0502020202020204" pitchFamily="34" charset="0"/>
            </a:endParaRPr>
          </a:p>
        </p:txBody>
      </p:sp>
      <p:sp>
        <p:nvSpPr>
          <p:cNvPr id="2" name="Rectángulo 1">
            <a:extLst>
              <a:ext uri="{FF2B5EF4-FFF2-40B4-BE49-F238E27FC236}">
                <a16:creationId xmlns:a16="http://schemas.microsoft.com/office/drawing/2014/main" id="{B83BF15F-2430-C5A0-0AC5-8936205B8188}"/>
              </a:ext>
            </a:extLst>
          </p:cNvPr>
          <p:cNvSpPr/>
          <p:nvPr/>
        </p:nvSpPr>
        <p:spPr>
          <a:xfrm>
            <a:off x="2743200" y="1866900"/>
            <a:ext cx="14097000" cy="1371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MX" sz="2400" dirty="0">
                <a:latin typeface="Century Gothic" panose="020B0502020202020204" pitchFamily="34" charset="0"/>
              </a:rPr>
              <a:t>CAMPO FORMATIVO: </a:t>
            </a:r>
          </a:p>
          <a:p>
            <a:pPr algn="ctr"/>
            <a:r>
              <a:rPr lang="es-MX" sz="2400" dirty="0">
                <a:latin typeface="Century Gothic" panose="020B0502020202020204" pitchFamily="34" charset="0"/>
              </a:rPr>
              <a:t>SABERES Y PENSAMIENTO CIENTÍFICO</a:t>
            </a:r>
          </a:p>
        </p:txBody>
      </p:sp>
    </p:spTree>
    <p:extLst>
      <p:ext uri="{BB962C8B-B14F-4D97-AF65-F5344CB8AC3E}">
        <p14:creationId xmlns:p14="http://schemas.microsoft.com/office/powerpoint/2010/main" val="89731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10" name="TextBox 10"/>
          <p:cNvSpPr txBox="1"/>
          <p:nvPr/>
        </p:nvSpPr>
        <p:spPr>
          <a:xfrm>
            <a:off x="1849882" y="1267229"/>
            <a:ext cx="15788595" cy="8125301"/>
          </a:xfrm>
          <a:prstGeom prst="rect">
            <a:avLst/>
          </a:prstGeom>
        </p:spPr>
        <p:txBody>
          <a:bodyPr lIns="0" tIns="0" rIns="0" bIns="0" rtlCol="0" anchor="t">
            <a:spAutoFit/>
          </a:bodyPr>
          <a:lstStyle/>
          <a:p>
            <a:r>
              <a:rPr lang="es-MX" sz="4400" b="1" dirty="0"/>
              <a:t>Comprender</a:t>
            </a:r>
            <a:r>
              <a:rPr lang="es-MX" sz="4400" dirty="0"/>
              <a:t> cómo la ubicación de puntos en el plano cartesiano te permite representar trayectorias reales para medir y organizar de forma exacta el espacio que te rodea.</a:t>
            </a:r>
          </a:p>
          <a:p>
            <a:endParaRPr lang="es-MX" sz="4400" dirty="0"/>
          </a:p>
          <a:p>
            <a:r>
              <a:rPr lang="es-MX" sz="4400" b="1" dirty="0"/>
              <a:t>Descubrir</a:t>
            </a:r>
            <a:r>
              <a:rPr lang="es-MX" sz="4400" dirty="0"/>
              <a:t> cómo puedes usar las coordenadas de la tabla para calcular distancias en línea recta entre dos impactos en el suelo, comparándolas con lo que mediste con la cinta métrica.</a:t>
            </a:r>
          </a:p>
          <a:p>
            <a:endParaRPr lang="es-MX" sz="4400" dirty="0"/>
          </a:p>
          <a:p>
            <a:r>
              <a:rPr lang="es-MX" sz="4400" b="1" dirty="0"/>
              <a:t>Desarrollar</a:t>
            </a:r>
            <a:r>
              <a:rPr lang="es-MX" sz="4400" dirty="0"/>
              <a:t> la habilidad de pasar de mediciones físicas reales a registros en un plano, facilitándote la resolución de problemas de ubicación y dibujo en el futuro.</a:t>
            </a:r>
          </a:p>
          <a:p>
            <a:endParaRPr lang="es-MX" sz="4400" dirty="0"/>
          </a:p>
        </p:txBody>
      </p:sp>
    </p:spTree>
    <p:extLst>
      <p:ext uri="{BB962C8B-B14F-4D97-AF65-F5344CB8AC3E}">
        <p14:creationId xmlns:p14="http://schemas.microsoft.com/office/powerpoint/2010/main" val="1878494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10" name="TextBox 10"/>
          <p:cNvSpPr txBox="1"/>
          <p:nvPr/>
        </p:nvSpPr>
        <p:spPr>
          <a:xfrm>
            <a:off x="1830832" y="805564"/>
            <a:ext cx="15788595" cy="9048631"/>
          </a:xfrm>
          <a:prstGeom prst="rect">
            <a:avLst/>
          </a:prstGeom>
        </p:spPr>
        <p:txBody>
          <a:bodyPr lIns="0" tIns="0" rIns="0" bIns="0" rtlCol="0" anchor="t">
            <a:spAutoFit/>
          </a:bodyPr>
          <a:lstStyle/>
          <a:p>
            <a:r>
              <a:rPr lang="es-MX" sz="2800" b="1" dirty="0"/>
              <a:t>1. Propósito Cognitivo e Instrumental (Pensamiento Matemático)</a:t>
            </a:r>
          </a:p>
          <a:p>
            <a:r>
              <a:rPr lang="es-MX" sz="2800" b="1" dirty="0"/>
              <a:t>Lograr que las y los estudiantes transiten de forma fluida entre la experimentación física y la representación geométrica</a:t>
            </a:r>
            <a:r>
              <a:rPr lang="es-MX" sz="2800" dirty="0"/>
              <a:t>, desarrollando la capacidad de modelar e interpretar trayectorias reales mediante el uso de coordenadas cartesianas en el plano. Con esto se busca que comprendan la distancia entre dos puntos no como un conjunto de reglas aisladas, sino como una herramienta analítica útil para medir, organizar y calcular longitudes exactas en su entorno a partir de datos registrados en tablas.</a:t>
            </a:r>
          </a:p>
          <a:p>
            <a:endParaRPr lang="es-MX" sz="2800" dirty="0"/>
          </a:p>
          <a:p>
            <a:r>
              <a:rPr lang="es-MX" sz="2800" b="1" dirty="0"/>
              <a:t>2. Propósito Didáctico y Metacognitivo</a:t>
            </a:r>
          </a:p>
          <a:p>
            <a:r>
              <a:rPr lang="es-MX" sz="2800" b="1" dirty="0"/>
              <a:t>Consolidar la autonomía del aprendizaje a través de la movilización de recursos estructurados</a:t>
            </a:r>
            <a:r>
              <a:rPr lang="es-MX" sz="2800" dirty="0"/>
              <a:t>, utilizando las fichas impresas de las páginas 91 a la 94 del cuadernillo estatal (</a:t>
            </a:r>
            <a:r>
              <a:rPr lang="es-MX" sz="2800" i="1" dirty="0"/>
              <a:t>Practicando saberes en Matemáticas</a:t>
            </a:r>
            <a:r>
              <a:rPr lang="es-MX" sz="2800" dirty="0"/>
              <a:t>) como un andamiaje que guíe al alumno desde el rescate de sus saberes previos y la localización de coordenadas, hasta la resolución colaborativa de problemas espaciales y la autoevaluación de sus propios procesos de desarrollo de aprendizaje (PDA).</a:t>
            </a:r>
          </a:p>
          <a:p>
            <a:endParaRPr lang="es-MX" sz="2800" dirty="0"/>
          </a:p>
          <a:p>
            <a:r>
              <a:rPr lang="es-MX" sz="2800" b="1" dirty="0"/>
              <a:t>3. Propósito Sociocomunitario y Lúdico (Ambientes de Aprendizaje NEM)</a:t>
            </a:r>
          </a:p>
          <a:p>
            <a:r>
              <a:rPr lang="es-MX" sz="2800" b="1" dirty="0"/>
              <a:t>Fomentar un ambiente de aprendizaje inclusivo, colaborativo y de sana convivencia a través de la experimentación empírica</a:t>
            </a:r>
            <a:r>
              <a:rPr lang="es-MX" sz="2800" dirty="0"/>
              <a:t>, utilizando la dinámica del "Lanzamiento de la Catapulta" como un instrumento de indagación y evaluación formativa en tiempo real. Este propósito busca que los estudiantes validen sus conocimientos de manera colectiva al contrastar las distancias medidas con la cinta métrica, refuercen el trabajo en equipo al registrar datos comunes y pierdan el temor a la abstracción geométrica mediante el juego compartido en el aula.</a:t>
            </a:r>
          </a:p>
        </p:txBody>
      </p:sp>
    </p:spTree>
    <p:extLst>
      <p:ext uri="{BB962C8B-B14F-4D97-AF65-F5344CB8AC3E}">
        <p14:creationId xmlns:p14="http://schemas.microsoft.com/office/powerpoint/2010/main" val="1895006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graphicFrame>
        <p:nvGraphicFramePr>
          <p:cNvPr id="3" name="Tabla 2">
            <a:extLst>
              <a:ext uri="{FF2B5EF4-FFF2-40B4-BE49-F238E27FC236}">
                <a16:creationId xmlns:a16="http://schemas.microsoft.com/office/drawing/2014/main" id="{72CE46EF-13DC-9D65-FA94-332C7E6AEB16}"/>
              </a:ext>
            </a:extLst>
          </p:cNvPr>
          <p:cNvGraphicFramePr>
            <a:graphicFrameLocks noGrp="1"/>
          </p:cNvGraphicFramePr>
          <p:nvPr>
            <p:extLst>
              <p:ext uri="{D42A27DB-BD31-4B8C-83A1-F6EECF244321}">
                <p14:modId xmlns:p14="http://schemas.microsoft.com/office/powerpoint/2010/main" val="2707371439"/>
              </p:ext>
            </p:extLst>
          </p:nvPr>
        </p:nvGraphicFramePr>
        <p:xfrm>
          <a:off x="1524000" y="266700"/>
          <a:ext cx="16230600" cy="9797768"/>
        </p:xfrm>
        <a:graphic>
          <a:graphicData uri="http://schemas.openxmlformats.org/drawingml/2006/table">
            <a:tbl>
              <a:tblPr>
                <a:tableStyleId>{775DCB02-9BB8-47FD-8907-85C794F793BA}</a:tableStyleId>
              </a:tblPr>
              <a:tblGrid>
                <a:gridCol w="1981200">
                  <a:extLst>
                    <a:ext uri="{9D8B030D-6E8A-4147-A177-3AD203B41FA5}">
                      <a16:colId xmlns:a16="http://schemas.microsoft.com/office/drawing/2014/main" val="810066116"/>
                    </a:ext>
                  </a:extLst>
                </a:gridCol>
                <a:gridCol w="5562600">
                  <a:extLst>
                    <a:ext uri="{9D8B030D-6E8A-4147-A177-3AD203B41FA5}">
                      <a16:colId xmlns:a16="http://schemas.microsoft.com/office/drawing/2014/main" val="2661364891"/>
                    </a:ext>
                  </a:extLst>
                </a:gridCol>
                <a:gridCol w="8686800">
                  <a:extLst>
                    <a:ext uri="{9D8B030D-6E8A-4147-A177-3AD203B41FA5}">
                      <a16:colId xmlns:a16="http://schemas.microsoft.com/office/drawing/2014/main" val="2371122989"/>
                    </a:ext>
                  </a:extLst>
                </a:gridCol>
              </a:tblGrid>
              <a:tr h="430816">
                <a:tc>
                  <a:txBody>
                    <a:bodyPr/>
                    <a:lstStyle/>
                    <a:p>
                      <a:pPr rtl="0"/>
                      <a:r>
                        <a:rPr lang="es-MX" sz="1800" b="1">
                          <a:solidFill>
                            <a:srgbClr val="1F1F1F"/>
                          </a:solidFill>
                          <a:effectLst/>
                          <a:latin typeface="Arial" panose="020B0604020202020204" pitchFamily="34" charset="0"/>
                          <a:cs typeface="Arial" panose="020B0604020202020204" pitchFamily="34" charset="0"/>
                        </a:rPr>
                        <a:t>Momento</a:t>
                      </a:r>
                      <a:endParaRPr lang="es-MX" sz="1800">
                        <a:solidFill>
                          <a:srgbClr val="1F1F1F"/>
                        </a:solidFill>
                        <a:effectLst/>
                        <a:latin typeface="Arial" panose="020B0604020202020204" pitchFamily="34" charset="0"/>
                        <a:cs typeface="Arial" panose="020B0604020202020204" pitchFamily="34" charset="0"/>
                      </a:endParaRPr>
                    </a:p>
                  </a:txBody>
                  <a:tcPr marL="24421" marR="24421" marT="16280" marB="16280" anchor="ctr"/>
                </a:tc>
                <a:tc>
                  <a:txBody>
                    <a:bodyPr/>
                    <a:lstStyle/>
                    <a:p>
                      <a:pPr rtl="0"/>
                      <a:r>
                        <a:rPr lang="es-MX" sz="1800" b="1">
                          <a:solidFill>
                            <a:srgbClr val="1F1F1F"/>
                          </a:solidFill>
                          <a:effectLst/>
                          <a:latin typeface="Arial" panose="020B0604020202020204" pitchFamily="34" charset="0"/>
                          <a:cs typeface="Arial" panose="020B0604020202020204" pitchFamily="34" charset="0"/>
                        </a:rPr>
                        <a:t>Propósito del Estudiante(Lo que va a APRENDER)</a:t>
                      </a:r>
                      <a:endParaRPr lang="es-MX" sz="1800">
                        <a:solidFill>
                          <a:srgbClr val="1F1F1F"/>
                        </a:solidFill>
                        <a:effectLst/>
                        <a:latin typeface="Arial" panose="020B0604020202020204" pitchFamily="34" charset="0"/>
                        <a:cs typeface="Arial" panose="020B0604020202020204" pitchFamily="34" charset="0"/>
                      </a:endParaRPr>
                    </a:p>
                  </a:txBody>
                  <a:tcPr marL="24421" marR="24421" marT="16280" marB="16280" anchor="ctr"/>
                </a:tc>
                <a:tc>
                  <a:txBody>
                    <a:bodyPr/>
                    <a:lstStyle/>
                    <a:p>
                      <a:pPr rtl="0"/>
                      <a:r>
                        <a:rPr lang="es-MX" sz="1800" b="1">
                          <a:solidFill>
                            <a:srgbClr val="1F1F1F"/>
                          </a:solidFill>
                          <a:effectLst/>
                          <a:latin typeface="Arial" panose="020B0604020202020204" pitchFamily="34" charset="0"/>
                          <a:cs typeface="Arial" panose="020B0604020202020204" pitchFamily="34" charset="0"/>
                        </a:rPr>
                        <a:t>Descripción de la Actividad</a:t>
                      </a:r>
                      <a:endParaRPr lang="es-MX" sz="1800">
                        <a:solidFill>
                          <a:srgbClr val="1F1F1F"/>
                        </a:solidFill>
                        <a:effectLst/>
                        <a:latin typeface="Arial" panose="020B0604020202020204" pitchFamily="34" charset="0"/>
                        <a:cs typeface="Arial" panose="020B0604020202020204" pitchFamily="34" charset="0"/>
                      </a:endParaRPr>
                    </a:p>
                  </a:txBody>
                  <a:tcPr marL="24421" marR="24421" marT="16280" marB="16280" anchor="ctr"/>
                </a:tc>
                <a:extLst>
                  <a:ext uri="{0D108BD9-81ED-4DB2-BD59-A6C34878D82A}">
                    <a16:rowId xmlns:a16="http://schemas.microsoft.com/office/drawing/2014/main" val="4266253231"/>
                  </a:ext>
                </a:extLst>
              </a:tr>
              <a:tr h="2015544">
                <a:tc>
                  <a:txBody>
                    <a:bodyPr/>
                    <a:lstStyle/>
                    <a:p>
                      <a:pPr rtl="0"/>
                      <a:r>
                        <a:rPr lang="es-MX" sz="1800" b="1" dirty="0">
                          <a:solidFill>
                            <a:srgbClr val="1F1F1F"/>
                          </a:solidFill>
                          <a:effectLst/>
                          <a:latin typeface="Arial" panose="020B0604020202020204" pitchFamily="34" charset="0"/>
                          <a:cs typeface="Arial" panose="020B0604020202020204" pitchFamily="34" charset="0"/>
                        </a:rPr>
                        <a:t>INICIO</a:t>
                      </a:r>
                      <a:endParaRPr lang="es-MX" sz="1800" dirty="0">
                        <a:solidFill>
                          <a:srgbClr val="1F1F1F"/>
                        </a:solidFill>
                        <a:effectLst/>
                        <a:latin typeface="Arial" panose="020B0604020202020204" pitchFamily="34" charset="0"/>
                        <a:cs typeface="Arial" panose="020B0604020202020204" pitchFamily="34" charset="0"/>
                      </a:endParaRPr>
                    </a:p>
                  </a:txBody>
                  <a:tcPr marL="24421" marR="24421" marT="16280" marB="16280" anchor="ctr"/>
                </a:tc>
                <a:tc>
                  <a:txBody>
                    <a:bodyPr/>
                    <a:lstStyle/>
                    <a:p>
                      <a:pPr rtl="0"/>
                      <a:r>
                        <a:rPr lang="es-MX" sz="1800" b="1">
                          <a:solidFill>
                            <a:srgbClr val="1F1F1F"/>
                          </a:solidFill>
                          <a:effectLst/>
                          <a:latin typeface="Arial" panose="020B0604020202020204" pitchFamily="34" charset="0"/>
                          <a:cs typeface="Arial" panose="020B0604020202020204" pitchFamily="34" charset="0"/>
                        </a:rPr>
                        <a:t>Aprender a representar el espacio:</a:t>
                      </a:r>
                      <a:endParaRPr lang="es-MX" sz="1800">
                        <a:solidFill>
                          <a:srgbClr val="1F1F1F"/>
                        </a:solidFill>
                        <a:effectLst/>
                        <a:latin typeface="Arial" panose="020B0604020202020204" pitchFamily="34" charset="0"/>
                        <a:cs typeface="Arial" panose="020B0604020202020204" pitchFamily="34" charset="0"/>
                      </a:endParaRPr>
                    </a:p>
                    <a:p>
                      <a:pPr rtl="0"/>
                      <a:br>
                        <a:rPr lang="es-MX" sz="1800">
                          <a:solidFill>
                            <a:srgbClr val="1F1F1F"/>
                          </a:solidFill>
                          <a:effectLst/>
                          <a:latin typeface="Arial" panose="020B0604020202020204" pitchFamily="34" charset="0"/>
                          <a:cs typeface="Arial" panose="020B0604020202020204" pitchFamily="34" charset="0"/>
                        </a:rPr>
                      </a:br>
                      <a:r>
                        <a:rPr lang="es-MX" sz="1800">
                          <a:solidFill>
                            <a:srgbClr val="1F1F1F"/>
                          </a:solidFill>
                          <a:effectLst/>
                          <a:latin typeface="Arial" panose="020B0604020202020204" pitchFamily="34" charset="0"/>
                          <a:cs typeface="Arial" panose="020B0604020202020204" pitchFamily="34" charset="0"/>
                        </a:rPr>
                        <a:t>Que logres comprender cómo la ubicación de puntos en el plano cartesiano te permite representar trayectorias reales para medir y organizar de forma exacta el espacio que te rodea.</a:t>
                      </a:r>
                    </a:p>
                  </a:txBody>
                  <a:tcPr marL="24421" marR="24421" marT="16280" marB="16280" anchor="ctr"/>
                </a:tc>
                <a:tc>
                  <a:txBody>
                    <a:bodyPr/>
                    <a:lstStyle/>
                    <a:p>
                      <a:pPr rtl="0"/>
                      <a:r>
                        <a:rPr lang="es-MX" sz="1800" dirty="0">
                          <a:solidFill>
                            <a:srgbClr val="1F1F1F"/>
                          </a:solidFill>
                          <a:effectLst/>
                          <a:latin typeface="Arial" panose="020B0604020202020204" pitchFamily="34" charset="0"/>
                          <a:cs typeface="Arial" panose="020B0604020202020204" pitchFamily="34" charset="0"/>
                        </a:rPr>
                        <a:t>El docente plantea la dinámica interactiva "El lanzamiento de la catapulta". Los alumnos realizan tiros desde un punto fijo establecido como el origen (0,0) y miden con cinta métrica las distancias horizontales y verticales de los impactos. Colectivamente registran los datos y deducen cómo la posición real en el suelo se convierte en una coordenada (x, y).</a:t>
                      </a:r>
                    </a:p>
                  </a:txBody>
                  <a:tcPr marL="24421" marR="24421" marT="16280" marB="16280" anchor="ctr"/>
                </a:tc>
                <a:extLst>
                  <a:ext uri="{0D108BD9-81ED-4DB2-BD59-A6C34878D82A}">
                    <a16:rowId xmlns:a16="http://schemas.microsoft.com/office/drawing/2014/main" val="11015457"/>
                  </a:ext>
                </a:extLst>
              </a:tr>
              <a:tr h="3600272">
                <a:tc>
                  <a:txBody>
                    <a:bodyPr/>
                    <a:lstStyle/>
                    <a:p>
                      <a:pPr rtl="0"/>
                      <a:r>
                        <a:rPr lang="es-MX" sz="1800" b="1">
                          <a:solidFill>
                            <a:srgbClr val="1F1F1F"/>
                          </a:solidFill>
                          <a:effectLst/>
                          <a:latin typeface="Arial" panose="020B0604020202020204" pitchFamily="34" charset="0"/>
                          <a:cs typeface="Arial" panose="020B0604020202020204" pitchFamily="34" charset="0"/>
                        </a:rPr>
                        <a:t>DESARROLLO</a:t>
                      </a:r>
                      <a:endParaRPr lang="es-MX" sz="1800">
                        <a:solidFill>
                          <a:srgbClr val="1F1F1F"/>
                        </a:solidFill>
                        <a:effectLst/>
                        <a:latin typeface="Arial" panose="020B0604020202020204" pitchFamily="34" charset="0"/>
                        <a:cs typeface="Arial" panose="020B0604020202020204" pitchFamily="34" charset="0"/>
                      </a:endParaRPr>
                    </a:p>
                  </a:txBody>
                  <a:tcPr marL="24421" marR="24421" marT="16280" marB="16280" anchor="ctr"/>
                </a:tc>
                <a:tc>
                  <a:txBody>
                    <a:bodyPr/>
                    <a:lstStyle/>
                    <a:p>
                      <a:pPr rtl="0"/>
                      <a:r>
                        <a:rPr lang="es-MX" sz="1800" b="1">
                          <a:solidFill>
                            <a:srgbClr val="1F1F1F"/>
                          </a:solidFill>
                          <a:effectLst/>
                          <a:latin typeface="Arial" panose="020B0604020202020204" pitchFamily="34" charset="0"/>
                          <a:cs typeface="Arial" panose="020B0604020202020204" pitchFamily="34" charset="0"/>
                        </a:rPr>
                        <a:t>Aprender a modelar trayectorias y calcular distancias:</a:t>
                      </a:r>
                      <a:endParaRPr lang="es-MX" sz="1800">
                        <a:solidFill>
                          <a:srgbClr val="1F1F1F"/>
                        </a:solidFill>
                        <a:effectLst/>
                        <a:latin typeface="Arial" panose="020B0604020202020204" pitchFamily="34" charset="0"/>
                        <a:cs typeface="Arial" panose="020B0604020202020204" pitchFamily="34" charset="0"/>
                      </a:endParaRPr>
                    </a:p>
                    <a:p>
                      <a:pPr rtl="0"/>
                      <a:br>
                        <a:rPr lang="es-MX" sz="1800">
                          <a:solidFill>
                            <a:srgbClr val="1F1F1F"/>
                          </a:solidFill>
                          <a:effectLst/>
                          <a:latin typeface="Arial" panose="020B0604020202020204" pitchFamily="34" charset="0"/>
                          <a:cs typeface="Arial" panose="020B0604020202020204" pitchFamily="34" charset="0"/>
                        </a:rPr>
                      </a:br>
                      <a:r>
                        <a:rPr lang="es-MX" sz="1800">
                          <a:solidFill>
                            <a:srgbClr val="1F1F1F"/>
                          </a:solidFill>
                          <a:effectLst/>
                          <a:latin typeface="Arial" panose="020B0604020202020204" pitchFamily="34" charset="0"/>
                          <a:cs typeface="Arial" panose="020B0604020202020204" pitchFamily="34" charset="0"/>
                        </a:rPr>
                        <a:t>Que logres descubrir cómo usar las coordenadas de una tabla para encontrar la separación en línea recta entre dos impactos en el plano, pasando de la medición física al análisis matemático exacto.</a:t>
                      </a:r>
                    </a:p>
                  </a:txBody>
                  <a:tcPr marL="24421" marR="24421" marT="16280" marB="16280" anchor="ctr"/>
                </a:tc>
                <a:tc>
                  <a:txBody>
                    <a:bodyPr/>
                    <a:lstStyle/>
                    <a:p>
                      <a:pPr rtl="0"/>
                      <a:r>
                        <a:rPr lang="es-MX" sz="1800" b="1">
                          <a:solidFill>
                            <a:srgbClr val="1F1F1F"/>
                          </a:solidFill>
                          <a:effectLst/>
                          <a:latin typeface="Arial" panose="020B0604020202020204" pitchFamily="34" charset="0"/>
                          <a:cs typeface="Arial" panose="020B0604020202020204" pitchFamily="34" charset="0"/>
                        </a:rPr>
                        <a:t>Trabajo con Ficha Impresa (Págs. 91 a 94):</a:t>
                      </a:r>
                      <a:r>
                        <a:rPr lang="es-MX" sz="1800">
                          <a:solidFill>
                            <a:srgbClr val="1F1F1F"/>
                          </a:solidFill>
                          <a:effectLst/>
                          <a:latin typeface="Arial" panose="020B0604020202020204" pitchFamily="34" charset="0"/>
                          <a:cs typeface="Arial" panose="020B0604020202020204" pitchFamily="34" charset="0"/>
                        </a:rPr>
                        <a:t> Los alumnos resuelven en equipos las actividades del cuadernillo:</a:t>
                      </a:r>
                    </a:p>
                    <a:p>
                      <a:pPr rtl="0"/>
                      <a:br>
                        <a:rPr lang="es-MX" sz="1800">
                          <a:solidFill>
                            <a:srgbClr val="1F1F1F"/>
                          </a:solidFill>
                          <a:effectLst/>
                          <a:latin typeface="Arial" panose="020B0604020202020204" pitchFamily="34" charset="0"/>
                          <a:cs typeface="Arial" panose="020B0604020202020204" pitchFamily="34" charset="0"/>
                        </a:rPr>
                      </a:br>
                      <a:br>
                        <a:rPr lang="es-MX" sz="1800">
                          <a:solidFill>
                            <a:srgbClr val="1F1F1F"/>
                          </a:solidFill>
                          <a:effectLst/>
                          <a:latin typeface="Arial" panose="020B0604020202020204" pitchFamily="34" charset="0"/>
                          <a:cs typeface="Arial" panose="020B0604020202020204" pitchFamily="34" charset="0"/>
                        </a:rPr>
                      </a:br>
                      <a:r>
                        <a:rPr lang="es-MX" sz="1800">
                          <a:solidFill>
                            <a:srgbClr val="1F1F1F"/>
                          </a:solidFill>
                          <a:effectLst/>
                          <a:latin typeface="Arial" panose="020B0604020202020204" pitchFamily="34" charset="0"/>
                          <a:cs typeface="Arial" panose="020B0604020202020204" pitchFamily="34" charset="0"/>
                        </a:rPr>
                        <a:t>1. Identifican y ubican las coordenadas de los proyectiles en el plano cartesiano (Pág. 91).</a:t>
                      </a:r>
                    </a:p>
                    <a:p>
                      <a:pPr rtl="0"/>
                      <a:br>
                        <a:rPr lang="es-MX" sz="1800">
                          <a:solidFill>
                            <a:srgbClr val="1F1F1F"/>
                          </a:solidFill>
                          <a:effectLst/>
                          <a:latin typeface="Arial" panose="020B0604020202020204" pitchFamily="34" charset="0"/>
                          <a:cs typeface="Arial" panose="020B0604020202020204" pitchFamily="34" charset="0"/>
                        </a:rPr>
                      </a:br>
                      <a:r>
                        <a:rPr lang="es-MX" sz="1800">
                          <a:solidFill>
                            <a:srgbClr val="1F1F1F"/>
                          </a:solidFill>
                          <a:effectLst/>
                          <a:latin typeface="Arial" panose="020B0604020202020204" pitchFamily="34" charset="0"/>
                          <a:cs typeface="Arial" panose="020B0604020202020204" pitchFamily="34" charset="0"/>
                        </a:rPr>
                        <a:t>2. Analizan cómo las trayectorias inclinadas forman un triángulo visual en el plano para entender el concepto de longitud (Pág. 92).</a:t>
                      </a:r>
                    </a:p>
                    <a:p>
                      <a:pPr rtl="0"/>
                      <a:br>
                        <a:rPr lang="es-MX" sz="1800">
                          <a:solidFill>
                            <a:srgbClr val="1F1F1F"/>
                          </a:solidFill>
                          <a:effectLst/>
                          <a:latin typeface="Arial" panose="020B0604020202020204" pitchFamily="34" charset="0"/>
                          <a:cs typeface="Arial" panose="020B0604020202020204" pitchFamily="34" charset="0"/>
                        </a:rPr>
                      </a:br>
                      <a:r>
                        <a:rPr lang="es-MX" sz="1800">
                          <a:solidFill>
                            <a:srgbClr val="1F1F1F"/>
                          </a:solidFill>
                          <a:effectLst/>
                          <a:latin typeface="Arial" panose="020B0604020202020204" pitchFamily="34" charset="0"/>
                          <a:cs typeface="Arial" panose="020B0604020202020204" pitchFamily="34" charset="0"/>
                        </a:rPr>
                        <a:t>3. Resuelven ejercicios prácticos calculando distancias horizontales, verticales y oblicuas (Pág. 93).</a:t>
                      </a:r>
                    </a:p>
                    <a:p>
                      <a:pPr rtl="0"/>
                      <a:br>
                        <a:rPr lang="es-MX" sz="1800">
                          <a:solidFill>
                            <a:srgbClr val="1F1F1F"/>
                          </a:solidFill>
                          <a:effectLst/>
                          <a:latin typeface="Arial" panose="020B0604020202020204" pitchFamily="34" charset="0"/>
                          <a:cs typeface="Arial" panose="020B0604020202020204" pitchFamily="34" charset="0"/>
                        </a:rPr>
                      </a:br>
                      <a:r>
                        <a:rPr lang="es-MX" sz="1800">
                          <a:solidFill>
                            <a:srgbClr val="1F1F1F"/>
                          </a:solidFill>
                          <a:effectLst/>
                          <a:latin typeface="Arial" panose="020B0604020202020204" pitchFamily="34" charset="0"/>
                          <a:cs typeface="Arial" panose="020B0604020202020204" pitchFamily="34" charset="0"/>
                        </a:rPr>
                        <a:t>4. Desarrollan problemas aplicados para consolidar los cálculos de forma autónoma.</a:t>
                      </a:r>
                    </a:p>
                  </a:txBody>
                  <a:tcPr marL="24421" marR="24421" marT="16280" marB="16280" anchor="ctr"/>
                </a:tc>
                <a:extLst>
                  <a:ext uri="{0D108BD9-81ED-4DB2-BD59-A6C34878D82A}">
                    <a16:rowId xmlns:a16="http://schemas.microsoft.com/office/drawing/2014/main" val="3847027754"/>
                  </a:ext>
                </a:extLst>
              </a:tr>
              <a:tr h="3478368">
                <a:tc>
                  <a:txBody>
                    <a:bodyPr/>
                    <a:lstStyle/>
                    <a:p>
                      <a:pPr rtl="0"/>
                      <a:r>
                        <a:rPr lang="es-MX" sz="1800" b="1">
                          <a:solidFill>
                            <a:srgbClr val="1F1F1F"/>
                          </a:solidFill>
                          <a:effectLst/>
                          <a:latin typeface="Arial" panose="020B0604020202020204" pitchFamily="34" charset="0"/>
                          <a:cs typeface="Arial" panose="020B0604020202020204" pitchFamily="34" charset="0"/>
                        </a:rPr>
                        <a:t>CIERRE</a:t>
                      </a:r>
                      <a:endParaRPr lang="es-MX" sz="1800">
                        <a:solidFill>
                          <a:srgbClr val="1F1F1F"/>
                        </a:solidFill>
                        <a:effectLst/>
                        <a:latin typeface="Arial" panose="020B0604020202020204" pitchFamily="34" charset="0"/>
                        <a:cs typeface="Arial" panose="020B0604020202020204" pitchFamily="34" charset="0"/>
                      </a:endParaRPr>
                    </a:p>
                  </a:txBody>
                  <a:tcPr marL="24421" marR="24421" marT="16280" marB="16280" anchor="ctr"/>
                </a:tc>
                <a:tc>
                  <a:txBody>
                    <a:bodyPr/>
                    <a:lstStyle/>
                    <a:p>
                      <a:pPr rtl="0"/>
                      <a:r>
                        <a:rPr lang="es-MX" sz="1800" b="1">
                          <a:solidFill>
                            <a:srgbClr val="1F1F1F"/>
                          </a:solidFill>
                          <a:effectLst/>
                          <a:latin typeface="Arial" panose="020B0604020202020204" pitchFamily="34" charset="0"/>
                          <a:cs typeface="Arial" panose="020B0604020202020204" pitchFamily="34" charset="0"/>
                        </a:rPr>
                        <a:t>Aprender a evaluar y validar tus procesos:</a:t>
                      </a:r>
                      <a:endParaRPr lang="es-MX" sz="1800">
                        <a:solidFill>
                          <a:srgbClr val="1F1F1F"/>
                        </a:solidFill>
                        <a:effectLst/>
                        <a:latin typeface="Arial" panose="020B0604020202020204" pitchFamily="34" charset="0"/>
                        <a:cs typeface="Arial" panose="020B0604020202020204" pitchFamily="34" charset="0"/>
                      </a:endParaRPr>
                    </a:p>
                    <a:p>
                      <a:pPr rtl="0"/>
                      <a:br>
                        <a:rPr lang="es-MX" sz="1800">
                          <a:solidFill>
                            <a:srgbClr val="1F1F1F"/>
                          </a:solidFill>
                          <a:effectLst/>
                          <a:latin typeface="Arial" panose="020B0604020202020204" pitchFamily="34" charset="0"/>
                          <a:cs typeface="Arial" panose="020B0604020202020204" pitchFamily="34" charset="0"/>
                        </a:rPr>
                      </a:br>
                      <a:r>
                        <a:rPr lang="es-MX" sz="1800">
                          <a:solidFill>
                            <a:srgbClr val="1F1F1F"/>
                          </a:solidFill>
                          <a:effectLst/>
                          <a:latin typeface="Arial" panose="020B0604020202020204" pitchFamily="34" charset="0"/>
                          <a:cs typeface="Arial" panose="020B0604020202020204" pitchFamily="34" charset="0"/>
                        </a:rPr>
                        <a:t>Que logres consolidar la habilidad de verificar tus resultados matemáticos contrastando la teoría con la práctica, perdiendo el temor a la abstracción geométrica mediante la autoevaluación.</a:t>
                      </a:r>
                    </a:p>
                  </a:txBody>
                  <a:tcPr marL="24421" marR="24421" marT="16280" marB="16280" anchor="ctr"/>
                </a:tc>
                <a:tc>
                  <a:txBody>
                    <a:bodyPr/>
                    <a:lstStyle/>
                    <a:p>
                      <a:pPr rtl="0"/>
                      <a:r>
                        <a:rPr lang="es-MX" sz="1800" b="1" dirty="0">
                          <a:solidFill>
                            <a:srgbClr val="1F1F1F"/>
                          </a:solidFill>
                          <a:effectLst/>
                          <a:latin typeface="Arial" panose="020B0604020202020204" pitchFamily="34" charset="0"/>
                          <a:cs typeface="Arial" panose="020B0604020202020204" pitchFamily="34" charset="0"/>
                        </a:rPr>
                        <a:t>Cierre en dos tiempos formativos:</a:t>
                      </a:r>
                      <a:endParaRPr lang="es-MX" sz="1800" dirty="0">
                        <a:solidFill>
                          <a:srgbClr val="1F1F1F"/>
                        </a:solidFill>
                        <a:effectLst/>
                        <a:latin typeface="Arial" panose="020B0604020202020204" pitchFamily="34" charset="0"/>
                        <a:cs typeface="Arial" panose="020B0604020202020204" pitchFamily="34" charset="0"/>
                      </a:endParaRPr>
                    </a:p>
                    <a:p>
                      <a:pPr rtl="0"/>
                      <a:br>
                        <a:rPr lang="es-MX" sz="1800" dirty="0">
                          <a:solidFill>
                            <a:srgbClr val="1F1F1F"/>
                          </a:solidFill>
                          <a:effectLst/>
                          <a:latin typeface="Arial" panose="020B0604020202020204" pitchFamily="34" charset="0"/>
                          <a:cs typeface="Arial" panose="020B0604020202020204" pitchFamily="34" charset="0"/>
                        </a:rPr>
                      </a:br>
                      <a:br>
                        <a:rPr lang="es-MX" sz="1800" dirty="0">
                          <a:solidFill>
                            <a:srgbClr val="1F1F1F"/>
                          </a:solidFill>
                          <a:effectLst/>
                          <a:latin typeface="Arial" panose="020B0604020202020204" pitchFamily="34" charset="0"/>
                          <a:cs typeface="Arial" panose="020B0604020202020204" pitchFamily="34" charset="0"/>
                        </a:rPr>
                      </a:br>
                      <a:r>
                        <a:rPr lang="es-MX" sz="1800" dirty="0">
                          <a:solidFill>
                            <a:srgbClr val="1F1F1F"/>
                          </a:solidFill>
                          <a:effectLst/>
                          <a:latin typeface="Arial" panose="020B0604020202020204" pitchFamily="34" charset="0"/>
                          <a:cs typeface="Arial" panose="020B0604020202020204" pitchFamily="34" charset="0"/>
                        </a:rPr>
                        <a:t>1. </a:t>
                      </a:r>
                      <a:r>
                        <a:rPr lang="es-MX" sz="1800" b="1" dirty="0">
                          <a:solidFill>
                            <a:srgbClr val="1F1F1F"/>
                          </a:solidFill>
                          <a:effectLst/>
                          <a:latin typeface="Arial" panose="020B0604020202020204" pitchFamily="34" charset="0"/>
                          <a:cs typeface="Arial" panose="020B0604020202020204" pitchFamily="34" charset="0"/>
                        </a:rPr>
                        <a:t>Confrontación de Datos (Práctica):</a:t>
                      </a:r>
                      <a:r>
                        <a:rPr lang="es-MX" sz="1800" dirty="0">
                          <a:solidFill>
                            <a:srgbClr val="1F1F1F"/>
                          </a:solidFill>
                          <a:effectLst/>
                          <a:latin typeface="Arial" panose="020B0604020202020204" pitchFamily="34" charset="0"/>
                          <a:cs typeface="Arial" panose="020B0604020202020204" pitchFamily="34" charset="0"/>
                        </a:rPr>
                        <a:t> Los equipos comparan la distancia matemática que calcularon en su libreta entre el Punto A y el Punto B con la distancia real que midieron en el suelo con la cinta métrica, validando la precisión de su trabajo frente al grupo.</a:t>
                      </a:r>
                    </a:p>
                    <a:p>
                      <a:pPr rtl="0"/>
                      <a:br>
                        <a:rPr lang="es-MX" sz="1800" dirty="0">
                          <a:solidFill>
                            <a:srgbClr val="1F1F1F"/>
                          </a:solidFill>
                          <a:effectLst/>
                          <a:latin typeface="Arial" panose="020B0604020202020204" pitchFamily="34" charset="0"/>
                          <a:cs typeface="Arial" panose="020B0604020202020204" pitchFamily="34" charset="0"/>
                        </a:rPr>
                      </a:br>
                      <a:br>
                        <a:rPr lang="es-MX" sz="1800" dirty="0">
                          <a:solidFill>
                            <a:srgbClr val="1F1F1F"/>
                          </a:solidFill>
                          <a:effectLst/>
                          <a:latin typeface="Arial" panose="020B0604020202020204" pitchFamily="34" charset="0"/>
                          <a:cs typeface="Arial" panose="020B0604020202020204" pitchFamily="34" charset="0"/>
                        </a:rPr>
                      </a:br>
                      <a:r>
                        <a:rPr lang="es-MX" sz="1800" dirty="0">
                          <a:solidFill>
                            <a:srgbClr val="1F1F1F"/>
                          </a:solidFill>
                          <a:effectLst/>
                          <a:latin typeface="Arial" panose="020B0604020202020204" pitchFamily="34" charset="0"/>
                          <a:cs typeface="Arial" panose="020B0604020202020204" pitchFamily="34" charset="0"/>
                        </a:rPr>
                        <a:t>2. </a:t>
                      </a:r>
                      <a:r>
                        <a:rPr lang="es-MX" sz="1800" b="1" dirty="0">
                          <a:solidFill>
                            <a:srgbClr val="1F1F1F"/>
                          </a:solidFill>
                          <a:effectLst/>
                          <a:latin typeface="Arial" panose="020B0604020202020204" pitchFamily="34" charset="0"/>
                          <a:cs typeface="Arial" panose="020B0604020202020204" pitchFamily="34" charset="0"/>
                        </a:rPr>
                        <a:t>Autoevaluación del Cuadernillo (Pág. 94):</a:t>
                      </a:r>
                      <a:r>
                        <a:rPr lang="es-MX" sz="1800" dirty="0">
                          <a:solidFill>
                            <a:srgbClr val="1F1F1F"/>
                          </a:solidFill>
                          <a:effectLst/>
                          <a:latin typeface="Arial" panose="020B0604020202020204" pitchFamily="34" charset="0"/>
                          <a:cs typeface="Arial" panose="020B0604020202020204" pitchFamily="34" charset="0"/>
                        </a:rPr>
                        <a:t> De forma individual, responden los reactivos de la sección final del cuadernillo para medir su propio avance y llenan la lista de cotejo para identificar qué puntos necesitan reforzar.</a:t>
                      </a:r>
                    </a:p>
                  </a:txBody>
                  <a:tcPr marL="24421" marR="24421" marT="16280" marB="16280" anchor="ctr"/>
                </a:tc>
                <a:extLst>
                  <a:ext uri="{0D108BD9-81ED-4DB2-BD59-A6C34878D82A}">
                    <a16:rowId xmlns:a16="http://schemas.microsoft.com/office/drawing/2014/main" val="3438917684"/>
                  </a:ext>
                </a:extLst>
              </a:tr>
            </a:tbl>
          </a:graphicData>
        </a:graphic>
      </p:graphicFrame>
    </p:spTree>
    <p:extLst>
      <p:ext uri="{BB962C8B-B14F-4D97-AF65-F5344CB8AC3E}">
        <p14:creationId xmlns:p14="http://schemas.microsoft.com/office/powerpoint/2010/main" val="1790795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graphicFrame>
        <p:nvGraphicFramePr>
          <p:cNvPr id="5" name="Tabla 4">
            <a:extLst>
              <a:ext uri="{FF2B5EF4-FFF2-40B4-BE49-F238E27FC236}">
                <a16:creationId xmlns:a16="http://schemas.microsoft.com/office/drawing/2014/main" id="{D3E579F7-A9E6-4D14-9163-D78DA97DA85D}"/>
              </a:ext>
            </a:extLst>
          </p:cNvPr>
          <p:cNvGraphicFramePr>
            <a:graphicFrameLocks noGrp="1"/>
          </p:cNvGraphicFramePr>
          <p:nvPr>
            <p:extLst>
              <p:ext uri="{D42A27DB-BD31-4B8C-83A1-F6EECF244321}">
                <p14:modId xmlns:p14="http://schemas.microsoft.com/office/powerpoint/2010/main" val="2053619405"/>
              </p:ext>
            </p:extLst>
          </p:nvPr>
        </p:nvGraphicFramePr>
        <p:xfrm>
          <a:off x="1524000" y="264876"/>
          <a:ext cx="15874530" cy="9520104"/>
        </p:xfrm>
        <a:graphic>
          <a:graphicData uri="http://schemas.openxmlformats.org/drawingml/2006/table">
            <a:tbl>
              <a:tblPr>
                <a:tableStyleId>{08FB837D-C827-4EFA-A057-4D05807E0F7C}</a:tableStyleId>
              </a:tblPr>
              <a:tblGrid>
                <a:gridCol w="3810000">
                  <a:extLst>
                    <a:ext uri="{9D8B030D-6E8A-4147-A177-3AD203B41FA5}">
                      <a16:colId xmlns:a16="http://schemas.microsoft.com/office/drawing/2014/main" val="722905191"/>
                    </a:ext>
                  </a:extLst>
                </a:gridCol>
                <a:gridCol w="12064530">
                  <a:extLst>
                    <a:ext uri="{9D8B030D-6E8A-4147-A177-3AD203B41FA5}">
                      <a16:colId xmlns:a16="http://schemas.microsoft.com/office/drawing/2014/main" val="3397350978"/>
                    </a:ext>
                  </a:extLst>
                </a:gridCol>
              </a:tblGrid>
              <a:tr h="195717">
                <a:tc>
                  <a:txBody>
                    <a:bodyPr/>
                    <a:lstStyle/>
                    <a:p>
                      <a:pPr rtl="0"/>
                      <a:r>
                        <a:rPr lang="es-MX" sz="2000" b="1">
                          <a:solidFill>
                            <a:srgbClr val="1F1F1F"/>
                          </a:solidFill>
                          <a:effectLst/>
                        </a:rPr>
                        <a:t>Eje Articulador</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tc>
                  <a:txBody>
                    <a:bodyPr/>
                    <a:lstStyle/>
                    <a:p>
                      <a:pPr rtl="0"/>
                      <a:r>
                        <a:rPr lang="es-MX" sz="2000" b="1">
                          <a:solidFill>
                            <a:srgbClr val="1F1F1F"/>
                          </a:solidFill>
                          <a:effectLst/>
                        </a:rPr>
                        <a:t>Puesta en Práctica en la Secuencia</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extLst>
                  <a:ext uri="{0D108BD9-81ED-4DB2-BD59-A6C34878D82A}">
                    <a16:rowId xmlns:a16="http://schemas.microsoft.com/office/drawing/2014/main" val="2504648883"/>
                  </a:ext>
                </a:extLst>
              </a:tr>
              <a:tr h="1366747">
                <a:tc>
                  <a:txBody>
                    <a:bodyPr/>
                    <a:lstStyle/>
                    <a:p>
                      <a:pPr rtl="0"/>
                      <a:r>
                        <a:rPr lang="es-MX" sz="2000" b="1">
                          <a:solidFill>
                            <a:srgbClr val="1F1F1F"/>
                          </a:solidFill>
                          <a:effectLst/>
                        </a:rPr>
                        <a:t>Inclusión</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tc>
                  <a:txBody>
                    <a:bodyPr/>
                    <a:lstStyle/>
                    <a:p>
                      <a:pPr rtl="0"/>
                      <a:r>
                        <a:rPr lang="es-MX" sz="2000">
                          <a:solidFill>
                            <a:srgbClr val="1F1F1F"/>
                          </a:solidFill>
                          <a:effectLst/>
                        </a:rPr>
                        <a:t>Se manifiesta al permitir que cada alumno participe desde su propia intuición espacial (ya sea lanzando, midiendo con cinta o registrando), eliminando barreras de aprendizaje al ofrecer un andamiaje visual y concreto en el plano cartesiano que permite a todos integrarse activamente sin importar su nivel de abstracción inicial.</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extLst>
                  <a:ext uri="{0D108BD9-81ED-4DB2-BD59-A6C34878D82A}">
                    <a16:rowId xmlns:a16="http://schemas.microsoft.com/office/drawing/2014/main" val="1120518029"/>
                  </a:ext>
                </a:extLst>
              </a:tr>
              <a:tr h="1366747">
                <a:tc>
                  <a:txBody>
                    <a:bodyPr/>
                    <a:lstStyle/>
                    <a:p>
                      <a:pPr rtl="0"/>
                      <a:r>
                        <a:rPr lang="es-MX" sz="2000" b="1">
                          <a:solidFill>
                            <a:srgbClr val="1F1F1F"/>
                          </a:solidFill>
                          <a:effectLst/>
                        </a:rPr>
                        <a:t>Pensamiento crítico</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tc>
                  <a:txBody>
                    <a:bodyPr/>
                    <a:lstStyle/>
                    <a:p>
                      <a:pPr rtl="0"/>
                      <a:r>
                        <a:rPr lang="es-MX" sz="2000" dirty="0">
                          <a:solidFill>
                            <a:srgbClr val="1F1F1F"/>
                          </a:solidFill>
                          <a:effectLst/>
                        </a:rPr>
                        <a:t>Se activa cuando el alumno debe cuestionar la suficiencia de las herramientas analógicas (la cinta métrica) e interrogar las coordenadas de la tabla para deducir un método de cálculo de distancias oblicuas, argumentando y validando el porqué de sus procedimientos en lugar de memorizar una fórmula de forma mecánica.</a:t>
                      </a:r>
                      <a:endParaRPr lang="es-MX" sz="2000" dirty="0">
                        <a:solidFill>
                          <a:srgbClr val="1F1F1F"/>
                        </a:solidFill>
                        <a:effectLst/>
                        <a:latin typeface="Arial" panose="020B0604020202020204" pitchFamily="34" charset="0"/>
                        <a:cs typeface="Arial" panose="020B0604020202020204" pitchFamily="34" charset="0"/>
                      </a:endParaRPr>
                    </a:p>
                  </a:txBody>
                  <a:tcPr marL="28816" marR="28816" marT="19210" marB="19210" anchor="ctr"/>
                </a:tc>
                <a:extLst>
                  <a:ext uri="{0D108BD9-81ED-4DB2-BD59-A6C34878D82A}">
                    <a16:rowId xmlns:a16="http://schemas.microsoft.com/office/drawing/2014/main" val="197195328"/>
                  </a:ext>
                </a:extLst>
              </a:tr>
              <a:tr h="1366747">
                <a:tc>
                  <a:txBody>
                    <a:bodyPr/>
                    <a:lstStyle/>
                    <a:p>
                      <a:pPr rtl="0"/>
                      <a:r>
                        <a:rPr lang="es-MX" sz="2000" b="1">
                          <a:solidFill>
                            <a:srgbClr val="1F1F1F"/>
                          </a:solidFill>
                          <a:effectLst/>
                        </a:rPr>
                        <a:t>Interculturalidad crítica</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tc>
                  <a:txBody>
                    <a:bodyPr/>
                    <a:lstStyle/>
                    <a:p>
                      <a:pPr rtl="0"/>
                      <a:r>
                        <a:rPr lang="es-MX" sz="2000">
                          <a:solidFill>
                            <a:srgbClr val="1F1F1F"/>
                          </a:solidFill>
                          <a:effectLst/>
                        </a:rPr>
                        <a:t>Se promueve al analizar cómo la necesidad humana de orientarse, medir el espacio y delimitar trayectorias ha estado presente en el desarrollo de la humanidad, valorando la cartografía y el plano cartesiano no como verdades absolutas, sino como saberes y herramientas colectivas construidas para entender el entorno.</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extLst>
                  <a:ext uri="{0D108BD9-81ED-4DB2-BD59-A6C34878D82A}">
                    <a16:rowId xmlns:a16="http://schemas.microsoft.com/office/drawing/2014/main" val="2182891080"/>
                  </a:ext>
                </a:extLst>
              </a:tr>
              <a:tr h="1236632">
                <a:tc>
                  <a:txBody>
                    <a:bodyPr/>
                    <a:lstStyle/>
                    <a:p>
                      <a:pPr rtl="0"/>
                      <a:r>
                        <a:rPr lang="es-MX" sz="2000" b="1">
                          <a:solidFill>
                            <a:srgbClr val="1F1F1F"/>
                          </a:solidFill>
                          <a:effectLst/>
                        </a:rPr>
                        <a:t>Igualdad de género</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tc>
                  <a:txBody>
                    <a:bodyPr/>
                    <a:lstStyle/>
                    <a:p>
                      <a:pPr rtl="0"/>
                      <a:r>
                        <a:rPr lang="es-MX" sz="2000">
                          <a:solidFill>
                            <a:srgbClr val="1F1F1F"/>
                          </a:solidFill>
                          <a:effectLst/>
                        </a:rPr>
                        <a:t>Se fomenta al organizar los equipos de trabajo para el lanzamiento, la medición en el suelo y el registro de datos por igual, asegurando activamente que tanto mujeres como hombres lideren la manipulación de la catapulta, la toma de decisiones espaciales y la exposición de resultados matemáticos.</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extLst>
                  <a:ext uri="{0D108BD9-81ED-4DB2-BD59-A6C34878D82A}">
                    <a16:rowId xmlns:a16="http://schemas.microsoft.com/office/drawing/2014/main" val="2374074496"/>
                  </a:ext>
                </a:extLst>
              </a:tr>
              <a:tr h="1366747">
                <a:tc>
                  <a:txBody>
                    <a:bodyPr/>
                    <a:lstStyle/>
                    <a:p>
                      <a:pPr rtl="0"/>
                      <a:r>
                        <a:rPr lang="es-MX" sz="2000" b="1">
                          <a:solidFill>
                            <a:srgbClr val="1F1F1F"/>
                          </a:solidFill>
                          <a:effectLst/>
                        </a:rPr>
                        <a:t>Vida saludable</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tc>
                  <a:txBody>
                    <a:bodyPr/>
                    <a:lstStyle/>
                    <a:p>
                      <a:pPr rtl="0"/>
                      <a:r>
                        <a:rPr lang="es-MX" sz="2000">
                          <a:solidFill>
                            <a:srgbClr val="1F1F1F"/>
                          </a:solidFill>
                          <a:effectLst/>
                        </a:rPr>
                        <a:t>Se pone en práctica al dosificar los momentos de la sesión, combinando el movimiento físico y la motricidad gruesa en el patio (dinámica del lanzamiento) con el trabajo sedentario de análisis en el cuadernillo, lo que reduce el estrés y la ansiedad matemática, favoreciendo el bienestar socioemocional del estudiante dentro del aula.</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extLst>
                  <a:ext uri="{0D108BD9-81ED-4DB2-BD59-A6C34878D82A}">
                    <a16:rowId xmlns:a16="http://schemas.microsoft.com/office/drawing/2014/main" val="1293509265"/>
                  </a:ext>
                </a:extLst>
              </a:tr>
              <a:tr h="1236632">
                <a:tc>
                  <a:txBody>
                    <a:bodyPr/>
                    <a:lstStyle/>
                    <a:p>
                      <a:pPr rtl="0"/>
                      <a:r>
                        <a:rPr lang="es-MX" sz="2000" b="1">
                          <a:solidFill>
                            <a:srgbClr val="1F1F1F"/>
                          </a:solidFill>
                          <a:effectLst/>
                        </a:rPr>
                        <a:t>Artes y experiencias estéticas</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tc>
                  <a:txBody>
                    <a:bodyPr/>
                    <a:lstStyle/>
                    <a:p>
                      <a:pPr rtl="0"/>
                      <a:r>
                        <a:rPr lang="es-MX" sz="2000">
                          <a:solidFill>
                            <a:srgbClr val="1F1F1F"/>
                          </a:solidFill>
                          <a:effectLst/>
                        </a:rPr>
                        <a:t>Se ejerce en la representación gráfica del plano cartesiano y el trazado geométrico de las trayectorias de impacto, donde el alumno utiliza la percepción visual, la simetría y el dibujo de líneas para plasmar de forma limpia, limpia y estructurada el movimiento dinámico del proyectil en un espacio bidimensional.</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extLst>
                  <a:ext uri="{0D108BD9-81ED-4DB2-BD59-A6C34878D82A}">
                    <a16:rowId xmlns:a16="http://schemas.microsoft.com/office/drawing/2014/main" val="931137361"/>
                  </a:ext>
                </a:extLst>
              </a:tr>
              <a:tr h="1236632">
                <a:tc>
                  <a:txBody>
                    <a:bodyPr/>
                    <a:lstStyle/>
                    <a:p>
                      <a:pPr rtl="0"/>
                      <a:r>
                        <a:rPr lang="es-MX" sz="2000" b="1">
                          <a:solidFill>
                            <a:srgbClr val="1F1F1F"/>
                          </a:solidFill>
                          <a:effectLst/>
                        </a:rPr>
                        <a:t>Apropiación de las culturas a través de la lectura y la escritura</a:t>
                      </a:r>
                      <a:endParaRPr lang="es-MX" sz="2000">
                        <a:solidFill>
                          <a:srgbClr val="1F1F1F"/>
                        </a:solidFill>
                        <a:effectLst/>
                        <a:latin typeface="Arial" panose="020B0604020202020204" pitchFamily="34" charset="0"/>
                        <a:cs typeface="Arial" panose="020B0604020202020204" pitchFamily="34" charset="0"/>
                      </a:endParaRPr>
                    </a:p>
                  </a:txBody>
                  <a:tcPr marL="28816" marR="28816" marT="19210" marB="19210" anchor="ctr"/>
                </a:tc>
                <a:tc>
                  <a:txBody>
                    <a:bodyPr/>
                    <a:lstStyle/>
                    <a:p>
                      <a:pPr rtl="0"/>
                      <a:r>
                        <a:rPr lang="es-MX" sz="2000" dirty="0">
                          <a:solidFill>
                            <a:srgbClr val="1F1F1F"/>
                          </a:solidFill>
                          <a:effectLst/>
                        </a:rPr>
                        <a:t>Se desarrolla al analizar y desmenuzar las situaciones de aprendizaje de las páginas 91 a la 94 del cuadernillo, donde el alumno decodifica enunciados y tablas matemáticas para escribir y argumentar sus propias conclusiones, conectando los símbolos abstractos del plano con la realidad de la experiencia vivida.</a:t>
                      </a:r>
                      <a:endParaRPr lang="es-MX" sz="2000" dirty="0">
                        <a:solidFill>
                          <a:srgbClr val="1F1F1F"/>
                        </a:solidFill>
                        <a:effectLst/>
                        <a:latin typeface="Arial" panose="020B0604020202020204" pitchFamily="34" charset="0"/>
                        <a:cs typeface="Arial" panose="020B0604020202020204" pitchFamily="34" charset="0"/>
                      </a:endParaRPr>
                    </a:p>
                  </a:txBody>
                  <a:tcPr marL="28816" marR="28816" marT="19210" marB="19210" anchor="ctr"/>
                </a:tc>
                <a:extLst>
                  <a:ext uri="{0D108BD9-81ED-4DB2-BD59-A6C34878D82A}">
                    <a16:rowId xmlns:a16="http://schemas.microsoft.com/office/drawing/2014/main" val="2397462520"/>
                  </a:ext>
                </a:extLst>
              </a:tr>
            </a:tbl>
          </a:graphicData>
        </a:graphic>
      </p:graphicFrame>
    </p:spTree>
    <p:extLst>
      <p:ext uri="{BB962C8B-B14F-4D97-AF65-F5344CB8AC3E}">
        <p14:creationId xmlns:p14="http://schemas.microsoft.com/office/powerpoint/2010/main" val="3160696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graphicFrame>
        <p:nvGraphicFramePr>
          <p:cNvPr id="3" name="Tabla 2">
            <a:extLst>
              <a:ext uri="{FF2B5EF4-FFF2-40B4-BE49-F238E27FC236}">
                <a16:creationId xmlns:a16="http://schemas.microsoft.com/office/drawing/2014/main" id="{6CB68AF9-557B-071C-EEAD-19C1E7BEC70F}"/>
              </a:ext>
            </a:extLst>
          </p:cNvPr>
          <p:cNvGraphicFramePr>
            <a:graphicFrameLocks noGrp="1"/>
          </p:cNvGraphicFramePr>
          <p:nvPr>
            <p:extLst>
              <p:ext uri="{D42A27DB-BD31-4B8C-83A1-F6EECF244321}">
                <p14:modId xmlns:p14="http://schemas.microsoft.com/office/powerpoint/2010/main" val="443885662"/>
              </p:ext>
            </p:extLst>
          </p:nvPr>
        </p:nvGraphicFramePr>
        <p:xfrm>
          <a:off x="1524000" y="419100"/>
          <a:ext cx="15773400" cy="9455104"/>
        </p:xfrm>
        <a:graphic>
          <a:graphicData uri="http://schemas.openxmlformats.org/drawingml/2006/table">
            <a:tbl>
              <a:tblPr>
                <a:tableStyleId>{69C7853C-536D-4A76-A0AE-DD22124D55A5}</a:tableStyleId>
              </a:tblPr>
              <a:tblGrid>
                <a:gridCol w="2514600">
                  <a:extLst>
                    <a:ext uri="{9D8B030D-6E8A-4147-A177-3AD203B41FA5}">
                      <a16:colId xmlns:a16="http://schemas.microsoft.com/office/drawing/2014/main" val="4280619600"/>
                    </a:ext>
                  </a:extLst>
                </a:gridCol>
                <a:gridCol w="4114800">
                  <a:extLst>
                    <a:ext uri="{9D8B030D-6E8A-4147-A177-3AD203B41FA5}">
                      <a16:colId xmlns:a16="http://schemas.microsoft.com/office/drawing/2014/main" val="3983924790"/>
                    </a:ext>
                  </a:extLst>
                </a:gridCol>
                <a:gridCol w="9144000">
                  <a:extLst>
                    <a:ext uri="{9D8B030D-6E8A-4147-A177-3AD203B41FA5}">
                      <a16:colId xmlns:a16="http://schemas.microsoft.com/office/drawing/2014/main" val="1488040194"/>
                    </a:ext>
                  </a:extLst>
                </a:gridCol>
              </a:tblGrid>
              <a:tr h="301150">
                <a:tc>
                  <a:txBody>
                    <a:bodyPr/>
                    <a:lstStyle/>
                    <a:p>
                      <a:pPr algn="ctr" rtl="0"/>
                      <a:r>
                        <a:rPr lang="es-MX" sz="1800" b="1">
                          <a:solidFill>
                            <a:srgbClr val="1F1F1F"/>
                          </a:solidFill>
                          <a:effectLst/>
                        </a:rPr>
                        <a:t>Criterio</a:t>
                      </a:r>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tc>
                <a:tc>
                  <a:txBody>
                    <a:bodyPr/>
                    <a:lstStyle/>
                    <a:p>
                      <a:pPr algn="ctr" rtl="0"/>
                      <a:r>
                        <a:rPr lang="es-MX" sz="1800" b="1">
                          <a:solidFill>
                            <a:srgbClr val="1F1F1F"/>
                          </a:solidFill>
                          <a:effectLst/>
                        </a:rPr>
                        <a:t>Tipo / Momento</a:t>
                      </a:r>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tc>
                <a:tc>
                  <a:txBody>
                    <a:bodyPr/>
                    <a:lstStyle/>
                    <a:p>
                      <a:pPr algn="ctr" rtl="0"/>
                      <a:r>
                        <a:rPr lang="es-MX" sz="1800" b="1">
                          <a:solidFill>
                            <a:srgbClr val="1F1F1F"/>
                          </a:solidFill>
                          <a:effectLst/>
                        </a:rPr>
                        <a:t>Aplicación en la Secuencia</a:t>
                      </a:r>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tc>
                <a:extLst>
                  <a:ext uri="{0D108BD9-81ED-4DB2-BD59-A6C34878D82A}">
                    <a16:rowId xmlns:a16="http://schemas.microsoft.com/office/drawing/2014/main" val="3869704096"/>
                  </a:ext>
                </a:extLst>
              </a:tr>
              <a:tr h="1485142">
                <a:tc rowSpan="3">
                  <a:txBody>
                    <a:bodyPr/>
                    <a:lstStyle/>
                    <a:p>
                      <a:pPr algn="ctr" rtl="0"/>
                      <a:r>
                        <a:rPr lang="es-MX" sz="1800" b="1" dirty="0">
                          <a:solidFill>
                            <a:srgbClr val="1F1F1F"/>
                          </a:solidFill>
                          <a:effectLst/>
                        </a:rPr>
                        <a:t>Por sus Agentes</a:t>
                      </a:r>
                      <a:endParaRPr lang="es-MX" sz="1800" dirty="0">
                        <a:solidFill>
                          <a:srgbClr val="1F1F1F"/>
                        </a:solidFill>
                        <a:effectLst/>
                        <a:latin typeface="Arial" panose="020B0604020202020204" pitchFamily="34" charset="0"/>
                        <a:cs typeface="Arial" panose="020B0604020202020204" pitchFamily="34" charset="0"/>
                      </a:endParaRPr>
                    </a:p>
                  </a:txBody>
                  <a:tcPr marL="24850" marR="24850" marT="16566" marB="16566" vert="vert270" anchor="ctr"/>
                </a:tc>
                <a:tc>
                  <a:txBody>
                    <a:bodyPr/>
                    <a:lstStyle/>
                    <a:p>
                      <a:pPr algn="ctr" rtl="0"/>
                      <a:r>
                        <a:rPr lang="es-MX" sz="1800" b="1">
                          <a:solidFill>
                            <a:srgbClr val="1F1F1F"/>
                          </a:solidFill>
                          <a:effectLst/>
                        </a:rPr>
                        <a:t>Autoevaluación</a:t>
                      </a:r>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tc>
                <a:tc>
                  <a:txBody>
                    <a:bodyPr/>
                    <a:lstStyle/>
                    <a:p>
                      <a:pPr algn="ctr" rtl="0"/>
                      <a:r>
                        <a:rPr lang="es-MX" sz="1800">
                          <a:solidFill>
                            <a:srgbClr val="1F1F1F"/>
                          </a:solidFill>
                          <a:effectLst/>
                        </a:rPr>
                        <a:t>El alumno reflexiona sobre su propio desempeño y aprendizaje mediante la sección final de la página 94 del cuadernillo, identificando de manera honesta si logra ubicar coordenadas con precisión o si aún necesita apoyo pedagógico en el cálculo analítico.</a:t>
                      </a:r>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tc>
                <a:extLst>
                  <a:ext uri="{0D108BD9-81ED-4DB2-BD59-A6C34878D82A}">
                    <a16:rowId xmlns:a16="http://schemas.microsoft.com/office/drawing/2014/main" val="2797120469"/>
                  </a:ext>
                </a:extLst>
              </a:tr>
              <a:tr h="1603542">
                <a:tc vMerge="1">
                  <a:txBody>
                    <a:bodyPr/>
                    <a:lstStyle/>
                    <a:p>
                      <a:pPr rtl="0"/>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algn="ctr" rtl="0"/>
                      <a:r>
                        <a:rPr lang="es-MX" sz="1800" b="1">
                          <a:solidFill>
                            <a:srgbClr val="1F1F1F"/>
                          </a:solidFill>
                          <a:effectLst/>
                        </a:rPr>
                        <a:t>Coevaluación</a:t>
                      </a:r>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tc>
                <a:tc>
                  <a:txBody>
                    <a:bodyPr/>
                    <a:lstStyle/>
                    <a:p>
                      <a:pPr algn="ctr" rtl="0"/>
                      <a:r>
                        <a:rPr lang="es-MX" sz="1800" dirty="0">
                          <a:solidFill>
                            <a:srgbClr val="1F1F1F"/>
                          </a:solidFill>
                          <a:effectLst/>
                        </a:rPr>
                        <a:t>Se activa durante el trabajo en equipos al resolver las situaciones de aprendizaje del cuadernillo (páginas 91-93), donde los integrantes de las binas valoran mutuamente sus ideas para registrar las coordenadas de la catapulta y sus aportes al deducir métodos geométricos de medición.</a:t>
                      </a:r>
                      <a:endParaRPr lang="es-MX" sz="1800" dirty="0">
                        <a:solidFill>
                          <a:srgbClr val="1F1F1F"/>
                        </a:solidFill>
                        <a:effectLst/>
                        <a:latin typeface="Arial" panose="020B0604020202020204" pitchFamily="34" charset="0"/>
                        <a:cs typeface="Arial" panose="020B0604020202020204" pitchFamily="34" charset="0"/>
                      </a:endParaRPr>
                    </a:p>
                  </a:txBody>
                  <a:tcPr marL="24850" marR="24850" marT="16566" marB="16566" anchor="ctr"/>
                </a:tc>
                <a:extLst>
                  <a:ext uri="{0D108BD9-81ED-4DB2-BD59-A6C34878D82A}">
                    <a16:rowId xmlns:a16="http://schemas.microsoft.com/office/drawing/2014/main" val="3706831993"/>
                  </a:ext>
                </a:extLst>
              </a:tr>
              <a:tr h="1485142">
                <a:tc vMerge="1">
                  <a:txBody>
                    <a:bodyPr/>
                    <a:lstStyle/>
                    <a:p>
                      <a:pPr rtl="0"/>
                      <a:endParaRPr lang="es-MX" sz="1800" dirty="0">
                        <a:solidFill>
                          <a:srgbClr val="1F1F1F"/>
                        </a:solidFill>
                        <a:effectLst/>
                        <a:latin typeface="Arial" panose="020B0604020202020204" pitchFamily="34" charset="0"/>
                        <a:cs typeface="Arial" panose="020B0604020202020204" pitchFamily="34" charset="0"/>
                      </a:endParaRPr>
                    </a:p>
                  </a:txBody>
                  <a:tcPr marL="24850" marR="24850" marT="16566" marB="16566"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algn="ctr" rtl="0"/>
                      <a:r>
                        <a:rPr lang="es-MX" sz="1800" b="1">
                          <a:solidFill>
                            <a:srgbClr val="1F1F1F"/>
                          </a:solidFill>
                          <a:effectLst/>
                        </a:rPr>
                        <a:t>Heteroevaluación</a:t>
                      </a:r>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tc>
                <a:tc>
                  <a:txBody>
                    <a:bodyPr/>
                    <a:lstStyle/>
                    <a:p>
                      <a:pPr algn="ctr" rtl="0"/>
                      <a:r>
                        <a:rPr lang="es-MX" sz="1800">
                          <a:solidFill>
                            <a:srgbClr val="1F1F1F"/>
                          </a:solidFill>
                          <a:effectLst/>
                        </a:rPr>
                        <a:t>El docente utiliza la lista de cotejo y un registro de observación durante la confrontación de datos en el aula para valorar la precisión en el cálculo matemático en tiempo real, el dominio de la representación en el plano y el nivel de participación colaborativa de cada estudiante.</a:t>
                      </a:r>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tc>
                <a:extLst>
                  <a:ext uri="{0D108BD9-81ED-4DB2-BD59-A6C34878D82A}">
                    <a16:rowId xmlns:a16="http://schemas.microsoft.com/office/drawing/2014/main" val="1739074093"/>
                  </a:ext>
                </a:extLst>
              </a:tr>
              <a:tr h="1485142">
                <a:tc rowSpan="3">
                  <a:txBody>
                    <a:bodyPr/>
                    <a:lstStyle/>
                    <a:p>
                      <a:pPr algn="ctr" rtl="0"/>
                      <a:r>
                        <a:rPr lang="es-MX" sz="1800" b="1" dirty="0">
                          <a:solidFill>
                            <a:srgbClr val="1F1F1F"/>
                          </a:solidFill>
                          <a:effectLst/>
                        </a:rPr>
                        <a:t>Por sus Momentos</a:t>
                      </a:r>
                      <a:endParaRPr lang="es-MX" sz="1800" dirty="0">
                        <a:solidFill>
                          <a:srgbClr val="1F1F1F"/>
                        </a:solidFill>
                        <a:effectLst/>
                        <a:latin typeface="Arial" panose="020B0604020202020204" pitchFamily="34" charset="0"/>
                        <a:cs typeface="Arial" panose="020B0604020202020204" pitchFamily="34" charset="0"/>
                      </a:endParaRPr>
                    </a:p>
                  </a:txBody>
                  <a:tcPr marL="24850" marR="24850" marT="16566" marB="16566" vert="vert270" anchor="ctr"/>
                </a:tc>
                <a:tc>
                  <a:txBody>
                    <a:bodyPr/>
                    <a:lstStyle/>
                    <a:p>
                      <a:pPr algn="ctr" rtl="0"/>
                      <a:r>
                        <a:rPr lang="es-MX" sz="1800" b="1">
                          <a:solidFill>
                            <a:srgbClr val="1F1F1F"/>
                          </a:solidFill>
                          <a:effectLst/>
                        </a:rPr>
                        <a:t>Evaluación Inicial (Diagnóstica)</a:t>
                      </a:r>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tc>
                <a:tc>
                  <a:txBody>
                    <a:bodyPr/>
                    <a:lstStyle/>
                    <a:p>
                      <a:pPr algn="ctr" rtl="0"/>
                      <a:r>
                        <a:rPr lang="es-MX" sz="1800" dirty="0">
                          <a:solidFill>
                            <a:srgbClr val="1F1F1F"/>
                          </a:solidFill>
                          <a:effectLst/>
                        </a:rPr>
                        <a:t>Se realiza al arrancar la clase con la dinámica interactiva de la catapulta en el suelo, donde los alumnos explican intuitivamente cómo medir la distancia de los impactos y ubicar los puntos de partida, permitiendo al docente medir sus nociones espaciales previas.</a:t>
                      </a:r>
                      <a:endParaRPr lang="es-MX" sz="1800" dirty="0">
                        <a:solidFill>
                          <a:srgbClr val="1F1F1F"/>
                        </a:solidFill>
                        <a:effectLst/>
                        <a:latin typeface="Arial" panose="020B0604020202020204" pitchFamily="34" charset="0"/>
                        <a:cs typeface="Arial" panose="020B0604020202020204" pitchFamily="34" charset="0"/>
                      </a:endParaRPr>
                    </a:p>
                  </a:txBody>
                  <a:tcPr marL="24850" marR="24850" marT="16566" marB="16566" anchor="ctr"/>
                </a:tc>
                <a:extLst>
                  <a:ext uri="{0D108BD9-81ED-4DB2-BD59-A6C34878D82A}">
                    <a16:rowId xmlns:a16="http://schemas.microsoft.com/office/drawing/2014/main" val="470460376"/>
                  </a:ext>
                </a:extLst>
              </a:tr>
              <a:tr h="1485142">
                <a:tc vMerge="1">
                  <a:txBody>
                    <a:bodyPr/>
                    <a:lstStyle/>
                    <a:p>
                      <a:pPr rtl="0"/>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algn="ctr" rtl="0"/>
                      <a:r>
                        <a:rPr lang="es-MX" sz="1800" b="1">
                          <a:solidFill>
                            <a:srgbClr val="1F1F1F"/>
                          </a:solidFill>
                          <a:effectLst/>
                        </a:rPr>
                        <a:t>Evaluación Continua (Procesal)</a:t>
                      </a:r>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tc>
                <a:tc>
                  <a:txBody>
                    <a:bodyPr/>
                    <a:lstStyle/>
                    <a:p>
                      <a:pPr algn="ctr" rtl="0"/>
                      <a:r>
                        <a:rPr lang="es-MX" sz="1800" dirty="0">
                          <a:solidFill>
                            <a:srgbClr val="1F1F1F"/>
                          </a:solidFill>
                          <a:effectLst/>
                        </a:rPr>
                        <a:t>Ocurre durante la resolución guiada de las actividades impresas de las páginas 91 a la 93. Es el momento de retroalimentar los errores en la asignación de coordenadas (x, y), corregir el conteo en el plano cartesiano y ajustar el registro de los datos en sus libretas.</a:t>
                      </a:r>
                      <a:endParaRPr lang="es-MX" sz="1800" dirty="0">
                        <a:solidFill>
                          <a:srgbClr val="1F1F1F"/>
                        </a:solidFill>
                        <a:effectLst/>
                        <a:latin typeface="Arial" panose="020B0604020202020204" pitchFamily="34" charset="0"/>
                        <a:cs typeface="Arial" panose="020B0604020202020204" pitchFamily="34" charset="0"/>
                      </a:endParaRPr>
                    </a:p>
                  </a:txBody>
                  <a:tcPr marL="24850" marR="24850" marT="16566" marB="16566" anchor="ctr"/>
                </a:tc>
                <a:extLst>
                  <a:ext uri="{0D108BD9-81ED-4DB2-BD59-A6C34878D82A}">
                    <a16:rowId xmlns:a16="http://schemas.microsoft.com/office/drawing/2014/main" val="2607300349"/>
                  </a:ext>
                </a:extLst>
              </a:tr>
              <a:tr h="1603542">
                <a:tc vMerge="1">
                  <a:txBody>
                    <a:bodyPr/>
                    <a:lstStyle/>
                    <a:p>
                      <a:pPr rtl="0"/>
                      <a:endParaRPr lang="es-MX" sz="1800" dirty="0">
                        <a:solidFill>
                          <a:srgbClr val="1F1F1F"/>
                        </a:solidFill>
                        <a:effectLst/>
                        <a:latin typeface="Arial" panose="020B0604020202020204" pitchFamily="34" charset="0"/>
                        <a:cs typeface="Arial" panose="020B0604020202020204" pitchFamily="34" charset="0"/>
                      </a:endParaRPr>
                    </a:p>
                  </a:txBody>
                  <a:tcPr marL="24850" marR="24850" marT="16566" marB="16566"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algn="ctr" rtl="0"/>
                      <a:r>
                        <a:rPr lang="es-MX" sz="1800" b="1">
                          <a:solidFill>
                            <a:srgbClr val="1F1F1F"/>
                          </a:solidFill>
                          <a:effectLst/>
                        </a:rPr>
                        <a:t>Evaluación Final (Cierre)</a:t>
                      </a:r>
                      <a:endParaRPr lang="es-MX" sz="1800">
                        <a:solidFill>
                          <a:srgbClr val="1F1F1F"/>
                        </a:solidFill>
                        <a:effectLst/>
                        <a:latin typeface="Arial" panose="020B0604020202020204" pitchFamily="34" charset="0"/>
                        <a:cs typeface="Arial" panose="020B0604020202020204" pitchFamily="34" charset="0"/>
                      </a:endParaRPr>
                    </a:p>
                  </a:txBody>
                  <a:tcPr marL="24850" marR="24850" marT="16566" marB="16566" anchor="ctr"/>
                </a:tc>
                <a:tc>
                  <a:txBody>
                    <a:bodyPr/>
                    <a:lstStyle/>
                    <a:p>
                      <a:pPr algn="ctr" rtl="0"/>
                      <a:r>
                        <a:rPr lang="es-MX" sz="1800" dirty="0">
                          <a:solidFill>
                            <a:srgbClr val="1F1F1F"/>
                          </a:solidFill>
                          <a:effectLst/>
                        </a:rPr>
                        <a:t>Se lleva a cabo en la fase de cierre mediante la metacognición en dos tiempos: el alumno analiza la exactitud de sus cálculos teóricos al contrastarlos con la cinta métrica del suelo y consolida de forma autónoma sus aprendizajes resolviendo los reactivos finales de la página 94.</a:t>
                      </a:r>
                      <a:endParaRPr lang="es-MX" sz="1800" dirty="0">
                        <a:solidFill>
                          <a:srgbClr val="1F1F1F"/>
                        </a:solidFill>
                        <a:effectLst/>
                        <a:latin typeface="Arial" panose="020B0604020202020204" pitchFamily="34" charset="0"/>
                        <a:cs typeface="Arial" panose="020B0604020202020204" pitchFamily="34" charset="0"/>
                      </a:endParaRPr>
                    </a:p>
                  </a:txBody>
                  <a:tcPr marL="24850" marR="24850" marT="16566" marB="16566" anchor="ctr"/>
                </a:tc>
                <a:extLst>
                  <a:ext uri="{0D108BD9-81ED-4DB2-BD59-A6C34878D82A}">
                    <a16:rowId xmlns:a16="http://schemas.microsoft.com/office/drawing/2014/main" val="2850107185"/>
                  </a:ext>
                </a:extLst>
              </a:tr>
            </a:tbl>
          </a:graphicData>
        </a:graphic>
      </p:graphicFrame>
    </p:spTree>
    <p:extLst>
      <p:ext uri="{BB962C8B-B14F-4D97-AF65-F5344CB8AC3E}">
        <p14:creationId xmlns:p14="http://schemas.microsoft.com/office/powerpoint/2010/main" val="3695541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2" name="Rectangle 1">
            <a:extLst>
              <a:ext uri="{FF2B5EF4-FFF2-40B4-BE49-F238E27FC236}">
                <a16:creationId xmlns:a16="http://schemas.microsoft.com/office/drawing/2014/main" id="{7865557A-9215-CC7F-A9F7-FF73379B37F0}"/>
              </a:ext>
            </a:extLst>
          </p:cNvPr>
          <p:cNvSpPr>
            <a:spLocks noChangeArrowheads="1"/>
          </p:cNvSpPr>
          <p:nvPr/>
        </p:nvSpPr>
        <p:spPr bwMode="auto">
          <a:xfrm>
            <a:off x="1447800" y="712232"/>
            <a:ext cx="16652305" cy="4534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8662" tIns="25392" rIns="301530" bIns="76176"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s-ES_tradnl" altLang="es-MX" sz="4800" b="0" i="0" u="none" strike="noStrike" cap="none" normalizeH="0" baseline="0" dirty="0">
                <a:ln>
                  <a:noFill/>
                </a:ln>
                <a:solidFill>
                  <a:srgbClr val="1F1F1F"/>
                </a:solidFill>
                <a:effectLst/>
                <a:latin typeface="Century Gothic" panose="020B0502020202020204" pitchFamily="34" charset="0"/>
                <a:ea typeface="MS Gothic" panose="020B0609070205080204" pitchFamily="49" charset="-128"/>
                <a:cs typeface="Times New Roman" panose="02020603050405020304" pitchFamily="18" charset="0"/>
              </a:rPr>
              <a:t>Reflexión Pedagógica.</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s-ES_tradnl" altLang="es-MX" sz="4800" b="0" i="0" u="none" strike="noStrike" cap="none" normalizeH="0" baseline="0" dirty="0">
              <a:ln>
                <a:noFill/>
              </a:ln>
              <a:solidFill>
                <a:srgbClr val="365F91"/>
              </a:solidFill>
              <a:effectLst/>
              <a:latin typeface="Century Gothic" panose="020B0502020202020204" pitchFamily="34" charset="0"/>
              <a:ea typeface="MS Gothic" panose="020B0609070205080204" pitchFamily="49" charset="-128"/>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s-ES_tradnl" altLang="es-MX" sz="4800" b="0" i="0" u="sng" strike="noStrike" cap="none" normalizeH="0" baseline="0" dirty="0">
                <a:ln>
                  <a:noFill/>
                </a:ln>
                <a:solidFill>
                  <a:srgbClr val="1F1F1F"/>
                </a:solidFill>
                <a:effectLst/>
                <a:latin typeface="Century Gothic" panose="020B0502020202020204" pitchFamily="34" charset="0"/>
                <a:ea typeface="Cambria" panose="02040503050406030204" pitchFamily="18" charset="0"/>
                <a:cs typeface="Arial" panose="020B0604020202020204" pitchFamily="34" charset="0"/>
              </a:rPr>
              <a:t>Sobre el diseño del proyecto:</a:t>
            </a:r>
            <a:r>
              <a:rPr kumimoji="0" lang="es-ES_tradnl" altLang="es-MX" sz="4800" b="0" i="0" u="none" strike="noStrike" cap="none" normalizeH="0" baseline="0" dirty="0">
                <a:ln>
                  <a:noFill/>
                </a:ln>
                <a:solidFill>
                  <a:srgbClr val="1F1F1F"/>
                </a:solidFill>
                <a:effectLst/>
                <a:latin typeface="Century Gothic" panose="020B0502020202020204" pitchFamily="34" charset="0"/>
                <a:ea typeface="Cambria" panose="02040503050406030204" pitchFamily="18" charset="0"/>
                <a:cs typeface="Arial" panose="020B0604020202020204" pitchFamily="34" charset="0"/>
              </a:rPr>
              <a:t> Si fueras el maestro y pudieras rediseñar esta secuencia (a los materiales, al reto o a los experimentos) para hacerlo más interesante o para que se entendiera mejor el tema?</a:t>
            </a:r>
            <a:endParaRPr kumimoji="0" lang="es-ES_tradnl" altLang="es-MX" sz="4800" b="0" i="0" u="none" strike="noStrike" cap="none" normalizeH="0" baseline="0" dirty="0">
              <a:ln>
                <a:noFill/>
              </a:ln>
              <a:solidFill>
                <a:schemeClr val="tx1"/>
              </a:solidFill>
              <a:effectLst/>
              <a:latin typeface="Century Gothic" panose="020B0502020202020204" pitchFamily="34" charset="0"/>
            </a:endParaRPr>
          </a:p>
        </p:txBody>
      </p:sp>
      <p:sp>
        <p:nvSpPr>
          <p:cNvPr id="4" name="Rectangle 3">
            <a:extLst>
              <a:ext uri="{FF2B5EF4-FFF2-40B4-BE49-F238E27FC236}">
                <a16:creationId xmlns:a16="http://schemas.microsoft.com/office/drawing/2014/main" id="{20EFD3B4-809F-DD0B-83ED-21B65B66C8D7}"/>
              </a:ext>
            </a:extLst>
          </p:cNvPr>
          <p:cNvSpPr>
            <a:spLocks noChangeArrowheads="1"/>
          </p:cNvSpPr>
          <p:nvPr/>
        </p:nvSpPr>
        <p:spPr bwMode="auto">
          <a:xfrm>
            <a:off x="914400" y="3387725"/>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76176" numCol="1" anchor="ctr" anchorCtr="0" compatLnSpc="1">
            <a:prstTxWarp prst="textNoShape">
              <a:avLst/>
            </a:prstTxWarp>
            <a:spAutoFit/>
          </a:bodyPr>
          <a:lstStyle/>
          <a:p>
            <a:endParaRPr lang="es-MX"/>
          </a:p>
        </p:txBody>
      </p:sp>
      <p:sp>
        <p:nvSpPr>
          <p:cNvPr id="11" name="Rectangle 5">
            <a:extLst>
              <a:ext uri="{FF2B5EF4-FFF2-40B4-BE49-F238E27FC236}">
                <a16:creationId xmlns:a16="http://schemas.microsoft.com/office/drawing/2014/main" id="{E6736229-4DE3-D926-7C2B-2049E0D377C2}"/>
              </a:ext>
            </a:extLst>
          </p:cNvPr>
          <p:cNvSpPr>
            <a:spLocks noChangeArrowheads="1"/>
          </p:cNvSpPr>
          <p:nvPr/>
        </p:nvSpPr>
        <p:spPr bwMode="auto">
          <a:xfrm>
            <a:off x="914400" y="34036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76176" numCol="1" anchor="ctr" anchorCtr="0" compatLnSpc="1">
            <a:prstTxWarp prst="textNoShape">
              <a:avLst/>
            </a:prstTxWarp>
            <a:spAutoFit/>
          </a:bodyPr>
          <a:lstStyle/>
          <a:p>
            <a:endParaRPr lang="es-MX"/>
          </a:p>
        </p:txBody>
      </p:sp>
      <p:sp>
        <p:nvSpPr>
          <p:cNvPr id="13" name="Rectangle 7">
            <a:extLst>
              <a:ext uri="{FF2B5EF4-FFF2-40B4-BE49-F238E27FC236}">
                <a16:creationId xmlns:a16="http://schemas.microsoft.com/office/drawing/2014/main" id="{4F880573-9BBC-9F47-DB15-1082A44C13B4}"/>
              </a:ext>
            </a:extLst>
          </p:cNvPr>
          <p:cNvSpPr>
            <a:spLocks noChangeArrowheads="1"/>
          </p:cNvSpPr>
          <p:nvPr/>
        </p:nvSpPr>
        <p:spPr bwMode="auto">
          <a:xfrm>
            <a:off x="1447801" y="6801883"/>
            <a:ext cx="1646665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s-ES_tradnl" altLang="es-MX" sz="4800" b="0" i="0" u="sng" strike="noStrike" cap="none" normalizeH="0" baseline="0" dirty="0">
                <a:ln>
                  <a:noFill/>
                </a:ln>
                <a:solidFill>
                  <a:srgbClr val="1F1F1F"/>
                </a:solidFill>
                <a:effectLst/>
                <a:latin typeface="Century Gothic" panose="020B0502020202020204" pitchFamily="34" charset="0"/>
                <a:ea typeface="Cambria" panose="02040503050406030204" pitchFamily="18" charset="0"/>
                <a:cs typeface="Arial" panose="020B0604020202020204" pitchFamily="34" charset="0"/>
              </a:rPr>
              <a:t>Sobre tu propio proceso:</a:t>
            </a:r>
            <a:r>
              <a:rPr kumimoji="0" lang="es-ES_tradnl" altLang="es-MX" sz="4800" b="0" i="0" u="none" strike="noStrike" cap="none" normalizeH="0" baseline="0" dirty="0">
                <a:ln>
                  <a:noFill/>
                </a:ln>
                <a:solidFill>
                  <a:srgbClr val="1F1F1F"/>
                </a:solidFill>
                <a:effectLst/>
                <a:latin typeface="Century Gothic" panose="020B0502020202020204" pitchFamily="34" charset="0"/>
                <a:ea typeface="Cambria" panose="02040503050406030204" pitchFamily="18" charset="0"/>
                <a:cs typeface="Arial" panose="020B0604020202020204" pitchFamily="34" charset="0"/>
              </a:rPr>
              <a:t> Si tuvieras la oportunidad de repetir toda esta secuencia desde cero, ¿qué harías diferente tú?</a:t>
            </a:r>
            <a:endParaRPr kumimoji="0" lang="es-ES_tradnl" altLang="es-MX" sz="4800" b="0" i="0" u="none" strike="noStrike" cap="none" normalizeH="0" baseline="0" dirty="0">
              <a:ln>
                <a:noFill/>
              </a:ln>
              <a:solidFill>
                <a:schemeClr val="tx1"/>
              </a:solidFill>
              <a:effectLst/>
              <a:latin typeface="Century Gothic" panose="020B0502020202020204" pitchFamily="34" charset="0"/>
            </a:endParaRPr>
          </a:p>
        </p:txBody>
      </p:sp>
    </p:spTree>
    <p:extLst>
      <p:ext uri="{BB962C8B-B14F-4D97-AF65-F5344CB8AC3E}">
        <p14:creationId xmlns:p14="http://schemas.microsoft.com/office/powerpoint/2010/main" val="2555327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4" name="Rectangle 3">
            <a:extLst>
              <a:ext uri="{FF2B5EF4-FFF2-40B4-BE49-F238E27FC236}">
                <a16:creationId xmlns:a16="http://schemas.microsoft.com/office/drawing/2014/main" id="{20EFD3B4-809F-DD0B-83ED-21B65B66C8D7}"/>
              </a:ext>
            </a:extLst>
          </p:cNvPr>
          <p:cNvSpPr>
            <a:spLocks noChangeArrowheads="1"/>
          </p:cNvSpPr>
          <p:nvPr/>
        </p:nvSpPr>
        <p:spPr bwMode="auto">
          <a:xfrm>
            <a:off x="914400" y="3387725"/>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76176" numCol="1" anchor="ctr" anchorCtr="0" compatLnSpc="1">
            <a:prstTxWarp prst="textNoShape">
              <a:avLst/>
            </a:prstTxWarp>
            <a:spAutoFit/>
          </a:bodyPr>
          <a:lstStyle/>
          <a:p>
            <a:endParaRPr lang="es-MX"/>
          </a:p>
        </p:txBody>
      </p:sp>
      <p:sp>
        <p:nvSpPr>
          <p:cNvPr id="11" name="Rectangle 5">
            <a:extLst>
              <a:ext uri="{FF2B5EF4-FFF2-40B4-BE49-F238E27FC236}">
                <a16:creationId xmlns:a16="http://schemas.microsoft.com/office/drawing/2014/main" id="{E6736229-4DE3-D926-7C2B-2049E0D377C2}"/>
              </a:ext>
            </a:extLst>
          </p:cNvPr>
          <p:cNvSpPr>
            <a:spLocks noChangeArrowheads="1"/>
          </p:cNvSpPr>
          <p:nvPr/>
        </p:nvSpPr>
        <p:spPr bwMode="auto">
          <a:xfrm>
            <a:off x="914400" y="34036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76176" numCol="1" anchor="ctr" anchorCtr="0" compatLnSpc="1">
            <a:prstTxWarp prst="textNoShape">
              <a:avLst/>
            </a:prstTxWarp>
            <a:spAutoFit/>
          </a:bodyPr>
          <a:lstStyle/>
          <a:p>
            <a:endParaRPr lang="es-MX"/>
          </a:p>
        </p:txBody>
      </p:sp>
      <p:sp>
        <p:nvSpPr>
          <p:cNvPr id="5" name="CuadroTexto 4">
            <a:extLst>
              <a:ext uri="{FF2B5EF4-FFF2-40B4-BE49-F238E27FC236}">
                <a16:creationId xmlns:a16="http://schemas.microsoft.com/office/drawing/2014/main" id="{9A539150-8882-5BCD-757E-6193ED3CEC8A}"/>
              </a:ext>
            </a:extLst>
          </p:cNvPr>
          <p:cNvSpPr txBox="1"/>
          <p:nvPr/>
        </p:nvSpPr>
        <p:spPr>
          <a:xfrm>
            <a:off x="1504950" y="4175718"/>
            <a:ext cx="16659225" cy="2862322"/>
          </a:xfrm>
          <a:prstGeom prst="rect">
            <a:avLst/>
          </a:prstGeom>
          <a:noFill/>
        </p:spPr>
        <p:txBody>
          <a:bodyPr wrap="square">
            <a:spAutoFit/>
          </a:bodyPr>
          <a:lstStyle/>
          <a:p>
            <a:pPr marL="285750" indent="-285750" rtl="0">
              <a:buFont typeface="Arial" panose="020B0604020202020204" pitchFamily="34" charset="0"/>
              <a:buChar char="•"/>
            </a:pPr>
            <a:r>
              <a:rPr lang="es-MX" dirty="0">
                <a:solidFill>
                  <a:srgbClr val="1F1F1F"/>
                </a:solidFill>
                <a:effectLst/>
                <a:latin typeface="Arial" panose="020B0604020202020204" pitchFamily="34" charset="0"/>
                <a:cs typeface="Arial" panose="020B0604020202020204" pitchFamily="34" charset="0"/>
              </a:rPr>
              <a:t>Secretaría de Educación Pública. (2022). Plan de Estudio para la educación preescolar, primaria y secundaria. Ciudad de México: SEP.</a:t>
            </a:r>
          </a:p>
          <a:p>
            <a:pPr marL="285750" indent="-285750" rtl="0">
              <a:buFont typeface="Arial" panose="020B0604020202020204" pitchFamily="34" charset="0"/>
              <a:buChar char="•"/>
            </a:pPr>
            <a:r>
              <a:rPr lang="es-MX" dirty="0">
                <a:solidFill>
                  <a:srgbClr val="1F1F1F"/>
                </a:solidFill>
                <a:effectLst/>
                <a:latin typeface="Arial" panose="020B0604020202020204" pitchFamily="34" charset="0"/>
                <a:cs typeface="Arial" panose="020B0604020202020204" pitchFamily="34" charset="0"/>
              </a:rPr>
              <a:t>Secretaría de Educación Pública. (2023). Programa de Estudio para la Educación Secundaria: Campo Formativo Saberes y Pensamiento Científico. Ciudad de México: SEP.</a:t>
            </a:r>
          </a:p>
          <a:p>
            <a:pPr marL="285750" indent="-285750" rtl="0">
              <a:buFont typeface="Arial" panose="020B0604020202020204" pitchFamily="34" charset="0"/>
              <a:buChar char="•"/>
            </a:pPr>
            <a:r>
              <a:rPr lang="es-MX" dirty="0">
                <a:solidFill>
                  <a:srgbClr val="1F1F1F"/>
                </a:solidFill>
                <a:effectLst/>
                <a:latin typeface="Arial" panose="020B0604020202020204" pitchFamily="34" charset="0"/>
                <a:cs typeface="Arial" panose="020B0604020202020204" pitchFamily="34" charset="0"/>
              </a:rPr>
              <a:t>Secretaría de Educación Pública. (2023). Un libro sin recetas, para la maestra y el maestro. Fase 6 (Secundaria). Ciudad de México: SEP.</a:t>
            </a:r>
          </a:p>
          <a:p>
            <a:pPr marL="285750" indent="-285750" rtl="0">
              <a:buFont typeface="Arial" panose="020B0604020202020204" pitchFamily="34" charset="0"/>
              <a:buChar char="•"/>
            </a:pPr>
            <a:r>
              <a:rPr lang="es-MX" dirty="0">
                <a:solidFill>
                  <a:srgbClr val="1F1F1F"/>
                </a:solidFill>
                <a:effectLst/>
                <a:latin typeface="Arial" panose="020B0604020202020204" pitchFamily="34" charset="0"/>
                <a:cs typeface="Arial" panose="020B0604020202020204" pitchFamily="34" charset="0"/>
              </a:rPr>
              <a:t>Secretaría de Educación Pública. (2023). Saberes y Pensamiento Científico. Primer grado de secundaria. Ciudad de México: SEP.</a:t>
            </a:r>
          </a:p>
          <a:p>
            <a:pPr marL="285750" indent="-285750" rtl="0">
              <a:buFont typeface="Arial" panose="020B0604020202020204" pitchFamily="34" charset="0"/>
              <a:buChar char="•"/>
            </a:pPr>
            <a:r>
              <a:rPr lang="es-MX" dirty="0">
                <a:solidFill>
                  <a:srgbClr val="1F1F1F"/>
                </a:solidFill>
                <a:effectLst/>
                <a:latin typeface="Arial" panose="020B0604020202020204" pitchFamily="34" charset="0"/>
                <a:cs typeface="Arial" panose="020B0604020202020204" pitchFamily="34" charset="0"/>
              </a:rPr>
              <a:t>Secretaría de Educación Pública. (2023). Saberes y Pensamiento Científico. Segundo grado de secundaria. Ciudad de México: SEP.</a:t>
            </a:r>
          </a:p>
          <a:p>
            <a:pPr marL="285750" indent="-285750" rtl="0">
              <a:buFont typeface="Arial" panose="020B0604020202020204" pitchFamily="34" charset="0"/>
              <a:buChar char="•"/>
            </a:pPr>
            <a:r>
              <a:rPr lang="es-MX" dirty="0">
                <a:solidFill>
                  <a:srgbClr val="1F1F1F"/>
                </a:solidFill>
                <a:effectLst/>
                <a:latin typeface="Arial" panose="020B0604020202020204" pitchFamily="34" charset="0"/>
                <a:cs typeface="Arial" panose="020B0604020202020204" pitchFamily="34" charset="0"/>
              </a:rPr>
              <a:t>Secretaría de Educación Pública. (2023). Saberes y Pensamiento Científico. Tercer grado de secundaria. Ciudad de México: SEP.</a:t>
            </a:r>
            <a:endParaRPr lang="es-MX" b="1" dirty="0">
              <a:solidFill>
                <a:srgbClr val="1F1F1F"/>
              </a:solidFill>
              <a:effectLst/>
              <a:latin typeface="Arial" panose="020B0604020202020204" pitchFamily="34" charset="0"/>
              <a:cs typeface="Arial" panose="020B0604020202020204" pitchFamily="34" charset="0"/>
            </a:endParaRPr>
          </a:p>
          <a:p>
            <a:pPr marL="285750" indent="-285750" rtl="0">
              <a:buFont typeface="Arial" panose="020B0604020202020204" pitchFamily="34" charset="0"/>
              <a:buChar char="•"/>
            </a:pPr>
            <a:r>
              <a:rPr lang="es-MX" dirty="0">
                <a:solidFill>
                  <a:srgbClr val="1F1F1F"/>
                </a:solidFill>
                <a:effectLst/>
                <a:latin typeface="Arial" panose="020B0604020202020204" pitchFamily="34" charset="0"/>
                <a:cs typeface="Arial" panose="020B0604020202020204" pitchFamily="34" charset="0"/>
              </a:rPr>
              <a:t>Secretaría de Educación Pública. (2023). Nuestro libro de proyectos. Secundaria (Grados 1, 2 y 3). Ciudad de México: SEP.</a:t>
            </a:r>
          </a:p>
          <a:p>
            <a:pPr marL="285750" indent="-285750">
              <a:buFont typeface="Arial" panose="020B0604020202020204" pitchFamily="34" charset="0"/>
              <a:buChar char="•"/>
            </a:pPr>
            <a:r>
              <a:rPr lang="es-ES_tradnl" sz="1800" dirty="0">
                <a:effectLst/>
                <a:latin typeface="Arial" panose="020B0604020202020204" pitchFamily="34" charset="0"/>
                <a:ea typeface="Cambria" panose="02040503050406030204" pitchFamily="18" charset="0"/>
                <a:cs typeface="Arial" panose="020B0604020202020204" pitchFamily="34" charset="0"/>
              </a:rPr>
              <a:t>Academia Estatal de Matemáticas. (2023). </a:t>
            </a:r>
            <a:r>
              <a:rPr lang="es-ES_tradnl" sz="1800" i="1" dirty="0">
                <a:effectLst/>
                <a:latin typeface="Arial" panose="020B0604020202020204" pitchFamily="34" charset="0"/>
                <a:ea typeface="Cambria" panose="02040503050406030204" pitchFamily="18" charset="0"/>
                <a:cs typeface="Arial" panose="020B0604020202020204" pitchFamily="34" charset="0"/>
              </a:rPr>
              <a:t>Practicando saberes en Matemáticas: Cuaderno de trabajo. Segundo Grado. Secundaria</a:t>
            </a:r>
            <a:r>
              <a:rPr lang="es-ES_tradnl" sz="1800" dirty="0">
                <a:effectLst/>
                <a:latin typeface="Arial" panose="020B0604020202020204" pitchFamily="34" charset="0"/>
                <a:ea typeface="Cambria" panose="02040503050406030204" pitchFamily="18" charset="0"/>
                <a:cs typeface="Arial" panose="020B0604020202020204" pitchFamily="34" charset="0"/>
              </a:rPr>
              <a:t>. Secretaría de Educación del Estado de Nuevo León.</a:t>
            </a:r>
            <a:endParaRPr lang="es-MX" sz="1800" dirty="0">
              <a:effectLst/>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2049253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3773222"/>
            <a:ext cx="11301259" cy="2740555"/>
          </a:xfrm>
          <a:custGeom>
            <a:avLst/>
            <a:gdLst/>
            <a:ahLst/>
            <a:cxnLst/>
            <a:rect l="l" t="t" r="r" b="b"/>
            <a:pathLst>
              <a:path w="11301259" h="2740555">
                <a:moveTo>
                  <a:pt x="0" y="0"/>
                </a:moveTo>
                <a:lnTo>
                  <a:pt x="11301258" y="0"/>
                </a:lnTo>
                <a:lnTo>
                  <a:pt x="11301258" y="2740556"/>
                </a:lnTo>
                <a:lnTo>
                  <a:pt x="0" y="2740556"/>
                </a:lnTo>
                <a:lnTo>
                  <a:pt x="0" y="0"/>
                </a:lnTo>
                <a:close/>
              </a:path>
            </a:pathLst>
          </a:custGeom>
          <a:blipFill>
            <a:blip r:embed="rId2"/>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1286</TotalTime>
  <Words>1802</Words>
  <Application>Microsoft Macintosh PowerPoint</Application>
  <PresentationFormat>Personalizado</PresentationFormat>
  <Paragraphs>88</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Century Gothic</vt:lpstr>
      <vt:lpstr>Calibri</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Copy of Unidad de Análisis de Contextos Educativos.</dc:title>
  <cp:lastModifiedBy>Microsoft Office User</cp:lastModifiedBy>
  <cp:revision>10</cp:revision>
  <dcterms:created xsi:type="dcterms:W3CDTF">2006-08-16T00:00:00Z</dcterms:created>
  <dcterms:modified xsi:type="dcterms:W3CDTF">2026-06-19T22:50:26Z</dcterms:modified>
  <dc:identifier>DAHIX9mWJ2I</dc:identifier>
</cp:coreProperties>
</file>