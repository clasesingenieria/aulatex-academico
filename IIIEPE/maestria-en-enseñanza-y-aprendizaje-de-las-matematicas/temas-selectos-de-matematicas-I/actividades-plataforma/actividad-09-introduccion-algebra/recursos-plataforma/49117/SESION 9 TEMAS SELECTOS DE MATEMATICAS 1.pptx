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77" r:id="rId4"/>
    <p:sldId id="281" r:id="rId5"/>
    <p:sldId id="282" r:id="rId6"/>
    <p:sldId id="273" r:id="rId7"/>
    <p:sldId id="275" r:id="rId8"/>
    <p:sldId id="283" r:id="rId9"/>
    <p:sldId id="278" r:id="rId10"/>
    <p:sldId id="279" r:id="rId11"/>
    <p:sldId id="276" r:id="rId12"/>
    <p:sldId id="280" r:id="rId13"/>
    <p:sldId id="270" r:id="rId14"/>
  </p:sldIdLst>
  <p:sldSz cx="18288000" cy="10287000"/>
  <p:notesSz cx="6858000" cy="9144000"/>
  <p:embeddedFontLst>
    <p:embeddedFont>
      <p:font typeface="Calibri" panose="020F0502020204030204" pitchFamily="34" charset="0"/>
      <p:regular r:id="rId15"/>
      <p:bold r:id="rId16"/>
      <p:italic r:id="rId17"/>
      <p:boldItalic r:id="rId18"/>
    </p:embeddedFont>
    <p:embeddedFont>
      <p:font typeface="Century Gothic" panose="020B050202020202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FD4443E-F989-4FC4-A0C8-D5A2AF1F390B}" styleName="Estilo oscuro 1 - Énfasis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Estilo oscuro 1 - Énfasis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autoAdjust="0"/>
    <p:restoredTop sz="94586" autoAdjust="0"/>
  </p:normalViewPr>
  <p:slideViewPr>
    <p:cSldViewPr>
      <p:cViewPr varScale="1">
        <p:scale>
          <a:sx n="68" d="100"/>
          <a:sy n="68" d="100"/>
        </p:scale>
        <p:origin x="46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create.kahoot.it/share/lenguaje-algebraico-y-formulas-matematicas-segundo/b5172408-5036-45e4-87d5-03ffcde70511" TargetMode="Externa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s://create.kahoot.it/share/lenguaje-algebraico/4402cd27-66ab-40eb-9344-32b1cfa216f8"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751F"/>
        </a:solidFill>
        <a:effectLst/>
      </p:bgPr>
    </p:bg>
    <p:spTree>
      <p:nvGrpSpPr>
        <p:cNvPr id="1" name=""/>
        <p:cNvGrpSpPr/>
        <p:nvPr/>
      </p:nvGrpSpPr>
      <p:grpSpPr>
        <a:xfrm>
          <a:off x="0" y="0"/>
          <a:ext cx="0" cy="0"/>
          <a:chOff x="0" y="0"/>
          <a:chExt cx="0" cy="0"/>
        </a:xfrm>
      </p:grpSpPr>
      <p:sp>
        <p:nvSpPr>
          <p:cNvPr id="2" name="Freeform 2"/>
          <p:cNvSpPr/>
          <p:nvPr/>
        </p:nvSpPr>
        <p:spPr>
          <a:xfrm>
            <a:off x="3493371" y="3773222"/>
            <a:ext cx="11301259" cy="2740555"/>
          </a:xfrm>
          <a:custGeom>
            <a:avLst/>
            <a:gdLst/>
            <a:ahLst/>
            <a:cxnLst/>
            <a:rect l="l" t="t" r="r" b="b"/>
            <a:pathLst>
              <a:path w="11301259" h="2740555">
                <a:moveTo>
                  <a:pt x="0" y="0"/>
                </a:moveTo>
                <a:lnTo>
                  <a:pt x="11301258" y="0"/>
                </a:lnTo>
                <a:lnTo>
                  <a:pt x="11301258" y="2740556"/>
                </a:lnTo>
                <a:lnTo>
                  <a:pt x="0" y="2740556"/>
                </a:lnTo>
                <a:lnTo>
                  <a:pt x="0" y="0"/>
                </a:lnTo>
                <a:close/>
              </a:path>
            </a:pathLst>
          </a:custGeom>
          <a:blipFill>
            <a:blip r:embed="rId2"/>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751F"/>
        </a:solidFill>
        <a:effectLst/>
      </p:bgPr>
    </p:bg>
    <p:spTree>
      <p:nvGrpSpPr>
        <p:cNvPr id="1" name=""/>
        <p:cNvGrpSpPr/>
        <p:nvPr/>
      </p:nvGrpSpPr>
      <p:grpSpPr>
        <a:xfrm>
          <a:off x="0" y="0"/>
          <a:ext cx="0" cy="0"/>
          <a:chOff x="0" y="0"/>
          <a:chExt cx="0" cy="0"/>
        </a:xfrm>
      </p:grpSpPr>
      <p:grpSp>
        <p:nvGrpSpPr>
          <p:cNvPr id="2" name="Group 2"/>
          <p:cNvGrpSpPr/>
          <p:nvPr/>
        </p:nvGrpSpPr>
        <p:grpSpPr>
          <a:xfrm>
            <a:off x="6655450" y="1538868"/>
            <a:ext cx="5190742" cy="2754257"/>
            <a:chOff x="0" y="0"/>
            <a:chExt cx="1367109" cy="725401"/>
          </a:xfrm>
        </p:grpSpPr>
        <p:sp>
          <p:nvSpPr>
            <p:cNvPr id="3" name="Freeform 3"/>
            <p:cNvSpPr/>
            <p:nvPr/>
          </p:nvSpPr>
          <p:spPr>
            <a:xfrm>
              <a:off x="0" y="0"/>
              <a:ext cx="1367109" cy="725401"/>
            </a:xfrm>
            <a:custGeom>
              <a:avLst/>
              <a:gdLst/>
              <a:ahLst/>
              <a:cxnLst/>
              <a:rect l="l" t="t" r="r" b="b"/>
              <a:pathLst>
                <a:path w="1367109" h="725401">
                  <a:moveTo>
                    <a:pt x="0" y="0"/>
                  </a:moveTo>
                  <a:lnTo>
                    <a:pt x="1367109" y="0"/>
                  </a:lnTo>
                  <a:lnTo>
                    <a:pt x="1367109" y="725401"/>
                  </a:lnTo>
                  <a:lnTo>
                    <a:pt x="0" y="725401"/>
                  </a:lnTo>
                  <a:close/>
                </a:path>
              </a:pathLst>
            </a:custGeom>
            <a:solidFill>
              <a:srgbClr val="8E9081"/>
            </a:solidFill>
          </p:spPr>
        </p:sp>
        <p:sp>
          <p:nvSpPr>
            <p:cNvPr id="4" name="TextBox 4"/>
            <p:cNvSpPr txBox="1"/>
            <p:nvPr/>
          </p:nvSpPr>
          <p:spPr>
            <a:xfrm>
              <a:off x="0" y="-47625"/>
              <a:ext cx="1367109" cy="773026"/>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9684427" y="0"/>
            <a:ext cx="8603573" cy="10287000"/>
            <a:chOff x="0" y="0"/>
            <a:chExt cx="8603361" cy="10286746"/>
          </a:xfrm>
        </p:grpSpPr>
        <p:sp>
          <p:nvSpPr>
            <p:cNvPr id="6" name="Freeform 6"/>
            <p:cNvSpPr/>
            <p:nvPr/>
          </p:nvSpPr>
          <p:spPr>
            <a:xfrm>
              <a:off x="-50" y="-127"/>
              <a:ext cx="8603411" cy="10286873"/>
            </a:xfrm>
            <a:custGeom>
              <a:avLst/>
              <a:gdLst/>
              <a:ahLst/>
              <a:cxnLst/>
              <a:rect l="l" t="t" r="r" b="b"/>
              <a:pathLst>
                <a:path w="8603411" h="10286873">
                  <a:moveTo>
                    <a:pt x="8603411" y="10251440"/>
                  </a:moveTo>
                  <a:cubicBezTo>
                    <a:pt x="8603411" y="10284587"/>
                    <a:pt x="8592743" y="10286873"/>
                    <a:pt x="8564930" y="10286873"/>
                  </a:cubicBezTo>
                  <a:cubicBezTo>
                    <a:pt x="5710351" y="10286238"/>
                    <a:pt x="2855899" y="10286238"/>
                    <a:pt x="1320" y="10286238"/>
                  </a:cubicBezTo>
                  <a:cubicBezTo>
                    <a:pt x="-2744" y="10272395"/>
                    <a:pt x="3606" y="10259822"/>
                    <a:pt x="6527" y="10246995"/>
                  </a:cubicBezTo>
                  <a:cubicBezTo>
                    <a:pt x="132003" y="9685401"/>
                    <a:pt x="257606" y="9123934"/>
                    <a:pt x="383463" y="8562467"/>
                  </a:cubicBezTo>
                  <a:cubicBezTo>
                    <a:pt x="562914" y="7761986"/>
                    <a:pt x="742746" y="6961632"/>
                    <a:pt x="922070" y="6161151"/>
                  </a:cubicBezTo>
                  <a:cubicBezTo>
                    <a:pt x="1143558" y="5172583"/>
                    <a:pt x="1364538" y="4184015"/>
                    <a:pt x="1585899" y="3195574"/>
                  </a:cubicBezTo>
                  <a:cubicBezTo>
                    <a:pt x="1810816" y="2191385"/>
                    <a:pt x="2035860" y="1187323"/>
                    <a:pt x="2261412" y="183261"/>
                  </a:cubicBezTo>
                  <a:cubicBezTo>
                    <a:pt x="2275128" y="122174"/>
                    <a:pt x="2283891" y="59690"/>
                    <a:pt x="2306116" y="635"/>
                  </a:cubicBezTo>
                  <a:cubicBezTo>
                    <a:pt x="4392472" y="635"/>
                    <a:pt x="6478828" y="635"/>
                    <a:pt x="8565184" y="0"/>
                  </a:cubicBezTo>
                  <a:cubicBezTo>
                    <a:pt x="8593505" y="0"/>
                    <a:pt x="8603157" y="3429"/>
                    <a:pt x="8603157" y="35814"/>
                  </a:cubicBezTo>
                  <a:cubicBezTo>
                    <a:pt x="8602395" y="3441065"/>
                    <a:pt x="8602395" y="6846316"/>
                    <a:pt x="8603411" y="10251440"/>
                  </a:cubicBezTo>
                  <a:close/>
                </a:path>
              </a:pathLst>
            </a:custGeom>
            <a:blipFill>
              <a:blip r:embed="rId2"/>
              <a:stretch>
                <a:fillRect l="-2385" r="-2385"/>
              </a:stretch>
            </a:blipFill>
          </p:spPr>
        </p:sp>
      </p:grpSp>
      <p:grpSp>
        <p:nvGrpSpPr>
          <p:cNvPr id="7" name="Group 7"/>
          <p:cNvGrpSpPr/>
          <p:nvPr/>
        </p:nvGrpSpPr>
        <p:grpSpPr>
          <a:xfrm>
            <a:off x="5524779" y="403052"/>
            <a:ext cx="3274575" cy="972005"/>
            <a:chOff x="0" y="0"/>
            <a:chExt cx="862440" cy="256001"/>
          </a:xfrm>
        </p:grpSpPr>
        <p:sp>
          <p:nvSpPr>
            <p:cNvPr id="8" name="Freeform 8"/>
            <p:cNvSpPr/>
            <p:nvPr/>
          </p:nvSpPr>
          <p:spPr>
            <a:xfrm>
              <a:off x="0" y="0"/>
              <a:ext cx="862440" cy="256001"/>
            </a:xfrm>
            <a:custGeom>
              <a:avLst/>
              <a:gdLst/>
              <a:ahLst/>
              <a:cxnLst/>
              <a:rect l="l" t="t" r="r" b="b"/>
              <a:pathLst>
                <a:path w="862440" h="256001">
                  <a:moveTo>
                    <a:pt x="0" y="0"/>
                  </a:moveTo>
                  <a:lnTo>
                    <a:pt x="862440" y="0"/>
                  </a:lnTo>
                  <a:lnTo>
                    <a:pt x="862440" y="256001"/>
                  </a:lnTo>
                  <a:lnTo>
                    <a:pt x="0" y="256001"/>
                  </a:lnTo>
                  <a:close/>
                </a:path>
              </a:pathLst>
            </a:custGeom>
            <a:solidFill>
              <a:srgbClr val="8E9081"/>
            </a:solidFill>
          </p:spPr>
        </p:sp>
        <p:sp>
          <p:nvSpPr>
            <p:cNvPr id="9" name="TextBox 9"/>
            <p:cNvSpPr txBox="1"/>
            <p:nvPr/>
          </p:nvSpPr>
          <p:spPr>
            <a:xfrm>
              <a:off x="0" y="-47625"/>
              <a:ext cx="862440" cy="303626"/>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235025" y="-238116"/>
            <a:ext cx="1263725" cy="10831193"/>
            <a:chOff x="0" y="0"/>
            <a:chExt cx="332833" cy="2852660"/>
          </a:xfrm>
        </p:grpSpPr>
        <p:sp>
          <p:nvSpPr>
            <p:cNvPr id="11" name="Freeform 11"/>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FFFF"/>
            </a:solidFill>
          </p:spPr>
        </p:sp>
        <p:sp>
          <p:nvSpPr>
            <p:cNvPr id="12" name="TextBox 12"/>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82625" y="-85716"/>
            <a:ext cx="1263725" cy="10831193"/>
            <a:chOff x="0" y="0"/>
            <a:chExt cx="332833" cy="2852660"/>
          </a:xfrm>
        </p:grpSpPr>
        <p:sp>
          <p:nvSpPr>
            <p:cNvPr id="14" name="Freeform 14"/>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FFFF"/>
            </a:solidFill>
          </p:spPr>
        </p:sp>
        <p:sp>
          <p:nvSpPr>
            <p:cNvPr id="15" name="TextBox 15"/>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16" name="Freeform 16"/>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3"/>
            <a:stretch>
              <a:fillRect/>
            </a:stretch>
          </a:blipFill>
        </p:spPr>
      </p:sp>
      <p:sp>
        <p:nvSpPr>
          <p:cNvPr id="17" name="TextBox 17"/>
          <p:cNvSpPr txBox="1"/>
          <p:nvPr/>
        </p:nvSpPr>
        <p:spPr>
          <a:xfrm>
            <a:off x="1524000" y="4664889"/>
            <a:ext cx="17002125" cy="4439870"/>
          </a:xfrm>
          <a:prstGeom prst="rect">
            <a:avLst/>
          </a:prstGeom>
        </p:spPr>
        <p:txBody>
          <a:bodyPr wrap="square" lIns="0" tIns="0" rIns="0" bIns="0" rtlCol="0" anchor="t">
            <a:spAutoFit/>
          </a:bodyPr>
          <a:lstStyle/>
          <a:p>
            <a:pPr algn="l">
              <a:lnSpc>
                <a:spcPts val="6800"/>
              </a:lnSpc>
            </a:pPr>
            <a:r>
              <a:rPr lang="en-US" sz="8800" b="1" spc="-374" dirty="0" err="1">
                <a:solidFill>
                  <a:schemeClr val="bg1"/>
                </a:solidFill>
                <a:latin typeface="Century Gothic" panose="020B0502020202020204" pitchFamily="34" charset="0"/>
                <a:ea typeface="Heading Now 71-78"/>
                <a:cs typeface="Heading Now 71-78"/>
                <a:sym typeface="Heading Now 71-78"/>
              </a:rPr>
              <a:t>Temas</a:t>
            </a:r>
            <a:r>
              <a:rPr lang="en-US" sz="8800" b="1" spc="-374" dirty="0">
                <a:solidFill>
                  <a:schemeClr val="bg1"/>
                </a:solidFill>
                <a:latin typeface="Century Gothic" panose="020B0502020202020204" pitchFamily="34" charset="0"/>
                <a:ea typeface="Heading Now 71-78"/>
                <a:cs typeface="Heading Now 71-78"/>
                <a:sym typeface="Heading Now 71-78"/>
              </a:rPr>
              <a:t> </a:t>
            </a:r>
          </a:p>
          <a:p>
            <a:pPr algn="l">
              <a:lnSpc>
                <a:spcPts val="6800"/>
              </a:lnSpc>
            </a:pPr>
            <a:endParaRPr lang="en-US" sz="8800" b="1" spc="-374" dirty="0">
              <a:solidFill>
                <a:schemeClr val="bg1"/>
              </a:solidFill>
              <a:latin typeface="Century Gothic" panose="020B0502020202020204" pitchFamily="34" charset="0"/>
              <a:ea typeface="Heading Now 71-78"/>
              <a:cs typeface="Heading Now 71-78"/>
              <a:sym typeface="Heading Now 71-78"/>
            </a:endParaRPr>
          </a:p>
          <a:p>
            <a:pPr algn="l">
              <a:lnSpc>
                <a:spcPts val="6800"/>
              </a:lnSpc>
            </a:pPr>
            <a:r>
              <a:rPr lang="en-US" sz="8800" b="1" spc="-374" dirty="0" err="1">
                <a:solidFill>
                  <a:schemeClr val="bg1"/>
                </a:solidFill>
                <a:latin typeface="Century Gothic" panose="020B0502020202020204" pitchFamily="34" charset="0"/>
                <a:ea typeface="Heading Now 71-78"/>
                <a:cs typeface="Heading Now 71-78"/>
                <a:sym typeface="Heading Now 71-78"/>
              </a:rPr>
              <a:t>Selectos</a:t>
            </a:r>
            <a:r>
              <a:rPr lang="en-US" sz="8800" b="1" spc="-374" dirty="0">
                <a:solidFill>
                  <a:schemeClr val="bg1"/>
                </a:solidFill>
                <a:latin typeface="Century Gothic" panose="020B0502020202020204" pitchFamily="34" charset="0"/>
                <a:ea typeface="Heading Now 71-78"/>
                <a:cs typeface="Heading Now 71-78"/>
                <a:sym typeface="Heading Now 71-78"/>
              </a:rPr>
              <a:t> de </a:t>
            </a:r>
          </a:p>
          <a:p>
            <a:pPr algn="l">
              <a:lnSpc>
                <a:spcPts val="6800"/>
              </a:lnSpc>
            </a:pPr>
            <a:endParaRPr lang="en-US" sz="8800" b="1" spc="-374" dirty="0">
              <a:solidFill>
                <a:schemeClr val="bg1"/>
              </a:solidFill>
              <a:latin typeface="Century Gothic" panose="020B0502020202020204" pitchFamily="34" charset="0"/>
              <a:ea typeface="Heading Now 71-78"/>
              <a:cs typeface="Heading Now 71-78"/>
              <a:sym typeface="Heading Now 71-78"/>
            </a:endParaRPr>
          </a:p>
          <a:p>
            <a:pPr algn="l">
              <a:lnSpc>
                <a:spcPts val="6800"/>
              </a:lnSpc>
            </a:pPr>
            <a:r>
              <a:rPr lang="en-US" sz="8800" b="1" spc="-374" dirty="0" err="1">
                <a:solidFill>
                  <a:schemeClr val="bg1"/>
                </a:solidFill>
                <a:latin typeface="Century Gothic" panose="020B0502020202020204" pitchFamily="34" charset="0"/>
                <a:ea typeface="Heading Now 71-78"/>
                <a:cs typeface="Heading Now 71-78"/>
                <a:sym typeface="Heading Now 71-78"/>
              </a:rPr>
              <a:t>Matemáticas</a:t>
            </a:r>
            <a:r>
              <a:rPr lang="en-US" sz="8800" b="1" spc="-374" dirty="0">
                <a:solidFill>
                  <a:schemeClr val="bg1"/>
                </a:solidFill>
                <a:latin typeface="Century Gothic" panose="020B0502020202020204" pitchFamily="34" charset="0"/>
                <a:ea typeface="Heading Now 71-78"/>
                <a:cs typeface="Heading Now 71-78"/>
                <a:sym typeface="Heading Now 71-78"/>
              </a:rPr>
              <a:t> 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3" name="Rectángulo 2">
            <a:extLst>
              <a:ext uri="{FF2B5EF4-FFF2-40B4-BE49-F238E27FC236}">
                <a16:creationId xmlns:a16="http://schemas.microsoft.com/office/drawing/2014/main" id="{C8D8716D-6ABE-7365-1A77-C5DD53AA1916}"/>
              </a:ext>
            </a:extLst>
          </p:cNvPr>
          <p:cNvSpPr/>
          <p:nvPr/>
        </p:nvSpPr>
        <p:spPr>
          <a:xfrm>
            <a:off x="2743200" y="3676650"/>
            <a:ext cx="14097000" cy="13716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s-MX" sz="2400" dirty="0">
                <a:latin typeface="Century Gothic" panose="020B0502020202020204" pitchFamily="34" charset="0"/>
              </a:rPr>
              <a:t>CONTENIDO: INTRODUCCIÓN AL ÁLGEBRA</a:t>
            </a:r>
          </a:p>
        </p:txBody>
      </p:sp>
      <p:sp>
        <p:nvSpPr>
          <p:cNvPr id="4" name="Rectángulo 3">
            <a:extLst>
              <a:ext uri="{FF2B5EF4-FFF2-40B4-BE49-F238E27FC236}">
                <a16:creationId xmlns:a16="http://schemas.microsoft.com/office/drawing/2014/main" id="{BB84B7BB-1577-45C5-272C-ECBAC480D863}"/>
              </a:ext>
            </a:extLst>
          </p:cNvPr>
          <p:cNvSpPr/>
          <p:nvPr/>
        </p:nvSpPr>
        <p:spPr>
          <a:xfrm>
            <a:off x="2743200" y="5276850"/>
            <a:ext cx="14097000" cy="352425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r>
              <a:rPr lang="es-MX" sz="2400" dirty="0">
                <a:latin typeface="Century Gothic" panose="020B0502020202020204" pitchFamily="34" charset="0"/>
              </a:rPr>
              <a:t>P.D.A. Interpreta y plantea diversas situaciones del lenguaje común al lenguaje algebraico y viceversa.</a:t>
            </a:r>
          </a:p>
          <a:p>
            <a:pPr algn="just"/>
            <a:endParaRPr lang="es-MX" sz="2400" dirty="0">
              <a:latin typeface="Century Gothic" panose="020B0502020202020204" pitchFamily="34" charset="0"/>
            </a:endParaRPr>
          </a:p>
          <a:p>
            <a:pPr algn="just"/>
            <a:r>
              <a:rPr lang="es-MX" sz="2400" dirty="0">
                <a:latin typeface="Century Gothic" panose="020B0502020202020204" pitchFamily="34" charset="0"/>
              </a:rPr>
              <a:t>P.D.A. Representa algebraicamente perímetros de figuras. </a:t>
            </a:r>
          </a:p>
        </p:txBody>
      </p:sp>
      <p:sp>
        <p:nvSpPr>
          <p:cNvPr id="2" name="Rectángulo 1">
            <a:extLst>
              <a:ext uri="{FF2B5EF4-FFF2-40B4-BE49-F238E27FC236}">
                <a16:creationId xmlns:a16="http://schemas.microsoft.com/office/drawing/2014/main" id="{B83BF15F-2430-C5A0-0AC5-8936205B8188}"/>
              </a:ext>
            </a:extLst>
          </p:cNvPr>
          <p:cNvSpPr/>
          <p:nvPr/>
        </p:nvSpPr>
        <p:spPr>
          <a:xfrm>
            <a:off x="2743200" y="1866900"/>
            <a:ext cx="14097000" cy="1371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s-MX" sz="2400" dirty="0">
                <a:latin typeface="Century Gothic" panose="020B0502020202020204" pitchFamily="34" charset="0"/>
              </a:rPr>
              <a:t>CAMPO FORMATIVO: </a:t>
            </a:r>
          </a:p>
          <a:p>
            <a:pPr algn="ctr"/>
            <a:r>
              <a:rPr lang="es-MX" sz="2400" dirty="0">
                <a:latin typeface="Century Gothic" panose="020B0502020202020204" pitchFamily="34" charset="0"/>
              </a:rPr>
              <a:t>SABERES Y PENSAMIENTO CIENTÍFICO</a:t>
            </a:r>
          </a:p>
        </p:txBody>
      </p:sp>
    </p:spTree>
    <p:extLst>
      <p:ext uri="{BB962C8B-B14F-4D97-AF65-F5344CB8AC3E}">
        <p14:creationId xmlns:p14="http://schemas.microsoft.com/office/powerpoint/2010/main" val="89731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10" name="TextBox 10"/>
          <p:cNvSpPr txBox="1"/>
          <p:nvPr/>
        </p:nvSpPr>
        <p:spPr>
          <a:xfrm>
            <a:off x="1868932" y="1757958"/>
            <a:ext cx="15788595" cy="6771084"/>
          </a:xfrm>
          <a:prstGeom prst="rect">
            <a:avLst/>
          </a:prstGeom>
        </p:spPr>
        <p:txBody>
          <a:bodyPr lIns="0" tIns="0" rIns="0" bIns="0" rtlCol="0" anchor="t">
            <a:spAutoFit/>
          </a:bodyPr>
          <a:lstStyle/>
          <a:p>
            <a:r>
              <a:rPr lang="es-MX" sz="4400" dirty="0"/>
              <a:t>Comprender cómo las letras pueden representar números desconocidos para expresar de forma clara y breve cualquier situación de tu entorno.</a:t>
            </a:r>
          </a:p>
          <a:p>
            <a:endParaRPr lang="es-MX" sz="4400" dirty="0"/>
          </a:p>
          <a:p>
            <a:r>
              <a:rPr lang="es-MX" sz="4400" b="1" dirty="0"/>
              <a:t>D</a:t>
            </a:r>
            <a:r>
              <a:rPr lang="es-MX" sz="4400" dirty="0"/>
              <a:t>escubrir cómo generalizar y representar con fórmulas algebraicas el contorno y perímetro de diferentes figuras geométricas.</a:t>
            </a:r>
          </a:p>
          <a:p>
            <a:endParaRPr lang="es-MX" sz="4400" dirty="0"/>
          </a:p>
          <a:p>
            <a:r>
              <a:rPr lang="es-MX" sz="4400" b="1" dirty="0"/>
              <a:t>D</a:t>
            </a:r>
            <a:r>
              <a:rPr lang="es-MX" sz="4400" dirty="0"/>
              <a:t>esarrollar la habilidad de pasar información del lenguaje común al lenguaje matemático de forma exacta, facilitándote la resolución de problemas futuros.</a:t>
            </a:r>
          </a:p>
        </p:txBody>
      </p:sp>
    </p:spTree>
    <p:extLst>
      <p:ext uri="{BB962C8B-B14F-4D97-AF65-F5344CB8AC3E}">
        <p14:creationId xmlns:p14="http://schemas.microsoft.com/office/powerpoint/2010/main" val="1878494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pic>
        <p:nvPicPr>
          <p:cNvPr id="5" name="Imagen 4">
            <a:extLst>
              <a:ext uri="{FF2B5EF4-FFF2-40B4-BE49-F238E27FC236}">
                <a16:creationId xmlns:a16="http://schemas.microsoft.com/office/drawing/2014/main" id="{9BC74545-D0A8-167D-C609-BB3B84720E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647700"/>
            <a:ext cx="16786229" cy="9156123"/>
          </a:xfrm>
          <a:prstGeom prst="rect">
            <a:avLst/>
          </a:prstGeom>
        </p:spPr>
      </p:pic>
      <p:sp>
        <p:nvSpPr>
          <p:cNvPr id="9" name="Freeform 9"/>
          <p:cNvSpPr/>
          <p:nvPr/>
        </p:nvSpPr>
        <p:spPr>
          <a:xfrm>
            <a:off x="16169805" y="7816562"/>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3"/>
            <a:stretch>
              <a:fillRect/>
            </a:stretch>
          </a:blipFill>
        </p:spPr>
      </p:sp>
    </p:spTree>
    <p:extLst>
      <p:ext uri="{BB962C8B-B14F-4D97-AF65-F5344CB8AC3E}">
        <p14:creationId xmlns:p14="http://schemas.microsoft.com/office/powerpoint/2010/main" val="18121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10" name="TextBox 10"/>
          <p:cNvSpPr txBox="1"/>
          <p:nvPr/>
        </p:nvSpPr>
        <p:spPr>
          <a:xfrm>
            <a:off x="1830832" y="805564"/>
            <a:ext cx="15788595" cy="9048631"/>
          </a:xfrm>
          <a:prstGeom prst="rect">
            <a:avLst/>
          </a:prstGeom>
        </p:spPr>
        <p:txBody>
          <a:bodyPr lIns="0" tIns="0" rIns="0" bIns="0" rtlCol="0" anchor="t">
            <a:spAutoFit/>
          </a:bodyPr>
          <a:lstStyle/>
          <a:p>
            <a:r>
              <a:rPr lang="es-MX" sz="2800" b="1" dirty="0"/>
              <a:t>1. Propósito Cognitivo e Instrumental (Pensamiento Matemático)</a:t>
            </a:r>
          </a:p>
          <a:p>
            <a:r>
              <a:rPr lang="es-MX" sz="2800" b="1" dirty="0"/>
              <a:t>Lograr que las y los estudiantes transiten de forma fluida entre el lenguaje común y el lenguaje algebraico</a:t>
            </a:r>
            <a:r>
              <a:rPr lang="es-MX" sz="2800" dirty="0"/>
              <a:t>, desarrollando la capacidad de modelar e interpretar situaciones cotidianas y propiedades geométricas (como el cálculo de perímetros) mediante el uso de variables y constantes. Con esto se busca que comprendan el álgebra no como un conjunto de reglas aisladas, sino como un lenguaje universal útil para sintetizar y resolver problemas del entorno.</a:t>
            </a:r>
          </a:p>
          <a:p>
            <a:endParaRPr lang="es-MX" sz="2800" dirty="0"/>
          </a:p>
          <a:p>
            <a:r>
              <a:rPr lang="es-MX" sz="2800" b="1" dirty="0"/>
              <a:t>2. Propósito Didáctico y Metacognitivo</a:t>
            </a:r>
          </a:p>
          <a:p>
            <a:r>
              <a:rPr lang="es-MX" sz="2800" b="1" dirty="0"/>
              <a:t>Consolidar la autonomía del aprendizaje a través de la movilización de recursos estructurados</a:t>
            </a:r>
            <a:r>
              <a:rPr lang="es-MX" sz="2800" dirty="0"/>
              <a:t>, utilizando las fichas impresas de las páginas 38 a la 43 del cuadernillo estatal (</a:t>
            </a:r>
            <a:r>
              <a:rPr lang="es-MX" sz="2800" i="1" dirty="0"/>
              <a:t>Practicando saberes en Matemáticas</a:t>
            </a:r>
            <a:r>
              <a:rPr lang="es-MX" sz="2800" dirty="0"/>
              <a:t>) como un andamiaje que guíe al alumno desde el rescate de sus saberes previos y lecturas conceptuales, hasta la resolución colaborativa y la autoevaluación de sus propios procesos de desarrollo de aprendizaje (PDA).</a:t>
            </a:r>
          </a:p>
          <a:p>
            <a:endParaRPr lang="es-MX" sz="2800" dirty="0"/>
          </a:p>
          <a:p>
            <a:r>
              <a:rPr lang="es-MX" sz="2800" b="1" dirty="0"/>
              <a:t>3. Propósito Sociocomunitario y Lúdico (Ambientes de Aprendizaje NEM)</a:t>
            </a:r>
          </a:p>
          <a:p>
            <a:r>
              <a:rPr lang="es-MX" sz="2800" b="1" dirty="0"/>
              <a:t>Fomentar un ambiente de aprendizaje inclusivo, colaborativo y de sana convivencia a través de la gamificación</a:t>
            </a:r>
            <a:r>
              <a:rPr lang="es-MX" sz="2800" dirty="0"/>
              <a:t>, utilizando la dinámica de la "Lotería Algebraica" como un instrumento de evaluación formativa en tiempo real. Este propósito busca que los estudiantes validen sus conocimientos de manera colectiva, refuercen la escucha activa al descodificar las frases del "canto" y pierdan el temor a la abstracción matemática mediante el juego compartido en el aula.</a:t>
            </a:r>
          </a:p>
          <a:p>
            <a:pPr marL="571500" indent="-571500">
              <a:buFont typeface="Arial" panose="020B0604020202020204" pitchFamily="34" charset="0"/>
              <a:buChar char="•"/>
            </a:pPr>
            <a:endParaRPr lang="es-MX" sz="2800" dirty="0">
              <a:effectLst/>
              <a:latin typeface="Google Sans Text"/>
            </a:endParaRPr>
          </a:p>
        </p:txBody>
      </p:sp>
    </p:spTree>
    <p:extLst>
      <p:ext uri="{BB962C8B-B14F-4D97-AF65-F5344CB8AC3E}">
        <p14:creationId xmlns:p14="http://schemas.microsoft.com/office/powerpoint/2010/main" val="1895006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13" name="CuadroTexto 12">
            <a:extLst>
              <a:ext uri="{FF2B5EF4-FFF2-40B4-BE49-F238E27FC236}">
                <a16:creationId xmlns:a16="http://schemas.microsoft.com/office/drawing/2014/main" id="{7D55A5E8-0C0B-0E3A-9443-8689FAD54917}"/>
              </a:ext>
            </a:extLst>
          </p:cNvPr>
          <p:cNvSpPr txBox="1"/>
          <p:nvPr/>
        </p:nvSpPr>
        <p:spPr>
          <a:xfrm>
            <a:off x="1905000" y="3478768"/>
            <a:ext cx="9182100" cy="1815882"/>
          </a:xfrm>
          <a:prstGeom prst="rect">
            <a:avLst/>
          </a:prstGeom>
          <a:noFill/>
        </p:spPr>
        <p:txBody>
          <a:bodyPr wrap="square">
            <a:spAutoFit/>
          </a:bodyPr>
          <a:lstStyle/>
          <a:p>
            <a:r>
              <a:rPr lang="es-MX" sz="2800" dirty="0">
                <a:hlinkClick r:id="rId3"/>
              </a:rPr>
              <a:t>https://create.kahoot.it/share/lenguaje-algebraico-y-formulas-matematicas-segundo/b5172408-5036-45e4-87d5-03ffcde70511</a:t>
            </a:r>
            <a:endParaRPr lang="es-MX" sz="2800" dirty="0"/>
          </a:p>
          <a:p>
            <a:endParaRPr lang="es-MX" sz="2800" dirty="0"/>
          </a:p>
        </p:txBody>
      </p:sp>
      <p:sp>
        <p:nvSpPr>
          <p:cNvPr id="14" name="CuadroTexto 13">
            <a:extLst>
              <a:ext uri="{FF2B5EF4-FFF2-40B4-BE49-F238E27FC236}">
                <a16:creationId xmlns:a16="http://schemas.microsoft.com/office/drawing/2014/main" id="{2717B105-41AC-1F33-87CE-A9C00A340B7A}"/>
              </a:ext>
            </a:extLst>
          </p:cNvPr>
          <p:cNvSpPr txBox="1"/>
          <p:nvPr/>
        </p:nvSpPr>
        <p:spPr>
          <a:xfrm>
            <a:off x="1905000" y="5162550"/>
            <a:ext cx="9182100" cy="1815882"/>
          </a:xfrm>
          <a:prstGeom prst="rect">
            <a:avLst/>
          </a:prstGeom>
          <a:noFill/>
        </p:spPr>
        <p:txBody>
          <a:bodyPr wrap="square">
            <a:spAutoFit/>
          </a:bodyPr>
          <a:lstStyle/>
          <a:p>
            <a:r>
              <a:rPr lang="es-MX" sz="2800" dirty="0">
                <a:hlinkClick r:id="rId4"/>
              </a:rPr>
              <a:t>https://create.kahoot.it/share/lenguaje-algebraico/4402cd27-66ab-40eb-9344-32b1cfa216f8</a:t>
            </a:r>
            <a:endParaRPr lang="es-MX" sz="2800" dirty="0"/>
          </a:p>
          <a:p>
            <a:endParaRPr lang="es-MX" sz="2800" dirty="0"/>
          </a:p>
          <a:p>
            <a:r>
              <a:rPr lang="es-MX" sz="2800" dirty="0"/>
              <a:t>Loteria del lenguaje Algebraico.</a:t>
            </a:r>
          </a:p>
        </p:txBody>
      </p:sp>
      <p:sp>
        <p:nvSpPr>
          <p:cNvPr id="16" name="CuadroTexto 15">
            <a:extLst>
              <a:ext uri="{FF2B5EF4-FFF2-40B4-BE49-F238E27FC236}">
                <a16:creationId xmlns:a16="http://schemas.microsoft.com/office/drawing/2014/main" id="{BD94C8DC-F5F1-06BE-A40B-638ED154FAB8}"/>
              </a:ext>
            </a:extLst>
          </p:cNvPr>
          <p:cNvSpPr txBox="1"/>
          <p:nvPr/>
        </p:nvSpPr>
        <p:spPr>
          <a:xfrm>
            <a:off x="2057400" y="1562100"/>
            <a:ext cx="9182100" cy="1107996"/>
          </a:xfrm>
          <a:prstGeom prst="rect">
            <a:avLst/>
          </a:prstGeom>
          <a:noFill/>
        </p:spPr>
        <p:txBody>
          <a:bodyPr wrap="square">
            <a:spAutoFit/>
          </a:bodyPr>
          <a:lstStyle/>
          <a:p>
            <a:r>
              <a:rPr lang="es-MX" sz="6600" dirty="0"/>
              <a:t>Gamificación.</a:t>
            </a:r>
          </a:p>
        </p:txBody>
      </p:sp>
    </p:spTree>
    <p:extLst>
      <p:ext uri="{BB962C8B-B14F-4D97-AF65-F5344CB8AC3E}">
        <p14:creationId xmlns:p14="http://schemas.microsoft.com/office/powerpoint/2010/main" val="2454387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graphicFrame>
        <p:nvGraphicFramePr>
          <p:cNvPr id="2" name="Tabla 1">
            <a:extLst>
              <a:ext uri="{FF2B5EF4-FFF2-40B4-BE49-F238E27FC236}">
                <a16:creationId xmlns:a16="http://schemas.microsoft.com/office/drawing/2014/main" id="{5E720871-E0A8-4002-0E38-5B3C87EE6CB8}"/>
              </a:ext>
            </a:extLst>
          </p:cNvPr>
          <p:cNvGraphicFramePr>
            <a:graphicFrameLocks noGrp="1"/>
          </p:cNvGraphicFramePr>
          <p:nvPr>
            <p:extLst>
              <p:ext uri="{D42A27DB-BD31-4B8C-83A1-F6EECF244321}">
                <p14:modId xmlns:p14="http://schemas.microsoft.com/office/powerpoint/2010/main" val="3731415530"/>
              </p:ext>
            </p:extLst>
          </p:nvPr>
        </p:nvGraphicFramePr>
        <p:xfrm>
          <a:off x="1676400" y="85725"/>
          <a:ext cx="16306801" cy="10115550"/>
        </p:xfrm>
        <a:graphic>
          <a:graphicData uri="http://schemas.openxmlformats.org/drawingml/2006/table">
            <a:tbl>
              <a:tblPr>
                <a:tableStyleId>{3C2FFA5D-87B4-456A-9821-1D502468CF0F}</a:tableStyleId>
              </a:tblPr>
              <a:tblGrid>
                <a:gridCol w="1371600">
                  <a:extLst>
                    <a:ext uri="{9D8B030D-6E8A-4147-A177-3AD203B41FA5}">
                      <a16:colId xmlns:a16="http://schemas.microsoft.com/office/drawing/2014/main" val="1426100698"/>
                    </a:ext>
                  </a:extLst>
                </a:gridCol>
                <a:gridCol w="3886200">
                  <a:extLst>
                    <a:ext uri="{9D8B030D-6E8A-4147-A177-3AD203B41FA5}">
                      <a16:colId xmlns:a16="http://schemas.microsoft.com/office/drawing/2014/main" val="1188028757"/>
                    </a:ext>
                  </a:extLst>
                </a:gridCol>
                <a:gridCol w="11049001">
                  <a:extLst>
                    <a:ext uri="{9D8B030D-6E8A-4147-A177-3AD203B41FA5}">
                      <a16:colId xmlns:a16="http://schemas.microsoft.com/office/drawing/2014/main" val="4159388323"/>
                    </a:ext>
                  </a:extLst>
                </a:gridCol>
              </a:tblGrid>
              <a:tr h="720125">
                <a:tc>
                  <a:txBody>
                    <a:bodyPr/>
                    <a:lstStyle/>
                    <a:p>
                      <a:pPr algn="ctr" rtl="0"/>
                      <a:r>
                        <a:rPr lang="es-MX" sz="2200" b="1" dirty="0">
                          <a:solidFill>
                            <a:srgbClr val="1F1F1F"/>
                          </a:solidFill>
                          <a:effectLst/>
                        </a:rPr>
                        <a:t>Momento</a:t>
                      </a:r>
                      <a:endParaRPr lang="es-MX" sz="2200" dirty="0">
                        <a:solidFill>
                          <a:srgbClr val="1F1F1F"/>
                        </a:solidFill>
                        <a:effectLst/>
                        <a:latin typeface="Google Sans Text"/>
                      </a:endParaRPr>
                    </a:p>
                  </a:txBody>
                  <a:tcPr marL="24741" marR="24741" marT="16494" marB="16494" anchor="ctr"/>
                </a:tc>
                <a:tc>
                  <a:txBody>
                    <a:bodyPr/>
                    <a:lstStyle/>
                    <a:p>
                      <a:pPr algn="ctr" rtl="0"/>
                      <a:r>
                        <a:rPr lang="es-MX" sz="2200" b="1" dirty="0">
                          <a:solidFill>
                            <a:srgbClr val="1F1F1F"/>
                          </a:solidFill>
                          <a:effectLst/>
                        </a:rPr>
                        <a:t>Propósito del Estudiante </a:t>
                      </a:r>
                    </a:p>
                    <a:p>
                      <a:pPr algn="ctr" rtl="0"/>
                      <a:r>
                        <a:rPr lang="es-MX" sz="2200" b="1" dirty="0">
                          <a:solidFill>
                            <a:srgbClr val="1F1F1F"/>
                          </a:solidFill>
                          <a:effectLst/>
                        </a:rPr>
                        <a:t>(Lo que va a APRENDER)</a:t>
                      </a:r>
                      <a:endParaRPr lang="es-MX" sz="2200" dirty="0">
                        <a:solidFill>
                          <a:srgbClr val="1F1F1F"/>
                        </a:solidFill>
                        <a:effectLst/>
                        <a:latin typeface="Google Sans Text"/>
                      </a:endParaRPr>
                    </a:p>
                  </a:txBody>
                  <a:tcPr marL="24741" marR="24741" marT="16494" marB="16494" anchor="ctr"/>
                </a:tc>
                <a:tc>
                  <a:txBody>
                    <a:bodyPr/>
                    <a:lstStyle/>
                    <a:p>
                      <a:pPr algn="ctr" rtl="0"/>
                      <a:r>
                        <a:rPr lang="es-MX" sz="2200" b="1" dirty="0">
                          <a:solidFill>
                            <a:srgbClr val="1F1F1F"/>
                          </a:solidFill>
                          <a:effectLst/>
                        </a:rPr>
                        <a:t>Descripción de la Actividad</a:t>
                      </a:r>
                      <a:endParaRPr lang="es-MX" sz="2200" dirty="0">
                        <a:solidFill>
                          <a:srgbClr val="1F1F1F"/>
                        </a:solidFill>
                        <a:effectLst/>
                        <a:latin typeface="Google Sans Text"/>
                      </a:endParaRPr>
                    </a:p>
                  </a:txBody>
                  <a:tcPr marL="24741" marR="24741" marT="16494" marB="16494" anchor="ctr"/>
                </a:tc>
                <a:extLst>
                  <a:ext uri="{0D108BD9-81ED-4DB2-BD59-A6C34878D82A}">
                    <a16:rowId xmlns:a16="http://schemas.microsoft.com/office/drawing/2014/main" val="3039035973"/>
                  </a:ext>
                </a:extLst>
              </a:tr>
              <a:tr h="2442756">
                <a:tc>
                  <a:txBody>
                    <a:bodyPr/>
                    <a:lstStyle/>
                    <a:p>
                      <a:pPr algn="ctr" rtl="0"/>
                      <a:r>
                        <a:rPr lang="es-MX" sz="2200" b="1" dirty="0">
                          <a:solidFill>
                            <a:srgbClr val="1F1F1F"/>
                          </a:solidFill>
                          <a:effectLst/>
                        </a:rPr>
                        <a:t>INICIO</a:t>
                      </a:r>
                      <a:endParaRPr lang="es-MX" sz="2200" dirty="0">
                        <a:solidFill>
                          <a:srgbClr val="1F1F1F"/>
                        </a:solidFill>
                        <a:effectLst/>
                        <a:latin typeface="Google Sans Text"/>
                      </a:endParaRPr>
                    </a:p>
                  </a:txBody>
                  <a:tcPr marL="24741" marR="24741" marT="16494" marB="16494" vert="vert270" anchor="ctr"/>
                </a:tc>
                <a:tc>
                  <a:txBody>
                    <a:bodyPr/>
                    <a:lstStyle/>
                    <a:p>
                      <a:pPr rtl="0"/>
                      <a:r>
                        <a:rPr lang="es-MX" sz="2200" b="1">
                          <a:solidFill>
                            <a:srgbClr val="1F1F1F"/>
                          </a:solidFill>
                          <a:effectLst/>
                        </a:rPr>
                        <a:t>Aprender un nuevo lenguaje:</a:t>
                      </a:r>
                      <a:r>
                        <a:rPr lang="es-MX" sz="2200">
                          <a:solidFill>
                            <a:srgbClr val="1F1F1F"/>
                          </a:solidFill>
                          <a:effectLst/>
                        </a:rPr>
                        <a:t> Que logres comprender cómo las letras pueden representar números desconocidos para expresar de forma clara y breve cualquier situación de tu entorno.</a:t>
                      </a:r>
                      <a:endParaRPr lang="es-MX" sz="2200">
                        <a:solidFill>
                          <a:srgbClr val="1F1F1F"/>
                        </a:solidFill>
                        <a:effectLst/>
                        <a:latin typeface="Google Sans Text"/>
                      </a:endParaRPr>
                    </a:p>
                  </a:txBody>
                  <a:tcPr marL="24741" marR="24741" marT="16494" marB="16494" anchor="ctr"/>
                </a:tc>
                <a:tc>
                  <a:txBody>
                    <a:bodyPr/>
                    <a:lstStyle/>
                    <a:p>
                      <a:pPr rtl="0"/>
                      <a:r>
                        <a:rPr lang="es-MX" sz="2200" dirty="0">
                          <a:solidFill>
                            <a:srgbClr val="1F1F1F"/>
                          </a:solidFill>
                          <a:effectLst/>
                        </a:rPr>
                        <a:t>El docente plantea acertijos de "caja vacía" en el pizarrón. Los alumnos compiten por descifrar el valor oculto y deducen colectivamente cómo la resta ayuda a "vencer a la caja". Finalmente, se cambia la caja por una literal, descubriendo que las letras hacen el mismo trabajo de guardar un número secreto.</a:t>
                      </a:r>
                      <a:endParaRPr lang="es-MX" sz="2200" dirty="0">
                        <a:solidFill>
                          <a:srgbClr val="1F1F1F"/>
                        </a:solidFill>
                        <a:effectLst/>
                        <a:latin typeface="Google Sans Text"/>
                      </a:endParaRPr>
                    </a:p>
                  </a:txBody>
                  <a:tcPr marL="24741" marR="24741" marT="16494" marB="16494" anchor="ctr"/>
                </a:tc>
                <a:extLst>
                  <a:ext uri="{0D108BD9-81ED-4DB2-BD59-A6C34878D82A}">
                    <a16:rowId xmlns:a16="http://schemas.microsoft.com/office/drawing/2014/main" val="2488085933"/>
                  </a:ext>
                </a:extLst>
              </a:tr>
              <a:tr h="2787282">
                <a:tc>
                  <a:txBody>
                    <a:bodyPr/>
                    <a:lstStyle/>
                    <a:p>
                      <a:pPr algn="ctr" rtl="0"/>
                      <a:r>
                        <a:rPr lang="es-MX" sz="2200" b="1" dirty="0">
                          <a:solidFill>
                            <a:srgbClr val="1F1F1F"/>
                          </a:solidFill>
                          <a:effectLst/>
                        </a:rPr>
                        <a:t>DESARROLLO</a:t>
                      </a:r>
                      <a:endParaRPr lang="es-MX" sz="2200" dirty="0">
                        <a:solidFill>
                          <a:srgbClr val="1F1F1F"/>
                        </a:solidFill>
                        <a:effectLst/>
                        <a:latin typeface="Google Sans Text"/>
                      </a:endParaRPr>
                    </a:p>
                  </a:txBody>
                  <a:tcPr marL="24741" marR="24741" marT="16494" marB="16494" vert="vert270" anchor="ctr"/>
                </a:tc>
                <a:tc>
                  <a:txBody>
                    <a:bodyPr/>
                    <a:lstStyle/>
                    <a:p>
                      <a:pPr rtl="0"/>
                      <a:r>
                        <a:rPr lang="es-MX" sz="2200" b="1">
                          <a:solidFill>
                            <a:srgbClr val="1F1F1F"/>
                          </a:solidFill>
                          <a:effectLst/>
                        </a:rPr>
                        <a:t>Aprender a modelar la geometría y traducir conceptos:</a:t>
                      </a:r>
                      <a:r>
                        <a:rPr lang="es-MX" sz="2200">
                          <a:solidFill>
                            <a:srgbClr val="1F1F1F"/>
                          </a:solidFill>
                          <a:effectLst/>
                        </a:rPr>
                        <a:t> Que logres descubrir cómo generalizar y representar con expresiones algebraicas el contorno de figuras, pasando información del lenguaje común al matemático de forma exacta.</a:t>
                      </a:r>
                      <a:endParaRPr lang="es-MX" sz="2200">
                        <a:solidFill>
                          <a:srgbClr val="1F1F1F"/>
                        </a:solidFill>
                        <a:effectLst/>
                        <a:latin typeface="Google Sans Text"/>
                      </a:endParaRPr>
                    </a:p>
                  </a:txBody>
                  <a:tcPr marL="24741" marR="24741" marT="16494" marB="16494" anchor="ctr"/>
                </a:tc>
                <a:tc>
                  <a:txBody>
                    <a:bodyPr/>
                    <a:lstStyle/>
                    <a:p>
                      <a:pPr rtl="0"/>
                      <a:r>
                        <a:rPr lang="es-MX" sz="2200" b="1" dirty="0">
                          <a:solidFill>
                            <a:srgbClr val="1F1F1F"/>
                          </a:solidFill>
                          <a:effectLst/>
                        </a:rPr>
                        <a:t>Estaciones con Ficha Impresa (Págs. 38 a 43):</a:t>
                      </a:r>
                      <a:r>
                        <a:rPr lang="es-MX" sz="2200" dirty="0">
                          <a:solidFill>
                            <a:srgbClr val="1F1F1F"/>
                          </a:solidFill>
                          <a:effectLst/>
                        </a:rPr>
                        <a:t> Los alumnos resuelven en equipos las actividades del cuadernillo:</a:t>
                      </a:r>
                    </a:p>
                    <a:p>
                      <a:pPr rtl="0"/>
                      <a:br>
                        <a:rPr lang="es-MX" sz="2200" dirty="0">
                          <a:solidFill>
                            <a:srgbClr val="1F1F1F"/>
                          </a:solidFill>
                          <a:effectLst/>
                        </a:rPr>
                      </a:br>
                      <a:r>
                        <a:rPr lang="es-MX" sz="2200" dirty="0">
                          <a:solidFill>
                            <a:srgbClr val="1F1F1F"/>
                          </a:solidFill>
                          <a:effectLst/>
                        </a:rPr>
                        <a:t>1. Identifican palabras clave asociadas a operaciones (adición, diferencia, producto).</a:t>
                      </a:r>
                      <a:br>
                        <a:rPr lang="es-MX" sz="2200" dirty="0">
                          <a:solidFill>
                            <a:srgbClr val="1F1F1F"/>
                          </a:solidFill>
                          <a:effectLst/>
                        </a:rPr>
                      </a:br>
                      <a:r>
                        <a:rPr lang="es-MX" sz="2200" dirty="0">
                          <a:solidFill>
                            <a:srgbClr val="1F1F1F"/>
                          </a:solidFill>
                          <a:effectLst/>
                        </a:rPr>
                        <a:t>2. Traducen enunciados de doble vía (de texto a álgebra y viceversa).</a:t>
                      </a:r>
                      <a:br>
                        <a:rPr lang="es-MX" sz="2200" dirty="0">
                          <a:solidFill>
                            <a:srgbClr val="1F1F1F"/>
                          </a:solidFill>
                          <a:effectLst/>
                        </a:rPr>
                      </a:br>
                      <a:r>
                        <a:rPr lang="es-MX" sz="2200" dirty="0">
                          <a:solidFill>
                            <a:srgbClr val="1F1F1F"/>
                          </a:solidFill>
                          <a:effectLst/>
                        </a:rPr>
                        <a:t>3. Analizan polígonos para representar sus perímetros usando variables.</a:t>
                      </a:r>
                      <a:br>
                        <a:rPr lang="es-MX" sz="2200" dirty="0">
                          <a:solidFill>
                            <a:srgbClr val="1F1F1F"/>
                          </a:solidFill>
                          <a:effectLst/>
                        </a:rPr>
                      </a:br>
                      <a:r>
                        <a:rPr lang="es-MX" sz="2200" dirty="0">
                          <a:solidFill>
                            <a:srgbClr val="1F1F1F"/>
                          </a:solidFill>
                          <a:effectLst/>
                        </a:rPr>
                        <a:t>4. Resuelven reactivos de opción múltiple para consolidar de forma autónoma.</a:t>
                      </a:r>
                      <a:endParaRPr lang="es-MX" sz="2200" dirty="0">
                        <a:solidFill>
                          <a:srgbClr val="1F1F1F"/>
                        </a:solidFill>
                        <a:effectLst/>
                        <a:latin typeface="Google Sans Text"/>
                      </a:endParaRPr>
                    </a:p>
                  </a:txBody>
                  <a:tcPr marL="24741" marR="24741" marT="16494" marB="16494" anchor="ctr"/>
                </a:tc>
                <a:extLst>
                  <a:ext uri="{0D108BD9-81ED-4DB2-BD59-A6C34878D82A}">
                    <a16:rowId xmlns:a16="http://schemas.microsoft.com/office/drawing/2014/main" val="3213794170"/>
                  </a:ext>
                </a:extLst>
              </a:tr>
              <a:tr h="4165387">
                <a:tc>
                  <a:txBody>
                    <a:bodyPr/>
                    <a:lstStyle/>
                    <a:p>
                      <a:pPr algn="ctr" rtl="0"/>
                      <a:r>
                        <a:rPr lang="es-MX" sz="2200" b="1" dirty="0">
                          <a:solidFill>
                            <a:srgbClr val="1F1F1F"/>
                          </a:solidFill>
                          <a:effectLst/>
                        </a:rPr>
                        <a:t>CIERRE</a:t>
                      </a:r>
                      <a:endParaRPr lang="es-MX" sz="2200" dirty="0">
                        <a:solidFill>
                          <a:srgbClr val="1F1F1F"/>
                        </a:solidFill>
                        <a:effectLst/>
                        <a:latin typeface="Google Sans Text"/>
                      </a:endParaRPr>
                    </a:p>
                  </a:txBody>
                  <a:tcPr marL="24741" marR="24741" marT="16494" marB="16494" vert="vert270" anchor="ctr"/>
                </a:tc>
                <a:tc>
                  <a:txBody>
                    <a:bodyPr/>
                    <a:lstStyle/>
                    <a:p>
                      <a:pPr rtl="0"/>
                      <a:r>
                        <a:rPr lang="es-MX" sz="2200" b="1" dirty="0">
                          <a:solidFill>
                            <a:srgbClr val="1F1F1F"/>
                          </a:solidFill>
                          <a:effectLst/>
                        </a:rPr>
                        <a:t>Aprender a validar en comunidad:</a:t>
                      </a:r>
                      <a:r>
                        <a:rPr lang="es-MX" sz="2200" dirty="0">
                          <a:solidFill>
                            <a:srgbClr val="1F1F1F"/>
                          </a:solidFill>
                          <a:effectLst/>
                        </a:rPr>
                        <a:t> Que logres consolidar la habilidad de descodificar y verificar expresiones algebraicas en tiempo real, perdiendo el temor a la abstracción matemática mediante el trabajo colaborativo.</a:t>
                      </a:r>
                      <a:endParaRPr lang="es-MX" sz="2200" dirty="0">
                        <a:solidFill>
                          <a:srgbClr val="1F1F1F"/>
                        </a:solidFill>
                        <a:effectLst/>
                        <a:latin typeface="Google Sans Text"/>
                      </a:endParaRPr>
                    </a:p>
                  </a:txBody>
                  <a:tcPr marL="24741" marR="24741" marT="16494" marB="16494" anchor="ctr"/>
                </a:tc>
                <a:tc>
                  <a:txBody>
                    <a:bodyPr/>
                    <a:lstStyle/>
                    <a:p>
                      <a:pPr rtl="0"/>
                      <a:r>
                        <a:rPr lang="es-MX" sz="2200" b="1" dirty="0">
                          <a:solidFill>
                            <a:srgbClr val="1F1F1F"/>
                          </a:solidFill>
                          <a:effectLst/>
                        </a:rPr>
                        <a:t>Cierre en dos tiempos lúdicos:</a:t>
                      </a:r>
                      <a:endParaRPr lang="es-MX" sz="2200" dirty="0">
                        <a:solidFill>
                          <a:srgbClr val="1F1F1F"/>
                        </a:solidFill>
                        <a:effectLst/>
                      </a:endParaRPr>
                    </a:p>
                    <a:p>
                      <a:pPr rtl="0"/>
                      <a:br>
                        <a:rPr lang="es-MX" sz="2200" dirty="0">
                          <a:solidFill>
                            <a:srgbClr val="1F1F1F"/>
                          </a:solidFill>
                          <a:effectLst/>
                        </a:rPr>
                      </a:br>
                      <a:r>
                        <a:rPr lang="es-MX" sz="2200" b="1" dirty="0">
                          <a:solidFill>
                            <a:srgbClr val="1F1F1F"/>
                          </a:solidFill>
                          <a:effectLst/>
                        </a:rPr>
                        <a:t>1. Juego de la Lotería (Físico):</a:t>
                      </a:r>
                      <a:r>
                        <a:rPr lang="es-MX" sz="2200" dirty="0">
                          <a:solidFill>
                            <a:srgbClr val="1F1F1F"/>
                          </a:solidFill>
                          <a:effectLst/>
                        </a:rPr>
                        <a:t> Se realiza la dinámica tradicional de la lotería matemática. El docente canta los enunciados en lenguaje común y los alumnos identifican y marcan los símbolos correspondientes en sus tablas impresas hasta que alguien grite ¡Lotería! y valide sus respuestas frente al grupo.</a:t>
                      </a:r>
                      <a:br>
                        <a:rPr lang="es-MX" sz="2200" dirty="0">
                          <a:solidFill>
                            <a:srgbClr val="1F1F1F"/>
                          </a:solidFill>
                          <a:effectLst/>
                        </a:rPr>
                      </a:br>
                      <a:br>
                        <a:rPr lang="es-MX" sz="2200" dirty="0">
                          <a:solidFill>
                            <a:srgbClr val="1F1F1F"/>
                          </a:solidFill>
                          <a:effectLst/>
                        </a:rPr>
                      </a:br>
                      <a:r>
                        <a:rPr lang="es-MX" sz="2200" b="1" dirty="0">
                          <a:solidFill>
                            <a:srgbClr val="1F1F1F"/>
                          </a:solidFill>
                          <a:effectLst/>
                        </a:rPr>
                        <a:t>2. Reto Kahoot (Digital):</a:t>
                      </a:r>
                      <a:r>
                        <a:rPr lang="es-MX" sz="2200" dirty="0">
                          <a:solidFill>
                            <a:srgbClr val="1F1F1F"/>
                          </a:solidFill>
                          <a:effectLst/>
                        </a:rPr>
                        <a:t> Posteriormente, de forma individual o en parejas, ingresan a la plataforma para responder un cuestionario breve y rápido de opción múltiple proyectado en la pantalla. Esto servirá para medir la velocidad de traducción del lenguaje común al algebraico y cerrar la clase con el podio de ganadores.</a:t>
                      </a:r>
                      <a:endParaRPr lang="es-MX" sz="2200" dirty="0">
                        <a:solidFill>
                          <a:srgbClr val="1F1F1F"/>
                        </a:solidFill>
                        <a:effectLst/>
                        <a:latin typeface="Google Sans Text"/>
                      </a:endParaRPr>
                    </a:p>
                  </a:txBody>
                  <a:tcPr marL="24741" marR="24741" marT="16494" marB="16494" anchor="ctr"/>
                </a:tc>
                <a:extLst>
                  <a:ext uri="{0D108BD9-81ED-4DB2-BD59-A6C34878D82A}">
                    <a16:rowId xmlns:a16="http://schemas.microsoft.com/office/drawing/2014/main" val="1200486767"/>
                  </a:ext>
                </a:extLst>
              </a:tr>
            </a:tbl>
          </a:graphicData>
        </a:graphic>
      </p:graphicFrame>
    </p:spTree>
    <p:extLst>
      <p:ext uri="{BB962C8B-B14F-4D97-AF65-F5344CB8AC3E}">
        <p14:creationId xmlns:p14="http://schemas.microsoft.com/office/powerpoint/2010/main" val="1790795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graphicFrame>
        <p:nvGraphicFramePr>
          <p:cNvPr id="2" name="Tabla 1">
            <a:extLst>
              <a:ext uri="{FF2B5EF4-FFF2-40B4-BE49-F238E27FC236}">
                <a16:creationId xmlns:a16="http://schemas.microsoft.com/office/drawing/2014/main" id="{C6EF23C8-8FF5-B5C5-D8C9-4975669B6D26}"/>
              </a:ext>
            </a:extLst>
          </p:cNvPr>
          <p:cNvGraphicFramePr>
            <a:graphicFrameLocks noGrp="1"/>
          </p:cNvGraphicFramePr>
          <p:nvPr>
            <p:extLst>
              <p:ext uri="{D42A27DB-BD31-4B8C-83A1-F6EECF244321}">
                <p14:modId xmlns:p14="http://schemas.microsoft.com/office/powerpoint/2010/main" val="739795372"/>
              </p:ext>
            </p:extLst>
          </p:nvPr>
        </p:nvGraphicFramePr>
        <p:xfrm>
          <a:off x="1524000" y="266700"/>
          <a:ext cx="16078200" cy="9720462"/>
        </p:xfrm>
        <a:graphic>
          <a:graphicData uri="http://schemas.openxmlformats.org/drawingml/2006/table">
            <a:tbl>
              <a:tblPr>
                <a:tableStyleId>{69C7853C-536D-4A76-A0AE-DD22124D55A5}</a:tableStyleId>
              </a:tblPr>
              <a:tblGrid>
                <a:gridCol w="1828800">
                  <a:extLst>
                    <a:ext uri="{9D8B030D-6E8A-4147-A177-3AD203B41FA5}">
                      <a16:colId xmlns:a16="http://schemas.microsoft.com/office/drawing/2014/main" val="1944344098"/>
                    </a:ext>
                  </a:extLst>
                </a:gridCol>
                <a:gridCol w="14249400">
                  <a:extLst>
                    <a:ext uri="{9D8B030D-6E8A-4147-A177-3AD203B41FA5}">
                      <a16:colId xmlns:a16="http://schemas.microsoft.com/office/drawing/2014/main" val="3153907822"/>
                    </a:ext>
                  </a:extLst>
                </a:gridCol>
              </a:tblGrid>
              <a:tr h="241219">
                <a:tc>
                  <a:txBody>
                    <a:bodyPr/>
                    <a:lstStyle/>
                    <a:p>
                      <a:pPr algn="ctr" rtl="0"/>
                      <a:r>
                        <a:rPr lang="es-MX" sz="2000" b="1" dirty="0">
                          <a:solidFill>
                            <a:srgbClr val="1F1F1F"/>
                          </a:solidFill>
                          <a:effectLst/>
                        </a:rPr>
                        <a:t>Eje Articulador</a:t>
                      </a:r>
                      <a:endParaRPr lang="es-MX" sz="2000" dirty="0">
                        <a:solidFill>
                          <a:srgbClr val="1F1F1F"/>
                        </a:solidFill>
                        <a:effectLst/>
                        <a:latin typeface="Google Sans Text"/>
                      </a:endParaRPr>
                    </a:p>
                  </a:txBody>
                  <a:tcPr marL="31724" marR="31724" marT="21149" marB="21149" anchor="ctr"/>
                </a:tc>
                <a:tc>
                  <a:txBody>
                    <a:bodyPr/>
                    <a:lstStyle/>
                    <a:p>
                      <a:pPr algn="ctr" rtl="0"/>
                      <a:r>
                        <a:rPr lang="es-MX" sz="2000" b="1" dirty="0">
                          <a:solidFill>
                            <a:srgbClr val="1F1F1F"/>
                          </a:solidFill>
                          <a:effectLst/>
                        </a:rPr>
                        <a:t>Puesta en Práctica en la Secuencia</a:t>
                      </a:r>
                      <a:endParaRPr lang="es-MX" sz="2000" dirty="0">
                        <a:solidFill>
                          <a:srgbClr val="1F1F1F"/>
                        </a:solidFill>
                        <a:effectLst/>
                        <a:latin typeface="Google Sans Text"/>
                      </a:endParaRPr>
                    </a:p>
                  </a:txBody>
                  <a:tcPr marL="31724" marR="31724" marT="21149" marB="21149" anchor="ctr"/>
                </a:tc>
                <a:extLst>
                  <a:ext uri="{0D108BD9-81ED-4DB2-BD59-A6C34878D82A}">
                    <a16:rowId xmlns:a16="http://schemas.microsoft.com/office/drawing/2014/main" val="1999360209"/>
                  </a:ext>
                </a:extLst>
              </a:tr>
              <a:tr h="1482146">
                <a:tc>
                  <a:txBody>
                    <a:bodyPr/>
                    <a:lstStyle/>
                    <a:p>
                      <a:pPr algn="ctr" rtl="0"/>
                      <a:r>
                        <a:rPr lang="es-MX" sz="2000" b="1" dirty="0">
                          <a:solidFill>
                            <a:srgbClr val="1F1F1F"/>
                          </a:solidFill>
                          <a:effectLst/>
                        </a:rPr>
                        <a:t>Inclusión</a:t>
                      </a:r>
                      <a:endParaRPr lang="es-MX" sz="2000" dirty="0">
                        <a:solidFill>
                          <a:srgbClr val="1F1F1F"/>
                        </a:solidFill>
                        <a:effectLst/>
                        <a:latin typeface="Google Sans Text"/>
                      </a:endParaRPr>
                    </a:p>
                  </a:txBody>
                  <a:tcPr marL="31724" marR="31724" marT="21149" marB="21149" anchor="ctr"/>
                </a:tc>
                <a:tc>
                  <a:txBody>
                    <a:bodyPr/>
                    <a:lstStyle/>
                    <a:p>
                      <a:pPr rtl="0"/>
                      <a:r>
                        <a:rPr lang="es-MX" sz="2000" dirty="0">
                          <a:solidFill>
                            <a:srgbClr val="1F1F1F"/>
                          </a:solidFill>
                          <a:effectLst/>
                        </a:rPr>
                        <a:t>Se manifiesta al permitir que cada alumno responda el reto inical según su propia intuición aritmética, y al diseñar la "Lotería Algebraica" con dinámicas grupales que eliminan las barreras de aprendizaje, permitiendo que todos participen activamente sin importar su nivel de abstracción inicial.</a:t>
                      </a:r>
                      <a:endParaRPr lang="es-MX" sz="2000" dirty="0">
                        <a:solidFill>
                          <a:srgbClr val="1F1F1F"/>
                        </a:solidFill>
                        <a:effectLst/>
                        <a:latin typeface="Google Sans Text"/>
                      </a:endParaRPr>
                    </a:p>
                  </a:txBody>
                  <a:tcPr marL="31724" marR="31724" marT="21149" marB="21149" anchor="ctr"/>
                </a:tc>
                <a:extLst>
                  <a:ext uri="{0D108BD9-81ED-4DB2-BD59-A6C34878D82A}">
                    <a16:rowId xmlns:a16="http://schemas.microsoft.com/office/drawing/2014/main" val="3608970186"/>
                  </a:ext>
                </a:extLst>
              </a:tr>
              <a:tr h="1171915">
                <a:tc>
                  <a:txBody>
                    <a:bodyPr/>
                    <a:lstStyle/>
                    <a:p>
                      <a:pPr algn="ctr" rtl="0"/>
                      <a:r>
                        <a:rPr lang="es-MX" sz="2000" b="1">
                          <a:solidFill>
                            <a:srgbClr val="1F1F1F"/>
                          </a:solidFill>
                          <a:effectLst/>
                        </a:rPr>
                        <a:t>Pensamiento crítico</a:t>
                      </a:r>
                      <a:endParaRPr lang="es-MX" sz="2000">
                        <a:solidFill>
                          <a:srgbClr val="1F1F1F"/>
                        </a:solidFill>
                        <a:effectLst/>
                        <a:latin typeface="Google Sans Text"/>
                      </a:endParaRPr>
                    </a:p>
                  </a:txBody>
                  <a:tcPr marL="31724" marR="31724" marT="21149" marB="21149" anchor="ctr"/>
                </a:tc>
                <a:tc>
                  <a:txBody>
                    <a:bodyPr/>
                    <a:lstStyle/>
                    <a:p>
                      <a:pPr rtl="0"/>
                      <a:r>
                        <a:rPr lang="es-MX" sz="2000" dirty="0">
                          <a:solidFill>
                            <a:srgbClr val="1F1F1F"/>
                          </a:solidFill>
                          <a:effectLst/>
                        </a:rPr>
                        <a:t>Se activa cuando el alumno debe interrogar enunciados en lenguaje común para descifrar su estructura lógica y usar las matemáticas para "traducir" la realidad en códigos exactos, argumentando el porqué de cada variable en lugar de adivinar el resultado.</a:t>
                      </a:r>
                      <a:endParaRPr lang="es-MX" sz="2000" dirty="0">
                        <a:solidFill>
                          <a:srgbClr val="1F1F1F"/>
                        </a:solidFill>
                        <a:effectLst/>
                        <a:latin typeface="Google Sans Text"/>
                      </a:endParaRPr>
                    </a:p>
                  </a:txBody>
                  <a:tcPr marL="31724" marR="31724" marT="21149" marB="21149" anchor="ctr"/>
                </a:tc>
                <a:extLst>
                  <a:ext uri="{0D108BD9-81ED-4DB2-BD59-A6C34878D82A}">
                    <a16:rowId xmlns:a16="http://schemas.microsoft.com/office/drawing/2014/main" val="3438672908"/>
                  </a:ext>
                </a:extLst>
              </a:tr>
              <a:tr h="1327030">
                <a:tc>
                  <a:txBody>
                    <a:bodyPr/>
                    <a:lstStyle/>
                    <a:p>
                      <a:pPr algn="ctr" rtl="0"/>
                      <a:r>
                        <a:rPr lang="es-MX" sz="2000" b="1">
                          <a:solidFill>
                            <a:srgbClr val="1F1F1F"/>
                          </a:solidFill>
                          <a:effectLst/>
                        </a:rPr>
                        <a:t>Interculturalidad crítica</a:t>
                      </a:r>
                      <a:endParaRPr lang="es-MX" sz="2000">
                        <a:solidFill>
                          <a:srgbClr val="1F1F1F"/>
                        </a:solidFill>
                        <a:effectLst/>
                        <a:latin typeface="Google Sans Text"/>
                      </a:endParaRPr>
                    </a:p>
                  </a:txBody>
                  <a:tcPr marL="31724" marR="31724" marT="21149" marB="21149" anchor="ctr"/>
                </a:tc>
                <a:tc>
                  <a:txBody>
                    <a:bodyPr/>
                    <a:lstStyle/>
                    <a:p>
                      <a:pPr rtl="0"/>
                      <a:r>
                        <a:rPr lang="es-MX" sz="2000">
                          <a:solidFill>
                            <a:srgbClr val="1F1F1F"/>
                          </a:solidFill>
                          <a:effectLst/>
                        </a:rPr>
                        <a:t>Se promueve mediante el análisis del origen del álgebra como un lenguaje universal de la humanidad, valorando cómo las diferentes culturas desarrollaron la necesidad de registrar y comunicar saberes locales y propiedades de la naturaleza a través de símbolos comunes.</a:t>
                      </a:r>
                      <a:endParaRPr lang="es-MX" sz="2000">
                        <a:solidFill>
                          <a:srgbClr val="1F1F1F"/>
                        </a:solidFill>
                        <a:effectLst/>
                        <a:latin typeface="Google Sans Text"/>
                      </a:endParaRPr>
                    </a:p>
                  </a:txBody>
                  <a:tcPr marL="31724" marR="31724" marT="21149" marB="21149" anchor="ctr"/>
                </a:tc>
                <a:extLst>
                  <a:ext uri="{0D108BD9-81ED-4DB2-BD59-A6C34878D82A}">
                    <a16:rowId xmlns:a16="http://schemas.microsoft.com/office/drawing/2014/main" val="3890222236"/>
                  </a:ext>
                </a:extLst>
              </a:tr>
              <a:tr h="1171915">
                <a:tc>
                  <a:txBody>
                    <a:bodyPr/>
                    <a:lstStyle/>
                    <a:p>
                      <a:pPr algn="ctr" rtl="0"/>
                      <a:r>
                        <a:rPr lang="es-MX" sz="2000" b="1">
                          <a:solidFill>
                            <a:srgbClr val="1F1F1F"/>
                          </a:solidFill>
                          <a:effectLst/>
                        </a:rPr>
                        <a:t>Igualdad de género</a:t>
                      </a:r>
                      <a:endParaRPr lang="es-MX" sz="2000">
                        <a:solidFill>
                          <a:srgbClr val="1F1F1F"/>
                        </a:solidFill>
                        <a:effectLst/>
                        <a:latin typeface="Google Sans Text"/>
                      </a:endParaRPr>
                    </a:p>
                  </a:txBody>
                  <a:tcPr marL="31724" marR="31724" marT="21149" marB="21149" anchor="ctr"/>
                </a:tc>
                <a:tc>
                  <a:txBody>
                    <a:bodyPr/>
                    <a:lstStyle/>
                    <a:p>
                      <a:pPr rtl="0"/>
                      <a:r>
                        <a:rPr lang="es-MX" sz="2000">
                          <a:solidFill>
                            <a:srgbClr val="1F1F1F"/>
                          </a:solidFill>
                          <a:effectLst/>
                        </a:rPr>
                        <a:t>Se fomenta al organizar los equipos de trabajo de las estaciones de la ficha y los turnos de juego en Kahoot por igual, promoviendo que tanto hombres como mujeres lideren la traducción de enunciados, la manipulación de variables y la toma de decisiones matemáticas.</a:t>
                      </a:r>
                      <a:endParaRPr lang="es-MX" sz="2000">
                        <a:solidFill>
                          <a:srgbClr val="1F1F1F"/>
                        </a:solidFill>
                        <a:effectLst/>
                        <a:latin typeface="Google Sans Text"/>
                      </a:endParaRPr>
                    </a:p>
                  </a:txBody>
                  <a:tcPr marL="31724" marR="31724" marT="21149" marB="21149" anchor="ctr"/>
                </a:tc>
                <a:extLst>
                  <a:ext uri="{0D108BD9-81ED-4DB2-BD59-A6C34878D82A}">
                    <a16:rowId xmlns:a16="http://schemas.microsoft.com/office/drawing/2014/main" val="2224530892"/>
                  </a:ext>
                </a:extLst>
              </a:tr>
              <a:tr h="1327030">
                <a:tc>
                  <a:txBody>
                    <a:bodyPr/>
                    <a:lstStyle/>
                    <a:p>
                      <a:pPr algn="ctr" rtl="0"/>
                      <a:r>
                        <a:rPr lang="es-MX" sz="2000" b="1">
                          <a:solidFill>
                            <a:srgbClr val="1F1F1F"/>
                          </a:solidFill>
                          <a:effectLst/>
                        </a:rPr>
                        <a:t>Vida saludable</a:t>
                      </a:r>
                      <a:endParaRPr lang="es-MX" sz="2000">
                        <a:solidFill>
                          <a:srgbClr val="1F1F1F"/>
                        </a:solidFill>
                        <a:effectLst/>
                        <a:latin typeface="Google Sans Text"/>
                      </a:endParaRPr>
                    </a:p>
                  </a:txBody>
                  <a:tcPr marL="31724" marR="31724" marT="21149" marB="21149" anchor="ctr"/>
                </a:tc>
                <a:tc>
                  <a:txBody>
                    <a:bodyPr/>
                    <a:lstStyle/>
                    <a:p>
                      <a:pPr rtl="0"/>
                      <a:r>
                        <a:rPr lang="es-MX" sz="2000">
                          <a:solidFill>
                            <a:srgbClr val="1F1F1F"/>
                          </a:solidFill>
                          <a:effectLst/>
                        </a:rPr>
                        <a:t>Se pone en práctica al dosificar los momentos de la sesión combinando el trabajo sedentario de análisis en la ficha con pausas dinámicas e interacciones lúdicas (Lotería y Kahoot) que reducen la ansiedad matemática, favoreciendo el bienestar socioemocional y mental del estudiante dentro del aula.</a:t>
                      </a:r>
                      <a:endParaRPr lang="es-MX" sz="2000">
                        <a:solidFill>
                          <a:srgbClr val="1F1F1F"/>
                        </a:solidFill>
                        <a:effectLst/>
                        <a:latin typeface="Google Sans Text"/>
                      </a:endParaRPr>
                    </a:p>
                  </a:txBody>
                  <a:tcPr marL="31724" marR="31724" marT="21149" marB="21149" anchor="ctr"/>
                </a:tc>
                <a:extLst>
                  <a:ext uri="{0D108BD9-81ED-4DB2-BD59-A6C34878D82A}">
                    <a16:rowId xmlns:a16="http://schemas.microsoft.com/office/drawing/2014/main" val="2722754408"/>
                  </a:ext>
                </a:extLst>
              </a:tr>
              <a:tr h="1327030">
                <a:tc>
                  <a:txBody>
                    <a:bodyPr/>
                    <a:lstStyle/>
                    <a:p>
                      <a:pPr algn="ctr" rtl="0"/>
                      <a:r>
                        <a:rPr lang="es-MX" sz="2000" b="1">
                          <a:solidFill>
                            <a:srgbClr val="1F1F1F"/>
                          </a:solidFill>
                          <a:effectLst/>
                        </a:rPr>
                        <a:t>Artes y experiencias estéticas</a:t>
                      </a:r>
                      <a:endParaRPr lang="es-MX" sz="2000">
                        <a:solidFill>
                          <a:srgbClr val="1F1F1F"/>
                        </a:solidFill>
                        <a:effectLst/>
                        <a:latin typeface="Google Sans Text"/>
                      </a:endParaRPr>
                    </a:p>
                  </a:txBody>
                  <a:tcPr marL="31724" marR="31724" marT="21149" marB="21149" anchor="ctr"/>
                </a:tc>
                <a:tc>
                  <a:txBody>
                    <a:bodyPr/>
                    <a:lstStyle/>
                    <a:p>
                      <a:pPr rtl="0"/>
                      <a:r>
                        <a:rPr lang="es-MX" sz="2000" dirty="0">
                          <a:solidFill>
                            <a:srgbClr val="1F1F1F"/>
                          </a:solidFill>
                          <a:effectLst/>
                        </a:rPr>
                        <a:t>Se ejerce en la estación de aplicación geométrica, donde el alumno utiliza la percepción visual y el dibujo de los polígonos para analizar sus contornos, cuidando la representación limpia, simétrica y estructurada de las figuras al momento de deducir y escribir sus fórmulas de perímetro.</a:t>
                      </a:r>
                      <a:endParaRPr lang="es-MX" sz="2000" dirty="0">
                        <a:solidFill>
                          <a:srgbClr val="1F1F1F"/>
                        </a:solidFill>
                        <a:effectLst/>
                        <a:latin typeface="Google Sans Text"/>
                      </a:endParaRPr>
                    </a:p>
                  </a:txBody>
                  <a:tcPr marL="31724" marR="31724" marT="21149" marB="21149" anchor="ctr"/>
                </a:tc>
                <a:extLst>
                  <a:ext uri="{0D108BD9-81ED-4DB2-BD59-A6C34878D82A}">
                    <a16:rowId xmlns:a16="http://schemas.microsoft.com/office/drawing/2014/main" val="1879943996"/>
                  </a:ext>
                </a:extLst>
              </a:tr>
              <a:tr h="1171915">
                <a:tc>
                  <a:txBody>
                    <a:bodyPr/>
                    <a:lstStyle/>
                    <a:p>
                      <a:pPr algn="ctr" rtl="0"/>
                      <a:r>
                        <a:rPr lang="es-MX" sz="2000" b="1" dirty="0">
                          <a:solidFill>
                            <a:srgbClr val="1F1F1F"/>
                          </a:solidFill>
                          <a:effectLst/>
                        </a:rPr>
                        <a:t>Apropiación de las culturas a través de la lectura y la escritura</a:t>
                      </a:r>
                      <a:endParaRPr lang="es-MX" sz="2000" dirty="0">
                        <a:solidFill>
                          <a:srgbClr val="1F1F1F"/>
                        </a:solidFill>
                        <a:effectLst/>
                        <a:latin typeface="Google Sans Text"/>
                      </a:endParaRPr>
                    </a:p>
                  </a:txBody>
                  <a:tcPr marL="31724" marR="31724" marT="21149" marB="21149" anchor="ctr"/>
                </a:tc>
                <a:tc>
                  <a:txBody>
                    <a:bodyPr/>
                    <a:lstStyle/>
                    <a:p>
                      <a:pPr rtl="0"/>
                      <a:r>
                        <a:rPr lang="es-MX" sz="2000" dirty="0">
                          <a:solidFill>
                            <a:srgbClr val="1F1F1F"/>
                          </a:solidFill>
                          <a:effectLst/>
                        </a:rPr>
                        <a:t>Se desarrolla al analizar y desmenuzar las lecturas conceptuales del cuadernillo, redactando expresiones algebraicas razonadas a partir de textos cotidianos, decodificando fórmulas y registrando enunciados matemáticos que conectan los símbolos con la realidad escrita.</a:t>
                      </a:r>
                      <a:endParaRPr lang="es-MX" sz="2000" dirty="0">
                        <a:solidFill>
                          <a:srgbClr val="1F1F1F"/>
                        </a:solidFill>
                        <a:effectLst/>
                        <a:latin typeface="Google Sans Text"/>
                      </a:endParaRPr>
                    </a:p>
                  </a:txBody>
                  <a:tcPr marL="31724" marR="31724" marT="21149" marB="21149" anchor="ctr"/>
                </a:tc>
                <a:extLst>
                  <a:ext uri="{0D108BD9-81ED-4DB2-BD59-A6C34878D82A}">
                    <a16:rowId xmlns:a16="http://schemas.microsoft.com/office/drawing/2014/main" val="4290165320"/>
                  </a:ext>
                </a:extLst>
              </a:tr>
            </a:tbl>
          </a:graphicData>
        </a:graphic>
      </p:graphicFrame>
    </p:spTree>
    <p:extLst>
      <p:ext uri="{BB962C8B-B14F-4D97-AF65-F5344CB8AC3E}">
        <p14:creationId xmlns:p14="http://schemas.microsoft.com/office/powerpoint/2010/main" val="3160696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graphicFrame>
        <p:nvGraphicFramePr>
          <p:cNvPr id="2" name="Tabla 1">
            <a:extLst>
              <a:ext uri="{FF2B5EF4-FFF2-40B4-BE49-F238E27FC236}">
                <a16:creationId xmlns:a16="http://schemas.microsoft.com/office/drawing/2014/main" id="{264DA6AF-1DE7-98D3-6972-8621430BCB0C}"/>
              </a:ext>
            </a:extLst>
          </p:cNvPr>
          <p:cNvGraphicFramePr>
            <a:graphicFrameLocks noGrp="1"/>
          </p:cNvGraphicFramePr>
          <p:nvPr>
            <p:extLst>
              <p:ext uri="{D42A27DB-BD31-4B8C-83A1-F6EECF244321}">
                <p14:modId xmlns:p14="http://schemas.microsoft.com/office/powerpoint/2010/main" val="1205203708"/>
              </p:ext>
            </p:extLst>
          </p:nvPr>
        </p:nvGraphicFramePr>
        <p:xfrm>
          <a:off x="1600200" y="419101"/>
          <a:ext cx="16230600" cy="9642687"/>
        </p:xfrm>
        <a:graphic>
          <a:graphicData uri="http://schemas.openxmlformats.org/drawingml/2006/table">
            <a:tbl>
              <a:tblPr/>
              <a:tblGrid>
                <a:gridCol w="2133600">
                  <a:extLst>
                    <a:ext uri="{9D8B030D-6E8A-4147-A177-3AD203B41FA5}">
                      <a16:colId xmlns:a16="http://schemas.microsoft.com/office/drawing/2014/main" val="1908528425"/>
                    </a:ext>
                  </a:extLst>
                </a:gridCol>
                <a:gridCol w="3200400">
                  <a:extLst>
                    <a:ext uri="{9D8B030D-6E8A-4147-A177-3AD203B41FA5}">
                      <a16:colId xmlns:a16="http://schemas.microsoft.com/office/drawing/2014/main" val="2747859846"/>
                    </a:ext>
                  </a:extLst>
                </a:gridCol>
                <a:gridCol w="10896600">
                  <a:extLst>
                    <a:ext uri="{9D8B030D-6E8A-4147-A177-3AD203B41FA5}">
                      <a16:colId xmlns:a16="http://schemas.microsoft.com/office/drawing/2014/main" val="3144719510"/>
                    </a:ext>
                  </a:extLst>
                </a:gridCol>
              </a:tblGrid>
              <a:tr h="207341">
                <a:tc>
                  <a:txBody>
                    <a:bodyPr/>
                    <a:lstStyle/>
                    <a:p>
                      <a:pPr rtl="0"/>
                      <a:r>
                        <a:rPr lang="es-MX" sz="2400" b="1">
                          <a:solidFill>
                            <a:srgbClr val="1F1F1F"/>
                          </a:solidFill>
                          <a:effectLst/>
                          <a:latin typeface="Google Sans Text"/>
                        </a:rPr>
                        <a:t>Criterio</a:t>
                      </a:r>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b="1">
                          <a:solidFill>
                            <a:srgbClr val="1F1F1F"/>
                          </a:solidFill>
                          <a:effectLst/>
                          <a:latin typeface="Google Sans Text"/>
                        </a:rPr>
                        <a:t>Tipo / Momento</a:t>
                      </a:r>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b="1">
                          <a:solidFill>
                            <a:srgbClr val="1F1F1F"/>
                          </a:solidFill>
                          <a:effectLst/>
                          <a:latin typeface="Google Sans Text"/>
                        </a:rPr>
                        <a:t>Aplicación en la Secuencia</a:t>
                      </a:r>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33090695"/>
                  </a:ext>
                </a:extLst>
              </a:tr>
              <a:tr h="1406953">
                <a:tc>
                  <a:txBody>
                    <a:bodyPr/>
                    <a:lstStyle/>
                    <a:p>
                      <a:pPr rtl="0"/>
                      <a:r>
                        <a:rPr lang="es-MX" sz="2400" b="1">
                          <a:solidFill>
                            <a:srgbClr val="1F1F1F"/>
                          </a:solidFill>
                          <a:effectLst/>
                          <a:latin typeface="Google Sans Text"/>
                        </a:rPr>
                        <a:t>Por sus Agentes</a:t>
                      </a:r>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b="1">
                          <a:solidFill>
                            <a:srgbClr val="1F1F1F"/>
                          </a:solidFill>
                          <a:effectLst/>
                          <a:latin typeface="Google Sans Text"/>
                        </a:rPr>
                        <a:t>Autoevaluación</a:t>
                      </a:r>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dirty="0">
                          <a:solidFill>
                            <a:srgbClr val="1F1F1F"/>
                          </a:solidFill>
                          <a:effectLst/>
                          <a:latin typeface="Google Sans Text"/>
                        </a:rPr>
                        <a:t>El alumno reflexiona sobre su propio desempeño y aprendizaje mediante la tabla de indicadores al reverso de su ficha de trabajo, identificando de manera honesta si logra traducir enunciados o si aún necesita apoyo pedagógico.</a:t>
                      </a: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085511063"/>
                  </a:ext>
                </a:extLst>
              </a:tr>
              <a:tr h="1540243">
                <a:tc>
                  <a:txBody>
                    <a:bodyPr/>
                    <a:lstStyle/>
                    <a:p>
                      <a:pPr rtl="0"/>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b="1" dirty="0">
                          <a:solidFill>
                            <a:srgbClr val="1F1F1F"/>
                          </a:solidFill>
                          <a:effectLst/>
                          <a:latin typeface="Google Sans Text"/>
                        </a:rPr>
                        <a:t>Coevaluación</a:t>
                      </a:r>
                      <a:endParaRPr lang="es-MX" sz="2400" dirty="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dirty="0">
                          <a:solidFill>
                            <a:srgbClr val="1F1F1F"/>
                          </a:solidFill>
                          <a:effectLst/>
                          <a:latin typeface="Google Sans Text"/>
                        </a:rPr>
                        <a:t>Se activa durante el trabajo en equipos de las situaciones de aprendizaje del cuadernillo (páginas 39-41), donde los integrantes de las binas valoran mutuamente sus ideas para identificar palabras clave de las operaciones y sus aportes al deducir fórmulas de perímetros.</a:t>
                      </a: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937589198"/>
                  </a:ext>
                </a:extLst>
              </a:tr>
              <a:tr h="1540243">
                <a:tc>
                  <a:txBody>
                    <a:bodyPr/>
                    <a:lstStyle/>
                    <a:p>
                      <a:pPr rtl="0"/>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b="1">
                          <a:solidFill>
                            <a:srgbClr val="1F1F1F"/>
                          </a:solidFill>
                          <a:effectLst/>
                          <a:latin typeface="Google Sans Text"/>
                        </a:rPr>
                        <a:t>Heteroevaluación</a:t>
                      </a:r>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a:solidFill>
                            <a:srgbClr val="1F1F1F"/>
                          </a:solidFill>
                          <a:effectLst/>
                          <a:latin typeface="Google Sans Text"/>
                        </a:rPr>
                        <a:t>El docente utiliza un registro de observación durante las dinámicas de cierre (Lotería y Kahoot) para valorar la precisión en la traducción en tiempo real, el dominio del nuevo lenguaje matemático y el nivel de participación colaborativa mostrado por cada estudiante.</a:t>
                      </a: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1800454852"/>
                  </a:ext>
                </a:extLst>
              </a:tr>
              <a:tr h="1540243">
                <a:tc>
                  <a:txBody>
                    <a:bodyPr/>
                    <a:lstStyle/>
                    <a:p>
                      <a:pPr rtl="0"/>
                      <a:r>
                        <a:rPr lang="es-MX" sz="2400" b="1">
                          <a:solidFill>
                            <a:srgbClr val="1F1F1F"/>
                          </a:solidFill>
                          <a:effectLst/>
                          <a:latin typeface="Google Sans Text"/>
                        </a:rPr>
                        <a:t>Por sus Momentos</a:t>
                      </a:r>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b="1">
                          <a:solidFill>
                            <a:srgbClr val="1F1F1F"/>
                          </a:solidFill>
                          <a:effectLst/>
                          <a:latin typeface="Google Sans Text"/>
                        </a:rPr>
                        <a:t>Evaluación Inicial (Diagnóstica)</a:t>
                      </a:r>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dirty="0">
                          <a:solidFill>
                            <a:srgbClr val="1F1F1F"/>
                          </a:solidFill>
                          <a:effectLst/>
                          <a:latin typeface="Google Sans Text"/>
                        </a:rPr>
                        <a:t>Se realiza al arrancar la clase con el reto incial, donde los alumnos explican intuitivamente cómo encontrar un valor oculto en operaciones con "cajas vacías", permitiendo al docente medir sus nociones aritméticas previas.</a:t>
                      </a: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2191491051"/>
                  </a:ext>
                </a:extLst>
              </a:tr>
              <a:tr h="1540243">
                <a:tc>
                  <a:txBody>
                    <a:bodyPr/>
                    <a:lstStyle/>
                    <a:p>
                      <a:pPr rtl="0"/>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b="1">
                          <a:solidFill>
                            <a:srgbClr val="1F1F1F"/>
                          </a:solidFill>
                          <a:effectLst/>
                          <a:latin typeface="Google Sans Text"/>
                        </a:rPr>
                        <a:t>Evaluación Continua (Procesal)</a:t>
                      </a:r>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dirty="0">
                          <a:solidFill>
                            <a:srgbClr val="1F1F1F"/>
                          </a:solidFill>
                          <a:effectLst/>
                          <a:latin typeface="Google Sans Text"/>
                        </a:rPr>
                        <a:t>Ocurre durante la resolución guiada de las actividades impresas. Es el momento de retroalimentar los errores de traducción semántica, corregir la estructura de las variables y ajustar el registro de las expresiones en sus tablas.</a:t>
                      </a: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4043259351"/>
                  </a:ext>
                </a:extLst>
              </a:tr>
              <a:tr h="1673532">
                <a:tc>
                  <a:txBody>
                    <a:bodyPr/>
                    <a:lstStyle/>
                    <a:p>
                      <a:pPr rtl="0"/>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b="1">
                          <a:solidFill>
                            <a:srgbClr val="1F1F1F"/>
                          </a:solidFill>
                          <a:effectLst/>
                          <a:latin typeface="Google Sans Text"/>
                        </a:rPr>
                        <a:t>Evaluación Final (Cierre)</a:t>
                      </a:r>
                      <a:endParaRPr lang="es-MX" sz="2400">
                        <a:solidFill>
                          <a:srgbClr val="1F1F1F"/>
                        </a:solidFill>
                        <a:effectLst/>
                        <a:latin typeface="Google Sans Text"/>
                      </a:endParaRP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tc>
                  <a:txBody>
                    <a:bodyPr/>
                    <a:lstStyle/>
                    <a:p>
                      <a:pPr rtl="0"/>
                      <a:r>
                        <a:rPr lang="es-MX" sz="2400" dirty="0">
                          <a:solidFill>
                            <a:srgbClr val="1F1F1F"/>
                          </a:solidFill>
                          <a:effectLst/>
                          <a:latin typeface="Google Sans Text"/>
                        </a:rPr>
                        <a:t>Se lleva a cabo en la fase lúdica mediante la metacognición en dos tiempos: el alumno analiza su agilidad mental para descodificar las frases de la Lotería tradicional y consolida su precisión respondiendo de forma individual el cuestionario rápido en la plataforma Kahoot.</a:t>
                      </a:r>
                    </a:p>
                  </a:txBody>
                  <a:tcPr marL="26602" marR="26602" marT="17735" marB="17735"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tcPr>
                </a:tc>
                <a:extLst>
                  <a:ext uri="{0D108BD9-81ED-4DB2-BD59-A6C34878D82A}">
                    <a16:rowId xmlns:a16="http://schemas.microsoft.com/office/drawing/2014/main" val="4173718048"/>
                  </a:ext>
                </a:extLst>
              </a:tr>
            </a:tbl>
          </a:graphicData>
        </a:graphic>
      </p:graphicFrame>
    </p:spTree>
    <p:extLst>
      <p:ext uri="{BB962C8B-B14F-4D97-AF65-F5344CB8AC3E}">
        <p14:creationId xmlns:p14="http://schemas.microsoft.com/office/powerpoint/2010/main" val="3695541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2" name="Rectangle 1">
            <a:extLst>
              <a:ext uri="{FF2B5EF4-FFF2-40B4-BE49-F238E27FC236}">
                <a16:creationId xmlns:a16="http://schemas.microsoft.com/office/drawing/2014/main" id="{7865557A-9215-CC7F-A9F7-FF73379B37F0}"/>
              </a:ext>
            </a:extLst>
          </p:cNvPr>
          <p:cNvSpPr>
            <a:spLocks noChangeArrowheads="1"/>
          </p:cNvSpPr>
          <p:nvPr/>
        </p:nvSpPr>
        <p:spPr bwMode="auto">
          <a:xfrm>
            <a:off x="1447800" y="712232"/>
            <a:ext cx="16652305" cy="4534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58662" tIns="25392" rIns="301530" bIns="76176"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s-ES_tradnl" altLang="es-MX" sz="4800" b="0" i="0" u="none" strike="noStrike" cap="none" normalizeH="0" baseline="0" dirty="0">
                <a:ln>
                  <a:noFill/>
                </a:ln>
                <a:solidFill>
                  <a:srgbClr val="1F1F1F"/>
                </a:solidFill>
                <a:effectLst/>
                <a:latin typeface="Century Gothic" panose="020B0502020202020204" pitchFamily="34" charset="0"/>
                <a:ea typeface="MS Gothic" panose="020B0609070205080204" pitchFamily="49" charset="-128"/>
                <a:cs typeface="Times New Roman" panose="02020603050405020304" pitchFamily="18" charset="0"/>
              </a:rPr>
              <a:t>Reflexión Pedagógica.</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endParaRPr kumimoji="0" lang="es-ES_tradnl" altLang="es-MX" sz="4800" b="0" i="0" u="none" strike="noStrike" cap="none" normalizeH="0" baseline="0" dirty="0">
              <a:ln>
                <a:noFill/>
              </a:ln>
              <a:solidFill>
                <a:srgbClr val="365F91"/>
              </a:solidFill>
              <a:effectLst/>
              <a:latin typeface="Century Gothic" panose="020B0502020202020204" pitchFamily="34" charset="0"/>
              <a:ea typeface="MS Gothic" panose="020B0609070205080204" pitchFamily="49" charset="-128"/>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s-ES_tradnl" altLang="es-MX" sz="4800" b="0" i="0" u="sng" strike="noStrike" cap="none" normalizeH="0" baseline="0" dirty="0">
                <a:ln>
                  <a:noFill/>
                </a:ln>
                <a:solidFill>
                  <a:srgbClr val="1F1F1F"/>
                </a:solidFill>
                <a:effectLst/>
                <a:latin typeface="Century Gothic" panose="020B0502020202020204" pitchFamily="34" charset="0"/>
                <a:ea typeface="Cambria" panose="02040503050406030204" pitchFamily="18" charset="0"/>
                <a:cs typeface="Arial" panose="020B0604020202020204" pitchFamily="34" charset="0"/>
              </a:rPr>
              <a:t>Sobre el diseño del proyecto:</a:t>
            </a:r>
            <a:r>
              <a:rPr kumimoji="0" lang="es-ES_tradnl" altLang="es-MX" sz="4800" b="0" i="0" u="none" strike="noStrike" cap="none" normalizeH="0" baseline="0" dirty="0">
                <a:ln>
                  <a:noFill/>
                </a:ln>
                <a:solidFill>
                  <a:srgbClr val="1F1F1F"/>
                </a:solidFill>
                <a:effectLst/>
                <a:latin typeface="Century Gothic" panose="020B0502020202020204" pitchFamily="34" charset="0"/>
                <a:ea typeface="Cambria" panose="02040503050406030204" pitchFamily="18" charset="0"/>
                <a:cs typeface="Arial" panose="020B0604020202020204" pitchFamily="34" charset="0"/>
              </a:rPr>
              <a:t> Si fueras el maestro y pudieras rediseñar esta secuencia (a los materiales, al reto o a los experimentos) para hacerlo más interesante o para que se entendiera mejor el tema?</a:t>
            </a:r>
            <a:endParaRPr kumimoji="0" lang="es-ES_tradnl" altLang="es-MX" sz="4800" b="0" i="0" u="none" strike="noStrike" cap="none" normalizeH="0" baseline="0" dirty="0">
              <a:ln>
                <a:noFill/>
              </a:ln>
              <a:solidFill>
                <a:schemeClr val="tx1"/>
              </a:solidFill>
              <a:effectLst/>
              <a:latin typeface="Century Gothic" panose="020B0502020202020204" pitchFamily="34" charset="0"/>
            </a:endParaRPr>
          </a:p>
        </p:txBody>
      </p:sp>
      <p:sp>
        <p:nvSpPr>
          <p:cNvPr id="4" name="Rectangle 3">
            <a:extLst>
              <a:ext uri="{FF2B5EF4-FFF2-40B4-BE49-F238E27FC236}">
                <a16:creationId xmlns:a16="http://schemas.microsoft.com/office/drawing/2014/main" id="{20EFD3B4-809F-DD0B-83ED-21B65B66C8D7}"/>
              </a:ext>
            </a:extLst>
          </p:cNvPr>
          <p:cNvSpPr>
            <a:spLocks noChangeArrowheads="1"/>
          </p:cNvSpPr>
          <p:nvPr/>
        </p:nvSpPr>
        <p:spPr bwMode="auto">
          <a:xfrm>
            <a:off x="914400" y="3387725"/>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6176" numCol="1" anchor="ctr" anchorCtr="0" compatLnSpc="1">
            <a:prstTxWarp prst="textNoShape">
              <a:avLst/>
            </a:prstTxWarp>
            <a:spAutoFit/>
          </a:bodyPr>
          <a:lstStyle/>
          <a:p>
            <a:endParaRPr lang="es-MX"/>
          </a:p>
        </p:txBody>
      </p:sp>
      <p:sp>
        <p:nvSpPr>
          <p:cNvPr id="11" name="Rectangle 5">
            <a:extLst>
              <a:ext uri="{FF2B5EF4-FFF2-40B4-BE49-F238E27FC236}">
                <a16:creationId xmlns:a16="http://schemas.microsoft.com/office/drawing/2014/main" id="{E6736229-4DE3-D926-7C2B-2049E0D377C2}"/>
              </a:ext>
            </a:extLst>
          </p:cNvPr>
          <p:cNvSpPr>
            <a:spLocks noChangeArrowheads="1"/>
          </p:cNvSpPr>
          <p:nvPr/>
        </p:nvSpPr>
        <p:spPr bwMode="auto">
          <a:xfrm>
            <a:off x="914400" y="34036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6176" numCol="1" anchor="ctr" anchorCtr="0" compatLnSpc="1">
            <a:prstTxWarp prst="textNoShape">
              <a:avLst/>
            </a:prstTxWarp>
            <a:spAutoFit/>
          </a:bodyPr>
          <a:lstStyle/>
          <a:p>
            <a:endParaRPr lang="es-MX"/>
          </a:p>
        </p:txBody>
      </p:sp>
      <p:sp>
        <p:nvSpPr>
          <p:cNvPr id="13" name="Rectangle 7">
            <a:extLst>
              <a:ext uri="{FF2B5EF4-FFF2-40B4-BE49-F238E27FC236}">
                <a16:creationId xmlns:a16="http://schemas.microsoft.com/office/drawing/2014/main" id="{4F880573-9BBC-9F47-DB15-1082A44C13B4}"/>
              </a:ext>
            </a:extLst>
          </p:cNvPr>
          <p:cNvSpPr>
            <a:spLocks noChangeArrowheads="1"/>
          </p:cNvSpPr>
          <p:nvPr/>
        </p:nvSpPr>
        <p:spPr bwMode="auto">
          <a:xfrm>
            <a:off x="1447801" y="6801883"/>
            <a:ext cx="1646665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457200" algn="l"/>
              </a:tabLst>
            </a:pPr>
            <a:r>
              <a:rPr kumimoji="0" lang="es-ES_tradnl" altLang="es-MX" sz="4800" b="0" i="0" u="sng" strike="noStrike" cap="none" normalizeH="0" baseline="0" dirty="0">
                <a:ln>
                  <a:noFill/>
                </a:ln>
                <a:solidFill>
                  <a:srgbClr val="1F1F1F"/>
                </a:solidFill>
                <a:effectLst/>
                <a:latin typeface="Century Gothic" panose="020B0502020202020204" pitchFamily="34" charset="0"/>
                <a:ea typeface="Cambria" panose="02040503050406030204" pitchFamily="18" charset="0"/>
                <a:cs typeface="Arial" panose="020B0604020202020204" pitchFamily="34" charset="0"/>
              </a:rPr>
              <a:t>Sobre tu propio proceso:</a:t>
            </a:r>
            <a:r>
              <a:rPr kumimoji="0" lang="es-ES_tradnl" altLang="es-MX" sz="4800" b="0" i="0" u="none" strike="noStrike" cap="none" normalizeH="0" baseline="0" dirty="0">
                <a:ln>
                  <a:noFill/>
                </a:ln>
                <a:solidFill>
                  <a:srgbClr val="1F1F1F"/>
                </a:solidFill>
                <a:effectLst/>
                <a:latin typeface="Century Gothic" panose="020B0502020202020204" pitchFamily="34" charset="0"/>
                <a:ea typeface="Cambria" panose="02040503050406030204" pitchFamily="18" charset="0"/>
                <a:cs typeface="Arial" panose="020B0604020202020204" pitchFamily="34" charset="0"/>
              </a:rPr>
              <a:t> Si tuvieras la oportunidad de repetir toda esta secuencia desde cero, ¿qué harías diferente tú?</a:t>
            </a:r>
            <a:endParaRPr kumimoji="0" lang="es-ES_tradnl" altLang="es-MX" sz="4800" b="0" i="0" u="none" strike="noStrike" cap="none" normalizeH="0" baseline="0" dirty="0">
              <a:ln>
                <a:noFill/>
              </a:ln>
              <a:solidFill>
                <a:schemeClr val="tx1"/>
              </a:solidFill>
              <a:effectLst/>
              <a:latin typeface="Century Gothic" panose="020B0502020202020204" pitchFamily="34" charset="0"/>
            </a:endParaRPr>
          </a:p>
        </p:txBody>
      </p:sp>
    </p:spTree>
    <p:extLst>
      <p:ext uri="{BB962C8B-B14F-4D97-AF65-F5344CB8AC3E}">
        <p14:creationId xmlns:p14="http://schemas.microsoft.com/office/powerpoint/2010/main" val="2555327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82625" y="-85716"/>
            <a:ext cx="1263725" cy="10831193"/>
            <a:chOff x="0" y="0"/>
            <a:chExt cx="332833" cy="2852660"/>
          </a:xfrm>
        </p:grpSpPr>
        <p:sp>
          <p:nvSpPr>
            <p:cNvPr id="7" name="Freeform 7"/>
            <p:cNvSpPr/>
            <p:nvPr/>
          </p:nvSpPr>
          <p:spPr>
            <a:xfrm>
              <a:off x="0" y="0"/>
              <a:ext cx="332833" cy="2852660"/>
            </a:xfrm>
            <a:custGeom>
              <a:avLst/>
              <a:gdLst/>
              <a:ahLst/>
              <a:cxnLst/>
              <a:rect l="l" t="t" r="r" b="b"/>
              <a:pathLst>
                <a:path w="332833" h="2852660">
                  <a:moveTo>
                    <a:pt x="0" y="0"/>
                  </a:moveTo>
                  <a:lnTo>
                    <a:pt x="332833" y="0"/>
                  </a:lnTo>
                  <a:lnTo>
                    <a:pt x="332833" y="2852660"/>
                  </a:lnTo>
                  <a:lnTo>
                    <a:pt x="0" y="2852660"/>
                  </a:lnTo>
                  <a:close/>
                </a:path>
              </a:pathLst>
            </a:custGeom>
            <a:solidFill>
              <a:srgbClr val="FF751F"/>
            </a:solidFill>
          </p:spPr>
        </p:sp>
        <p:sp>
          <p:nvSpPr>
            <p:cNvPr id="8" name="TextBox 8"/>
            <p:cNvSpPr txBox="1"/>
            <p:nvPr/>
          </p:nvSpPr>
          <p:spPr>
            <a:xfrm>
              <a:off x="0" y="-47625"/>
              <a:ext cx="332833" cy="2900285"/>
            </a:xfrm>
            <a:prstGeom prst="rect">
              <a:avLst/>
            </a:prstGeom>
          </p:spPr>
          <p:txBody>
            <a:bodyPr lIns="50800" tIns="50800" rIns="50800" bIns="50800" rtlCol="0" anchor="ctr"/>
            <a:lstStyle/>
            <a:p>
              <a:pPr algn="ctr">
                <a:lnSpc>
                  <a:spcPts val="3359"/>
                </a:lnSpc>
              </a:pPr>
              <a:endParaRPr/>
            </a:p>
          </p:txBody>
        </p:sp>
      </p:grpSp>
      <p:sp>
        <p:nvSpPr>
          <p:cNvPr id="9" name="Freeform 9"/>
          <p:cNvSpPr/>
          <p:nvPr/>
        </p:nvSpPr>
        <p:spPr>
          <a:xfrm>
            <a:off x="17055630" y="9073680"/>
            <a:ext cx="1127595" cy="1127595"/>
          </a:xfrm>
          <a:custGeom>
            <a:avLst/>
            <a:gdLst/>
            <a:ahLst/>
            <a:cxnLst/>
            <a:rect l="l" t="t" r="r" b="b"/>
            <a:pathLst>
              <a:path w="1127595" h="1127595">
                <a:moveTo>
                  <a:pt x="0" y="0"/>
                </a:moveTo>
                <a:lnTo>
                  <a:pt x="1127595" y="0"/>
                </a:lnTo>
                <a:lnTo>
                  <a:pt x="1127595" y="1127595"/>
                </a:lnTo>
                <a:lnTo>
                  <a:pt x="0" y="1127595"/>
                </a:lnTo>
                <a:lnTo>
                  <a:pt x="0" y="0"/>
                </a:lnTo>
                <a:close/>
              </a:path>
            </a:pathLst>
          </a:custGeom>
          <a:blipFill>
            <a:blip r:embed="rId2"/>
            <a:stretch>
              <a:fillRect/>
            </a:stretch>
          </a:blipFill>
        </p:spPr>
      </p:sp>
      <p:sp>
        <p:nvSpPr>
          <p:cNvPr id="4" name="Rectangle 3">
            <a:extLst>
              <a:ext uri="{FF2B5EF4-FFF2-40B4-BE49-F238E27FC236}">
                <a16:creationId xmlns:a16="http://schemas.microsoft.com/office/drawing/2014/main" id="{20EFD3B4-809F-DD0B-83ED-21B65B66C8D7}"/>
              </a:ext>
            </a:extLst>
          </p:cNvPr>
          <p:cNvSpPr>
            <a:spLocks noChangeArrowheads="1"/>
          </p:cNvSpPr>
          <p:nvPr/>
        </p:nvSpPr>
        <p:spPr bwMode="auto">
          <a:xfrm>
            <a:off x="914400" y="3387725"/>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6176" numCol="1" anchor="ctr" anchorCtr="0" compatLnSpc="1">
            <a:prstTxWarp prst="textNoShape">
              <a:avLst/>
            </a:prstTxWarp>
            <a:spAutoFit/>
          </a:bodyPr>
          <a:lstStyle/>
          <a:p>
            <a:endParaRPr lang="es-MX"/>
          </a:p>
        </p:txBody>
      </p:sp>
      <p:sp>
        <p:nvSpPr>
          <p:cNvPr id="11" name="Rectangle 5">
            <a:extLst>
              <a:ext uri="{FF2B5EF4-FFF2-40B4-BE49-F238E27FC236}">
                <a16:creationId xmlns:a16="http://schemas.microsoft.com/office/drawing/2014/main" id="{E6736229-4DE3-D926-7C2B-2049E0D377C2}"/>
              </a:ext>
            </a:extLst>
          </p:cNvPr>
          <p:cNvSpPr>
            <a:spLocks noChangeArrowheads="1"/>
          </p:cNvSpPr>
          <p:nvPr/>
        </p:nvSpPr>
        <p:spPr bwMode="auto">
          <a:xfrm>
            <a:off x="914400" y="34036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76176" numCol="1" anchor="ctr" anchorCtr="0" compatLnSpc="1">
            <a:prstTxWarp prst="textNoShape">
              <a:avLst/>
            </a:prstTxWarp>
            <a:spAutoFit/>
          </a:bodyPr>
          <a:lstStyle/>
          <a:p>
            <a:endParaRPr lang="es-MX"/>
          </a:p>
        </p:txBody>
      </p:sp>
      <p:sp>
        <p:nvSpPr>
          <p:cNvPr id="5" name="CuadroTexto 4">
            <a:extLst>
              <a:ext uri="{FF2B5EF4-FFF2-40B4-BE49-F238E27FC236}">
                <a16:creationId xmlns:a16="http://schemas.microsoft.com/office/drawing/2014/main" id="{9A539150-8882-5BCD-757E-6193ED3CEC8A}"/>
              </a:ext>
            </a:extLst>
          </p:cNvPr>
          <p:cNvSpPr txBox="1"/>
          <p:nvPr/>
        </p:nvSpPr>
        <p:spPr>
          <a:xfrm>
            <a:off x="1504950" y="4175718"/>
            <a:ext cx="16659225" cy="2308324"/>
          </a:xfrm>
          <a:prstGeom prst="rect">
            <a:avLst/>
          </a:prstGeom>
          <a:noFill/>
        </p:spPr>
        <p:txBody>
          <a:bodyPr wrap="square">
            <a:spAutoFit/>
          </a:bodyPr>
          <a:lstStyle/>
          <a:p>
            <a:pPr rtl="0">
              <a:buFont typeface="Arial" panose="020B0604020202020204" pitchFamily="34" charset="0"/>
              <a:buChar char="•"/>
            </a:pPr>
            <a:r>
              <a:rPr lang="es-MX" dirty="0">
                <a:solidFill>
                  <a:srgbClr val="1F1F1F"/>
                </a:solidFill>
                <a:effectLst/>
                <a:latin typeface="Century Gothic" panose="020B0502020202020204" pitchFamily="34" charset="0"/>
              </a:rPr>
              <a:t>Secretaría de Educación Pública. (2022). Plan de Estudio para la educación preescolar, primaria y secundaria. Ciudad de México: SEP.</a:t>
            </a:r>
          </a:p>
          <a:p>
            <a:pPr rtl="0">
              <a:buFont typeface="Arial" panose="020B0604020202020204" pitchFamily="34" charset="0"/>
              <a:buChar char="•"/>
            </a:pPr>
            <a:r>
              <a:rPr lang="es-MX" dirty="0">
                <a:solidFill>
                  <a:srgbClr val="1F1F1F"/>
                </a:solidFill>
                <a:effectLst/>
                <a:latin typeface="Century Gothic" panose="020B0502020202020204" pitchFamily="34" charset="0"/>
              </a:rPr>
              <a:t>Secretaría de Educación Pública. (2023). Programa de Estudio para la Educación Secundaria: Campo Formativo Saberes y Pensamiento Científico. Ciudad de México: SEP.</a:t>
            </a:r>
          </a:p>
          <a:p>
            <a:pPr rtl="0">
              <a:buFont typeface="Arial" panose="020B0604020202020204" pitchFamily="34" charset="0"/>
              <a:buChar char="•"/>
            </a:pPr>
            <a:r>
              <a:rPr lang="es-MX" dirty="0">
                <a:solidFill>
                  <a:srgbClr val="1F1F1F"/>
                </a:solidFill>
                <a:effectLst/>
                <a:latin typeface="Century Gothic" panose="020B0502020202020204" pitchFamily="34" charset="0"/>
              </a:rPr>
              <a:t>Secretaría de Educación Pública. (2023). Un libro sin recetas, para la maestra y el maestro. Fase 6 (Secundaria). Ciudad de México: SEP.</a:t>
            </a:r>
          </a:p>
          <a:p>
            <a:pPr rtl="0"/>
            <a:r>
              <a:rPr lang="es-MX" dirty="0">
                <a:solidFill>
                  <a:srgbClr val="1F1F1F"/>
                </a:solidFill>
                <a:effectLst/>
                <a:latin typeface="Century Gothic" panose="020B0502020202020204" pitchFamily="34" charset="0"/>
              </a:rPr>
              <a:t>Secretaría de Educación Pública. (2023). Saberes y Pensamiento Científico. Primer grado de secundaria. Ciudad de México: SEP.</a:t>
            </a:r>
          </a:p>
          <a:p>
            <a:pPr rtl="0"/>
            <a:r>
              <a:rPr lang="es-MX" dirty="0">
                <a:solidFill>
                  <a:srgbClr val="1F1F1F"/>
                </a:solidFill>
                <a:effectLst/>
                <a:latin typeface="Century Gothic" panose="020B0502020202020204" pitchFamily="34" charset="0"/>
              </a:rPr>
              <a:t>Secretaría de Educación Pública. (2023). Saberes y Pensamiento Científico. Segundo grado de secundaria. Ciudad de México: SEP.</a:t>
            </a:r>
          </a:p>
          <a:p>
            <a:pPr rtl="0"/>
            <a:r>
              <a:rPr lang="es-MX" dirty="0">
                <a:solidFill>
                  <a:srgbClr val="1F1F1F"/>
                </a:solidFill>
                <a:effectLst/>
                <a:latin typeface="Century Gothic" panose="020B0502020202020204" pitchFamily="34" charset="0"/>
              </a:rPr>
              <a:t>Secretaría de Educación Pública. (2023). Saberes y Pensamiento Científico. Tercer grado de secundaria. Ciudad de México: SEP.</a:t>
            </a:r>
            <a:endParaRPr lang="es-MX" b="1" dirty="0">
              <a:solidFill>
                <a:srgbClr val="1F1F1F"/>
              </a:solidFill>
              <a:effectLst/>
              <a:latin typeface="Century Gothic" panose="020B0502020202020204" pitchFamily="34" charset="0"/>
            </a:endParaRPr>
          </a:p>
          <a:p>
            <a:pPr rtl="0">
              <a:buFont typeface="Arial" panose="020B0604020202020204" pitchFamily="34" charset="0"/>
              <a:buChar char="•"/>
            </a:pPr>
            <a:r>
              <a:rPr lang="es-MX" dirty="0">
                <a:solidFill>
                  <a:srgbClr val="1F1F1F"/>
                </a:solidFill>
                <a:effectLst/>
                <a:latin typeface="Century Gothic" panose="020B0502020202020204" pitchFamily="34" charset="0"/>
              </a:rPr>
              <a:t>Secretaría de Educación Pública. (2023). Nuestro libro de proyectos. Secundaria (Grados 1, 2 y 3). Ciudad de México: SEP.</a:t>
            </a:r>
          </a:p>
        </p:txBody>
      </p:sp>
    </p:spTree>
    <p:extLst>
      <p:ext uri="{BB962C8B-B14F-4D97-AF65-F5344CB8AC3E}">
        <p14:creationId xmlns:p14="http://schemas.microsoft.com/office/powerpoint/2010/main" val="2049253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93371" y="3773222"/>
            <a:ext cx="11301259" cy="2740555"/>
          </a:xfrm>
          <a:custGeom>
            <a:avLst/>
            <a:gdLst/>
            <a:ahLst/>
            <a:cxnLst/>
            <a:rect l="l" t="t" r="r" b="b"/>
            <a:pathLst>
              <a:path w="11301259" h="2740555">
                <a:moveTo>
                  <a:pt x="0" y="0"/>
                </a:moveTo>
                <a:lnTo>
                  <a:pt x="11301258" y="0"/>
                </a:lnTo>
                <a:lnTo>
                  <a:pt x="11301258" y="2740556"/>
                </a:lnTo>
                <a:lnTo>
                  <a:pt x="0" y="2740556"/>
                </a:lnTo>
                <a:lnTo>
                  <a:pt x="0" y="0"/>
                </a:lnTo>
                <a:close/>
              </a:path>
            </a:pathLst>
          </a:custGeom>
          <a:blipFill>
            <a:blip r:embed="rId2"/>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1234</TotalTime>
  <Words>1648</Words>
  <Application>Microsoft Macintosh PowerPoint</Application>
  <PresentationFormat>Personalizado</PresentationFormat>
  <Paragraphs>88</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Calibri</vt:lpstr>
      <vt:lpstr>Arial</vt:lpstr>
      <vt:lpstr>Century Gothic</vt:lpstr>
      <vt:lpstr>Google Sans Text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Copy of Unidad de Análisis de Contextos Educativos.</dc:title>
  <cp:lastModifiedBy>Microsoft Office User</cp:lastModifiedBy>
  <cp:revision>8</cp:revision>
  <dcterms:created xsi:type="dcterms:W3CDTF">2006-08-16T00:00:00Z</dcterms:created>
  <dcterms:modified xsi:type="dcterms:W3CDTF">2026-06-13T14:08:35Z</dcterms:modified>
  <dc:identifier>DAHIX9mWJ2I</dc:identifier>
</cp:coreProperties>
</file>