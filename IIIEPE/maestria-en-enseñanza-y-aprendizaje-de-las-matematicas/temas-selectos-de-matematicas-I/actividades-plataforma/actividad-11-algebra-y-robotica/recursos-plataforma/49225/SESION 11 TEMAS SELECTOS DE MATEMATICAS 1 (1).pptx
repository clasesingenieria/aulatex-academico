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84" r:id="rId4"/>
    <p:sldId id="277" r:id="rId5"/>
    <p:sldId id="285" r:id="rId6"/>
    <p:sldId id="286" r:id="rId7"/>
    <p:sldId id="281" r:id="rId8"/>
    <p:sldId id="273" r:id="rId9"/>
    <p:sldId id="283" r:id="rId10"/>
    <p:sldId id="278" r:id="rId11"/>
    <p:sldId id="279" r:id="rId12"/>
    <p:sldId id="280" r:id="rId13"/>
    <p:sldId id="270"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Century Gothic" panose="020B050202020202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Estilo oscuro 1 - Énfasis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4586" autoAdjust="0"/>
  </p:normalViewPr>
  <p:slideViewPr>
    <p:cSldViewPr>
      <p:cViewPr varScale="1">
        <p:scale>
          <a:sx n="68" d="100"/>
          <a:sy n="68" d="100"/>
        </p:scale>
        <p:origin x="46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sp>
        <p:nvSpPr>
          <p:cNvPr id="2" name="Freeform 2"/>
          <p:cNvSpPr/>
          <p:nvPr/>
        </p:nvSpPr>
        <p:spPr>
          <a:xfrm>
            <a:off x="3493371" y="3773222"/>
            <a:ext cx="11301259" cy="2740555"/>
          </a:xfrm>
          <a:custGeom>
            <a:avLst/>
            <a:gdLst/>
            <a:ahLst/>
            <a:cxnLst/>
            <a:rect l="l" t="t" r="r" b="b"/>
            <a:pathLst>
              <a:path w="11301259" h="2740555">
                <a:moveTo>
                  <a:pt x="0" y="0"/>
                </a:moveTo>
                <a:lnTo>
                  <a:pt x="11301258" y="0"/>
                </a:lnTo>
                <a:lnTo>
                  <a:pt x="11301258" y="2740556"/>
                </a:lnTo>
                <a:lnTo>
                  <a:pt x="0" y="2740556"/>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grpSp>
        <p:nvGrpSpPr>
          <p:cNvPr id="2" name="Group 2"/>
          <p:cNvGrpSpPr/>
          <p:nvPr/>
        </p:nvGrpSpPr>
        <p:grpSpPr>
          <a:xfrm>
            <a:off x="6655450" y="1538868"/>
            <a:ext cx="5190742" cy="2754257"/>
            <a:chOff x="0" y="0"/>
            <a:chExt cx="1367109" cy="725401"/>
          </a:xfrm>
        </p:grpSpPr>
        <p:sp>
          <p:nvSpPr>
            <p:cNvPr id="3" name="Freeform 3"/>
            <p:cNvSpPr/>
            <p:nvPr/>
          </p:nvSpPr>
          <p:spPr>
            <a:xfrm>
              <a:off x="0" y="0"/>
              <a:ext cx="1367109" cy="725401"/>
            </a:xfrm>
            <a:custGeom>
              <a:avLst/>
              <a:gdLst/>
              <a:ahLst/>
              <a:cxnLst/>
              <a:rect l="l" t="t" r="r" b="b"/>
              <a:pathLst>
                <a:path w="1367109" h="725401">
                  <a:moveTo>
                    <a:pt x="0" y="0"/>
                  </a:moveTo>
                  <a:lnTo>
                    <a:pt x="1367109" y="0"/>
                  </a:lnTo>
                  <a:lnTo>
                    <a:pt x="1367109" y="725401"/>
                  </a:lnTo>
                  <a:lnTo>
                    <a:pt x="0" y="725401"/>
                  </a:lnTo>
                  <a:close/>
                </a:path>
              </a:pathLst>
            </a:custGeom>
            <a:solidFill>
              <a:srgbClr val="8E9081"/>
            </a:solidFill>
          </p:spPr>
        </p:sp>
        <p:sp>
          <p:nvSpPr>
            <p:cNvPr id="4" name="TextBox 4"/>
            <p:cNvSpPr txBox="1"/>
            <p:nvPr/>
          </p:nvSpPr>
          <p:spPr>
            <a:xfrm>
              <a:off x="0" y="-47625"/>
              <a:ext cx="1367109" cy="7730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684427" y="0"/>
            <a:ext cx="8603573" cy="10287000"/>
            <a:chOff x="0" y="0"/>
            <a:chExt cx="8603361" cy="10286746"/>
          </a:xfrm>
        </p:grpSpPr>
        <p:sp>
          <p:nvSpPr>
            <p:cNvPr id="6" name="Freeform 6"/>
            <p:cNvSpPr/>
            <p:nvPr/>
          </p:nvSpPr>
          <p:spPr>
            <a:xfrm>
              <a:off x="-50" y="-127"/>
              <a:ext cx="8603411" cy="10286873"/>
            </a:xfrm>
            <a:custGeom>
              <a:avLst/>
              <a:gdLst/>
              <a:ahLst/>
              <a:cxnLst/>
              <a:rect l="l" t="t" r="r" b="b"/>
              <a:pathLst>
                <a:path w="8603411" h="10286873">
                  <a:moveTo>
                    <a:pt x="8603411" y="10251440"/>
                  </a:moveTo>
                  <a:cubicBezTo>
                    <a:pt x="8603411" y="10284587"/>
                    <a:pt x="8592743" y="10286873"/>
                    <a:pt x="8564930" y="10286873"/>
                  </a:cubicBezTo>
                  <a:cubicBezTo>
                    <a:pt x="5710351" y="10286238"/>
                    <a:pt x="2855899" y="10286238"/>
                    <a:pt x="1320" y="10286238"/>
                  </a:cubicBezTo>
                  <a:cubicBezTo>
                    <a:pt x="-2744" y="10272395"/>
                    <a:pt x="3606" y="10259822"/>
                    <a:pt x="6527" y="10246995"/>
                  </a:cubicBezTo>
                  <a:cubicBezTo>
                    <a:pt x="132003" y="9685401"/>
                    <a:pt x="257606" y="9123934"/>
                    <a:pt x="383463" y="8562467"/>
                  </a:cubicBezTo>
                  <a:cubicBezTo>
                    <a:pt x="562914" y="7761986"/>
                    <a:pt x="742746" y="6961632"/>
                    <a:pt x="922070" y="6161151"/>
                  </a:cubicBezTo>
                  <a:cubicBezTo>
                    <a:pt x="1143558" y="5172583"/>
                    <a:pt x="1364538" y="4184015"/>
                    <a:pt x="1585899" y="3195574"/>
                  </a:cubicBezTo>
                  <a:cubicBezTo>
                    <a:pt x="1810816" y="2191385"/>
                    <a:pt x="2035860" y="1187323"/>
                    <a:pt x="2261412" y="183261"/>
                  </a:cubicBezTo>
                  <a:cubicBezTo>
                    <a:pt x="2275128" y="122174"/>
                    <a:pt x="2283891" y="59690"/>
                    <a:pt x="2306116" y="635"/>
                  </a:cubicBezTo>
                  <a:cubicBezTo>
                    <a:pt x="4392472" y="635"/>
                    <a:pt x="6478828" y="635"/>
                    <a:pt x="8565184" y="0"/>
                  </a:cubicBezTo>
                  <a:cubicBezTo>
                    <a:pt x="8593505" y="0"/>
                    <a:pt x="8603157" y="3429"/>
                    <a:pt x="8603157" y="35814"/>
                  </a:cubicBezTo>
                  <a:cubicBezTo>
                    <a:pt x="8602395" y="3441065"/>
                    <a:pt x="8602395" y="6846316"/>
                    <a:pt x="8603411" y="10251440"/>
                  </a:cubicBezTo>
                  <a:close/>
                </a:path>
              </a:pathLst>
            </a:custGeom>
            <a:blipFill>
              <a:blip r:embed="rId2"/>
              <a:stretch>
                <a:fillRect l="-2385" r="-2385"/>
              </a:stretch>
            </a:blipFill>
          </p:spPr>
        </p:sp>
      </p:grpSp>
      <p:grpSp>
        <p:nvGrpSpPr>
          <p:cNvPr id="7" name="Group 7"/>
          <p:cNvGrpSpPr/>
          <p:nvPr/>
        </p:nvGrpSpPr>
        <p:grpSpPr>
          <a:xfrm>
            <a:off x="5524779" y="403052"/>
            <a:ext cx="3274575" cy="972005"/>
            <a:chOff x="0" y="0"/>
            <a:chExt cx="862440" cy="256001"/>
          </a:xfrm>
        </p:grpSpPr>
        <p:sp>
          <p:nvSpPr>
            <p:cNvPr id="8" name="Freeform 8"/>
            <p:cNvSpPr/>
            <p:nvPr/>
          </p:nvSpPr>
          <p:spPr>
            <a:xfrm>
              <a:off x="0" y="0"/>
              <a:ext cx="862440" cy="256001"/>
            </a:xfrm>
            <a:custGeom>
              <a:avLst/>
              <a:gdLst/>
              <a:ahLst/>
              <a:cxnLst/>
              <a:rect l="l" t="t" r="r" b="b"/>
              <a:pathLst>
                <a:path w="862440" h="256001">
                  <a:moveTo>
                    <a:pt x="0" y="0"/>
                  </a:moveTo>
                  <a:lnTo>
                    <a:pt x="862440" y="0"/>
                  </a:lnTo>
                  <a:lnTo>
                    <a:pt x="862440" y="256001"/>
                  </a:lnTo>
                  <a:lnTo>
                    <a:pt x="0" y="256001"/>
                  </a:lnTo>
                  <a:close/>
                </a:path>
              </a:pathLst>
            </a:custGeom>
            <a:solidFill>
              <a:srgbClr val="8E9081"/>
            </a:solidFill>
          </p:spPr>
        </p:sp>
        <p:sp>
          <p:nvSpPr>
            <p:cNvPr id="9" name="TextBox 9"/>
            <p:cNvSpPr txBox="1"/>
            <p:nvPr/>
          </p:nvSpPr>
          <p:spPr>
            <a:xfrm>
              <a:off x="0" y="-47625"/>
              <a:ext cx="862440" cy="303626"/>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235025" y="-238116"/>
            <a:ext cx="1263725" cy="10831193"/>
            <a:chOff x="0" y="0"/>
            <a:chExt cx="332833" cy="2852660"/>
          </a:xfrm>
        </p:grpSpPr>
        <p:sp>
          <p:nvSpPr>
            <p:cNvPr id="11" name="Freeform 11"/>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FFFF"/>
            </a:solidFill>
          </p:spPr>
        </p:sp>
        <p:sp>
          <p:nvSpPr>
            <p:cNvPr id="12" name="TextBox 12"/>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16" name="Freeform 16"/>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3"/>
            <a:stretch>
              <a:fillRect/>
            </a:stretch>
          </a:blipFill>
        </p:spPr>
      </p:sp>
      <p:sp>
        <p:nvSpPr>
          <p:cNvPr id="17" name="TextBox 17"/>
          <p:cNvSpPr txBox="1"/>
          <p:nvPr/>
        </p:nvSpPr>
        <p:spPr>
          <a:xfrm>
            <a:off x="1524000" y="4664889"/>
            <a:ext cx="17002125" cy="4439870"/>
          </a:xfrm>
          <a:prstGeom prst="rect">
            <a:avLst/>
          </a:prstGeom>
        </p:spPr>
        <p:txBody>
          <a:bodyPr wrap="square" lIns="0" tIns="0" rIns="0" bIns="0" rtlCol="0" anchor="t">
            <a:spAutoFit/>
          </a:bodyPr>
          <a:lstStyle/>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Temas</a:t>
            </a:r>
            <a:r>
              <a:rPr lang="en-US" sz="8800" b="1" spc="-374" dirty="0">
                <a:solidFill>
                  <a:schemeClr val="bg1"/>
                </a:solidFill>
                <a:latin typeface="Century Gothic" panose="020B0502020202020204" pitchFamily="34" charset="0"/>
                <a:ea typeface="Heading Now 71-78"/>
                <a:cs typeface="Heading Now 71-78"/>
                <a:sym typeface="Heading Now 71-78"/>
              </a:rPr>
              <a:t> </a:t>
            </a:r>
          </a:p>
          <a:p>
            <a:pPr algn="l">
              <a:lnSpc>
                <a:spcPts val="6800"/>
              </a:lnSpc>
            </a:pPr>
            <a:endParaRPr lang="en-US" sz="8800" b="1" spc="-374" dirty="0">
              <a:solidFill>
                <a:schemeClr val="bg1"/>
              </a:solidFill>
              <a:latin typeface="Century Gothic" panose="020B0502020202020204" pitchFamily="34" charset="0"/>
              <a:ea typeface="Heading Now 71-78"/>
              <a:cs typeface="Heading Now 71-78"/>
              <a:sym typeface="Heading Now 71-78"/>
            </a:endParaRPr>
          </a:p>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Selectos</a:t>
            </a:r>
            <a:r>
              <a:rPr lang="en-US" sz="8800" b="1" spc="-374" dirty="0">
                <a:solidFill>
                  <a:schemeClr val="bg1"/>
                </a:solidFill>
                <a:latin typeface="Century Gothic" panose="020B0502020202020204" pitchFamily="34" charset="0"/>
                <a:ea typeface="Heading Now 71-78"/>
                <a:cs typeface="Heading Now 71-78"/>
                <a:sym typeface="Heading Now 71-78"/>
              </a:rPr>
              <a:t> de </a:t>
            </a:r>
          </a:p>
          <a:p>
            <a:pPr algn="l">
              <a:lnSpc>
                <a:spcPts val="6800"/>
              </a:lnSpc>
            </a:pPr>
            <a:endParaRPr lang="en-US" sz="8800" b="1" spc="-374" dirty="0">
              <a:solidFill>
                <a:schemeClr val="bg1"/>
              </a:solidFill>
              <a:latin typeface="Century Gothic" panose="020B0502020202020204" pitchFamily="34" charset="0"/>
              <a:ea typeface="Heading Now 71-78"/>
              <a:cs typeface="Heading Now 71-78"/>
              <a:sym typeface="Heading Now 71-78"/>
            </a:endParaRPr>
          </a:p>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Matemáticas</a:t>
            </a:r>
            <a:r>
              <a:rPr lang="en-US" sz="8800" b="1" spc="-374" dirty="0">
                <a:solidFill>
                  <a:schemeClr val="bg1"/>
                </a:solidFill>
                <a:latin typeface="Century Gothic" panose="020B0502020202020204" pitchFamily="34" charset="0"/>
                <a:ea typeface="Heading Now 71-78"/>
                <a:cs typeface="Heading Now 71-78"/>
                <a:sym typeface="Heading Now 71-78"/>
              </a:rPr>
              <a:t>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grpSp>
        <p:nvGrpSpPr>
          <p:cNvPr id="2" name="Group 2"/>
          <p:cNvGrpSpPr/>
          <p:nvPr/>
        </p:nvGrpSpPr>
        <p:grpSpPr>
          <a:xfrm>
            <a:off x="6655450" y="1538868"/>
            <a:ext cx="5190742" cy="2754257"/>
            <a:chOff x="0" y="0"/>
            <a:chExt cx="1367109" cy="725401"/>
          </a:xfrm>
        </p:grpSpPr>
        <p:sp>
          <p:nvSpPr>
            <p:cNvPr id="3" name="Freeform 3"/>
            <p:cNvSpPr/>
            <p:nvPr/>
          </p:nvSpPr>
          <p:spPr>
            <a:xfrm>
              <a:off x="0" y="0"/>
              <a:ext cx="1367109" cy="725401"/>
            </a:xfrm>
            <a:custGeom>
              <a:avLst/>
              <a:gdLst/>
              <a:ahLst/>
              <a:cxnLst/>
              <a:rect l="l" t="t" r="r" b="b"/>
              <a:pathLst>
                <a:path w="1367109" h="725401">
                  <a:moveTo>
                    <a:pt x="0" y="0"/>
                  </a:moveTo>
                  <a:lnTo>
                    <a:pt x="1367109" y="0"/>
                  </a:lnTo>
                  <a:lnTo>
                    <a:pt x="1367109" y="725401"/>
                  </a:lnTo>
                  <a:lnTo>
                    <a:pt x="0" y="725401"/>
                  </a:lnTo>
                  <a:close/>
                </a:path>
              </a:pathLst>
            </a:custGeom>
            <a:solidFill>
              <a:srgbClr val="8E9081"/>
            </a:solidFill>
          </p:spPr>
        </p:sp>
        <p:sp>
          <p:nvSpPr>
            <p:cNvPr id="4" name="TextBox 4"/>
            <p:cNvSpPr txBox="1"/>
            <p:nvPr/>
          </p:nvSpPr>
          <p:spPr>
            <a:xfrm>
              <a:off x="0" y="-47625"/>
              <a:ext cx="1367109" cy="773026"/>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5524779" y="403052"/>
            <a:ext cx="3274575" cy="972005"/>
            <a:chOff x="0" y="0"/>
            <a:chExt cx="862440" cy="256001"/>
          </a:xfrm>
        </p:grpSpPr>
        <p:sp>
          <p:nvSpPr>
            <p:cNvPr id="8" name="Freeform 8"/>
            <p:cNvSpPr/>
            <p:nvPr/>
          </p:nvSpPr>
          <p:spPr>
            <a:xfrm>
              <a:off x="0" y="0"/>
              <a:ext cx="862440" cy="256001"/>
            </a:xfrm>
            <a:custGeom>
              <a:avLst/>
              <a:gdLst/>
              <a:ahLst/>
              <a:cxnLst/>
              <a:rect l="l" t="t" r="r" b="b"/>
              <a:pathLst>
                <a:path w="862440" h="256001">
                  <a:moveTo>
                    <a:pt x="0" y="0"/>
                  </a:moveTo>
                  <a:lnTo>
                    <a:pt x="862440" y="0"/>
                  </a:lnTo>
                  <a:lnTo>
                    <a:pt x="862440" y="256001"/>
                  </a:lnTo>
                  <a:lnTo>
                    <a:pt x="0" y="256001"/>
                  </a:lnTo>
                  <a:close/>
                </a:path>
              </a:pathLst>
            </a:custGeom>
            <a:solidFill>
              <a:srgbClr val="8E9081"/>
            </a:solidFill>
          </p:spPr>
        </p:sp>
        <p:sp>
          <p:nvSpPr>
            <p:cNvPr id="9" name="TextBox 9"/>
            <p:cNvSpPr txBox="1"/>
            <p:nvPr/>
          </p:nvSpPr>
          <p:spPr>
            <a:xfrm>
              <a:off x="0" y="-47625"/>
              <a:ext cx="862440" cy="303626"/>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235025" y="1"/>
            <a:ext cx="1263725" cy="10287000"/>
            <a:chOff x="0" y="0"/>
            <a:chExt cx="332833" cy="2852660"/>
          </a:xfrm>
        </p:grpSpPr>
        <p:sp>
          <p:nvSpPr>
            <p:cNvPr id="11" name="Freeform 11"/>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FFFF"/>
            </a:solidFill>
          </p:spPr>
        </p:sp>
        <p:sp>
          <p:nvSpPr>
            <p:cNvPr id="12" name="TextBox 12"/>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16" name="Freeform 16"/>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9" name="CuadroTexto 18">
            <a:extLst>
              <a:ext uri="{FF2B5EF4-FFF2-40B4-BE49-F238E27FC236}">
                <a16:creationId xmlns:a16="http://schemas.microsoft.com/office/drawing/2014/main" id="{BEAB269F-7B1B-A89A-D458-BB5A58A1A510}"/>
              </a:ext>
            </a:extLst>
          </p:cNvPr>
          <p:cNvSpPr txBox="1"/>
          <p:nvPr/>
        </p:nvSpPr>
        <p:spPr>
          <a:xfrm>
            <a:off x="4768243" y="4840506"/>
            <a:ext cx="13414982" cy="4216539"/>
          </a:xfrm>
          <a:prstGeom prst="rect">
            <a:avLst/>
          </a:prstGeom>
          <a:solidFill>
            <a:schemeClr val="bg1"/>
          </a:solidFill>
        </p:spPr>
        <p:txBody>
          <a:bodyPr wrap="square">
            <a:spAutoFit/>
          </a:bodyPr>
          <a:lstStyle/>
          <a:p>
            <a:pPr algn="ctr"/>
            <a:r>
              <a:rPr lang="es-MX" sz="4800" b="1" dirty="0">
                <a:latin typeface="Arial" panose="020B0604020202020204" pitchFamily="34" charset="0"/>
                <a:cs typeface="Arial" panose="020B0604020202020204" pitchFamily="34" charset="0"/>
              </a:rPr>
              <a:t>¿Cómo sabe el procesador del robot cuánto tiempo o cuántas vueltas debe dar la llanta? </a:t>
            </a:r>
          </a:p>
          <a:p>
            <a:pPr algn="ctr"/>
            <a:endParaRPr lang="es-MX" sz="4800" b="1" dirty="0">
              <a:latin typeface="Arial" panose="020B0604020202020204" pitchFamily="34" charset="0"/>
              <a:cs typeface="Arial" panose="020B0604020202020204" pitchFamily="34" charset="0"/>
            </a:endParaRPr>
          </a:p>
          <a:p>
            <a:pPr algn="ctr"/>
            <a:r>
              <a:rPr lang="es-MX" sz="4800" b="1" dirty="0">
                <a:latin typeface="Arial" panose="020B0604020202020204" pitchFamily="34" charset="0"/>
                <a:cs typeface="Arial" panose="020B0604020202020204" pitchFamily="34" charset="0"/>
              </a:rPr>
              <a:t>¿El robot sabe matemáticas o nosotros se las programamos?</a:t>
            </a:r>
          </a:p>
          <a:p>
            <a:pPr algn="ctr"/>
            <a:r>
              <a:rPr lang="es-MX" sz="2800" b="1" dirty="0">
                <a:latin typeface="Arial" panose="020B0604020202020204" pitchFamily="34" charset="0"/>
                <a:cs typeface="Arial" panose="020B0604020202020204" pitchFamily="34" charset="0"/>
              </a:rPr>
              <a:t>.</a:t>
            </a:r>
            <a:endParaRPr lang="es-MX" sz="4400" b="1" dirty="0">
              <a:latin typeface="Arial" panose="020B0604020202020204" pitchFamily="34" charset="0"/>
              <a:cs typeface="Arial" panose="020B0604020202020204" pitchFamily="34" charset="0"/>
            </a:endParaRPr>
          </a:p>
        </p:txBody>
      </p:sp>
      <p:pic>
        <p:nvPicPr>
          <p:cNvPr id="20" name="Imagen 19">
            <a:extLst>
              <a:ext uri="{FF2B5EF4-FFF2-40B4-BE49-F238E27FC236}">
                <a16:creationId xmlns:a16="http://schemas.microsoft.com/office/drawing/2014/main" id="{988D6E4C-F287-162F-6953-F4EC35AC9D82}"/>
              </a:ext>
            </a:extLst>
          </p:cNvPr>
          <p:cNvPicPr>
            <a:picLocks noChangeAspect="1"/>
          </p:cNvPicPr>
          <p:nvPr/>
        </p:nvPicPr>
        <p:blipFill>
          <a:blip r:embed="rId3"/>
          <a:stretch>
            <a:fillRect/>
          </a:stretch>
        </p:blipFill>
        <p:spPr>
          <a:xfrm>
            <a:off x="1026954" y="4840506"/>
            <a:ext cx="3741289" cy="4216539"/>
          </a:xfrm>
          <a:prstGeom prst="rect">
            <a:avLst/>
          </a:prstGeom>
        </p:spPr>
      </p:pic>
    </p:spTree>
    <p:extLst>
      <p:ext uri="{BB962C8B-B14F-4D97-AF65-F5344CB8AC3E}">
        <p14:creationId xmlns:p14="http://schemas.microsoft.com/office/powerpoint/2010/main" val="2783836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3" name="Rectángulo 2">
            <a:extLst>
              <a:ext uri="{FF2B5EF4-FFF2-40B4-BE49-F238E27FC236}">
                <a16:creationId xmlns:a16="http://schemas.microsoft.com/office/drawing/2014/main" id="{C8D8716D-6ABE-7365-1A77-C5DD53AA1916}"/>
              </a:ext>
            </a:extLst>
          </p:cNvPr>
          <p:cNvSpPr/>
          <p:nvPr/>
        </p:nvSpPr>
        <p:spPr>
          <a:xfrm>
            <a:off x="2743200" y="3676650"/>
            <a:ext cx="14097000" cy="1371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MX" sz="3200" dirty="0">
                <a:latin typeface="Century Gothic" panose="020B0502020202020204" pitchFamily="34" charset="0"/>
              </a:rPr>
              <a:t>CONTENIDO: ECUACIONES LINEALES Y CUADRÁTICAS</a:t>
            </a:r>
          </a:p>
        </p:txBody>
      </p:sp>
      <p:sp>
        <p:nvSpPr>
          <p:cNvPr id="4" name="Rectángulo 3">
            <a:extLst>
              <a:ext uri="{FF2B5EF4-FFF2-40B4-BE49-F238E27FC236}">
                <a16:creationId xmlns:a16="http://schemas.microsoft.com/office/drawing/2014/main" id="{BB84B7BB-1577-45C5-272C-ECBAC480D863}"/>
              </a:ext>
            </a:extLst>
          </p:cNvPr>
          <p:cNvSpPr/>
          <p:nvPr/>
        </p:nvSpPr>
        <p:spPr>
          <a:xfrm>
            <a:off x="2743200" y="5276850"/>
            <a:ext cx="14097000" cy="352425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s-MX" sz="4000" dirty="0">
                <a:latin typeface="Century Gothic" panose="020B0502020202020204" pitchFamily="34" charset="0"/>
              </a:rPr>
              <a:t>PDA: Modela y soluciona sistemas de dos ecuaciones lineales con dos incógnitas por algún método para dar respuesta a un problema.</a:t>
            </a:r>
            <a:r>
              <a:rPr lang="es-MX" dirty="0">
                <a:latin typeface="Century Gothic" panose="020B0502020202020204" pitchFamily="34" charset="0"/>
              </a:rPr>
              <a:t> </a:t>
            </a:r>
          </a:p>
        </p:txBody>
      </p:sp>
      <p:sp>
        <p:nvSpPr>
          <p:cNvPr id="2" name="Rectángulo 1">
            <a:extLst>
              <a:ext uri="{FF2B5EF4-FFF2-40B4-BE49-F238E27FC236}">
                <a16:creationId xmlns:a16="http://schemas.microsoft.com/office/drawing/2014/main" id="{B83BF15F-2430-C5A0-0AC5-8936205B8188}"/>
              </a:ext>
            </a:extLst>
          </p:cNvPr>
          <p:cNvSpPr/>
          <p:nvPr/>
        </p:nvSpPr>
        <p:spPr>
          <a:xfrm>
            <a:off x="2743200" y="1866900"/>
            <a:ext cx="14097000" cy="1371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MX" sz="2400" dirty="0">
                <a:latin typeface="Century Gothic" panose="020B0502020202020204" pitchFamily="34" charset="0"/>
              </a:rPr>
              <a:t>CAMPO FORMATIVO: </a:t>
            </a:r>
          </a:p>
          <a:p>
            <a:pPr algn="ctr"/>
            <a:r>
              <a:rPr lang="es-MX" sz="2400" dirty="0">
                <a:latin typeface="Century Gothic" panose="020B0502020202020204" pitchFamily="34" charset="0"/>
              </a:rPr>
              <a:t>SABERES Y PENSAMIENTO CIENTÍFICO</a:t>
            </a:r>
          </a:p>
        </p:txBody>
      </p:sp>
    </p:spTree>
    <p:extLst>
      <p:ext uri="{BB962C8B-B14F-4D97-AF65-F5344CB8AC3E}">
        <p14:creationId xmlns:p14="http://schemas.microsoft.com/office/powerpoint/2010/main" val="89731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3" name="Rectángulo 2">
            <a:extLst>
              <a:ext uri="{FF2B5EF4-FFF2-40B4-BE49-F238E27FC236}">
                <a16:creationId xmlns:a16="http://schemas.microsoft.com/office/drawing/2014/main" id="{C8D8716D-6ABE-7365-1A77-C5DD53AA1916}"/>
              </a:ext>
            </a:extLst>
          </p:cNvPr>
          <p:cNvSpPr/>
          <p:nvPr/>
        </p:nvSpPr>
        <p:spPr>
          <a:xfrm>
            <a:off x="2743200" y="3676650"/>
            <a:ext cx="14097000" cy="1371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MX" sz="3200" dirty="0">
                <a:latin typeface="Century Gothic" panose="020B0502020202020204" pitchFamily="34" charset="0"/>
              </a:rPr>
              <a:t>CONTENIDO: INTRODUCCIÓN AL ÁLGEBRA</a:t>
            </a:r>
          </a:p>
        </p:txBody>
      </p:sp>
      <p:sp>
        <p:nvSpPr>
          <p:cNvPr id="4" name="Rectángulo 3">
            <a:extLst>
              <a:ext uri="{FF2B5EF4-FFF2-40B4-BE49-F238E27FC236}">
                <a16:creationId xmlns:a16="http://schemas.microsoft.com/office/drawing/2014/main" id="{BB84B7BB-1577-45C5-272C-ECBAC480D863}"/>
              </a:ext>
            </a:extLst>
          </p:cNvPr>
          <p:cNvSpPr/>
          <p:nvPr/>
        </p:nvSpPr>
        <p:spPr>
          <a:xfrm>
            <a:off x="2743200" y="5276850"/>
            <a:ext cx="14097000" cy="352425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s-MX" sz="4000" dirty="0">
                <a:latin typeface="Century Gothic" panose="020B0502020202020204" pitchFamily="34" charset="0"/>
              </a:rPr>
              <a:t>PDA: Representa algebraicamente áreas y volúmenes de cuerpos geométricos y calcula el valor de una variable en función de las otras (aplicado analógicamente al perímetro de la pista).</a:t>
            </a:r>
            <a:endParaRPr lang="es-MX" dirty="0">
              <a:latin typeface="Century Gothic" panose="020B0502020202020204" pitchFamily="34" charset="0"/>
            </a:endParaRPr>
          </a:p>
        </p:txBody>
      </p:sp>
      <p:sp>
        <p:nvSpPr>
          <p:cNvPr id="2" name="Rectángulo 1">
            <a:extLst>
              <a:ext uri="{FF2B5EF4-FFF2-40B4-BE49-F238E27FC236}">
                <a16:creationId xmlns:a16="http://schemas.microsoft.com/office/drawing/2014/main" id="{B83BF15F-2430-C5A0-0AC5-8936205B8188}"/>
              </a:ext>
            </a:extLst>
          </p:cNvPr>
          <p:cNvSpPr/>
          <p:nvPr/>
        </p:nvSpPr>
        <p:spPr>
          <a:xfrm>
            <a:off x="2743200" y="1866900"/>
            <a:ext cx="14097000" cy="1371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MX" sz="2400" dirty="0">
                <a:latin typeface="Century Gothic" panose="020B0502020202020204" pitchFamily="34" charset="0"/>
              </a:rPr>
              <a:t>CAMPO FORMATIVO: </a:t>
            </a:r>
          </a:p>
          <a:p>
            <a:pPr algn="ctr"/>
            <a:r>
              <a:rPr lang="es-MX" sz="2400" dirty="0">
                <a:latin typeface="Century Gothic" panose="020B0502020202020204" pitchFamily="34" charset="0"/>
              </a:rPr>
              <a:t>SABERES Y PENSAMIENTO CIENTÍFICO</a:t>
            </a:r>
          </a:p>
        </p:txBody>
      </p:sp>
    </p:spTree>
    <p:extLst>
      <p:ext uri="{BB962C8B-B14F-4D97-AF65-F5344CB8AC3E}">
        <p14:creationId xmlns:p14="http://schemas.microsoft.com/office/powerpoint/2010/main" val="2073801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3" name="Rectángulo 2">
            <a:extLst>
              <a:ext uri="{FF2B5EF4-FFF2-40B4-BE49-F238E27FC236}">
                <a16:creationId xmlns:a16="http://schemas.microsoft.com/office/drawing/2014/main" id="{C8D8716D-6ABE-7365-1A77-C5DD53AA1916}"/>
              </a:ext>
            </a:extLst>
          </p:cNvPr>
          <p:cNvSpPr/>
          <p:nvPr/>
        </p:nvSpPr>
        <p:spPr>
          <a:xfrm>
            <a:off x="2743200" y="3676650"/>
            <a:ext cx="14097000" cy="1371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MX" sz="3200" dirty="0">
                <a:latin typeface="Century Gothic" panose="020B0502020202020204" pitchFamily="34" charset="0"/>
              </a:rPr>
              <a:t>CONTENIDO: FUNCIONES</a:t>
            </a:r>
          </a:p>
        </p:txBody>
      </p:sp>
      <p:sp>
        <p:nvSpPr>
          <p:cNvPr id="4" name="Rectángulo 3">
            <a:extLst>
              <a:ext uri="{FF2B5EF4-FFF2-40B4-BE49-F238E27FC236}">
                <a16:creationId xmlns:a16="http://schemas.microsoft.com/office/drawing/2014/main" id="{BB84B7BB-1577-45C5-272C-ECBAC480D863}"/>
              </a:ext>
            </a:extLst>
          </p:cNvPr>
          <p:cNvSpPr/>
          <p:nvPr/>
        </p:nvSpPr>
        <p:spPr>
          <a:xfrm>
            <a:off x="2743200" y="5276850"/>
            <a:ext cx="14097000" cy="352425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s-MX" sz="4000" dirty="0">
                <a:latin typeface="Century Gothic" panose="020B0502020202020204" pitchFamily="34" charset="0"/>
              </a:rPr>
              <a:t>PDA: Relaciona e interpreta la variación de dos cantidades a partir de su representación tabular, gráfica y algebraica.</a:t>
            </a:r>
            <a:endParaRPr lang="es-MX" dirty="0">
              <a:latin typeface="Century Gothic" panose="020B0502020202020204" pitchFamily="34" charset="0"/>
            </a:endParaRPr>
          </a:p>
        </p:txBody>
      </p:sp>
      <p:sp>
        <p:nvSpPr>
          <p:cNvPr id="2" name="Rectángulo 1">
            <a:extLst>
              <a:ext uri="{FF2B5EF4-FFF2-40B4-BE49-F238E27FC236}">
                <a16:creationId xmlns:a16="http://schemas.microsoft.com/office/drawing/2014/main" id="{B83BF15F-2430-C5A0-0AC5-8936205B8188}"/>
              </a:ext>
            </a:extLst>
          </p:cNvPr>
          <p:cNvSpPr/>
          <p:nvPr/>
        </p:nvSpPr>
        <p:spPr>
          <a:xfrm>
            <a:off x="2743200" y="1866900"/>
            <a:ext cx="14097000" cy="1371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MX" sz="2400" dirty="0">
                <a:latin typeface="Century Gothic" panose="020B0502020202020204" pitchFamily="34" charset="0"/>
              </a:rPr>
              <a:t>CAMPO FORMATIVO: </a:t>
            </a:r>
          </a:p>
          <a:p>
            <a:pPr algn="ctr"/>
            <a:r>
              <a:rPr lang="es-MX" sz="2400" dirty="0">
                <a:latin typeface="Century Gothic" panose="020B0502020202020204" pitchFamily="34" charset="0"/>
              </a:rPr>
              <a:t>SABERES Y PENSAMIENTO CIENTÍFICO</a:t>
            </a:r>
          </a:p>
        </p:txBody>
      </p:sp>
    </p:spTree>
    <p:extLst>
      <p:ext uri="{BB962C8B-B14F-4D97-AF65-F5344CB8AC3E}">
        <p14:creationId xmlns:p14="http://schemas.microsoft.com/office/powerpoint/2010/main" val="158526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0" name="TextBox 10"/>
          <p:cNvSpPr txBox="1"/>
          <p:nvPr/>
        </p:nvSpPr>
        <p:spPr>
          <a:xfrm>
            <a:off x="1868932" y="1757958"/>
            <a:ext cx="15788595" cy="6771084"/>
          </a:xfrm>
          <a:prstGeom prst="rect">
            <a:avLst/>
          </a:prstGeom>
        </p:spPr>
        <p:txBody>
          <a:bodyPr lIns="0" tIns="0" rIns="0" bIns="0" rtlCol="0" anchor="t">
            <a:spAutoFit/>
          </a:bodyPr>
          <a:lstStyle/>
          <a:p>
            <a:pPr algn="just"/>
            <a:r>
              <a:rPr lang="es-MX" sz="4400" b="1" dirty="0"/>
              <a:t>Validar</a:t>
            </a:r>
            <a:r>
              <a:rPr lang="es-MX" sz="4400" dirty="0"/>
              <a:t> soluciones matemáticas (sistemas de ecuaciones y perímetros) mediante la programación y ejecución de movimientos precisos en el robot.</a:t>
            </a:r>
          </a:p>
          <a:p>
            <a:pPr algn="just"/>
            <a:endParaRPr lang="es-MX" sz="4400" dirty="0"/>
          </a:p>
          <a:p>
            <a:pPr algn="just"/>
            <a:r>
              <a:rPr lang="es-MX" sz="4400" b="1" dirty="0"/>
              <a:t>Estructurar</a:t>
            </a:r>
            <a:r>
              <a:rPr lang="es-MX" sz="4400" dirty="0"/>
              <a:t> secuencias lógicas de programación por bloques para traducir problemas algebraicos abstractos en instrucciones físicas.</a:t>
            </a:r>
          </a:p>
          <a:p>
            <a:pPr algn="just"/>
            <a:endParaRPr lang="es-MX" sz="4400" dirty="0"/>
          </a:p>
          <a:p>
            <a:pPr algn="just"/>
            <a:r>
              <a:rPr lang="es-MX" sz="4400" b="1" dirty="0"/>
              <a:t>Modelar</a:t>
            </a:r>
            <a:r>
              <a:rPr lang="es-MX" sz="4400" dirty="0"/>
              <a:t> funciones lineales a partir de la recolección, medición y análisis de datos experimentales generados por el robot.</a:t>
            </a:r>
          </a:p>
          <a:p>
            <a:pPr algn="just"/>
            <a:endParaRPr lang="es-MX" sz="4400" dirty="0"/>
          </a:p>
        </p:txBody>
      </p:sp>
    </p:spTree>
    <p:extLst>
      <p:ext uri="{BB962C8B-B14F-4D97-AF65-F5344CB8AC3E}">
        <p14:creationId xmlns:p14="http://schemas.microsoft.com/office/powerpoint/2010/main" val="1878494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0" name="TextBox 10"/>
          <p:cNvSpPr txBox="1"/>
          <p:nvPr/>
        </p:nvSpPr>
        <p:spPr>
          <a:xfrm>
            <a:off x="1830832" y="805564"/>
            <a:ext cx="15788595" cy="9048631"/>
          </a:xfrm>
          <a:prstGeom prst="rect">
            <a:avLst/>
          </a:prstGeom>
        </p:spPr>
        <p:txBody>
          <a:bodyPr lIns="0" tIns="0" rIns="0" bIns="0" rtlCol="0" anchor="t">
            <a:spAutoFit/>
          </a:bodyPr>
          <a:lstStyle/>
          <a:p>
            <a:pPr marL="514350" indent="-514350" algn="just">
              <a:buAutoNum type="arabicPeriod"/>
            </a:pPr>
            <a:r>
              <a:rPr lang="es-MX" sz="2800" b="1" dirty="0"/>
              <a:t>Propósito Cognitivo e Instrumental (Pensamiento Matemático)</a:t>
            </a:r>
            <a:r>
              <a:rPr lang="es-MX" sz="2800" dirty="0"/>
              <a:t> </a:t>
            </a:r>
          </a:p>
          <a:p>
            <a:pPr algn="just"/>
            <a:r>
              <a:rPr lang="es-MX" sz="2800" b="1" dirty="0"/>
              <a:t>Lograr que las y los estudiantes transiten de forma fluida entre el lenguaje común y el lenguaje algebraico</a:t>
            </a:r>
            <a:r>
              <a:rPr lang="es-MX" sz="2800" dirty="0"/>
              <a:t>, desarrollando la capacidad de modelar e interpretar situaciones cotidianas, sistemas de ecuaciones lineales y propiedades geométricas (como el cálculo del perímetro de un trapecio isósceles) mediante el uso de variables y constantes. Con esto se busca que comprendan el álgebra no como un conjunto de reglas aisladas, sino como un lenguaje universal útil para programar y resolver problemas del entorno de forma física.</a:t>
            </a:r>
          </a:p>
          <a:p>
            <a:pPr algn="just"/>
            <a:endParaRPr lang="es-MX" sz="2800" dirty="0"/>
          </a:p>
          <a:p>
            <a:pPr algn="just"/>
            <a:r>
              <a:rPr lang="es-MX" sz="2800" b="1" dirty="0"/>
              <a:t>2. Propósito Didáctico y Metacognitivo</a:t>
            </a:r>
            <a:r>
              <a:rPr lang="es-MX" sz="2800" dirty="0"/>
              <a:t> </a:t>
            </a:r>
          </a:p>
          <a:p>
            <a:pPr algn="just"/>
            <a:r>
              <a:rPr lang="es-MX" sz="2800" b="1" dirty="0"/>
              <a:t>Consolidar la autonomía del aprendizaje a través de la movilización de recursos estructurados</a:t>
            </a:r>
            <a:r>
              <a:rPr lang="es-MX" sz="2800" dirty="0"/>
              <a:t>, utilizando el diseño de algoritmos de programación por bloques y la calibración del robot como un andamiaje que guíe al alumno desde el rescate de sus saberes previos y lecturas conceptuales, hasta la resolución colaborativa de retos, la medición de distancias y la autoevaluación de sus propios procesos de desarrollo de aprendizaje (PDA) al contrastar físicamente el error matemático.</a:t>
            </a:r>
          </a:p>
          <a:p>
            <a:pPr algn="just"/>
            <a:endParaRPr lang="es-MX" sz="2800" dirty="0"/>
          </a:p>
          <a:p>
            <a:pPr algn="just"/>
            <a:r>
              <a:rPr lang="es-MX" sz="2800" b="1" dirty="0"/>
              <a:t>3. Propósito Sociocomunitario y Lúdico (Ambientes de Aprendizaje NEM)</a:t>
            </a:r>
          </a:p>
          <a:p>
            <a:pPr algn="just"/>
            <a:r>
              <a:rPr lang="es-MX" sz="2800" b="1" dirty="0"/>
              <a:t>Fomentar un ambiente de aprendizaje inclusivo, colaborativo y de sana convivencia a través de la gamificación y la robótica</a:t>
            </a:r>
            <a:r>
              <a:rPr lang="es-MX" sz="2800" dirty="0"/>
              <a:t>, utilizando la dinámica de retos por misiones en comunidades de aprendizaje como un instrumento de evaluación formativa en tiempo real. Este propósito busca que los estudiantes validen sus conocimientos de manera colectiva, refuercen la escucha activa al descodificar las órdenes de programación, compartan la toma de decisiones al cronometrar y pierdan el temor a la abstracción matemática mediante el juego tecnológico compartido en el aula.</a:t>
            </a:r>
          </a:p>
        </p:txBody>
      </p:sp>
    </p:spTree>
    <p:extLst>
      <p:ext uri="{BB962C8B-B14F-4D97-AF65-F5344CB8AC3E}">
        <p14:creationId xmlns:p14="http://schemas.microsoft.com/office/powerpoint/2010/main" val="189500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3" name="Tabla 2">
            <a:extLst>
              <a:ext uri="{FF2B5EF4-FFF2-40B4-BE49-F238E27FC236}">
                <a16:creationId xmlns:a16="http://schemas.microsoft.com/office/drawing/2014/main" id="{44BBB7C6-104A-74AD-D741-539A9823A2CF}"/>
              </a:ext>
            </a:extLst>
          </p:cNvPr>
          <p:cNvGraphicFramePr>
            <a:graphicFrameLocks noGrp="1"/>
          </p:cNvGraphicFramePr>
          <p:nvPr>
            <p:extLst>
              <p:ext uri="{D42A27DB-BD31-4B8C-83A1-F6EECF244321}">
                <p14:modId xmlns:p14="http://schemas.microsoft.com/office/powerpoint/2010/main" val="526340797"/>
              </p:ext>
            </p:extLst>
          </p:nvPr>
        </p:nvGraphicFramePr>
        <p:xfrm>
          <a:off x="1371600" y="342900"/>
          <a:ext cx="16306800" cy="9296401"/>
        </p:xfrm>
        <a:graphic>
          <a:graphicData uri="http://schemas.openxmlformats.org/drawingml/2006/table">
            <a:tbl>
              <a:tblPr>
                <a:tableStyleId>{775DCB02-9BB8-47FD-8907-85C794F793BA}</a:tableStyleId>
              </a:tblPr>
              <a:tblGrid>
                <a:gridCol w="1752600">
                  <a:extLst>
                    <a:ext uri="{9D8B030D-6E8A-4147-A177-3AD203B41FA5}">
                      <a16:colId xmlns:a16="http://schemas.microsoft.com/office/drawing/2014/main" val="2950640308"/>
                    </a:ext>
                  </a:extLst>
                </a:gridCol>
                <a:gridCol w="6324600">
                  <a:extLst>
                    <a:ext uri="{9D8B030D-6E8A-4147-A177-3AD203B41FA5}">
                      <a16:colId xmlns:a16="http://schemas.microsoft.com/office/drawing/2014/main" val="3258767919"/>
                    </a:ext>
                  </a:extLst>
                </a:gridCol>
                <a:gridCol w="8229600">
                  <a:extLst>
                    <a:ext uri="{9D8B030D-6E8A-4147-A177-3AD203B41FA5}">
                      <a16:colId xmlns:a16="http://schemas.microsoft.com/office/drawing/2014/main" val="1255524715"/>
                    </a:ext>
                  </a:extLst>
                </a:gridCol>
              </a:tblGrid>
              <a:tr h="451420">
                <a:tc>
                  <a:txBody>
                    <a:bodyPr/>
                    <a:lstStyle/>
                    <a:p>
                      <a:pPr rtl="0"/>
                      <a:r>
                        <a:rPr lang="es-MX" sz="1800" b="1" dirty="0">
                          <a:solidFill>
                            <a:srgbClr val="1F1F1F"/>
                          </a:solidFill>
                          <a:effectLst/>
                        </a:rPr>
                        <a:t>Momento</a:t>
                      </a:r>
                      <a:endParaRPr lang="es-MX" sz="1800" dirty="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b="1">
                          <a:solidFill>
                            <a:srgbClr val="1F1F1F"/>
                          </a:solidFill>
                          <a:effectLst/>
                        </a:rPr>
                        <a:t>Propósito del Estudiante(Lo que va a APRENDER)</a:t>
                      </a:r>
                      <a:endParaRPr lang="es-MX" sz="180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b="1">
                          <a:solidFill>
                            <a:srgbClr val="1F1F1F"/>
                          </a:solidFill>
                          <a:effectLst/>
                        </a:rPr>
                        <a:t>Descripción de la Actividad</a:t>
                      </a:r>
                      <a:endParaRPr lang="es-MX" sz="1800">
                        <a:solidFill>
                          <a:srgbClr val="1F1F1F"/>
                        </a:solidFill>
                        <a:effectLst/>
                        <a:latin typeface="Century Gothic" panose="020B0502020202020204" pitchFamily="34" charset="0"/>
                      </a:endParaRPr>
                    </a:p>
                  </a:txBody>
                  <a:tcPr marL="25755" marR="25755" marT="17170" marB="17170" anchor="ctr"/>
                </a:tc>
                <a:extLst>
                  <a:ext uri="{0D108BD9-81ED-4DB2-BD59-A6C34878D82A}">
                    <a16:rowId xmlns:a16="http://schemas.microsoft.com/office/drawing/2014/main" val="1440575951"/>
                  </a:ext>
                </a:extLst>
              </a:tr>
              <a:tr h="2355841">
                <a:tc>
                  <a:txBody>
                    <a:bodyPr/>
                    <a:lstStyle/>
                    <a:p>
                      <a:pPr rtl="0"/>
                      <a:r>
                        <a:rPr lang="es-MX" sz="1800" b="1">
                          <a:solidFill>
                            <a:srgbClr val="1F1F1F"/>
                          </a:solidFill>
                          <a:effectLst/>
                        </a:rPr>
                        <a:t>INICIO</a:t>
                      </a:r>
                      <a:endParaRPr lang="es-MX" sz="180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dirty="0">
                          <a:solidFill>
                            <a:srgbClr val="1F1F1F"/>
                          </a:solidFill>
                          <a:effectLst/>
                        </a:rPr>
                        <a:t>Comprender la importancia de preparar el entorno de programación y hardware de forma precisa, identificando cómo la correcta asignación de puertos físicos y la declaración de un bloque de inicio garantizan que el robot responda de manera exacta a las órdenes lógicas que programarás más adelante.</a:t>
                      </a:r>
                      <a:endParaRPr lang="es-MX" sz="1800" dirty="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dirty="0">
                          <a:solidFill>
                            <a:srgbClr val="1F1F1F"/>
                          </a:solidFill>
                          <a:effectLst/>
                        </a:rPr>
                        <a:t>Las comunidades de aprendizaje encienden sus equipos y vinculan el robot vía Bluetooth o USB. Verifican físicamente que los motores estén conectados en los puertos correctos (A y B) y colocan en el lienzo digital el bloque principal de arranque para asegurar la correcta ejecución del código.</a:t>
                      </a:r>
                      <a:endParaRPr lang="es-MX" sz="1800" dirty="0">
                        <a:solidFill>
                          <a:srgbClr val="1F1F1F"/>
                        </a:solidFill>
                        <a:effectLst/>
                        <a:latin typeface="Century Gothic" panose="020B0502020202020204" pitchFamily="34" charset="0"/>
                      </a:endParaRPr>
                    </a:p>
                  </a:txBody>
                  <a:tcPr marL="25755" marR="25755" marT="17170" marB="17170" anchor="ctr"/>
                </a:tc>
                <a:extLst>
                  <a:ext uri="{0D108BD9-81ED-4DB2-BD59-A6C34878D82A}">
                    <a16:rowId xmlns:a16="http://schemas.microsoft.com/office/drawing/2014/main" val="816703795"/>
                  </a:ext>
                </a:extLst>
              </a:tr>
              <a:tr h="4133299">
                <a:tc>
                  <a:txBody>
                    <a:bodyPr/>
                    <a:lstStyle/>
                    <a:p>
                      <a:pPr rtl="0"/>
                      <a:r>
                        <a:rPr lang="es-MX" sz="1800" b="1">
                          <a:solidFill>
                            <a:srgbClr val="1F1F1F"/>
                          </a:solidFill>
                          <a:effectLst/>
                        </a:rPr>
                        <a:t>DESARROLLO</a:t>
                      </a:r>
                      <a:endParaRPr lang="es-MX" sz="180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dirty="0">
                          <a:solidFill>
                            <a:srgbClr val="1F1F1F"/>
                          </a:solidFill>
                          <a:effectLst/>
                        </a:rPr>
                        <a:t>Descubrir cómo generalizar, traducir y verificar soluciones algebraicas y sistemas de ecuaciones mediante la programación por bloques, pasando los datos abstractos teóricos a distancias y giros reales para comprobar físicamente el comportamiento de figuras geométricas (como el perímetro de un trapecio).</a:t>
                      </a:r>
                      <a:endParaRPr lang="es-MX" sz="1800" dirty="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b="1" dirty="0">
                          <a:solidFill>
                            <a:srgbClr val="1F1F1F"/>
                          </a:solidFill>
                          <a:effectLst/>
                        </a:rPr>
                        <a:t>Reto 1 (Sistemas de Ecuaciones):</a:t>
                      </a:r>
                      <a:r>
                        <a:rPr lang="es-MX" sz="1800" dirty="0">
                          <a:solidFill>
                            <a:srgbClr val="1F1F1F"/>
                          </a:solidFill>
                          <a:effectLst/>
                        </a:rPr>
                        <a:t> Los alumnos programan secuencias de bloques combinando tiempos de avance (x) y giro (y). Ejecutan el código y usan herramientas para comprobar físicamente que el tiempo total de operación coincide con las soluciones teóricas de 14 y 22 segundos.</a:t>
                      </a:r>
                    </a:p>
                    <a:p>
                      <a:pPr rtl="0"/>
                      <a:br>
                        <a:rPr lang="es-MX" sz="1800" dirty="0">
                          <a:solidFill>
                            <a:srgbClr val="1F1F1F"/>
                          </a:solidFill>
                          <a:effectLst/>
                        </a:rPr>
                      </a:br>
                      <a:br>
                        <a:rPr lang="es-MX" sz="1800" dirty="0">
                          <a:solidFill>
                            <a:srgbClr val="1F1F1F"/>
                          </a:solidFill>
                          <a:effectLst/>
                        </a:rPr>
                      </a:br>
                      <a:r>
                        <a:rPr lang="es-MX" sz="1800" b="1" dirty="0">
                          <a:solidFill>
                            <a:srgbClr val="1F1F1F"/>
                          </a:solidFill>
                          <a:effectLst/>
                        </a:rPr>
                        <a:t>Reto 2 (Perímetro del Trapecio):</a:t>
                      </a:r>
                      <a:r>
                        <a:rPr lang="es-MX" sz="1800" dirty="0">
                          <a:solidFill>
                            <a:srgbClr val="1F1F1F"/>
                          </a:solidFill>
                          <a:effectLst/>
                        </a:rPr>
                        <a:t> Configuran bloques de movimiento alternando distancias en centímetros y ángulos de giro. El robot recorre la pista y valida el despeje algebraico: si el cálculo fue correcto el robot regresa al origen de forma exacta; si hubo un error, se sale de la cartulina.</a:t>
                      </a:r>
                      <a:endParaRPr lang="es-MX" sz="1800" dirty="0">
                        <a:solidFill>
                          <a:srgbClr val="1F1F1F"/>
                        </a:solidFill>
                        <a:effectLst/>
                        <a:latin typeface="Century Gothic" panose="020B0502020202020204" pitchFamily="34" charset="0"/>
                      </a:endParaRPr>
                    </a:p>
                  </a:txBody>
                  <a:tcPr marL="25755" marR="25755" marT="17170" marB="17170" anchor="ctr"/>
                </a:tc>
                <a:extLst>
                  <a:ext uri="{0D108BD9-81ED-4DB2-BD59-A6C34878D82A}">
                    <a16:rowId xmlns:a16="http://schemas.microsoft.com/office/drawing/2014/main" val="716572240"/>
                  </a:ext>
                </a:extLst>
              </a:tr>
              <a:tr h="2355841">
                <a:tc>
                  <a:txBody>
                    <a:bodyPr/>
                    <a:lstStyle/>
                    <a:p>
                      <a:pPr rtl="0"/>
                      <a:r>
                        <a:rPr lang="es-MX" sz="1800" b="1">
                          <a:solidFill>
                            <a:srgbClr val="1F1F1F"/>
                          </a:solidFill>
                          <a:effectLst/>
                        </a:rPr>
                        <a:t>CIERRE</a:t>
                      </a:r>
                      <a:endParaRPr lang="es-MX" sz="180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b="0" dirty="0">
                          <a:solidFill>
                            <a:srgbClr val="1F1F1F"/>
                          </a:solidFill>
                          <a:effectLst/>
                        </a:rPr>
                        <a:t>Consolidar la habilidad de recolectar datos en el </a:t>
                      </a:r>
                      <a:r>
                        <a:rPr lang="es-MX" sz="1800" dirty="0">
                          <a:solidFill>
                            <a:srgbClr val="1F1F1F"/>
                          </a:solidFill>
                          <a:effectLst/>
                        </a:rPr>
                        <a:t>mundo real, tabular variables independientes y dependientes (tiempo y distancia) para deducir la constante de proporcionalidad que da origen a una función lineal, perdiendo el temor a la abstracción matemática.</a:t>
                      </a:r>
                      <a:endParaRPr lang="es-MX" sz="1800" dirty="0">
                        <a:solidFill>
                          <a:srgbClr val="1F1F1F"/>
                        </a:solidFill>
                        <a:effectLst/>
                        <a:latin typeface="Century Gothic" panose="020B0502020202020204" pitchFamily="34" charset="0"/>
                      </a:endParaRPr>
                    </a:p>
                  </a:txBody>
                  <a:tcPr marL="25755" marR="25755" marT="17170" marB="17170" anchor="ctr"/>
                </a:tc>
                <a:tc>
                  <a:txBody>
                    <a:bodyPr/>
                    <a:lstStyle/>
                    <a:p>
                      <a:pPr rtl="0"/>
                      <a:r>
                        <a:rPr lang="es-MX" sz="1800" b="1" dirty="0">
                          <a:solidFill>
                            <a:srgbClr val="1F1F1F"/>
                          </a:solidFill>
                          <a:effectLst/>
                        </a:rPr>
                        <a:t>Reto 3 (Calibración de velocidad y tabulación de datos):</a:t>
                      </a:r>
                      <a:endParaRPr lang="es-MX" sz="1800" dirty="0">
                        <a:solidFill>
                          <a:srgbClr val="1F1F1F"/>
                        </a:solidFill>
                        <a:effectLst/>
                      </a:endParaRPr>
                    </a:p>
                    <a:p>
                      <a:pPr rtl="0"/>
                      <a:br>
                        <a:rPr lang="es-MX" sz="1800" dirty="0">
                          <a:solidFill>
                            <a:srgbClr val="1F1F1F"/>
                          </a:solidFill>
                          <a:effectLst/>
                        </a:rPr>
                      </a:br>
                      <a:r>
                        <a:rPr lang="es-MX" sz="1800" dirty="0">
                          <a:solidFill>
                            <a:srgbClr val="1F1F1F"/>
                          </a:solidFill>
                          <a:effectLst/>
                        </a:rPr>
                        <a:t>Bajo la guía del docente, los equipos ejecutan tres rutinas independientes modificando únicamente el parámetro de tiempo (2, 4 y 6 segundos). Midan con cinta métrica las distancias alcanzadas por el robot en cada prueba, registran los datos en una tabla y analizan de forma colectiva el comportamiento de la función lineal resultante.</a:t>
                      </a:r>
                      <a:endParaRPr lang="es-MX" sz="1800" dirty="0">
                        <a:solidFill>
                          <a:srgbClr val="1F1F1F"/>
                        </a:solidFill>
                        <a:effectLst/>
                        <a:latin typeface="Century Gothic" panose="020B0502020202020204" pitchFamily="34" charset="0"/>
                      </a:endParaRPr>
                    </a:p>
                  </a:txBody>
                  <a:tcPr marL="25755" marR="25755" marT="17170" marB="17170" anchor="ctr"/>
                </a:tc>
                <a:extLst>
                  <a:ext uri="{0D108BD9-81ED-4DB2-BD59-A6C34878D82A}">
                    <a16:rowId xmlns:a16="http://schemas.microsoft.com/office/drawing/2014/main" val="838509694"/>
                  </a:ext>
                </a:extLst>
              </a:tr>
            </a:tbl>
          </a:graphicData>
        </a:graphic>
      </p:graphicFrame>
    </p:spTree>
    <p:extLst>
      <p:ext uri="{BB962C8B-B14F-4D97-AF65-F5344CB8AC3E}">
        <p14:creationId xmlns:p14="http://schemas.microsoft.com/office/powerpoint/2010/main" val="1790795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3" name="Tabla 2">
            <a:extLst>
              <a:ext uri="{FF2B5EF4-FFF2-40B4-BE49-F238E27FC236}">
                <a16:creationId xmlns:a16="http://schemas.microsoft.com/office/drawing/2014/main" id="{BDA7A91D-6B40-AC28-0C48-AD4353CF64EE}"/>
              </a:ext>
            </a:extLst>
          </p:cNvPr>
          <p:cNvGraphicFramePr>
            <a:graphicFrameLocks noGrp="1"/>
          </p:cNvGraphicFramePr>
          <p:nvPr>
            <p:extLst>
              <p:ext uri="{D42A27DB-BD31-4B8C-83A1-F6EECF244321}">
                <p14:modId xmlns:p14="http://schemas.microsoft.com/office/powerpoint/2010/main" val="3398239338"/>
              </p:ext>
            </p:extLst>
          </p:nvPr>
        </p:nvGraphicFramePr>
        <p:xfrm>
          <a:off x="1371600" y="190500"/>
          <a:ext cx="16383000" cy="9751886"/>
        </p:xfrm>
        <a:graphic>
          <a:graphicData uri="http://schemas.openxmlformats.org/drawingml/2006/table">
            <a:tbl>
              <a:tblPr>
                <a:tableStyleId>{08FB837D-C827-4EFA-A057-4D05807E0F7C}</a:tableStyleId>
              </a:tblPr>
              <a:tblGrid>
                <a:gridCol w="3429000">
                  <a:extLst>
                    <a:ext uri="{9D8B030D-6E8A-4147-A177-3AD203B41FA5}">
                      <a16:colId xmlns:a16="http://schemas.microsoft.com/office/drawing/2014/main" val="465444696"/>
                    </a:ext>
                  </a:extLst>
                </a:gridCol>
                <a:gridCol w="12954000">
                  <a:extLst>
                    <a:ext uri="{9D8B030D-6E8A-4147-A177-3AD203B41FA5}">
                      <a16:colId xmlns:a16="http://schemas.microsoft.com/office/drawing/2014/main" val="3966282076"/>
                    </a:ext>
                  </a:extLst>
                </a:gridCol>
              </a:tblGrid>
              <a:tr h="276497">
                <a:tc>
                  <a:txBody>
                    <a:bodyPr/>
                    <a:lstStyle/>
                    <a:p>
                      <a:pPr rtl="0"/>
                      <a:r>
                        <a:rPr lang="es-MX" sz="2000" b="1">
                          <a:solidFill>
                            <a:srgbClr val="1F1F1F"/>
                          </a:solidFill>
                          <a:effectLst/>
                          <a:latin typeface="Century Gothic" panose="020B0502020202020204" pitchFamily="34" charset="0"/>
                        </a:rPr>
                        <a:t>Eje Articulador</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b="1">
                          <a:solidFill>
                            <a:srgbClr val="1F1F1F"/>
                          </a:solidFill>
                          <a:effectLst/>
                          <a:latin typeface="Century Gothic" panose="020B0502020202020204" pitchFamily="34" charset="0"/>
                        </a:rPr>
                        <a:t>Puesta en Práctica en la Secuencia</a:t>
                      </a:r>
                      <a:endParaRPr lang="es-MX" sz="2000">
                        <a:solidFill>
                          <a:srgbClr val="1F1F1F"/>
                        </a:solidFill>
                        <a:effectLst/>
                        <a:latin typeface="Century Gothic" panose="020B0502020202020204" pitchFamily="34" charset="0"/>
                      </a:endParaRPr>
                    </a:p>
                  </a:txBody>
                  <a:tcPr marL="34637" marR="34637" marT="23092" marB="23092" anchor="ctr"/>
                </a:tc>
                <a:extLst>
                  <a:ext uri="{0D108BD9-81ED-4DB2-BD59-A6C34878D82A}">
                    <a16:rowId xmlns:a16="http://schemas.microsoft.com/office/drawing/2014/main" val="1526103011"/>
                  </a:ext>
                </a:extLst>
              </a:tr>
              <a:tr h="1342986">
                <a:tc>
                  <a:txBody>
                    <a:bodyPr/>
                    <a:lstStyle/>
                    <a:p>
                      <a:pPr rtl="0"/>
                      <a:r>
                        <a:rPr lang="es-MX" sz="2000" b="1">
                          <a:solidFill>
                            <a:srgbClr val="1F1F1F"/>
                          </a:solidFill>
                          <a:effectLst/>
                          <a:latin typeface="Century Gothic" panose="020B0502020202020204" pitchFamily="34" charset="0"/>
                        </a:rPr>
                        <a:t>Inclusión</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dirty="0">
                          <a:solidFill>
                            <a:srgbClr val="1F1F1F"/>
                          </a:solidFill>
                          <a:effectLst/>
                          <a:latin typeface="Century Gothic" panose="020B0502020202020204" pitchFamily="34" charset="0"/>
                        </a:rPr>
                        <a:t>Se manifiesta al organizar el trabajo en comunidades de aprendizaje con roles diferenciados, permitiendo que cada estudiante aporte desde sus habilidades (programación, medición o cronometraje) y eliminando barreras al validar de forma física e intuitiva los conceptos abstractos.</a:t>
                      </a:r>
                    </a:p>
                  </a:txBody>
                  <a:tcPr marL="34637" marR="34637" marT="23092" marB="23092" anchor="ctr"/>
                </a:tc>
                <a:extLst>
                  <a:ext uri="{0D108BD9-81ED-4DB2-BD59-A6C34878D82A}">
                    <a16:rowId xmlns:a16="http://schemas.microsoft.com/office/drawing/2014/main" val="3742197106"/>
                  </a:ext>
                </a:extLst>
              </a:tr>
              <a:tr h="1342986">
                <a:tc>
                  <a:txBody>
                    <a:bodyPr/>
                    <a:lstStyle/>
                    <a:p>
                      <a:pPr rtl="0"/>
                      <a:r>
                        <a:rPr lang="es-MX" sz="2000" b="1">
                          <a:solidFill>
                            <a:srgbClr val="1F1F1F"/>
                          </a:solidFill>
                          <a:effectLst/>
                          <a:latin typeface="Century Gothic" panose="020B0502020202020204" pitchFamily="34" charset="0"/>
                        </a:rPr>
                        <a:t>Pensamiento crítico</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a:solidFill>
                            <a:srgbClr val="1F1F1F"/>
                          </a:solidFill>
                          <a:effectLst/>
                          <a:latin typeface="Century Gothic" panose="020B0502020202020204" pitchFamily="34" charset="0"/>
                        </a:rPr>
                        <a:t>Se activa cuando los alumnos interrogan los errores de trayectoria del robot en la pista, obligándolos a argumentar el porqué de una falla en el despeje algebraico o en la calibración de variables (tiempo/potencia) en lugar de modificar los bloques al azar.</a:t>
                      </a:r>
                    </a:p>
                  </a:txBody>
                  <a:tcPr marL="34637" marR="34637" marT="23092" marB="23092" anchor="ctr"/>
                </a:tc>
                <a:extLst>
                  <a:ext uri="{0D108BD9-81ED-4DB2-BD59-A6C34878D82A}">
                    <a16:rowId xmlns:a16="http://schemas.microsoft.com/office/drawing/2014/main" val="3184279051"/>
                  </a:ext>
                </a:extLst>
              </a:tr>
              <a:tr h="1342986">
                <a:tc>
                  <a:txBody>
                    <a:bodyPr/>
                    <a:lstStyle/>
                    <a:p>
                      <a:pPr rtl="0"/>
                      <a:r>
                        <a:rPr lang="es-MX" sz="2000" b="1">
                          <a:solidFill>
                            <a:srgbClr val="1F1F1F"/>
                          </a:solidFill>
                          <a:effectLst/>
                          <a:latin typeface="Century Gothic" panose="020B0502020202020204" pitchFamily="34" charset="0"/>
                        </a:rPr>
                        <a:t>Interculturalidad crítica</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dirty="0">
                          <a:solidFill>
                            <a:srgbClr val="1F1F1F"/>
                          </a:solidFill>
                          <a:effectLst/>
                          <a:latin typeface="Century Gothic" panose="020B0502020202020204" pitchFamily="34" charset="0"/>
                        </a:rPr>
                        <a:t>Se promueve al analizar cómo la necesidad humana de medir, orientarse en el espacio y modelar el movimiento ha sido resuelta históricamente por diversas culturas, vinculando el uso contemporáneo del código tecnológico como un lenguaje global y compartido.</a:t>
                      </a:r>
                    </a:p>
                  </a:txBody>
                  <a:tcPr marL="34637" marR="34637" marT="23092" marB="23092" anchor="ctr"/>
                </a:tc>
                <a:extLst>
                  <a:ext uri="{0D108BD9-81ED-4DB2-BD59-A6C34878D82A}">
                    <a16:rowId xmlns:a16="http://schemas.microsoft.com/office/drawing/2014/main" val="3553931749"/>
                  </a:ext>
                </a:extLst>
              </a:tr>
              <a:tr h="1342986">
                <a:tc>
                  <a:txBody>
                    <a:bodyPr/>
                    <a:lstStyle/>
                    <a:p>
                      <a:pPr rtl="0"/>
                      <a:r>
                        <a:rPr lang="es-MX" sz="2000" b="1">
                          <a:solidFill>
                            <a:srgbClr val="1F1F1F"/>
                          </a:solidFill>
                          <a:effectLst/>
                          <a:latin typeface="Century Gothic" panose="020B0502020202020204" pitchFamily="34" charset="0"/>
                        </a:rPr>
                        <a:t>Igualdad de género</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a:solidFill>
                            <a:srgbClr val="1F1F1F"/>
                          </a:solidFill>
                          <a:effectLst/>
                          <a:latin typeface="Century Gothic" panose="020B0502020202020204" pitchFamily="34" charset="0"/>
                        </a:rPr>
                        <a:t>Se fomenta al estructurar equipos de manera equitativa, asegurando que tanto alumnas como alumnos lideren la toma de decisiones algorítmicas, la manipulación física del robot y la coordinación matemática de las misiones sin sesgos de rol.</a:t>
                      </a:r>
                    </a:p>
                  </a:txBody>
                  <a:tcPr marL="34637" marR="34637" marT="23092" marB="23092" anchor="ctr"/>
                </a:tc>
                <a:extLst>
                  <a:ext uri="{0D108BD9-81ED-4DB2-BD59-A6C34878D82A}">
                    <a16:rowId xmlns:a16="http://schemas.microsoft.com/office/drawing/2014/main" val="2897400127"/>
                  </a:ext>
                </a:extLst>
              </a:tr>
              <a:tr h="1342986">
                <a:tc>
                  <a:txBody>
                    <a:bodyPr/>
                    <a:lstStyle/>
                    <a:p>
                      <a:pPr rtl="0"/>
                      <a:r>
                        <a:rPr lang="es-MX" sz="2000" b="1">
                          <a:solidFill>
                            <a:srgbClr val="1F1F1F"/>
                          </a:solidFill>
                          <a:effectLst/>
                          <a:latin typeface="Century Gothic" panose="020B0502020202020204" pitchFamily="34" charset="0"/>
                        </a:rPr>
                        <a:t>Vida saludable</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dirty="0">
                          <a:solidFill>
                            <a:srgbClr val="1F1F1F"/>
                          </a:solidFill>
                          <a:effectLst/>
                          <a:latin typeface="Century Gothic" panose="020B0502020202020204" pitchFamily="34" charset="0"/>
                        </a:rPr>
                        <a:t>Se pone en práctica al romper con la estructura sedentaria tradicional del aula, promoviendo el movimiento físico constante (desplazarse a la pista, medir con cinta métrica) y reduciendo el estrés ante el error mediante la experimentación.</a:t>
                      </a:r>
                    </a:p>
                  </a:txBody>
                  <a:tcPr marL="34637" marR="34637" marT="23092" marB="23092" anchor="ctr"/>
                </a:tc>
                <a:extLst>
                  <a:ext uri="{0D108BD9-81ED-4DB2-BD59-A6C34878D82A}">
                    <a16:rowId xmlns:a16="http://schemas.microsoft.com/office/drawing/2014/main" val="2651873456"/>
                  </a:ext>
                </a:extLst>
              </a:tr>
              <a:tr h="1342986">
                <a:tc>
                  <a:txBody>
                    <a:bodyPr/>
                    <a:lstStyle/>
                    <a:p>
                      <a:pPr rtl="0"/>
                      <a:r>
                        <a:rPr lang="es-MX" sz="2000" b="1">
                          <a:solidFill>
                            <a:srgbClr val="1F1F1F"/>
                          </a:solidFill>
                          <a:effectLst/>
                          <a:latin typeface="Century Gothic" panose="020B0502020202020204" pitchFamily="34" charset="0"/>
                        </a:rPr>
                        <a:t>Artes y experiencias estéticas</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a:solidFill>
                            <a:srgbClr val="1F1F1F"/>
                          </a:solidFill>
                          <a:effectLst/>
                          <a:latin typeface="Century Gothic" panose="020B0502020202020204" pitchFamily="34" charset="0"/>
                        </a:rPr>
                        <a:t>Se ejerce en el diseño espacial y simétrico de la pista del trapecio isósceles, donde los estudiantes utilizan la percepción geométrica y visual para trazar contornos y apreciar la armonía del movimiento fluido del robot sobre las líneas de la cartulina.</a:t>
                      </a:r>
                    </a:p>
                  </a:txBody>
                  <a:tcPr marL="34637" marR="34637" marT="23092" marB="23092" anchor="ctr"/>
                </a:tc>
                <a:extLst>
                  <a:ext uri="{0D108BD9-81ED-4DB2-BD59-A6C34878D82A}">
                    <a16:rowId xmlns:a16="http://schemas.microsoft.com/office/drawing/2014/main" val="3475465246"/>
                  </a:ext>
                </a:extLst>
              </a:tr>
              <a:tr h="1342986">
                <a:tc>
                  <a:txBody>
                    <a:bodyPr/>
                    <a:lstStyle/>
                    <a:p>
                      <a:pPr rtl="0"/>
                      <a:r>
                        <a:rPr lang="es-MX" sz="2000" b="1">
                          <a:solidFill>
                            <a:srgbClr val="1F1F1F"/>
                          </a:solidFill>
                          <a:effectLst/>
                          <a:latin typeface="Century Gothic" panose="020B0502020202020204" pitchFamily="34" charset="0"/>
                        </a:rPr>
                        <a:t>Apropiación de las culturas a través de la lectura y la escritura</a:t>
                      </a:r>
                      <a:endParaRPr lang="es-MX" sz="2000">
                        <a:solidFill>
                          <a:srgbClr val="1F1F1F"/>
                        </a:solidFill>
                        <a:effectLst/>
                        <a:latin typeface="Century Gothic" panose="020B0502020202020204" pitchFamily="34" charset="0"/>
                      </a:endParaRPr>
                    </a:p>
                  </a:txBody>
                  <a:tcPr marL="34637" marR="34637" marT="23092" marB="23092" anchor="ctr"/>
                </a:tc>
                <a:tc>
                  <a:txBody>
                    <a:bodyPr/>
                    <a:lstStyle/>
                    <a:p>
                      <a:pPr rtl="0"/>
                      <a:r>
                        <a:rPr lang="es-MX" sz="2000" dirty="0">
                          <a:solidFill>
                            <a:srgbClr val="1F1F1F"/>
                          </a:solidFill>
                          <a:effectLst/>
                          <a:latin typeface="Century Gothic" panose="020B0502020202020204" pitchFamily="34" charset="0"/>
                        </a:rPr>
                        <a:t>Se desarrolla al decodificar y traducir las instrucciones del reto desde el lenguaje común al lenguaje de bloques de programación, registrando los datos numéricos experimentales de forma razonada en tablas para sistematizar y dar sentido a la realidad.</a:t>
                      </a:r>
                    </a:p>
                  </a:txBody>
                  <a:tcPr marL="34637" marR="34637" marT="23092" marB="23092" anchor="ctr"/>
                </a:tc>
                <a:extLst>
                  <a:ext uri="{0D108BD9-81ED-4DB2-BD59-A6C34878D82A}">
                    <a16:rowId xmlns:a16="http://schemas.microsoft.com/office/drawing/2014/main" val="2612120483"/>
                  </a:ext>
                </a:extLst>
              </a:tr>
            </a:tbl>
          </a:graphicData>
        </a:graphic>
      </p:graphicFrame>
    </p:spTree>
    <p:extLst>
      <p:ext uri="{BB962C8B-B14F-4D97-AF65-F5344CB8AC3E}">
        <p14:creationId xmlns:p14="http://schemas.microsoft.com/office/powerpoint/2010/main" val="3160696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3" name="Tabla 2">
            <a:extLst>
              <a:ext uri="{FF2B5EF4-FFF2-40B4-BE49-F238E27FC236}">
                <a16:creationId xmlns:a16="http://schemas.microsoft.com/office/drawing/2014/main" id="{757EA07E-3498-0A99-BE24-30B6B61714A1}"/>
              </a:ext>
            </a:extLst>
          </p:cNvPr>
          <p:cNvGraphicFramePr>
            <a:graphicFrameLocks noGrp="1"/>
          </p:cNvGraphicFramePr>
          <p:nvPr>
            <p:extLst>
              <p:ext uri="{D42A27DB-BD31-4B8C-83A1-F6EECF244321}">
                <p14:modId xmlns:p14="http://schemas.microsoft.com/office/powerpoint/2010/main" val="508948257"/>
              </p:ext>
            </p:extLst>
          </p:nvPr>
        </p:nvGraphicFramePr>
        <p:xfrm>
          <a:off x="1181099" y="190500"/>
          <a:ext cx="17002125" cy="9812001"/>
        </p:xfrm>
        <a:graphic>
          <a:graphicData uri="http://schemas.openxmlformats.org/drawingml/2006/table">
            <a:tbl>
              <a:tblPr>
                <a:tableStyleId>{69C7853C-536D-4A76-A0AE-DD22124D55A5}</a:tableStyleId>
              </a:tblPr>
              <a:tblGrid>
                <a:gridCol w="1181101">
                  <a:extLst>
                    <a:ext uri="{9D8B030D-6E8A-4147-A177-3AD203B41FA5}">
                      <a16:colId xmlns:a16="http://schemas.microsoft.com/office/drawing/2014/main" val="3654606007"/>
                    </a:ext>
                  </a:extLst>
                </a:gridCol>
                <a:gridCol w="3276600">
                  <a:extLst>
                    <a:ext uri="{9D8B030D-6E8A-4147-A177-3AD203B41FA5}">
                      <a16:colId xmlns:a16="http://schemas.microsoft.com/office/drawing/2014/main" val="2692387014"/>
                    </a:ext>
                  </a:extLst>
                </a:gridCol>
                <a:gridCol w="12544424">
                  <a:extLst>
                    <a:ext uri="{9D8B030D-6E8A-4147-A177-3AD203B41FA5}">
                      <a16:colId xmlns:a16="http://schemas.microsoft.com/office/drawing/2014/main" val="2323803318"/>
                    </a:ext>
                  </a:extLst>
                </a:gridCol>
              </a:tblGrid>
              <a:tr h="261866">
                <a:tc>
                  <a:txBody>
                    <a:bodyPr/>
                    <a:lstStyle/>
                    <a:p>
                      <a:pPr algn="ctr" rtl="0"/>
                      <a:r>
                        <a:rPr lang="es-MX" sz="2400" b="1" dirty="0">
                          <a:solidFill>
                            <a:srgbClr val="1F1F1F"/>
                          </a:solidFill>
                          <a:effectLst/>
                        </a:rPr>
                        <a:t>Criterio</a:t>
                      </a:r>
                      <a:endParaRPr lang="es-MX" sz="2400" dirty="0">
                        <a:solidFill>
                          <a:srgbClr val="1F1F1F"/>
                        </a:solidFill>
                        <a:effectLst/>
                        <a:latin typeface="Century Gothic" panose="020B0502020202020204" pitchFamily="34" charset="0"/>
                      </a:endParaRPr>
                    </a:p>
                  </a:txBody>
                  <a:tcPr marL="23029" marR="23029" marT="15353" marB="15353" anchor="ctr"/>
                </a:tc>
                <a:tc>
                  <a:txBody>
                    <a:bodyPr/>
                    <a:lstStyle/>
                    <a:p>
                      <a:pPr algn="ctr" rtl="0"/>
                      <a:r>
                        <a:rPr lang="es-MX" sz="2400" b="1">
                          <a:solidFill>
                            <a:srgbClr val="1F1F1F"/>
                          </a:solidFill>
                          <a:effectLst/>
                        </a:rPr>
                        <a:t>Tipo / Momento</a:t>
                      </a:r>
                      <a:endParaRPr lang="es-MX" sz="2400">
                        <a:solidFill>
                          <a:srgbClr val="1F1F1F"/>
                        </a:solidFill>
                        <a:effectLst/>
                        <a:latin typeface="Century Gothic" panose="020B0502020202020204" pitchFamily="34" charset="0"/>
                      </a:endParaRPr>
                    </a:p>
                  </a:txBody>
                  <a:tcPr marL="23029" marR="23029" marT="15353" marB="15353" anchor="ctr"/>
                </a:tc>
                <a:tc>
                  <a:txBody>
                    <a:bodyPr/>
                    <a:lstStyle/>
                    <a:p>
                      <a:pPr algn="ctr" rtl="0"/>
                      <a:r>
                        <a:rPr lang="es-MX" sz="2400" b="1" dirty="0">
                          <a:solidFill>
                            <a:srgbClr val="1F1F1F"/>
                          </a:solidFill>
                          <a:effectLst/>
                        </a:rPr>
                        <a:t>Aplicación en la Secuencia</a:t>
                      </a:r>
                      <a:endParaRPr lang="es-MX" sz="2400" dirty="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450452107"/>
                  </a:ext>
                </a:extLst>
              </a:tr>
              <a:tr h="1726142">
                <a:tc rowSpan="3">
                  <a:txBody>
                    <a:bodyPr/>
                    <a:lstStyle/>
                    <a:p>
                      <a:pPr algn="ctr" rtl="0"/>
                      <a:r>
                        <a:rPr lang="es-MX" sz="2400" b="1" dirty="0">
                          <a:solidFill>
                            <a:srgbClr val="1F1F1F"/>
                          </a:solidFill>
                          <a:effectLst/>
                        </a:rPr>
                        <a:t>Por sus Agentes</a:t>
                      </a:r>
                      <a:endParaRPr lang="es-MX" sz="2400" dirty="0">
                        <a:solidFill>
                          <a:srgbClr val="1F1F1F"/>
                        </a:solidFill>
                        <a:effectLst/>
                        <a:latin typeface="Century Gothic" panose="020B0502020202020204" pitchFamily="34" charset="0"/>
                      </a:endParaRPr>
                    </a:p>
                  </a:txBody>
                  <a:tcPr marL="23029" marR="23029" marT="15353" marB="15353" vert="vert270" anchor="ctr"/>
                </a:tc>
                <a:tc>
                  <a:txBody>
                    <a:bodyPr/>
                    <a:lstStyle/>
                    <a:p>
                      <a:pPr algn="ctr" rtl="0"/>
                      <a:r>
                        <a:rPr lang="es-MX" sz="2400" b="1" dirty="0">
                          <a:solidFill>
                            <a:srgbClr val="1F1F1F"/>
                          </a:solidFill>
                          <a:effectLst/>
                        </a:rPr>
                        <a:t>Autoevaluación</a:t>
                      </a:r>
                      <a:endParaRPr lang="es-MX" sz="2400" dirty="0">
                        <a:solidFill>
                          <a:srgbClr val="1F1F1F"/>
                        </a:solidFill>
                        <a:effectLst/>
                        <a:latin typeface="Century Gothic" panose="020B0502020202020204" pitchFamily="34" charset="0"/>
                      </a:endParaRPr>
                    </a:p>
                  </a:txBody>
                  <a:tcPr marL="23029" marR="23029" marT="15353" marB="15353" anchor="ctr"/>
                </a:tc>
                <a:tc>
                  <a:txBody>
                    <a:bodyPr/>
                    <a:lstStyle/>
                    <a:p>
                      <a:pPr rtl="0"/>
                      <a:r>
                        <a:rPr lang="es-MX" sz="2400" dirty="0">
                          <a:solidFill>
                            <a:srgbClr val="1F1F1F"/>
                          </a:solidFill>
                          <a:effectLst/>
                        </a:rPr>
                        <a:t>El alumno reflexiona sobre su propio desempeño y aprendizaje mediante el análisis del comportamiento físico del robot, identificando de manera honesta si logró programar correctamente los parámetros de tiempo y distancia o si aún requiere apoyo pedagógico para comprender el despeje matemático.</a:t>
                      </a:r>
                      <a:endParaRPr lang="es-MX" sz="2400" dirty="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1789967424"/>
                  </a:ext>
                </a:extLst>
              </a:tr>
              <a:tr h="1516960">
                <a:tc vMerge="1">
                  <a:txBody>
                    <a:bodyPr/>
                    <a:lstStyle/>
                    <a:p>
                      <a:pPr rtl="0"/>
                      <a:endParaRPr lang="es-MX" sz="1800">
                        <a:solidFill>
                          <a:srgbClr val="1F1F1F"/>
                        </a:solidFill>
                        <a:effectLst/>
                        <a:latin typeface="Century Gothic" panose="020B0502020202020204" pitchFamily="34" charset="0"/>
                      </a:endParaRPr>
                    </a:p>
                  </a:txBody>
                  <a:tcPr marL="23029" marR="23029" marT="15353" marB="15353"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2400" b="1">
                          <a:solidFill>
                            <a:srgbClr val="1F1F1F"/>
                          </a:solidFill>
                          <a:effectLst/>
                        </a:rPr>
                        <a:t>Coevaluación</a:t>
                      </a:r>
                      <a:endParaRPr lang="es-MX" sz="2400">
                        <a:solidFill>
                          <a:srgbClr val="1F1F1F"/>
                        </a:solidFill>
                        <a:effectLst/>
                        <a:latin typeface="Century Gothic" panose="020B0502020202020204" pitchFamily="34" charset="0"/>
                      </a:endParaRPr>
                    </a:p>
                  </a:txBody>
                  <a:tcPr marL="23029" marR="23029" marT="15353" marB="15353" anchor="ctr"/>
                </a:tc>
                <a:tc>
                  <a:txBody>
                    <a:bodyPr/>
                    <a:lstStyle/>
                    <a:p>
                      <a:pPr rtl="0"/>
                      <a:r>
                        <a:rPr lang="es-MX" sz="2400" dirty="0">
                          <a:solidFill>
                            <a:srgbClr val="1F1F1F"/>
                          </a:solidFill>
                          <a:effectLst/>
                        </a:rPr>
                        <a:t>Se activa durante el trabajo en comunidades de aprendizaje al resolver los retos en la pista, donde los integrantes del equipo valoran mutuamente sus ideas y aportaciones para depurar el código de bloques, corregir la asignación de puertos y asegurar que los giros e instrucciones sean exactos.</a:t>
                      </a:r>
                      <a:endParaRPr lang="es-MX" sz="2400" dirty="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12286513"/>
                  </a:ext>
                </a:extLst>
              </a:tr>
              <a:tr h="1412369">
                <a:tc vMerge="1">
                  <a:txBody>
                    <a:bodyPr/>
                    <a:lstStyle/>
                    <a:p>
                      <a:pPr rtl="0"/>
                      <a:endParaRPr lang="es-MX" sz="1800" dirty="0">
                        <a:solidFill>
                          <a:srgbClr val="1F1F1F"/>
                        </a:solidFill>
                        <a:effectLst/>
                        <a:latin typeface="Century Gothic" panose="020B0502020202020204" pitchFamily="34" charset="0"/>
                      </a:endParaRPr>
                    </a:p>
                  </a:txBody>
                  <a:tcPr marL="23029" marR="23029" marT="15353" marB="15353"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2400" b="1">
                          <a:solidFill>
                            <a:srgbClr val="1F1F1F"/>
                          </a:solidFill>
                          <a:effectLst/>
                        </a:rPr>
                        <a:t>Heteroevaluación</a:t>
                      </a:r>
                      <a:endParaRPr lang="es-MX" sz="2400">
                        <a:solidFill>
                          <a:srgbClr val="1F1F1F"/>
                        </a:solidFill>
                        <a:effectLst/>
                        <a:latin typeface="Century Gothic" panose="020B0502020202020204" pitchFamily="34" charset="0"/>
                      </a:endParaRPr>
                    </a:p>
                  </a:txBody>
                  <a:tcPr marL="23029" marR="23029" marT="15353" marB="15353" anchor="ctr"/>
                </a:tc>
                <a:tc>
                  <a:txBody>
                    <a:bodyPr/>
                    <a:lstStyle/>
                    <a:p>
                      <a:pPr rtl="0"/>
                      <a:r>
                        <a:rPr lang="es-MX" sz="2400" dirty="0">
                          <a:solidFill>
                            <a:srgbClr val="1F1F1F"/>
                          </a:solidFill>
                          <a:effectLst/>
                        </a:rPr>
                        <a:t>El docente utiliza una rúbrica o registro de observación durante las misiones para valorar en tiempo real la precisión en la configuración de las variables de potencia y tiempo, el dominio del modelado geométrico en el perímetro y el nivel de participación colaborativa en cada equipo.</a:t>
                      </a:r>
                      <a:endParaRPr lang="es-MX" sz="2400" dirty="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1630817842"/>
                  </a:ext>
                </a:extLst>
              </a:tr>
              <a:tr h="1516960">
                <a:tc rowSpan="3">
                  <a:txBody>
                    <a:bodyPr/>
                    <a:lstStyle/>
                    <a:p>
                      <a:pPr algn="ctr" rtl="0"/>
                      <a:r>
                        <a:rPr lang="es-MX" sz="2400" b="1" dirty="0">
                          <a:solidFill>
                            <a:srgbClr val="1F1F1F"/>
                          </a:solidFill>
                          <a:effectLst/>
                        </a:rPr>
                        <a:t>Por sus Momentos</a:t>
                      </a:r>
                      <a:endParaRPr lang="es-MX" sz="2400" dirty="0">
                        <a:solidFill>
                          <a:srgbClr val="1F1F1F"/>
                        </a:solidFill>
                        <a:effectLst/>
                        <a:latin typeface="Century Gothic" panose="020B0502020202020204" pitchFamily="34" charset="0"/>
                      </a:endParaRPr>
                    </a:p>
                  </a:txBody>
                  <a:tcPr marL="23029" marR="23029" marT="15353" marB="15353" vert="vert270" anchor="ctr"/>
                </a:tc>
                <a:tc>
                  <a:txBody>
                    <a:bodyPr/>
                    <a:lstStyle/>
                    <a:p>
                      <a:pPr algn="ctr" rtl="0"/>
                      <a:r>
                        <a:rPr lang="es-MX" sz="2400" b="1">
                          <a:solidFill>
                            <a:srgbClr val="1F1F1F"/>
                          </a:solidFill>
                          <a:effectLst/>
                        </a:rPr>
                        <a:t>Evaluación Inicial (Diagnóstica)</a:t>
                      </a:r>
                      <a:endParaRPr lang="es-MX" sz="2400">
                        <a:solidFill>
                          <a:srgbClr val="1F1F1F"/>
                        </a:solidFill>
                        <a:effectLst/>
                        <a:latin typeface="Century Gothic" panose="020B0502020202020204" pitchFamily="34" charset="0"/>
                      </a:endParaRPr>
                    </a:p>
                  </a:txBody>
                  <a:tcPr marL="23029" marR="23029" marT="15353" marB="15353" anchor="ctr"/>
                </a:tc>
                <a:tc>
                  <a:txBody>
                    <a:bodyPr/>
                    <a:lstStyle/>
                    <a:p>
                      <a:pPr rtl="0"/>
                      <a:r>
                        <a:rPr lang="es-MX" sz="2400">
                          <a:solidFill>
                            <a:srgbClr val="1F1F1F"/>
                          </a:solidFill>
                          <a:effectLst/>
                        </a:rPr>
                        <a:t>Se realiza al arrancar la sesión durante la configuración inicial del robot, donde los alumnos demuestran de manera práctica sus nociones técnicas y lógicas previas al enlazar el hardware, verificar los puertos de los motores y establecer correctamente el bloque de inicio en el lienzo.</a:t>
                      </a:r>
                      <a:endParaRPr lang="es-MX" sz="240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2989338317"/>
                  </a:ext>
                </a:extLst>
              </a:tr>
              <a:tr h="1621552">
                <a:tc vMerge="1">
                  <a:txBody>
                    <a:bodyPr/>
                    <a:lstStyle/>
                    <a:p>
                      <a:pPr rtl="0"/>
                      <a:endParaRPr lang="es-MX" sz="1800">
                        <a:solidFill>
                          <a:srgbClr val="1F1F1F"/>
                        </a:solidFill>
                        <a:effectLst/>
                        <a:latin typeface="Century Gothic" panose="020B0502020202020204" pitchFamily="34" charset="0"/>
                      </a:endParaRPr>
                    </a:p>
                  </a:txBody>
                  <a:tcPr marL="23029" marR="23029" marT="15353" marB="15353"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2400" b="1">
                          <a:solidFill>
                            <a:srgbClr val="1F1F1F"/>
                          </a:solidFill>
                          <a:effectLst/>
                        </a:rPr>
                        <a:t>Evaluación Continua (Procesal)</a:t>
                      </a:r>
                      <a:endParaRPr lang="es-MX" sz="2400">
                        <a:solidFill>
                          <a:srgbClr val="1F1F1F"/>
                        </a:solidFill>
                        <a:effectLst/>
                        <a:latin typeface="Century Gothic" panose="020B0502020202020204" pitchFamily="34" charset="0"/>
                      </a:endParaRPr>
                    </a:p>
                  </a:txBody>
                  <a:tcPr marL="23029" marR="23029" marT="15353" marB="15353" anchor="ctr"/>
                </a:tc>
                <a:tc>
                  <a:txBody>
                    <a:bodyPr/>
                    <a:lstStyle/>
                    <a:p>
                      <a:pPr rtl="0"/>
                      <a:r>
                        <a:rPr lang="es-MX" sz="2400">
                          <a:solidFill>
                            <a:srgbClr val="1F1F1F"/>
                          </a:solidFill>
                          <a:effectLst/>
                        </a:rPr>
                        <a:t>Ocurre durante el desarrollo de los Retos 1 y 2. Es el momento clave para retroalimentar el error de manera física: el docente interviene cuando el robot se desfasa en los tiempos de la ecuación o se sale de la cartulina del trapecio, guiando a los estudiantes a reajustar sus cálculos algebraicos y su código.</a:t>
                      </a:r>
                      <a:endParaRPr lang="es-MX" sz="240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3003167477"/>
                  </a:ext>
                </a:extLst>
              </a:tr>
              <a:tr h="1621552">
                <a:tc vMerge="1">
                  <a:txBody>
                    <a:bodyPr/>
                    <a:lstStyle/>
                    <a:p>
                      <a:pPr rtl="0"/>
                      <a:endParaRPr lang="es-MX" sz="1800" dirty="0">
                        <a:solidFill>
                          <a:srgbClr val="1F1F1F"/>
                        </a:solidFill>
                        <a:effectLst/>
                        <a:latin typeface="Century Gothic" panose="020B0502020202020204" pitchFamily="34" charset="0"/>
                      </a:endParaRPr>
                    </a:p>
                  </a:txBody>
                  <a:tcPr marL="23029" marR="23029" marT="15353" marB="15353"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2400" b="1" dirty="0">
                          <a:solidFill>
                            <a:srgbClr val="1F1F1F"/>
                          </a:solidFill>
                          <a:effectLst/>
                        </a:rPr>
                        <a:t>Evaluación Final (Cierre)</a:t>
                      </a:r>
                      <a:endParaRPr lang="es-MX" sz="2400" dirty="0">
                        <a:solidFill>
                          <a:srgbClr val="1F1F1F"/>
                        </a:solidFill>
                        <a:effectLst/>
                        <a:latin typeface="Century Gothic" panose="020B0502020202020204" pitchFamily="34" charset="0"/>
                      </a:endParaRPr>
                    </a:p>
                  </a:txBody>
                  <a:tcPr marL="23029" marR="23029" marT="15353" marB="15353" anchor="ctr"/>
                </a:tc>
                <a:tc>
                  <a:txBody>
                    <a:bodyPr/>
                    <a:lstStyle/>
                    <a:p>
                      <a:pPr rtl="0"/>
                      <a:r>
                        <a:rPr lang="es-MX" sz="2400" dirty="0">
                          <a:solidFill>
                            <a:srgbClr val="1F1F1F"/>
                          </a:solidFill>
                          <a:effectLst/>
                        </a:rPr>
                        <a:t>Se lleva a cabo en la fase de calibración de velocidad mediante la recolección experimental de datos. El alumno analiza y consolida su aprendizaje al registrar de forma estructurada las variables en su tabla de datos, demostrando la comprensión de la función lineal resultante a partir de las pruebas físicas.</a:t>
                      </a:r>
                      <a:endParaRPr lang="es-MX" sz="2400" dirty="0">
                        <a:solidFill>
                          <a:srgbClr val="1F1F1F"/>
                        </a:solidFill>
                        <a:effectLst/>
                        <a:latin typeface="Century Gothic" panose="020B0502020202020204" pitchFamily="34" charset="0"/>
                      </a:endParaRPr>
                    </a:p>
                  </a:txBody>
                  <a:tcPr marL="23029" marR="23029" marT="15353" marB="15353" anchor="ctr"/>
                </a:tc>
                <a:extLst>
                  <a:ext uri="{0D108BD9-81ED-4DB2-BD59-A6C34878D82A}">
                    <a16:rowId xmlns:a16="http://schemas.microsoft.com/office/drawing/2014/main" val="2870714813"/>
                  </a:ext>
                </a:extLst>
              </a:tr>
            </a:tbl>
          </a:graphicData>
        </a:graphic>
      </p:graphicFrame>
    </p:spTree>
    <p:extLst>
      <p:ext uri="{BB962C8B-B14F-4D97-AF65-F5344CB8AC3E}">
        <p14:creationId xmlns:p14="http://schemas.microsoft.com/office/powerpoint/2010/main" val="369554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4" name="Rectangle 3">
            <a:extLst>
              <a:ext uri="{FF2B5EF4-FFF2-40B4-BE49-F238E27FC236}">
                <a16:creationId xmlns:a16="http://schemas.microsoft.com/office/drawing/2014/main" id="{20EFD3B4-809F-DD0B-83ED-21B65B66C8D7}"/>
              </a:ext>
            </a:extLst>
          </p:cNvPr>
          <p:cNvSpPr>
            <a:spLocks noChangeArrowheads="1"/>
          </p:cNvSpPr>
          <p:nvPr/>
        </p:nvSpPr>
        <p:spPr bwMode="auto">
          <a:xfrm>
            <a:off x="914400" y="3387725"/>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1" name="Rectangle 5">
            <a:extLst>
              <a:ext uri="{FF2B5EF4-FFF2-40B4-BE49-F238E27FC236}">
                <a16:creationId xmlns:a16="http://schemas.microsoft.com/office/drawing/2014/main" id="{E6736229-4DE3-D926-7C2B-2049E0D377C2}"/>
              </a:ext>
            </a:extLst>
          </p:cNvPr>
          <p:cNvSpPr>
            <a:spLocks noChangeArrowheads="1"/>
          </p:cNvSpPr>
          <p:nvPr/>
        </p:nvSpPr>
        <p:spPr bwMode="auto">
          <a:xfrm>
            <a:off x="914400" y="3403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5" name="CuadroTexto 4">
            <a:extLst>
              <a:ext uri="{FF2B5EF4-FFF2-40B4-BE49-F238E27FC236}">
                <a16:creationId xmlns:a16="http://schemas.microsoft.com/office/drawing/2014/main" id="{9A539150-8882-5BCD-757E-6193ED3CEC8A}"/>
              </a:ext>
            </a:extLst>
          </p:cNvPr>
          <p:cNvSpPr txBox="1"/>
          <p:nvPr/>
        </p:nvSpPr>
        <p:spPr>
          <a:xfrm>
            <a:off x="1504950" y="4175718"/>
            <a:ext cx="16659225" cy="2308324"/>
          </a:xfrm>
          <a:prstGeom prst="rect">
            <a:avLst/>
          </a:prstGeom>
          <a:noFill/>
        </p:spPr>
        <p:txBody>
          <a:bodyPr wrap="square">
            <a:spAutoFit/>
          </a:bodyPr>
          <a:lstStyle/>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(2022). Plan de Estudio para la educación preescolar, primaria y secundaria. Ciudad de México: SEP.</a:t>
            </a:r>
          </a:p>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(2023). Programa de Estudio para la Educación Secundaria: Campo Formativo Saberes y Pensamiento Científico. Ciudad de México: SEP.</a:t>
            </a:r>
          </a:p>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(2023). Un libro sin recetas, para la maestra y el maestro. Fase 6 (Secundaria). Ciudad de México: SEP.</a:t>
            </a:r>
          </a:p>
          <a:p>
            <a:pPr rtl="0"/>
            <a:r>
              <a:rPr lang="es-MX" dirty="0">
                <a:solidFill>
                  <a:srgbClr val="1F1F1F"/>
                </a:solidFill>
                <a:effectLst/>
                <a:latin typeface="Century Gothic" panose="020B0502020202020204" pitchFamily="34" charset="0"/>
              </a:rPr>
              <a:t>Secretaría de Educación Pública. (2023). Saberes y Pensamiento Científico. Primer grado de secundaria. Ciudad de México: SEP.</a:t>
            </a:r>
          </a:p>
          <a:p>
            <a:pPr rtl="0"/>
            <a:r>
              <a:rPr lang="es-MX" dirty="0">
                <a:solidFill>
                  <a:srgbClr val="1F1F1F"/>
                </a:solidFill>
                <a:effectLst/>
                <a:latin typeface="Century Gothic" panose="020B0502020202020204" pitchFamily="34" charset="0"/>
              </a:rPr>
              <a:t>Secretaría de Educación Pública. (2023). Saberes y Pensamiento Científico. Segundo grado de secundaria. Ciudad de México: SEP.</a:t>
            </a:r>
          </a:p>
          <a:p>
            <a:pPr rtl="0"/>
            <a:r>
              <a:rPr lang="es-MX" dirty="0">
                <a:solidFill>
                  <a:srgbClr val="1F1F1F"/>
                </a:solidFill>
                <a:effectLst/>
                <a:latin typeface="Century Gothic" panose="020B0502020202020204" pitchFamily="34" charset="0"/>
              </a:rPr>
              <a:t>Secretaría de Educación Pública. (2023). Saberes y Pensamiento Científico. Tercer grado de secundaria. Ciudad de México: SEP.</a:t>
            </a:r>
            <a:endParaRPr lang="es-MX" b="1" dirty="0">
              <a:solidFill>
                <a:srgbClr val="1F1F1F"/>
              </a:solidFill>
              <a:effectLst/>
              <a:latin typeface="Century Gothic" panose="020B0502020202020204" pitchFamily="34" charset="0"/>
            </a:endParaRPr>
          </a:p>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(2023). Nuestro libro de proyectos. Secundaria (Grados 1, 2 y 3). Ciudad de México: SEP.</a:t>
            </a:r>
          </a:p>
        </p:txBody>
      </p:sp>
    </p:spTree>
    <p:extLst>
      <p:ext uri="{BB962C8B-B14F-4D97-AF65-F5344CB8AC3E}">
        <p14:creationId xmlns:p14="http://schemas.microsoft.com/office/powerpoint/2010/main" val="2049253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3773222"/>
            <a:ext cx="11301259" cy="2740555"/>
          </a:xfrm>
          <a:custGeom>
            <a:avLst/>
            <a:gdLst/>
            <a:ahLst/>
            <a:cxnLst/>
            <a:rect l="l" t="t" r="r" b="b"/>
            <a:pathLst>
              <a:path w="11301259" h="2740555">
                <a:moveTo>
                  <a:pt x="0" y="0"/>
                </a:moveTo>
                <a:lnTo>
                  <a:pt x="11301258" y="0"/>
                </a:lnTo>
                <a:lnTo>
                  <a:pt x="11301258" y="2740556"/>
                </a:lnTo>
                <a:lnTo>
                  <a:pt x="0" y="2740556"/>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1273</TotalTime>
  <Words>1718</Words>
  <Application>Microsoft Macintosh PowerPoint</Application>
  <PresentationFormat>Personalizado</PresentationFormat>
  <Paragraphs>88</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Century Gothic</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Copy of Unidad de Análisis de Contextos Educativos.</dc:title>
  <cp:lastModifiedBy>Microsoft Office User</cp:lastModifiedBy>
  <cp:revision>10</cp:revision>
  <dcterms:created xsi:type="dcterms:W3CDTF">2006-08-16T00:00:00Z</dcterms:created>
  <dcterms:modified xsi:type="dcterms:W3CDTF">2026-06-30T01:22:39Z</dcterms:modified>
  <dc:identifier>DAHIX9mWJ2I</dc:identifier>
</cp:coreProperties>
</file>